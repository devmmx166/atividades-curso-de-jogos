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Lst>
  <p:sldSz cx="18288000" cy="10287000"/>
  <p:notesSz cx="6858000" cy="9144000"/>
  <p:embeddedFontLst>
    <p:embeddedFont>
      <p:font typeface="Canva Sans" panose="020B0604020202020204" charset="0"/>
      <p:regular r:id="rId237"/>
    </p:embeddedFont>
    <p:embeddedFont>
      <p:font typeface="Open Sans" panose="020B0606030504020204" pitchFamily="34" charset="0"/>
      <p:regular r:id="rId238"/>
    </p:embeddedFont>
    <p:embeddedFont>
      <p:font typeface="Open Sans Bold" panose="020B0604020202020204" charset="0"/>
      <p:regular r:id="rId239"/>
    </p:embeddedFont>
    <p:embeddedFont>
      <p:font typeface="Poppins" panose="00000500000000000000" pitchFamily="2" charset="0"/>
      <p:regular r:id="rId240"/>
    </p:embeddedFont>
    <p:embeddedFont>
      <p:font typeface="Poppins Light" panose="00000400000000000000" pitchFamily="2" charset="0"/>
      <p:regular r:id="rId241"/>
    </p:embeddedFont>
    <p:embeddedFont>
      <p:font typeface="Poppins Medium" panose="00000600000000000000" pitchFamily="2" charset="0"/>
      <p:regular r:id="rId242"/>
    </p:embeddedFont>
    <p:embeddedFont>
      <p:font typeface="Poppins Semi-Bold" panose="020B0604020202020204" charset="0"/>
      <p:regular r:id="rId2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7" d="100"/>
          <a:sy n="57" d="100"/>
        </p:scale>
        <p:origin x="744"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font" Target="fonts/font1.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font" Target="fonts/font2.fntdata"/><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font" Target="fonts/font3.fntdata"/><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font" Target="fonts/font4.fntdata"/><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font" Target="fonts/font5.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font" Target="fonts/font6.fntdata"/><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font" Target="fonts/font7.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presProps" Target="pres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viewProps" Target="viewProps.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theme" Target="theme/theme1.xml"/><Relationship Id="rId106" Type="http://schemas.openxmlformats.org/officeDocument/2006/relationships/slide" Target="slides/slide105.xml"/><Relationship Id="rId127" Type="http://schemas.openxmlformats.org/officeDocument/2006/relationships/slide" Target="slides/slide1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jpeg"/><Relationship Id="rId7" Type="http://schemas.openxmlformats.org/officeDocument/2006/relationships/image" Target="../media/image18.jpeg"/><Relationship Id="rId2" Type="http://schemas.openxmlformats.org/officeDocument/2006/relationships/image" Target="../media/image13.jpeg"/><Relationship Id="rId1" Type="http://schemas.openxmlformats.org/officeDocument/2006/relationships/slideLayout" Target="../slideLayouts/slideLayout7.xml"/><Relationship Id="rId6" Type="http://schemas.openxmlformats.org/officeDocument/2006/relationships/image" Target="../media/image17.jpeg"/><Relationship Id="rId11" Type="http://schemas.openxmlformats.org/officeDocument/2006/relationships/image" Target="../media/image22.jpeg"/><Relationship Id="rId5" Type="http://schemas.openxmlformats.org/officeDocument/2006/relationships/image" Target="../media/image16.jpeg"/><Relationship Id="rId10" Type="http://schemas.openxmlformats.org/officeDocument/2006/relationships/image" Target="../media/image21.jpeg"/><Relationship Id="rId4" Type="http://schemas.openxmlformats.org/officeDocument/2006/relationships/image" Target="../media/image15.jpeg"/><Relationship Id="rId9" Type="http://schemas.openxmlformats.org/officeDocument/2006/relationships/image" Target="../media/image20.jpeg"/></Relationships>
</file>

<file path=ppt/slides/_rels/slide9.xml.rels><?xml version="1.0" encoding="UTF-8" standalone="yes"?>
<Relationships xmlns="http://schemas.openxmlformats.org/package/2006/relationships"><Relationship Id="rId3" Type="http://schemas.openxmlformats.org/officeDocument/2006/relationships/image" Target="../media/image24.jpeg"/><Relationship Id="rId7" Type="http://schemas.openxmlformats.org/officeDocument/2006/relationships/image" Target="../media/image28.png"/><Relationship Id="rId2" Type="http://schemas.openxmlformats.org/officeDocument/2006/relationships/image" Target="../media/image23.jpeg"/><Relationship Id="rId1" Type="http://schemas.openxmlformats.org/officeDocument/2006/relationships/slideLayout" Target="../slideLayouts/slideLayout7.xml"/><Relationship Id="rId6" Type="http://schemas.openxmlformats.org/officeDocument/2006/relationships/image" Target="../media/image27.jpeg"/><Relationship Id="rId5" Type="http://schemas.openxmlformats.org/officeDocument/2006/relationships/image" Target="../media/image26.jpeg"/><Relationship Id="rId4" Type="http://schemas.openxmlformats.org/officeDocument/2006/relationships/image" Target="../media/image25.jpeg"/></Relationships>
</file>

<file path=ppt/slides/_rels/slide1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jpeg"/><Relationship Id="rId7" Type="http://schemas.openxmlformats.org/officeDocument/2006/relationships/image" Target="../media/image38.svg"/><Relationship Id="rId2" Type="http://schemas.openxmlformats.org/officeDocument/2006/relationships/image" Target="../media/image13.jpe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40.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7.xml"/><Relationship Id="rId4" Type="http://schemas.openxmlformats.org/officeDocument/2006/relationships/image" Target="../media/image23.jpeg"/></Relationships>
</file>

<file path=ppt/slides/_rels/slide2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45.svg"/><Relationship Id="rId4" Type="http://schemas.openxmlformats.org/officeDocument/2006/relationships/image" Target="../media/image44.png"/></Relationships>
</file>

<file path=ppt/slides/_rels/slide2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3.jpeg"/><Relationship Id="rId1" Type="http://schemas.openxmlformats.org/officeDocument/2006/relationships/slideLayout" Target="../slideLayouts/slideLayout7.xml"/><Relationship Id="rId4" Type="http://schemas.openxmlformats.org/officeDocument/2006/relationships/image" Target="../media/image47.svg"/></Relationships>
</file>

<file path=ppt/slides/_rels/slide2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49.svg"/><Relationship Id="rId4" Type="http://schemas.openxmlformats.org/officeDocument/2006/relationships/image" Target="../media/image48.png"/></Relationships>
</file>

<file path=ppt/slides/_rels/slide2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51.svg"/><Relationship Id="rId4" Type="http://schemas.openxmlformats.org/officeDocument/2006/relationships/image" Target="../media/image50.png"/></Relationships>
</file>

<file path=ppt/slides/_rels/slide2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53.svg"/><Relationship Id="rId4" Type="http://schemas.openxmlformats.org/officeDocument/2006/relationships/image" Target="../media/image52.png"/></Relationships>
</file>

<file path=ppt/slides/_rels/slide30.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56.svg"/><Relationship Id="rId4" Type="http://schemas.openxmlformats.org/officeDocument/2006/relationships/image" Target="../media/image55.png"/></Relationships>
</file>

<file path=ppt/slides/_rels/slide31.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image" Target="../media/image9.png"/><Relationship Id="rId1" Type="http://schemas.openxmlformats.org/officeDocument/2006/relationships/slideLayout" Target="../slideLayouts/slideLayout7.xml"/><Relationship Id="rId5" Type="http://schemas.openxmlformats.org/officeDocument/2006/relationships/image" Target="../media/image59.svg"/><Relationship Id="rId4" Type="http://schemas.openxmlformats.org/officeDocument/2006/relationships/image" Target="../media/image58.png"/></Relationships>
</file>

<file path=ppt/slides/_rels/slide3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13.jpeg"/><Relationship Id="rId1" Type="http://schemas.openxmlformats.org/officeDocument/2006/relationships/slideLayout" Target="../slideLayouts/slideLayout7.xml"/><Relationship Id="rId5" Type="http://schemas.openxmlformats.org/officeDocument/2006/relationships/image" Target="../media/image61.svg"/><Relationship Id="rId4" Type="http://schemas.openxmlformats.org/officeDocument/2006/relationships/image" Target="../media/image58.png"/></Relationships>
</file>

<file path=ppt/slides/_rels/slide34.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13.jpeg"/><Relationship Id="rId1" Type="http://schemas.openxmlformats.org/officeDocument/2006/relationships/slideLayout" Target="../slideLayouts/slideLayout7.xml"/><Relationship Id="rId5" Type="http://schemas.openxmlformats.org/officeDocument/2006/relationships/image" Target="../media/image64.svg"/><Relationship Id="rId4" Type="http://schemas.openxmlformats.org/officeDocument/2006/relationships/image" Target="../media/image63.png"/></Relationships>
</file>

<file path=ppt/slides/_rels/slide3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svg"/><Relationship Id="rId7" Type="http://schemas.openxmlformats.org/officeDocument/2006/relationships/image" Target="../media/image71.svg"/><Relationship Id="rId2" Type="http://schemas.openxmlformats.org/officeDocument/2006/relationships/image" Target="../media/image66.png"/><Relationship Id="rId1" Type="http://schemas.openxmlformats.org/officeDocument/2006/relationships/slideLayout" Target="../slideLayouts/slideLayout7.xml"/><Relationship Id="rId6" Type="http://schemas.openxmlformats.org/officeDocument/2006/relationships/image" Target="../media/image70.png"/><Relationship Id="rId5" Type="http://schemas.openxmlformats.org/officeDocument/2006/relationships/image" Target="../media/image69.svg"/><Relationship Id="rId4" Type="http://schemas.openxmlformats.org/officeDocument/2006/relationships/image" Target="../media/image68.png"/><Relationship Id="rId9" Type="http://schemas.openxmlformats.org/officeDocument/2006/relationships/image" Target="../media/image73.svg"/></Relationships>
</file>

<file path=ppt/slides/_rels/slide38.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78.svg"/><Relationship Id="rId2" Type="http://schemas.openxmlformats.org/officeDocument/2006/relationships/image" Target="../media/image77.png"/><Relationship Id="rId1" Type="http://schemas.openxmlformats.org/officeDocument/2006/relationships/slideLayout" Target="../slideLayouts/slideLayout7.xml"/><Relationship Id="rId5" Type="http://schemas.openxmlformats.org/officeDocument/2006/relationships/image" Target="../media/image80.svg"/><Relationship Id="rId4" Type="http://schemas.openxmlformats.org/officeDocument/2006/relationships/image" Target="../media/image7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5.svg"/><Relationship Id="rId7" Type="http://schemas.openxmlformats.org/officeDocument/2006/relationships/image" Target="../media/image89.svg"/><Relationship Id="rId2" Type="http://schemas.openxmlformats.org/officeDocument/2006/relationships/image" Target="../media/image84.png"/><Relationship Id="rId1" Type="http://schemas.openxmlformats.org/officeDocument/2006/relationships/slideLayout" Target="../slideLayouts/slideLayout7.xml"/><Relationship Id="rId6" Type="http://schemas.openxmlformats.org/officeDocument/2006/relationships/image" Target="../media/image88.png"/><Relationship Id="rId5" Type="http://schemas.openxmlformats.org/officeDocument/2006/relationships/image" Target="../media/image87.svg"/><Relationship Id="rId4" Type="http://schemas.openxmlformats.org/officeDocument/2006/relationships/image" Target="../media/image86.png"/><Relationship Id="rId9" Type="http://schemas.openxmlformats.org/officeDocument/2006/relationships/image" Target="../media/image91.sv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jpeg"/><Relationship Id="rId1" Type="http://schemas.openxmlformats.org/officeDocument/2006/relationships/slideLayout" Target="../slideLayouts/slideLayout7.xml"/><Relationship Id="rId4" Type="http://schemas.openxmlformats.org/officeDocument/2006/relationships/image" Target="../media/image97.svg"/></Relationships>
</file>

<file path=ppt/slides/_rels/slide132.xml.rels><?xml version="1.0" encoding="UTF-8" standalone="yes"?>
<Relationships xmlns="http://schemas.openxmlformats.org/package/2006/relationships"><Relationship Id="rId3" Type="http://schemas.openxmlformats.org/officeDocument/2006/relationships/image" Target="../media/image99.svg"/><Relationship Id="rId7" Type="http://schemas.openxmlformats.org/officeDocument/2006/relationships/image" Target="../media/image103.svg"/><Relationship Id="rId2" Type="http://schemas.openxmlformats.org/officeDocument/2006/relationships/image" Target="../media/image98.png"/><Relationship Id="rId1" Type="http://schemas.openxmlformats.org/officeDocument/2006/relationships/slideLayout" Target="../slideLayouts/slideLayout7.xml"/><Relationship Id="rId6" Type="http://schemas.openxmlformats.org/officeDocument/2006/relationships/image" Target="../media/image102.png"/><Relationship Id="rId5" Type="http://schemas.openxmlformats.org/officeDocument/2006/relationships/image" Target="../media/image101.svg"/><Relationship Id="rId4" Type="http://schemas.openxmlformats.org/officeDocument/2006/relationships/image" Target="../media/image100.png"/></Relationships>
</file>

<file path=ppt/slides/_rels/slide133.xml.rels><?xml version="1.0" encoding="UTF-8" standalone="yes"?>
<Relationships xmlns="http://schemas.openxmlformats.org/package/2006/relationships"><Relationship Id="rId2" Type="http://schemas.openxmlformats.org/officeDocument/2006/relationships/image" Target="../media/image95.jpeg"/><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3" Type="http://schemas.openxmlformats.org/officeDocument/2006/relationships/image" Target="../media/image105.svg"/><Relationship Id="rId2" Type="http://schemas.openxmlformats.org/officeDocument/2006/relationships/image" Target="../media/image104.png"/><Relationship Id="rId1" Type="http://schemas.openxmlformats.org/officeDocument/2006/relationships/slideLayout" Target="../slideLayouts/slideLayout7.xml"/><Relationship Id="rId5" Type="http://schemas.openxmlformats.org/officeDocument/2006/relationships/image" Target="../media/image107.svg"/><Relationship Id="rId4" Type="http://schemas.openxmlformats.org/officeDocument/2006/relationships/image" Target="../media/image106.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3" Type="http://schemas.openxmlformats.org/officeDocument/2006/relationships/image" Target="../media/image110.svg"/><Relationship Id="rId2" Type="http://schemas.openxmlformats.org/officeDocument/2006/relationships/image" Target="../media/image109.png"/><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8" Type="http://schemas.openxmlformats.org/officeDocument/2006/relationships/image" Target="../media/image117.png"/><Relationship Id="rId3" Type="http://schemas.openxmlformats.org/officeDocument/2006/relationships/image" Target="../media/image112.svg"/><Relationship Id="rId7" Type="http://schemas.openxmlformats.org/officeDocument/2006/relationships/image" Target="../media/image116.svg"/><Relationship Id="rId2" Type="http://schemas.openxmlformats.org/officeDocument/2006/relationships/image" Target="../media/image111.png"/><Relationship Id="rId1" Type="http://schemas.openxmlformats.org/officeDocument/2006/relationships/slideLayout" Target="../slideLayouts/slideLayout7.xml"/><Relationship Id="rId6" Type="http://schemas.openxmlformats.org/officeDocument/2006/relationships/image" Target="../media/image115.png"/><Relationship Id="rId5" Type="http://schemas.openxmlformats.org/officeDocument/2006/relationships/image" Target="../media/image114.svg"/><Relationship Id="rId4" Type="http://schemas.openxmlformats.org/officeDocument/2006/relationships/image" Target="../media/image113.png"/><Relationship Id="rId9" Type="http://schemas.openxmlformats.org/officeDocument/2006/relationships/image" Target="../media/image118.svg"/></Relationships>
</file>

<file path=ppt/slides/_rels/slide142.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image" Target="../media/image120.svg"/><Relationship Id="rId7" Type="http://schemas.openxmlformats.org/officeDocument/2006/relationships/image" Target="../media/image124.svg"/><Relationship Id="rId2" Type="http://schemas.openxmlformats.org/officeDocument/2006/relationships/image" Target="../media/image119.png"/><Relationship Id="rId1" Type="http://schemas.openxmlformats.org/officeDocument/2006/relationships/slideLayout" Target="../slideLayouts/slideLayout7.xml"/><Relationship Id="rId6" Type="http://schemas.openxmlformats.org/officeDocument/2006/relationships/image" Target="../media/image123.png"/><Relationship Id="rId11" Type="http://schemas.openxmlformats.org/officeDocument/2006/relationships/image" Target="../media/image128.svg"/><Relationship Id="rId5" Type="http://schemas.openxmlformats.org/officeDocument/2006/relationships/image" Target="../media/image122.svg"/><Relationship Id="rId10" Type="http://schemas.openxmlformats.org/officeDocument/2006/relationships/image" Target="../media/image127.png"/><Relationship Id="rId4" Type="http://schemas.openxmlformats.org/officeDocument/2006/relationships/image" Target="../media/image121.png"/><Relationship Id="rId9" Type="http://schemas.openxmlformats.org/officeDocument/2006/relationships/image" Target="../media/image126.svg"/></Relationships>
</file>

<file path=ppt/slides/_rels/slide143.xml.rels><?xml version="1.0" encoding="UTF-8" standalone="yes"?>
<Relationships xmlns="http://schemas.openxmlformats.org/package/2006/relationships"><Relationship Id="rId3" Type="http://schemas.openxmlformats.org/officeDocument/2006/relationships/image" Target="../media/image130.svg"/><Relationship Id="rId2" Type="http://schemas.openxmlformats.org/officeDocument/2006/relationships/image" Target="../media/image129.png"/><Relationship Id="rId1" Type="http://schemas.openxmlformats.org/officeDocument/2006/relationships/slideLayout" Target="../slideLayouts/slideLayout7.xml"/><Relationship Id="rId5" Type="http://schemas.openxmlformats.org/officeDocument/2006/relationships/image" Target="../media/image132.svg"/><Relationship Id="rId4" Type="http://schemas.openxmlformats.org/officeDocument/2006/relationships/image" Target="../media/image131.png"/></Relationships>
</file>

<file path=ppt/slides/_rels/slide144.xml.rels><?xml version="1.0" encoding="UTF-8" standalone="yes"?>
<Relationships xmlns="http://schemas.openxmlformats.org/package/2006/relationships"><Relationship Id="rId3" Type="http://schemas.openxmlformats.org/officeDocument/2006/relationships/image" Target="../media/image134.svg"/><Relationship Id="rId2" Type="http://schemas.openxmlformats.org/officeDocument/2006/relationships/image" Target="../media/image133.png"/><Relationship Id="rId1" Type="http://schemas.openxmlformats.org/officeDocument/2006/relationships/slideLayout" Target="../slideLayouts/slideLayout7.xml"/><Relationship Id="rId5" Type="http://schemas.openxmlformats.org/officeDocument/2006/relationships/image" Target="../media/image136.svg"/><Relationship Id="rId4" Type="http://schemas.openxmlformats.org/officeDocument/2006/relationships/image" Target="../media/image135.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7.xml"/><Relationship Id="rId5" Type="http://schemas.openxmlformats.org/officeDocument/2006/relationships/image" Target="../media/image140.png"/><Relationship Id="rId4" Type="http://schemas.openxmlformats.org/officeDocument/2006/relationships/image" Target="../media/image139.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image" Target="../media/image142.svg"/><Relationship Id="rId2" Type="http://schemas.openxmlformats.org/officeDocument/2006/relationships/image" Target="../media/image141.png"/><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3" Type="http://schemas.openxmlformats.org/officeDocument/2006/relationships/image" Target="../media/image144.svg"/><Relationship Id="rId2" Type="http://schemas.openxmlformats.org/officeDocument/2006/relationships/image" Target="../media/image143.png"/><Relationship Id="rId1" Type="http://schemas.openxmlformats.org/officeDocument/2006/relationships/slideLayout" Target="../slideLayouts/slideLayout7.xml"/><Relationship Id="rId5" Type="http://schemas.openxmlformats.org/officeDocument/2006/relationships/image" Target="../media/image146.svg"/><Relationship Id="rId4" Type="http://schemas.openxmlformats.org/officeDocument/2006/relationships/image" Target="../media/image145.png"/></Relationships>
</file>

<file path=ppt/slides/_rels/slide17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jpeg"/><Relationship Id="rId1" Type="http://schemas.openxmlformats.org/officeDocument/2006/relationships/slideLayout" Target="../slideLayouts/slideLayout7.xml"/><Relationship Id="rId5" Type="http://schemas.openxmlformats.org/officeDocument/2006/relationships/image" Target="../media/image150.svg"/><Relationship Id="rId4" Type="http://schemas.openxmlformats.org/officeDocument/2006/relationships/image" Target="../media/image149.png"/></Relationships>
</file>

<file path=ppt/slides/_rels/slide182.xml.rels><?xml version="1.0" encoding="UTF-8" standalone="yes"?>
<Relationships xmlns="http://schemas.openxmlformats.org/package/2006/relationships"><Relationship Id="rId8" Type="http://schemas.openxmlformats.org/officeDocument/2006/relationships/image" Target="../media/image156.svg"/><Relationship Id="rId13" Type="http://schemas.openxmlformats.org/officeDocument/2006/relationships/image" Target="../media/image161.png"/><Relationship Id="rId3" Type="http://schemas.openxmlformats.org/officeDocument/2006/relationships/image" Target="../media/image151.png"/><Relationship Id="rId7" Type="http://schemas.openxmlformats.org/officeDocument/2006/relationships/image" Target="../media/image155.png"/><Relationship Id="rId12" Type="http://schemas.openxmlformats.org/officeDocument/2006/relationships/image" Target="../media/image160.png"/><Relationship Id="rId2" Type="http://schemas.openxmlformats.org/officeDocument/2006/relationships/image" Target="../media/image147.jpeg"/><Relationship Id="rId1" Type="http://schemas.openxmlformats.org/officeDocument/2006/relationships/slideLayout" Target="../slideLayouts/slideLayout7.xml"/><Relationship Id="rId6" Type="http://schemas.openxmlformats.org/officeDocument/2006/relationships/image" Target="../media/image154.png"/><Relationship Id="rId11" Type="http://schemas.openxmlformats.org/officeDocument/2006/relationships/image" Target="../media/image159.svg"/><Relationship Id="rId5" Type="http://schemas.openxmlformats.org/officeDocument/2006/relationships/image" Target="../media/image153.svg"/><Relationship Id="rId10" Type="http://schemas.openxmlformats.org/officeDocument/2006/relationships/image" Target="../media/image158.png"/><Relationship Id="rId4" Type="http://schemas.openxmlformats.org/officeDocument/2006/relationships/image" Target="../media/image152.png"/><Relationship Id="rId9" Type="http://schemas.openxmlformats.org/officeDocument/2006/relationships/image" Target="../media/image157.png"/><Relationship Id="rId14" Type="http://schemas.openxmlformats.org/officeDocument/2006/relationships/image" Target="../media/image162.sv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7.xml"/><Relationship Id="rId4" Type="http://schemas.openxmlformats.org/officeDocument/2006/relationships/image" Target="../media/image165.sv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8" Type="http://schemas.openxmlformats.org/officeDocument/2006/relationships/image" Target="../media/image172.png"/><Relationship Id="rId3" Type="http://schemas.openxmlformats.org/officeDocument/2006/relationships/image" Target="../media/image167.png"/><Relationship Id="rId7" Type="http://schemas.openxmlformats.org/officeDocument/2006/relationships/image" Target="../media/image171.png"/><Relationship Id="rId12" Type="http://schemas.openxmlformats.org/officeDocument/2006/relationships/image" Target="../media/image176.svg"/><Relationship Id="rId2" Type="http://schemas.openxmlformats.org/officeDocument/2006/relationships/image" Target="../media/image166.png"/><Relationship Id="rId1" Type="http://schemas.openxmlformats.org/officeDocument/2006/relationships/slideLayout" Target="../slideLayouts/slideLayout7.xml"/><Relationship Id="rId6" Type="http://schemas.openxmlformats.org/officeDocument/2006/relationships/image" Target="../media/image170.svg"/><Relationship Id="rId11" Type="http://schemas.openxmlformats.org/officeDocument/2006/relationships/image" Target="../media/image175.png"/><Relationship Id="rId5" Type="http://schemas.openxmlformats.org/officeDocument/2006/relationships/image" Target="../media/image169.png"/><Relationship Id="rId10" Type="http://schemas.openxmlformats.org/officeDocument/2006/relationships/image" Target="../media/image174.png"/><Relationship Id="rId4" Type="http://schemas.openxmlformats.org/officeDocument/2006/relationships/image" Target="../media/image168.svg"/><Relationship Id="rId9" Type="http://schemas.openxmlformats.org/officeDocument/2006/relationships/image" Target="../media/image173.svg"/></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8" Type="http://schemas.openxmlformats.org/officeDocument/2006/relationships/image" Target="../media/image183.png"/><Relationship Id="rId13" Type="http://schemas.openxmlformats.org/officeDocument/2006/relationships/image" Target="../media/image188.svg"/><Relationship Id="rId3" Type="http://schemas.openxmlformats.org/officeDocument/2006/relationships/image" Target="../media/image178.png"/><Relationship Id="rId7" Type="http://schemas.openxmlformats.org/officeDocument/2006/relationships/image" Target="../media/image182.svg"/><Relationship Id="rId12" Type="http://schemas.openxmlformats.org/officeDocument/2006/relationships/image" Target="../media/image187.png"/><Relationship Id="rId2" Type="http://schemas.openxmlformats.org/officeDocument/2006/relationships/image" Target="../media/image177.png"/><Relationship Id="rId16" Type="http://schemas.openxmlformats.org/officeDocument/2006/relationships/image" Target="../media/image191.svg"/><Relationship Id="rId1" Type="http://schemas.openxmlformats.org/officeDocument/2006/relationships/slideLayout" Target="../slideLayouts/slideLayout7.xml"/><Relationship Id="rId6" Type="http://schemas.openxmlformats.org/officeDocument/2006/relationships/image" Target="../media/image181.png"/><Relationship Id="rId11" Type="http://schemas.openxmlformats.org/officeDocument/2006/relationships/image" Target="../media/image186.png"/><Relationship Id="rId5" Type="http://schemas.openxmlformats.org/officeDocument/2006/relationships/image" Target="../media/image180.png"/><Relationship Id="rId15" Type="http://schemas.openxmlformats.org/officeDocument/2006/relationships/image" Target="../media/image190.png"/><Relationship Id="rId10" Type="http://schemas.openxmlformats.org/officeDocument/2006/relationships/image" Target="../media/image185.svg"/><Relationship Id="rId4" Type="http://schemas.openxmlformats.org/officeDocument/2006/relationships/image" Target="../media/image179.svg"/><Relationship Id="rId9" Type="http://schemas.openxmlformats.org/officeDocument/2006/relationships/image" Target="../media/image184.png"/><Relationship Id="rId14" Type="http://schemas.openxmlformats.org/officeDocument/2006/relationships/image" Target="../media/image189.png"/></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3" Type="http://schemas.openxmlformats.org/officeDocument/2006/relationships/image" Target="../media/image193.png"/><Relationship Id="rId7" Type="http://schemas.openxmlformats.org/officeDocument/2006/relationships/image" Target="../media/image197.svg"/><Relationship Id="rId2" Type="http://schemas.openxmlformats.org/officeDocument/2006/relationships/image" Target="../media/image192.png"/><Relationship Id="rId1" Type="http://schemas.openxmlformats.org/officeDocument/2006/relationships/slideLayout" Target="../slideLayouts/slideLayout7.xml"/><Relationship Id="rId6" Type="http://schemas.openxmlformats.org/officeDocument/2006/relationships/image" Target="../media/image196.png"/><Relationship Id="rId5" Type="http://schemas.openxmlformats.org/officeDocument/2006/relationships/image" Target="../media/image195.png"/><Relationship Id="rId4" Type="http://schemas.openxmlformats.org/officeDocument/2006/relationships/image" Target="../media/image194.sv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2" Type="http://schemas.openxmlformats.org/officeDocument/2006/relationships/image" Target="../media/image198.jpeg"/><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8" Type="http://schemas.openxmlformats.org/officeDocument/2006/relationships/image" Target="../media/image205.svg"/><Relationship Id="rId3" Type="http://schemas.openxmlformats.org/officeDocument/2006/relationships/image" Target="../media/image200.png"/><Relationship Id="rId7" Type="http://schemas.openxmlformats.org/officeDocument/2006/relationships/image" Target="../media/image204.png"/><Relationship Id="rId2" Type="http://schemas.openxmlformats.org/officeDocument/2006/relationships/image" Target="../media/image199.jpeg"/><Relationship Id="rId1" Type="http://schemas.openxmlformats.org/officeDocument/2006/relationships/slideLayout" Target="../slideLayouts/slideLayout7.xml"/><Relationship Id="rId6" Type="http://schemas.openxmlformats.org/officeDocument/2006/relationships/image" Target="../media/image203.png"/><Relationship Id="rId11" Type="http://schemas.openxmlformats.org/officeDocument/2006/relationships/image" Target="../media/image208.svg"/><Relationship Id="rId5" Type="http://schemas.openxmlformats.org/officeDocument/2006/relationships/image" Target="../media/image202.svg"/><Relationship Id="rId10" Type="http://schemas.openxmlformats.org/officeDocument/2006/relationships/image" Target="../media/image207.png"/><Relationship Id="rId4" Type="http://schemas.openxmlformats.org/officeDocument/2006/relationships/image" Target="../media/image201.png"/><Relationship Id="rId9" Type="http://schemas.openxmlformats.org/officeDocument/2006/relationships/image" Target="../media/image206.png"/></Relationships>
</file>

<file path=ppt/slides/_rels/slide200.xml.rels><?xml version="1.0" encoding="UTF-8" standalone="yes"?>
<Relationships xmlns="http://schemas.openxmlformats.org/package/2006/relationships"><Relationship Id="rId3" Type="http://schemas.openxmlformats.org/officeDocument/2006/relationships/image" Target="../media/image209.png"/><Relationship Id="rId2" Type="http://schemas.openxmlformats.org/officeDocument/2006/relationships/image" Target="../media/image199.jpeg"/><Relationship Id="rId1" Type="http://schemas.openxmlformats.org/officeDocument/2006/relationships/slideLayout" Target="../slideLayouts/slideLayout7.xml"/><Relationship Id="rId5" Type="http://schemas.openxmlformats.org/officeDocument/2006/relationships/image" Target="../media/image211.svg"/><Relationship Id="rId4" Type="http://schemas.openxmlformats.org/officeDocument/2006/relationships/image" Target="../media/image210.png"/></Relationships>
</file>

<file path=ppt/slides/_rels/slide201.xml.rels><?xml version="1.0" encoding="UTF-8" standalone="yes"?>
<Relationships xmlns="http://schemas.openxmlformats.org/package/2006/relationships"><Relationship Id="rId3" Type="http://schemas.openxmlformats.org/officeDocument/2006/relationships/image" Target="../media/image213.png"/><Relationship Id="rId2" Type="http://schemas.openxmlformats.org/officeDocument/2006/relationships/image" Target="../media/image212.jpeg"/><Relationship Id="rId1" Type="http://schemas.openxmlformats.org/officeDocument/2006/relationships/slideLayout" Target="../slideLayouts/slideLayout7.xml"/><Relationship Id="rId5" Type="http://schemas.openxmlformats.org/officeDocument/2006/relationships/image" Target="../media/image215.svg"/><Relationship Id="rId4" Type="http://schemas.openxmlformats.org/officeDocument/2006/relationships/image" Target="../media/image214.png"/></Relationships>
</file>

<file path=ppt/slides/_rels/slide202.xml.rels><?xml version="1.0" encoding="UTF-8" standalone="yes"?>
<Relationships xmlns="http://schemas.openxmlformats.org/package/2006/relationships"><Relationship Id="rId2" Type="http://schemas.openxmlformats.org/officeDocument/2006/relationships/image" Target="../media/image216.jpeg"/><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3" Type="http://schemas.openxmlformats.org/officeDocument/2006/relationships/image" Target="../media/image218.jpeg"/><Relationship Id="rId2" Type="http://schemas.openxmlformats.org/officeDocument/2006/relationships/image" Target="../media/image217.jpeg"/><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8" Type="http://schemas.openxmlformats.org/officeDocument/2006/relationships/image" Target="../media/image225.png"/><Relationship Id="rId3" Type="http://schemas.openxmlformats.org/officeDocument/2006/relationships/image" Target="../media/image220.png"/><Relationship Id="rId7" Type="http://schemas.openxmlformats.org/officeDocument/2006/relationships/image" Target="../media/image224.png"/><Relationship Id="rId2" Type="http://schemas.openxmlformats.org/officeDocument/2006/relationships/image" Target="../media/image219.jpeg"/><Relationship Id="rId1" Type="http://schemas.openxmlformats.org/officeDocument/2006/relationships/slideLayout" Target="../slideLayouts/slideLayout7.xml"/><Relationship Id="rId6" Type="http://schemas.openxmlformats.org/officeDocument/2006/relationships/image" Target="../media/image223.jpeg"/><Relationship Id="rId5" Type="http://schemas.openxmlformats.org/officeDocument/2006/relationships/image" Target="../media/image222.svg"/><Relationship Id="rId4" Type="http://schemas.openxmlformats.org/officeDocument/2006/relationships/image" Target="../media/image221.png"/><Relationship Id="rId9" Type="http://schemas.openxmlformats.org/officeDocument/2006/relationships/image" Target="../media/image226.svg"/></Relationships>
</file>

<file path=ppt/slides/_rels/slide207.xml.rels><?xml version="1.0" encoding="UTF-8" standalone="yes"?>
<Relationships xmlns="http://schemas.openxmlformats.org/package/2006/relationships"><Relationship Id="rId3" Type="http://schemas.openxmlformats.org/officeDocument/2006/relationships/image" Target="../media/image227.jpeg"/><Relationship Id="rId2" Type="http://schemas.openxmlformats.org/officeDocument/2006/relationships/image" Target="../media/image223.jpeg"/><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2" Type="http://schemas.openxmlformats.org/officeDocument/2006/relationships/image" Target="../media/image228.jpeg"/><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2" Type="http://schemas.openxmlformats.org/officeDocument/2006/relationships/image" Target="../media/image227.jpeg"/><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8" Type="http://schemas.openxmlformats.org/officeDocument/2006/relationships/image" Target="../media/image234.png"/><Relationship Id="rId3" Type="http://schemas.openxmlformats.org/officeDocument/2006/relationships/image" Target="../media/image229.jpeg"/><Relationship Id="rId7" Type="http://schemas.openxmlformats.org/officeDocument/2006/relationships/image" Target="../media/image233.png"/><Relationship Id="rId12" Type="http://schemas.openxmlformats.org/officeDocument/2006/relationships/image" Target="../media/image238.svg"/><Relationship Id="rId2" Type="http://schemas.openxmlformats.org/officeDocument/2006/relationships/image" Target="../media/image228.jpeg"/><Relationship Id="rId1" Type="http://schemas.openxmlformats.org/officeDocument/2006/relationships/slideLayout" Target="../slideLayouts/slideLayout7.xml"/><Relationship Id="rId6" Type="http://schemas.openxmlformats.org/officeDocument/2006/relationships/image" Target="../media/image232.svg"/><Relationship Id="rId11" Type="http://schemas.openxmlformats.org/officeDocument/2006/relationships/image" Target="../media/image237.png"/><Relationship Id="rId5" Type="http://schemas.openxmlformats.org/officeDocument/2006/relationships/image" Target="../media/image231.png"/><Relationship Id="rId10" Type="http://schemas.openxmlformats.org/officeDocument/2006/relationships/image" Target="../media/image236.png"/><Relationship Id="rId4" Type="http://schemas.openxmlformats.org/officeDocument/2006/relationships/image" Target="../media/image230.png"/><Relationship Id="rId9" Type="http://schemas.openxmlformats.org/officeDocument/2006/relationships/image" Target="../media/image235.svg"/></Relationships>
</file>

<file path=ppt/slides/_rels/slide211.xml.rels><?xml version="1.0" encoding="UTF-8" standalone="yes"?>
<Relationships xmlns="http://schemas.openxmlformats.org/package/2006/relationships"><Relationship Id="rId8" Type="http://schemas.openxmlformats.org/officeDocument/2006/relationships/image" Target="../media/image245.svg"/><Relationship Id="rId3" Type="http://schemas.openxmlformats.org/officeDocument/2006/relationships/image" Target="../media/image240.png"/><Relationship Id="rId7" Type="http://schemas.openxmlformats.org/officeDocument/2006/relationships/image" Target="../media/image244.png"/><Relationship Id="rId2" Type="http://schemas.openxmlformats.org/officeDocument/2006/relationships/image" Target="../media/image239.jpeg"/><Relationship Id="rId1" Type="http://schemas.openxmlformats.org/officeDocument/2006/relationships/slideLayout" Target="../slideLayouts/slideLayout7.xml"/><Relationship Id="rId6" Type="http://schemas.openxmlformats.org/officeDocument/2006/relationships/image" Target="../media/image243.png"/><Relationship Id="rId5" Type="http://schemas.openxmlformats.org/officeDocument/2006/relationships/image" Target="../media/image242.svg"/><Relationship Id="rId4" Type="http://schemas.openxmlformats.org/officeDocument/2006/relationships/image" Target="../media/image241.pn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8" Type="http://schemas.openxmlformats.org/officeDocument/2006/relationships/image" Target="../media/image250.png"/><Relationship Id="rId3" Type="http://schemas.openxmlformats.org/officeDocument/2006/relationships/image" Target="../media/image247.png"/><Relationship Id="rId7" Type="http://schemas.openxmlformats.org/officeDocument/2006/relationships/image" Target="../media/image249.png"/><Relationship Id="rId2" Type="http://schemas.openxmlformats.org/officeDocument/2006/relationships/image" Target="../media/image246.jpeg"/><Relationship Id="rId1" Type="http://schemas.openxmlformats.org/officeDocument/2006/relationships/slideLayout" Target="../slideLayouts/slideLayout7.xml"/><Relationship Id="rId6" Type="http://schemas.openxmlformats.org/officeDocument/2006/relationships/image" Target="../media/image227.jpeg"/><Relationship Id="rId5" Type="http://schemas.openxmlformats.org/officeDocument/2006/relationships/image" Target="../media/image248.svg"/><Relationship Id="rId4" Type="http://schemas.openxmlformats.org/officeDocument/2006/relationships/image" Target="../media/image167.png"/><Relationship Id="rId9" Type="http://schemas.openxmlformats.org/officeDocument/2006/relationships/image" Target="../media/image251.svg"/></Relationships>
</file>

<file path=ppt/slides/_rels/slide215.xml.rels><?xml version="1.0" encoding="UTF-8" standalone="yes"?>
<Relationships xmlns="http://schemas.openxmlformats.org/package/2006/relationships"><Relationship Id="rId8" Type="http://schemas.openxmlformats.org/officeDocument/2006/relationships/image" Target="../media/image258.svg"/><Relationship Id="rId3" Type="http://schemas.openxmlformats.org/officeDocument/2006/relationships/image" Target="../media/image253.png"/><Relationship Id="rId7" Type="http://schemas.openxmlformats.org/officeDocument/2006/relationships/image" Target="../media/image257.png"/><Relationship Id="rId2" Type="http://schemas.openxmlformats.org/officeDocument/2006/relationships/image" Target="../media/image252.jpeg"/><Relationship Id="rId1" Type="http://schemas.openxmlformats.org/officeDocument/2006/relationships/slideLayout" Target="../slideLayouts/slideLayout7.xml"/><Relationship Id="rId6" Type="http://schemas.openxmlformats.org/officeDocument/2006/relationships/image" Target="../media/image256.png"/><Relationship Id="rId11" Type="http://schemas.openxmlformats.org/officeDocument/2006/relationships/image" Target="../media/image261.svg"/><Relationship Id="rId5" Type="http://schemas.openxmlformats.org/officeDocument/2006/relationships/image" Target="../media/image255.svg"/><Relationship Id="rId10" Type="http://schemas.openxmlformats.org/officeDocument/2006/relationships/image" Target="../media/image260.png"/><Relationship Id="rId4" Type="http://schemas.openxmlformats.org/officeDocument/2006/relationships/image" Target="../media/image254.png"/><Relationship Id="rId9" Type="http://schemas.openxmlformats.org/officeDocument/2006/relationships/image" Target="../media/image259.png"/></Relationships>
</file>

<file path=ppt/slides/_rels/slide216.xml.rels><?xml version="1.0" encoding="UTF-8" standalone="yes"?>
<Relationships xmlns="http://schemas.openxmlformats.org/package/2006/relationships"><Relationship Id="rId3" Type="http://schemas.openxmlformats.org/officeDocument/2006/relationships/image" Target="../media/image263.png"/><Relationship Id="rId2" Type="http://schemas.openxmlformats.org/officeDocument/2006/relationships/image" Target="../media/image262.jpeg"/><Relationship Id="rId1" Type="http://schemas.openxmlformats.org/officeDocument/2006/relationships/slideLayout" Target="../slideLayouts/slideLayout7.xml"/><Relationship Id="rId5" Type="http://schemas.openxmlformats.org/officeDocument/2006/relationships/image" Target="../media/image265.svg"/><Relationship Id="rId4" Type="http://schemas.openxmlformats.org/officeDocument/2006/relationships/image" Target="../media/image264.png"/></Relationships>
</file>

<file path=ppt/slides/_rels/slide217.xml.rels><?xml version="1.0" encoding="UTF-8" standalone="yes"?>
<Relationships xmlns="http://schemas.openxmlformats.org/package/2006/relationships"><Relationship Id="rId8" Type="http://schemas.openxmlformats.org/officeDocument/2006/relationships/image" Target="../media/image269.png"/><Relationship Id="rId3" Type="http://schemas.openxmlformats.org/officeDocument/2006/relationships/image" Target="../media/image227.jpeg"/><Relationship Id="rId7" Type="http://schemas.openxmlformats.org/officeDocument/2006/relationships/image" Target="../media/image268.svg"/><Relationship Id="rId2" Type="http://schemas.openxmlformats.org/officeDocument/2006/relationships/image" Target="../media/image246.jpeg"/><Relationship Id="rId1" Type="http://schemas.openxmlformats.org/officeDocument/2006/relationships/slideLayout" Target="../slideLayouts/slideLayout7.xml"/><Relationship Id="rId6" Type="http://schemas.openxmlformats.org/officeDocument/2006/relationships/image" Target="../media/image267.png"/><Relationship Id="rId5" Type="http://schemas.openxmlformats.org/officeDocument/2006/relationships/image" Target="../media/image266.png"/><Relationship Id="rId10" Type="http://schemas.openxmlformats.org/officeDocument/2006/relationships/image" Target="../media/image271.svg"/><Relationship Id="rId4" Type="http://schemas.openxmlformats.org/officeDocument/2006/relationships/image" Target="../media/image262.jpeg"/><Relationship Id="rId9" Type="http://schemas.openxmlformats.org/officeDocument/2006/relationships/image" Target="../media/image270.png"/></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3" Type="http://schemas.openxmlformats.org/officeDocument/2006/relationships/image" Target="../media/image273.png"/><Relationship Id="rId2" Type="http://schemas.openxmlformats.org/officeDocument/2006/relationships/image" Target="../media/image272.jpeg"/><Relationship Id="rId1" Type="http://schemas.openxmlformats.org/officeDocument/2006/relationships/slideLayout" Target="../slideLayouts/slideLayout7.xml"/><Relationship Id="rId5" Type="http://schemas.openxmlformats.org/officeDocument/2006/relationships/image" Target="../media/image275.svg"/><Relationship Id="rId4" Type="http://schemas.openxmlformats.org/officeDocument/2006/relationships/image" Target="../media/image274.png"/></Relationships>
</file>

<file path=ppt/slides/_rels/slide220.xml.rels><?xml version="1.0" encoding="UTF-8" standalone="yes"?>
<Relationships xmlns="http://schemas.openxmlformats.org/package/2006/relationships"><Relationship Id="rId8" Type="http://schemas.openxmlformats.org/officeDocument/2006/relationships/image" Target="../media/image281.svg"/><Relationship Id="rId3" Type="http://schemas.openxmlformats.org/officeDocument/2006/relationships/image" Target="../media/image276.png"/><Relationship Id="rId7" Type="http://schemas.openxmlformats.org/officeDocument/2006/relationships/image" Target="../media/image280.png"/><Relationship Id="rId2" Type="http://schemas.openxmlformats.org/officeDocument/2006/relationships/image" Target="../media/image272.jpeg"/><Relationship Id="rId1" Type="http://schemas.openxmlformats.org/officeDocument/2006/relationships/slideLayout" Target="../slideLayouts/slideLayout7.xml"/><Relationship Id="rId6" Type="http://schemas.openxmlformats.org/officeDocument/2006/relationships/image" Target="../media/image279.png"/><Relationship Id="rId5" Type="http://schemas.openxmlformats.org/officeDocument/2006/relationships/image" Target="../media/image278.svg"/><Relationship Id="rId4" Type="http://schemas.openxmlformats.org/officeDocument/2006/relationships/image" Target="../media/image277.png"/></Relationships>
</file>

<file path=ppt/slides/_rels/slide221.xml.rels><?xml version="1.0" encoding="UTF-8" standalone="yes"?>
<Relationships xmlns="http://schemas.openxmlformats.org/package/2006/relationships"><Relationship Id="rId8" Type="http://schemas.openxmlformats.org/officeDocument/2006/relationships/image" Target="../media/image288.png"/><Relationship Id="rId3" Type="http://schemas.openxmlformats.org/officeDocument/2006/relationships/image" Target="../media/image283.jpeg"/><Relationship Id="rId7" Type="http://schemas.openxmlformats.org/officeDocument/2006/relationships/image" Target="../media/image287.png"/><Relationship Id="rId2" Type="http://schemas.openxmlformats.org/officeDocument/2006/relationships/image" Target="../media/image282.jpeg"/><Relationship Id="rId1" Type="http://schemas.openxmlformats.org/officeDocument/2006/relationships/slideLayout" Target="../slideLayouts/slideLayout7.xml"/><Relationship Id="rId6" Type="http://schemas.openxmlformats.org/officeDocument/2006/relationships/image" Target="../media/image286.svg"/><Relationship Id="rId5" Type="http://schemas.openxmlformats.org/officeDocument/2006/relationships/image" Target="../media/image285.png"/><Relationship Id="rId4" Type="http://schemas.openxmlformats.org/officeDocument/2006/relationships/image" Target="../media/image284.png"/><Relationship Id="rId9" Type="http://schemas.openxmlformats.org/officeDocument/2006/relationships/image" Target="../media/image289.svg"/></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8" Type="http://schemas.openxmlformats.org/officeDocument/2006/relationships/image" Target="../media/image296.svg"/><Relationship Id="rId3" Type="http://schemas.openxmlformats.org/officeDocument/2006/relationships/image" Target="../media/image291.png"/><Relationship Id="rId7" Type="http://schemas.openxmlformats.org/officeDocument/2006/relationships/image" Target="../media/image295.png"/><Relationship Id="rId2" Type="http://schemas.openxmlformats.org/officeDocument/2006/relationships/image" Target="../media/image290.jpeg"/><Relationship Id="rId1" Type="http://schemas.openxmlformats.org/officeDocument/2006/relationships/slideLayout" Target="../slideLayouts/slideLayout7.xml"/><Relationship Id="rId6" Type="http://schemas.openxmlformats.org/officeDocument/2006/relationships/image" Target="../media/image294.png"/><Relationship Id="rId5" Type="http://schemas.openxmlformats.org/officeDocument/2006/relationships/image" Target="../media/image293.svg"/><Relationship Id="rId4" Type="http://schemas.openxmlformats.org/officeDocument/2006/relationships/image" Target="../media/image292.png"/></Relationships>
</file>

<file path=ppt/slides/_rels/slide224.xml.rels><?xml version="1.0" encoding="UTF-8" standalone="yes"?>
<Relationships xmlns="http://schemas.openxmlformats.org/package/2006/relationships"><Relationship Id="rId3" Type="http://schemas.openxmlformats.org/officeDocument/2006/relationships/image" Target="../media/image298.png"/><Relationship Id="rId2" Type="http://schemas.openxmlformats.org/officeDocument/2006/relationships/image" Target="../media/image297.jpeg"/><Relationship Id="rId1" Type="http://schemas.openxmlformats.org/officeDocument/2006/relationships/slideLayout" Target="../slideLayouts/slideLayout7.xml"/><Relationship Id="rId5" Type="http://schemas.openxmlformats.org/officeDocument/2006/relationships/image" Target="../media/image300.svg"/><Relationship Id="rId4" Type="http://schemas.openxmlformats.org/officeDocument/2006/relationships/image" Target="../media/image299.png"/></Relationships>
</file>

<file path=ppt/slides/_rels/slide22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rot="-10800000">
            <a:off x="12008263" y="2260463"/>
            <a:ext cx="6279737" cy="5845816"/>
          </a:xfrm>
          <a:custGeom>
            <a:avLst/>
            <a:gdLst/>
            <a:ahLst/>
            <a:cxnLst/>
            <a:rect l="l" t="t" r="r" b="b"/>
            <a:pathLst>
              <a:path w="6279737" h="5845816">
                <a:moveTo>
                  <a:pt x="0" y="0"/>
                </a:moveTo>
                <a:lnTo>
                  <a:pt x="6279737" y="0"/>
                </a:lnTo>
                <a:lnTo>
                  <a:pt x="6279737" y="5845817"/>
                </a:lnTo>
                <a:lnTo>
                  <a:pt x="0" y="5845817"/>
                </a:lnTo>
                <a:lnTo>
                  <a:pt x="0" y="0"/>
                </a:lnTo>
                <a:close/>
              </a:path>
            </a:pathLst>
          </a:custGeom>
          <a:blipFill>
            <a:blip r:embed="rId2"/>
            <a:stretch>
              <a:fillRect l="-21646" b="-43"/>
            </a:stretch>
          </a:blipFill>
        </p:spPr>
      </p:sp>
      <p:sp>
        <p:nvSpPr>
          <p:cNvPr id="3" name="Freeform 3"/>
          <p:cNvSpPr/>
          <p:nvPr/>
        </p:nvSpPr>
        <p:spPr>
          <a:xfrm>
            <a:off x="8120891" y="0"/>
            <a:ext cx="3590925" cy="2264921"/>
          </a:xfrm>
          <a:custGeom>
            <a:avLst/>
            <a:gdLst/>
            <a:ahLst/>
            <a:cxnLst/>
            <a:rect l="l" t="t" r="r" b="b"/>
            <a:pathLst>
              <a:path w="3590925" h="2264921">
                <a:moveTo>
                  <a:pt x="0" y="0"/>
                </a:moveTo>
                <a:lnTo>
                  <a:pt x="3590925" y="0"/>
                </a:lnTo>
                <a:lnTo>
                  <a:pt x="3590925" y="2264921"/>
                </a:lnTo>
                <a:lnTo>
                  <a:pt x="0" y="2264921"/>
                </a:lnTo>
                <a:lnTo>
                  <a:pt x="0" y="0"/>
                </a:lnTo>
                <a:close/>
              </a:path>
            </a:pathLst>
          </a:custGeom>
          <a:blipFill>
            <a:blip r:embed="rId3"/>
            <a:stretch>
              <a:fillRect t="-31630"/>
            </a:stretch>
          </a:blipFill>
        </p:spPr>
      </p:sp>
      <p:sp>
        <p:nvSpPr>
          <p:cNvPr id="4" name="TextBox 4"/>
          <p:cNvSpPr txBox="1"/>
          <p:nvPr/>
        </p:nvSpPr>
        <p:spPr>
          <a:xfrm>
            <a:off x="1538964" y="1820742"/>
            <a:ext cx="1753686" cy="525399"/>
          </a:xfrm>
          <a:prstGeom prst="rect">
            <a:avLst/>
          </a:prstGeom>
        </p:spPr>
        <p:txBody>
          <a:bodyPr lIns="0" tIns="0" rIns="0" bIns="0" rtlCol="0" anchor="t">
            <a:spAutoFit/>
          </a:bodyPr>
          <a:lstStyle/>
          <a:p>
            <a:pPr algn="l">
              <a:lnSpc>
                <a:spcPts val="3779"/>
              </a:lnSpc>
            </a:pPr>
            <a:r>
              <a:rPr lang="en-US" sz="2700" b="1">
                <a:solidFill>
                  <a:srgbClr val="10B5BF"/>
                </a:solidFill>
                <a:latin typeface="Poppins Medium"/>
                <a:ea typeface="Poppins Medium"/>
                <a:cs typeface="Poppins Medium"/>
                <a:sym typeface="Poppins Medium"/>
              </a:rPr>
              <a:t>Conteúdo</a:t>
            </a:r>
          </a:p>
        </p:txBody>
      </p:sp>
      <p:sp>
        <p:nvSpPr>
          <p:cNvPr id="5" name="TextBox 5"/>
          <p:cNvSpPr txBox="1"/>
          <p:nvPr/>
        </p:nvSpPr>
        <p:spPr>
          <a:xfrm>
            <a:off x="1538964" y="3206477"/>
            <a:ext cx="9654254" cy="5244503"/>
          </a:xfrm>
          <a:prstGeom prst="rect">
            <a:avLst/>
          </a:prstGeom>
        </p:spPr>
        <p:txBody>
          <a:bodyPr lIns="0" tIns="0" rIns="0" bIns="0" rtlCol="0" anchor="t">
            <a:spAutoFit/>
          </a:bodyPr>
          <a:lstStyle/>
          <a:p>
            <a:pPr algn="l">
              <a:lnSpc>
                <a:spcPts val="10949"/>
              </a:lnSpc>
            </a:pPr>
            <a:r>
              <a:rPr lang="en-US" sz="9999" b="1">
                <a:solidFill>
                  <a:srgbClr val="FFFFFF"/>
                </a:solidFill>
                <a:latin typeface="Poppins Semi-Bold"/>
                <a:ea typeface="Poppins Semi-Bold"/>
                <a:cs typeface="Poppins Semi-Bold"/>
                <a:sym typeface="Poppins Semi-Bold"/>
              </a:rPr>
              <a:t>Linguagem de Programação C#</a:t>
            </a:r>
          </a:p>
          <a:p>
            <a:pPr algn="l">
              <a:lnSpc>
                <a:spcPts val="6999"/>
              </a:lnSpc>
            </a:pPr>
            <a:r>
              <a:rPr lang="en-US" sz="2799" b="1" spc="55">
                <a:solidFill>
                  <a:srgbClr val="FFFFFF"/>
                </a:solidFill>
                <a:latin typeface="Poppins Medium"/>
                <a:ea typeface="Poppins Medium"/>
                <a:cs typeface="Poppins Medium"/>
                <a:sym typeface="Poppins Medium"/>
              </a:rPr>
              <a:t>Rodolfo Moraes - www.foxjamgames.com.br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9070934" y="1260767"/>
            <a:ext cx="146094" cy="7765428"/>
          </a:xfrm>
          <a:custGeom>
            <a:avLst/>
            <a:gdLst/>
            <a:ahLst/>
            <a:cxnLst/>
            <a:rect l="l" t="t" r="r" b="b"/>
            <a:pathLst>
              <a:path w="146094" h="7765428">
                <a:moveTo>
                  <a:pt x="0" y="0"/>
                </a:moveTo>
                <a:lnTo>
                  <a:pt x="146094" y="0"/>
                </a:lnTo>
                <a:lnTo>
                  <a:pt x="146094" y="7765428"/>
                </a:lnTo>
                <a:lnTo>
                  <a:pt x="0" y="776542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459859" y="1424892"/>
            <a:ext cx="7546724" cy="6508071"/>
          </a:xfrm>
          <a:prstGeom prst="rect">
            <a:avLst/>
          </a:prstGeom>
        </p:spPr>
        <p:txBody>
          <a:bodyPr lIns="0" tIns="0" rIns="0" bIns="0" rtlCol="0" anchor="t">
            <a:spAutoFit/>
          </a:bodyPr>
          <a:lstStyle/>
          <a:p>
            <a:pPr algn="l">
              <a:lnSpc>
                <a:spcPts val="8322"/>
              </a:lnSpc>
            </a:pPr>
            <a:r>
              <a:rPr lang="en-US" sz="6999" b="1">
                <a:solidFill>
                  <a:srgbClr val="FFFFFF"/>
                </a:solidFill>
                <a:latin typeface="Poppins Semi-Bold"/>
                <a:ea typeface="Poppins Semi-Bold"/>
                <a:cs typeface="Poppins Semi-Bold"/>
                <a:sym typeface="Poppins Semi-Bold"/>
              </a:rPr>
              <a:t>Antes de codificar, temos que entender e praticar a Lógica de Programação</a:t>
            </a:r>
          </a:p>
        </p:txBody>
      </p:sp>
      <p:sp>
        <p:nvSpPr>
          <p:cNvPr id="4" name="TextBox 4"/>
          <p:cNvSpPr txBox="1"/>
          <p:nvPr/>
        </p:nvSpPr>
        <p:spPr>
          <a:xfrm>
            <a:off x="10732341" y="1432103"/>
            <a:ext cx="4204478" cy="594360"/>
          </a:xfrm>
          <a:prstGeom prst="rect">
            <a:avLst/>
          </a:prstGeom>
        </p:spPr>
        <p:txBody>
          <a:bodyPr lIns="0" tIns="0" rIns="0" bIns="0" rtlCol="0" anchor="t">
            <a:spAutoFit/>
          </a:bodyPr>
          <a:lstStyle/>
          <a:p>
            <a:pPr algn="l">
              <a:lnSpc>
                <a:spcPts val="4398"/>
              </a:lnSpc>
            </a:pPr>
            <a:r>
              <a:rPr lang="en-US" sz="3000" b="1">
                <a:solidFill>
                  <a:srgbClr val="FFFFFF"/>
                </a:solidFill>
                <a:latin typeface="Poppins Medium"/>
                <a:ea typeface="Poppins Medium"/>
                <a:cs typeface="Poppins Medium"/>
                <a:sym typeface="Poppins Medium"/>
              </a:rPr>
              <a:t>DEFINIÇÃO DE LÓGICA</a:t>
            </a:r>
          </a:p>
        </p:txBody>
      </p:sp>
      <p:sp>
        <p:nvSpPr>
          <p:cNvPr id="5" name="TextBox 5"/>
          <p:cNvSpPr txBox="1"/>
          <p:nvPr/>
        </p:nvSpPr>
        <p:spPr>
          <a:xfrm>
            <a:off x="10855995" y="1940976"/>
            <a:ext cx="77705" cy="542211"/>
          </a:xfrm>
          <a:prstGeom prst="rect">
            <a:avLst/>
          </a:prstGeom>
        </p:spPr>
        <p:txBody>
          <a:bodyPr lIns="0" tIns="0" rIns="0" bIns="0" rtlCol="0" anchor="t">
            <a:spAutoFit/>
          </a:bodyPr>
          <a:lstStyle/>
          <a:p>
            <a:pPr algn="l">
              <a:lnSpc>
                <a:spcPts val="4332"/>
              </a:lnSpc>
            </a:pPr>
            <a:r>
              <a:rPr lang="en-US" sz="1999">
                <a:solidFill>
                  <a:srgbClr val="FFFFFF"/>
                </a:solidFill>
                <a:latin typeface="Poppins Light"/>
                <a:ea typeface="Poppins Light"/>
                <a:cs typeface="Poppins Light"/>
                <a:sym typeface="Poppins Light"/>
              </a:rPr>
              <a:t> </a:t>
            </a:r>
          </a:p>
        </p:txBody>
      </p:sp>
      <p:sp>
        <p:nvSpPr>
          <p:cNvPr id="6" name="TextBox 6"/>
          <p:cNvSpPr txBox="1"/>
          <p:nvPr/>
        </p:nvSpPr>
        <p:spPr>
          <a:xfrm>
            <a:off x="10732341" y="3809200"/>
            <a:ext cx="4800229" cy="984885"/>
          </a:xfrm>
          <a:prstGeom prst="rect">
            <a:avLst/>
          </a:prstGeom>
        </p:spPr>
        <p:txBody>
          <a:bodyPr lIns="0" tIns="0" rIns="0" bIns="0" rtlCol="0" anchor="t">
            <a:spAutoFit/>
          </a:bodyPr>
          <a:lstStyle/>
          <a:p>
            <a:pPr algn="l">
              <a:lnSpc>
                <a:spcPts val="3600"/>
              </a:lnSpc>
            </a:pPr>
            <a:r>
              <a:rPr lang="en-US" sz="3000" b="1">
                <a:solidFill>
                  <a:srgbClr val="FFFFFF"/>
                </a:solidFill>
                <a:latin typeface="Poppins Medium"/>
                <a:ea typeface="Poppins Medium"/>
                <a:cs typeface="Poppins Medium"/>
                <a:sym typeface="Poppins Medium"/>
              </a:rPr>
              <a:t>DEFINIÇÃO DE LÓGICA DE PROGRAMAÇÃO</a:t>
            </a:r>
          </a:p>
        </p:txBody>
      </p:sp>
      <p:sp>
        <p:nvSpPr>
          <p:cNvPr id="7" name="TextBox 7"/>
          <p:cNvSpPr txBox="1"/>
          <p:nvPr/>
        </p:nvSpPr>
        <p:spPr>
          <a:xfrm>
            <a:off x="10855995" y="4651448"/>
            <a:ext cx="77705" cy="599361"/>
          </a:xfrm>
          <a:prstGeom prst="rect">
            <a:avLst/>
          </a:prstGeom>
        </p:spPr>
        <p:txBody>
          <a:bodyPr lIns="0" tIns="0" rIns="0" bIns="0" rtlCol="0" anchor="t">
            <a:spAutoFit/>
          </a:bodyPr>
          <a:lstStyle/>
          <a:p>
            <a:pPr algn="l">
              <a:lnSpc>
                <a:spcPts val="4998"/>
              </a:lnSpc>
            </a:pPr>
            <a:r>
              <a:rPr lang="en-US" sz="1999">
                <a:solidFill>
                  <a:srgbClr val="FFFFFF"/>
                </a:solidFill>
                <a:latin typeface="Poppins Light"/>
                <a:ea typeface="Poppins Light"/>
                <a:cs typeface="Poppins Light"/>
                <a:sym typeface="Poppins Light"/>
              </a:rPr>
              <a:t> </a:t>
            </a:r>
          </a:p>
        </p:txBody>
      </p:sp>
      <p:sp>
        <p:nvSpPr>
          <p:cNvPr id="8" name="TextBox 8"/>
          <p:cNvSpPr txBox="1"/>
          <p:nvPr/>
        </p:nvSpPr>
        <p:spPr>
          <a:xfrm>
            <a:off x="10732341" y="7008657"/>
            <a:ext cx="5743413" cy="984885"/>
          </a:xfrm>
          <a:prstGeom prst="rect">
            <a:avLst/>
          </a:prstGeom>
        </p:spPr>
        <p:txBody>
          <a:bodyPr lIns="0" tIns="0" rIns="0" bIns="0" rtlCol="0" anchor="t">
            <a:spAutoFit/>
          </a:bodyPr>
          <a:lstStyle/>
          <a:p>
            <a:pPr algn="l">
              <a:lnSpc>
                <a:spcPts val="3600"/>
              </a:lnSpc>
            </a:pPr>
            <a:r>
              <a:rPr lang="en-US" sz="3000" b="1">
                <a:solidFill>
                  <a:srgbClr val="FFFFFF"/>
                </a:solidFill>
                <a:latin typeface="Poppins Medium"/>
                <a:ea typeface="Poppins Medium"/>
                <a:cs typeface="Poppins Medium"/>
                <a:sym typeface="Poppins Medium"/>
              </a:rPr>
              <a:t>IMPORTÂNCIA PARA O DESENVOLVIMENTO DE JOGOS</a:t>
            </a:r>
          </a:p>
        </p:txBody>
      </p:sp>
      <p:sp>
        <p:nvSpPr>
          <p:cNvPr id="9" name="TextBox 9"/>
          <p:cNvSpPr txBox="1"/>
          <p:nvPr/>
        </p:nvSpPr>
        <p:spPr>
          <a:xfrm>
            <a:off x="12219432" y="7850905"/>
            <a:ext cx="77705" cy="599361"/>
          </a:xfrm>
          <a:prstGeom prst="rect">
            <a:avLst/>
          </a:prstGeom>
        </p:spPr>
        <p:txBody>
          <a:bodyPr lIns="0" tIns="0" rIns="0" bIns="0" rtlCol="0" anchor="t">
            <a:spAutoFit/>
          </a:bodyPr>
          <a:lstStyle/>
          <a:p>
            <a:pPr algn="l">
              <a:lnSpc>
                <a:spcPts val="4998"/>
              </a:lnSpc>
            </a:pPr>
            <a:r>
              <a:rPr lang="en-US" sz="1999">
                <a:solidFill>
                  <a:srgbClr val="FFFFFF"/>
                </a:solidFill>
                <a:latin typeface="Poppins Light"/>
                <a:ea typeface="Poppins Light"/>
                <a:cs typeface="Poppins Light"/>
                <a:sym typeface="Poppins Light"/>
              </a:rPr>
              <a:t> </a:t>
            </a:r>
          </a:p>
        </p:txBody>
      </p:sp>
      <p:sp>
        <p:nvSpPr>
          <p:cNvPr id="10" name="TextBox 10"/>
          <p:cNvSpPr txBox="1"/>
          <p:nvPr/>
        </p:nvSpPr>
        <p:spPr>
          <a:xfrm>
            <a:off x="10732341" y="4860998"/>
            <a:ext cx="5605082" cy="389811"/>
          </a:xfrm>
          <a:prstGeom prst="rect">
            <a:avLst/>
          </a:prstGeom>
        </p:spPr>
        <p:txBody>
          <a:bodyPr lIns="0" tIns="0" rIns="0" bIns="0" rtlCol="0" anchor="t">
            <a:spAutoFit/>
          </a:bodyPr>
          <a:lstStyle/>
          <a:p>
            <a:pPr algn="l">
              <a:lnSpc>
                <a:spcPts val="2775"/>
              </a:lnSpc>
            </a:pPr>
            <a:r>
              <a:rPr lang="en-US" sz="1999">
                <a:solidFill>
                  <a:srgbClr val="FFFFFF"/>
                </a:solidFill>
                <a:latin typeface="Poppins Light"/>
                <a:ea typeface="Poppins Light"/>
                <a:cs typeface="Poppins Light"/>
                <a:sym typeface="Poppins Light"/>
              </a:rPr>
              <a:t>Éasequência deinstruções organizadas de</a:t>
            </a:r>
          </a:p>
        </p:txBody>
      </p:sp>
      <p:sp>
        <p:nvSpPr>
          <p:cNvPr id="11" name="TextBox 11"/>
          <p:cNvSpPr txBox="1"/>
          <p:nvPr/>
        </p:nvSpPr>
        <p:spPr>
          <a:xfrm>
            <a:off x="10732341" y="5213423"/>
            <a:ext cx="5207013" cy="389811"/>
          </a:xfrm>
          <a:prstGeom prst="rect">
            <a:avLst/>
          </a:prstGeom>
        </p:spPr>
        <p:txBody>
          <a:bodyPr lIns="0" tIns="0" rIns="0" bIns="0" rtlCol="0" anchor="t">
            <a:spAutoFit/>
          </a:bodyPr>
          <a:lstStyle/>
          <a:p>
            <a:pPr algn="l">
              <a:lnSpc>
                <a:spcPts val="2775"/>
              </a:lnSpc>
            </a:pPr>
            <a:r>
              <a:rPr lang="en-US" sz="1999">
                <a:solidFill>
                  <a:srgbClr val="FFFFFF"/>
                </a:solidFill>
                <a:latin typeface="Poppins Light"/>
                <a:ea typeface="Poppins Light"/>
                <a:cs typeface="Poppins Light"/>
                <a:sym typeface="Poppins Light"/>
              </a:rPr>
              <a:t>forma coerente para realizar uma tarefa.</a:t>
            </a:r>
          </a:p>
        </p:txBody>
      </p:sp>
      <p:sp>
        <p:nvSpPr>
          <p:cNvPr id="12" name="TextBox 12"/>
          <p:cNvSpPr txBox="1"/>
          <p:nvPr/>
        </p:nvSpPr>
        <p:spPr>
          <a:xfrm>
            <a:off x="10732341" y="8060455"/>
            <a:ext cx="5765635" cy="389811"/>
          </a:xfrm>
          <a:prstGeom prst="rect">
            <a:avLst/>
          </a:prstGeom>
        </p:spPr>
        <p:txBody>
          <a:bodyPr lIns="0" tIns="0" rIns="0" bIns="0" rtlCol="0" anchor="t">
            <a:spAutoFit/>
          </a:bodyPr>
          <a:lstStyle/>
          <a:p>
            <a:pPr algn="l">
              <a:lnSpc>
                <a:spcPts val="2775"/>
              </a:lnSpc>
            </a:pPr>
            <a:r>
              <a:rPr lang="en-US" sz="1999">
                <a:solidFill>
                  <a:srgbClr val="FFFFFF"/>
                </a:solidFill>
                <a:latin typeface="Poppins Light"/>
                <a:ea typeface="Poppins Light"/>
                <a:cs typeface="Poppins Light"/>
                <a:sym typeface="Poppins Light"/>
              </a:rPr>
              <a:t>Estrutura docódigo,inteligênciaartificial(IA),</a:t>
            </a:r>
          </a:p>
        </p:txBody>
      </p:sp>
      <p:sp>
        <p:nvSpPr>
          <p:cNvPr id="13" name="TextBox 13"/>
          <p:cNvSpPr txBox="1"/>
          <p:nvPr/>
        </p:nvSpPr>
        <p:spPr>
          <a:xfrm>
            <a:off x="10732341" y="8412880"/>
            <a:ext cx="2280047" cy="389811"/>
          </a:xfrm>
          <a:prstGeom prst="rect">
            <a:avLst/>
          </a:prstGeom>
        </p:spPr>
        <p:txBody>
          <a:bodyPr lIns="0" tIns="0" rIns="0" bIns="0" rtlCol="0" anchor="t">
            <a:spAutoFit/>
          </a:bodyPr>
          <a:lstStyle/>
          <a:p>
            <a:pPr algn="l">
              <a:lnSpc>
                <a:spcPts val="2775"/>
              </a:lnSpc>
            </a:pPr>
            <a:r>
              <a:rPr lang="en-US" sz="1999">
                <a:solidFill>
                  <a:srgbClr val="FFFFFF"/>
                </a:solidFill>
                <a:latin typeface="Poppins Light"/>
                <a:ea typeface="Poppins Light"/>
                <a:cs typeface="Poppins Light"/>
                <a:sym typeface="Poppins Light"/>
              </a:rPr>
              <a:t>física do jogo, etc.</a:t>
            </a:r>
          </a:p>
        </p:txBody>
      </p:sp>
      <p:sp>
        <p:nvSpPr>
          <p:cNvPr id="14" name="TextBox 14"/>
          <p:cNvSpPr txBox="1"/>
          <p:nvPr/>
        </p:nvSpPr>
        <p:spPr>
          <a:xfrm>
            <a:off x="10732341" y="2093376"/>
            <a:ext cx="6289558" cy="389811"/>
          </a:xfrm>
          <a:prstGeom prst="rect">
            <a:avLst/>
          </a:prstGeom>
        </p:spPr>
        <p:txBody>
          <a:bodyPr lIns="0" tIns="0" rIns="0" bIns="0" rtlCol="0" anchor="t">
            <a:spAutoFit/>
          </a:bodyPr>
          <a:lstStyle/>
          <a:p>
            <a:pPr algn="l">
              <a:lnSpc>
                <a:spcPts val="2775"/>
              </a:lnSpc>
            </a:pPr>
            <a:r>
              <a:rPr lang="en-US" sz="1999">
                <a:solidFill>
                  <a:srgbClr val="FFFFFF"/>
                </a:solidFill>
                <a:latin typeface="Poppins Light"/>
                <a:ea typeface="Poppins Light"/>
                <a:cs typeface="Poppins Light"/>
                <a:sym typeface="Poppins Light"/>
              </a:rPr>
              <a:t>Éoestudo dosmétodoseprincípios usados para</a:t>
            </a:r>
          </a:p>
        </p:txBody>
      </p:sp>
      <p:sp>
        <p:nvSpPr>
          <p:cNvPr id="15" name="TextBox 15"/>
          <p:cNvSpPr txBox="1"/>
          <p:nvPr/>
        </p:nvSpPr>
        <p:spPr>
          <a:xfrm>
            <a:off x="10732341" y="2445801"/>
            <a:ext cx="5281879" cy="389811"/>
          </a:xfrm>
          <a:prstGeom prst="rect">
            <a:avLst/>
          </a:prstGeom>
        </p:spPr>
        <p:txBody>
          <a:bodyPr lIns="0" tIns="0" rIns="0" bIns="0" rtlCol="0" anchor="t">
            <a:spAutoFit/>
          </a:bodyPr>
          <a:lstStyle/>
          <a:p>
            <a:pPr algn="l">
              <a:lnSpc>
                <a:spcPts val="2775"/>
              </a:lnSpc>
            </a:pPr>
            <a:r>
              <a:rPr lang="en-US" sz="1999">
                <a:solidFill>
                  <a:srgbClr val="FFFFFF"/>
                </a:solidFill>
                <a:latin typeface="Poppins Light"/>
                <a:ea typeface="Poppins Light"/>
                <a:cs typeface="Poppins Light"/>
                <a:sym typeface="Poppins Light"/>
              </a:rPr>
              <a:t>distinguir o raciocínio correto do incorreto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rot="-1374180">
            <a:off x="4445022" y="3944207"/>
            <a:ext cx="5886450" cy="5886450"/>
            <a:chOff x="0" y="0"/>
            <a:chExt cx="7848600" cy="7848600"/>
          </a:xfrm>
        </p:grpSpPr>
        <p:sp>
          <p:nvSpPr>
            <p:cNvPr id="3" name="Freeform 3"/>
            <p:cNvSpPr/>
            <p:nvPr/>
          </p:nvSpPr>
          <p:spPr>
            <a:xfrm>
              <a:off x="0" y="0"/>
              <a:ext cx="7848600" cy="7848600"/>
            </a:xfrm>
            <a:custGeom>
              <a:avLst/>
              <a:gdLst/>
              <a:ahLst/>
              <a:cxnLst/>
              <a:rect l="l" t="t" r="r" b="b"/>
              <a:pathLst>
                <a:path w="7848600" h="7848600">
                  <a:moveTo>
                    <a:pt x="7848600" y="0"/>
                  </a:moveTo>
                  <a:lnTo>
                    <a:pt x="0" y="0"/>
                  </a:lnTo>
                  <a:lnTo>
                    <a:pt x="0" y="7187057"/>
                  </a:lnTo>
                  <a:lnTo>
                    <a:pt x="1565910" y="7848600"/>
                  </a:lnTo>
                  <a:lnTo>
                    <a:pt x="3730625" y="7848600"/>
                  </a:lnTo>
                  <a:lnTo>
                    <a:pt x="7848600" y="7848600"/>
                  </a:lnTo>
                  <a:lnTo>
                    <a:pt x="7848600" y="0"/>
                  </a:lnTo>
                  <a:close/>
                </a:path>
              </a:pathLst>
            </a:custGeom>
            <a:blipFill>
              <a:blip r:embed="rId2"/>
              <a:stretch>
                <a:fillRect/>
              </a:stretch>
            </a:blipFill>
          </p:spPr>
        </p:sp>
      </p:grpSp>
      <p:grpSp>
        <p:nvGrpSpPr>
          <p:cNvPr id="4" name="Group 4"/>
          <p:cNvGrpSpPr>
            <a:grpSpLocks noChangeAspect="1"/>
          </p:cNvGrpSpPr>
          <p:nvPr/>
        </p:nvGrpSpPr>
        <p:grpSpPr>
          <a:xfrm rot="736500">
            <a:off x="-77876" y="4399559"/>
            <a:ext cx="5664613" cy="4304614"/>
            <a:chOff x="0" y="0"/>
            <a:chExt cx="7552817" cy="5739486"/>
          </a:xfrm>
        </p:grpSpPr>
        <p:sp>
          <p:nvSpPr>
            <p:cNvPr id="5" name="Freeform 5"/>
            <p:cNvSpPr/>
            <p:nvPr/>
          </p:nvSpPr>
          <p:spPr>
            <a:xfrm>
              <a:off x="0" y="0"/>
              <a:ext cx="7552817" cy="5739384"/>
            </a:xfrm>
            <a:custGeom>
              <a:avLst/>
              <a:gdLst/>
              <a:ahLst/>
              <a:cxnLst/>
              <a:rect l="l" t="t" r="r" b="b"/>
              <a:pathLst>
                <a:path w="7552817" h="5739384">
                  <a:moveTo>
                    <a:pt x="9017" y="0"/>
                  </a:moveTo>
                  <a:lnTo>
                    <a:pt x="0" y="2787396"/>
                  </a:lnTo>
                  <a:lnTo>
                    <a:pt x="637413" y="5717032"/>
                  </a:lnTo>
                  <a:lnTo>
                    <a:pt x="7534275" y="5739384"/>
                  </a:lnTo>
                  <a:lnTo>
                    <a:pt x="7552817" y="24384"/>
                  </a:lnTo>
                  <a:lnTo>
                    <a:pt x="6187440" y="20066"/>
                  </a:lnTo>
                  <a:lnTo>
                    <a:pt x="9017" y="0"/>
                  </a:lnTo>
                  <a:close/>
                </a:path>
              </a:pathLst>
            </a:custGeom>
            <a:blipFill>
              <a:blip r:embed="rId3"/>
              <a:stretch>
                <a:fillRect l="-125" b="-1"/>
              </a:stretch>
            </a:blipFill>
          </p:spPr>
        </p:sp>
      </p:grpSp>
      <p:grpSp>
        <p:nvGrpSpPr>
          <p:cNvPr id="6" name="Group 6"/>
          <p:cNvGrpSpPr>
            <a:grpSpLocks noChangeAspect="1"/>
          </p:cNvGrpSpPr>
          <p:nvPr/>
        </p:nvGrpSpPr>
        <p:grpSpPr>
          <a:xfrm rot="-835320">
            <a:off x="13162331" y="3433829"/>
            <a:ext cx="5891384" cy="5645620"/>
            <a:chOff x="0" y="0"/>
            <a:chExt cx="7855179" cy="7527493"/>
          </a:xfrm>
        </p:grpSpPr>
        <p:sp>
          <p:nvSpPr>
            <p:cNvPr id="7" name="Freeform 7"/>
            <p:cNvSpPr/>
            <p:nvPr/>
          </p:nvSpPr>
          <p:spPr>
            <a:xfrm>
              <a:off x="0" y="0"/>
              <a:ext cx="7855204" cy="7527544"/>
            </a:xfrm>
            <a:custGeom>
              <a:avLst/>
              <a:gdLst/>
              <a:ahLst/>
              <a:cxnLst/>
              <a:rect l="l" t="t" r="r" b="b"/>
              <a:pathLst>
                <a:path w="7855204" h="7527544">
                  <a:moveTo>
                    <a:pt x="7855204" y="0"/>
                  </a:moveTo>
                  <a:lnTo>
                    <a:pt x="0" y="9144"/>
                  </a:lnTo>
                  <a:lnTo>
                    <a:pt x="7239" y="6278880"/>
                  </a:lnTo>
                  <a:lnTo>
                    <a:pt x="8763" y="7527544"/>
                  </a:lnTo>
                  <a:lnTo>
                    <a:pt x="5990971" y="7520559"/>
                  </a:lnTo>
                  <a:lnTo>
                    <a:pt x="7855204" y="0"/>
                  </a:lnTo>
                  <a:close/>
                </a:path>
              </a:pathLst>
            </a:custGeom>
            <a:blipFill>
              <a:blip r:embed="rId4"/>
              <a:stretch>
                <a:fillRect r="-673"/>
              </a:stretch>
            </a:blipFill>
          </p:spPr>
        </p:sp>
      </p:grpSp>
      <p:grpSp>
        <p:nvGrpSpPr>
          <p:cNvPr id="8" name="Group 8"/>
          <p:cNvGrpSpPr>
            <a:grpSpLocks noChangeAspect="1"/>
          </p:cNvGrpSpPr>
          <p:nvPr/>
        </p:nvGrpSpPr>
        <p:grpSpPr>
          <a:xfrm rot="926220">
            <a:off x="9072753" y="5070348"/>
            <a:ext cx="5797972" cy="3638560"/>
            <a:chOff x="0" y="0"/>
            <a:chExt cx="7730630" cy="4851413"/>
          </a:xfrm>
        </p:grpSpPr>
        <p:sp>
          <p:nvSpPr>
            <p:cNvPr id="9" name="Freeform 9"/>
            <p:cNvSpPr/>
            <p:nvPr/>
          </p:nvSpPr>
          <p:spPr>
            <a:xfrm>
              <a:off x="0" y="0"/>
              <a:ext cx="7730617" cy="4851400"/>
            </a:xfrm>
            <a:custGeom>
              <a:avLst/>
              <a:gdLst/>
              <a:ahLst/>
              <a:cxnLst/>
              <a:rect l="l" t="t" r="r" b="b"/>
              <a:pathLst>
                <a:path w="7730617" h="4851400">
                  <a:moveTo>
                    <a:pt x="47498" y="0"/>
                  </a:moveTo>
                  <a:lnTo>
                    <a:pt x="6096" y="4155948"/>
                  </a:lnTo>
                  <a:lnTo>
                    <a:pt x="0" y="4774946"/>
                  </a:lnTo>
                  <a:lnTo>
                    <a:pt x="7683119" y="4851400"/>
                  </a:lnTo>
                  <a:lnTo>
                    <a:pt x="7730617" y="76454"/>
                  </a:lnTo>
                  <a:lnTo>
                    <a:pt x="47498" y="0"/>
                  </a:lnTo>
                  <a:close/>
                </a:path>
              </a:pathLst>
            </a:custGeom>
            <a:blipFill>
              <a:blip r:embed="rId5"/>
              <a:stretch>
                <a:fillRect r="-14949" b="-237"/>
              </a:stretch>
            </a:blipFill>
          </p:spPr>
        </p:sp>
      </p:grpSp>
      <p:sp>
        <p:nvSpPr>
          <p:cNvPr id="10" name="TextBox 10"/>
          <p:cNvSpPr txBox="1"/>
          <p:nvPr/>
        </p:nvSpPr>
        <p:spPr>
          <a:xfrm>
            <a:off x="1291771" y="3038665"/>
            <a:ext cx="9859670" cy="584835"/>
          </a:xfrm>
          <a:prstGeom prst="rect">
            <a:avLst/>
          </a:prstGeom>
        </p:spPr>
        <p:txBody>
          <a:bodyPr lIns="0" tIns="0" rIns="0" bIns="0" rtlCol="0" anchor="t">
            <a:spAutoFit/>
          </a:bodyPr>
          <a:lstStyle/>
          <a:p>
            <a:pPr algn="l">
              <a:lnSpc>
                <a:spcPts val="4200"/>
              </a:lnSpc>
            </a:pPr>
            <a:r>
              <a:rPr lang="en-US" sz="3000" b="1">
                <a:solidFill>
                  <a:srgbClr val="10B5BF"/>
                </a:solidFill>
                <a:latin typeface="Poppins Medium"/>
                <a:ea typeface="Poppins Medium"/>
                <a:cs typeface="Poppins Medium"/>
                <a:sym typeface="Poppins Medium"/>
              </a:rPr>
              <a:t>No seu dia a dia, você usa a lógica sem perceber.</a:t>
            </a:r>
          </a:p>
        </p:txBody>
      </p:sp>
      <p:sp>
        <p:nvSpPr>
          <p:cNvPr id="11" name="TextBox 11"/>
          <p:cNvSpPr txBox="1"/>
          <p:nvPr/>
        </p:nvSpPr>
        <p:spPr>
          <a:xfrm>
            <a:off x="2237422" y="1347749"/>
            <a:ext cx="13202850" cy="1262301"/>
          </a:xfrm>
          <a:prstGeom prst="rect">
            <a:avLst/>
          </a:prstGeom>
        </p:spPr>
        <p:txBody>
          <a:bodyPr lIns="0" tIns="0" rIns="0" bIns="0" rtlCol="0" anchor="t">
            <a:spAutoFit/>
          </a:bodyPr>
          <a:lstStyle/>
          <a:p>
            <a:pPr algn="l">
              <a:lnSpc>
                <a:spcPts val="9099"/>
              </a:lnSpc>
            </a:pPr>
            <a:r>
              <a:rPr lang="en-US" sz="6499" b="1">
                <a:solidFill>
                  <a:srgbClr val="FFFFFF"/>
                </a:solidFill>
                <a:latin typeface="Poppins Semi-Bold"/>
                <a:ea typeface="Poppins Semi-Bold"/>
                <a:cs typeface="Poppins Semi-Bold"/>
                <a:sym typeface="Poppins Semi-Bold"/>
              </a:rPr>
              <a:t>ONDE ENCONTRAMOS LÓGICA?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rot="6585360">
            <a:off x="835543" y="6608540"/>
            <a:ext cx="2524144" cy="2600344"/>
            <a:chOff x="0" y="0"/>
            <a:chExt cx="3365525" cy="3467125"/>
          </a:xfrm>
        </p:grpSpPr>
        <p:sp>
          <p:nvSpPr>
            <p:cNvPr id="3" name="Freeform 3"/>
            <p:cNvSpPr/>
            <p:nvPr/>
          </p:nvSpPr>
          <p:spPr>
            <a:xfrm>
              <a:off x="0" y="0"/>
              <a:ext cx="3365500" cy="3467100"/>
            </a:xfrm>
            <a:custGeom>
              <a:avLst/>
              <a:gdLst/>
              <a:ahLst/>
              <a:cxnLst/>
              <a:rect l="l" t="t" r="r" b="b"/>
              <a:pathLst>
                <a:path w="3365500" h="3467100">
                  <a:moveTo>
                    <a:pt x="0" y="3467100"/>
                  </a:moveTo>
                  <a:lnTo>
                    <a:pt x="3365500" y="3467100"/>
                  </a:lnTo>
                  <a:lnTo>
                    <a:pt x="3365500" y="0"/>
                  </a:lnTo>
                  <a:lnTo>
                    <a:pt x="0" y="0"/>
                  </a:lnTo>
                  <a:lnTo>
                    <a:pt x="0" y="3467100"/>
                  </a:lnTo>
                  <a:close/>
                </a:path>
              </a:pathLst>
            </a:custGeom>
            <a:blipFill>
              <a:blip r:embed="rId2"/>
              <a:stretch>
                <a:fillRect/>
              </a:stretch>
            </a:blipFill>
          </p:spPr>
        </p:sp>
      </p:grpSp>
      <p:grpSp>
        <p:nvGrpSpPr>
          <p:cNvPr id="4" name="Group 4"/>
          <p:cNvGrpSpPr>
            <a:grpSpLocks noChangeAspect="1"/>
          </p:cNvGrpSpPr>
          <p:nvPr/>
        </p:nvGrpSpPr>
        <p:grpSpPr>
          <a:xfrm rot="65340">
            <a:off x="14278708" y="1473889"/>
            <a:ext cx="3029464" cy="2515581"/>
            <a:chOff x="0" y="0"/>
            <a:chExt cx="4039286" cy="3354108"/>
          </a:xfrm>
        </p:grpSpPr>
        <p:sp>
          <p:nvSpPr>
            <p:cNvPr id="5" name="Freeform 5"/>
            <p:cNvSpPr/>
            <p:nvPr/>
          </p:nvSpPr>
          <p:spPr>
            <a:xfrm flipH="1">
              <a:off x="0" y="0"/>
              <a:ext cx="4039235" cy="3354070"/>
            </a:xfrm>
            <a:custGeom>
              <a:avLst/>
              <a:gdLst/>
              <a:ahLst/>
              <a:cxnLst/>
              <a:rect l="l" t="t" r="r" b="b"/>
              <a:pathLst>
                <a:path w="4039235" h="3354070">
                  <a:moveTo>
                    <a:pt x="4039235" y="1270"/>
                  </a:moveTo>
                  <a:lnTo>
                    <a:pt x="4038092" y="3354070"/>
                  </a:lnTo>
                  <a:lnTo>
                    <a:pt x="3005074" y="3353689"/>
                  </a:lnTo>
                  <a:lnTo>
                    <a:pt x="0" y="3352800"/>
                  </a:lnTo>
                  <a:lnTo>
                    <a:pt x="1016" y="0"/>
                  </a:lnTo>
                  <a:lnTo>
                    <a:pt x="2484628" y="762"/>
                  </a:lnTo>
                  <a:lnTo>
                    <a:pt x="4039235" y="1270"/>
                  </a:lnTo>
                  <a:close/>
                </a:path>
              </a:pathLst>
            </a:custGeom>
            <a:blipFill>
              <a:blip r:embed="rId3"/>
              <a:stretch>
                <a:fillRect l="-9" r="-1" b="-1"/>
              </a:stretch>
            </a:blipFill>
          </p:spPr>
        </p:sp>
      </p:grpSp>
      <p:sp>
        <p:nvSpPr>
          <p:cNvPr id="6" name="Freeform 6"/>
          <p:cNvSpPr/>
          <p:nvPr/>
        </p:nvSpPr>
        <p:spPr>
          <a:xfrm>
            <a:off x="4179103" y="8782726"/>
            <a:ext cx="9930975" cy="951147"/>
          </a:xfrm>
          <a:custGeom>
            <a:avLst/>
            <a:gdLst/>
            <a:ahLst/>
            <a:cxnLst/>
            <a:rect l="l" t="t" r="r" b="b"/>
            <a:pathLst>
              <a:path w="9930975" h="951147">
                <a:moveTo>
                  <a:pt x="0" y="0"/>
                </a:moveTo>
                <a:lnTo>
                  <a:pt x="9930975" y="0"/>
                </a:lnTo>
                <a:lnTo>
                  <a:pt x="9930975" y="951148"/>
                </a:lnTo>
                <a:lnTo>
                  <a:pt x="0" y="9511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TextBox 7"/>
          <p:cNvSpPr txBox="1"/>
          <p:nvPr/>
        </p:nvSpPr>
        <p:spPr>
          <a:xfrm>
            <a:off x="3480064" y="1859509"/>
            <a:ext cx="11554254" cy="7561583"/>
          </a:xfrm>
          <a:prstGeom prst="rect">
            <a:avLst/>
          </a:prstGeom>
        </p:spPr>
        <p:txBody>
          <a:bodyPr lIns="0" tIns="0" rIns="0" bIns="0" rtlCol="0" anchor="t">
            <a:spAutoFit/>
          </a:bodyPr>
          <a:lstStyle/>
          <a:p>
            <a:pPr algn="ctr">
              <a:lnSpc>
                <a:spcPts val="7092"/>
              </a:lnSpc>
            </a:pPr>
            <a:r>
              <a:rPr lang="en-US" sz="5964" b="1">
                <a:solidFill>
                  <a:srgbClr val="FFFFFF"/>
                </a:solidFill>
                <a:latin typeface="Poppins Semi-Bold"/>
                <a:ea typeface="Poppins Semi-Bold"/>
                <a:cs typeface="Poppins Semi-Bold"/>
                <a:sym typeface="Poppins Semi-Bold"/>
              </a:rPr>
              <a:t>Quando você aplica a lógica na programação, você está criando um conjunto de regras e conceitos que norteiam a criação de um código escrito para uma máquina.</a:t>
            </a:r>
          </a:p>
          <a:p>
            <a:pPr algn="ctr">
              <a:lnSpc>
                <a:spcPts val="4899"/>
              </a:lnSpc>
            </a:pPr>
            <a:r>
              <a:rPr lang="en-US" sz="3499">
                <a:solidFill>
                  <a:srgbClr val="000000"/>
                </a:solidFill>
                <a:latin typeface="Canva Sans"/>
                <a:ea typeface="Canva Sans"/>
                <a:cs typeface="Canva Sans"/>
                <a:sym typeface="Canva Sans"/>
              </a:rPr>
              <a:t>Processamento</a:t>
            </a:r>
          </a:p>
        </p:txBody>
      </p:sp>
      <p:sp>
        <p:nvSpPr>
          <p:cNvPr id="8" name="TextBox 8"/>
          <p:cNvSpPr txBox="1"/>
          <p:nvPr/>
        </p:nvSpPr>
        <p:spPr>
          <a:xfrm>
            <a:off x="4424772" y="8887654"/>
            <a:ext cx="1774660" cy="633689"/>
          </a:xfrm>
          <a:prstGeom prst="rect">
            <a:avLst/>
          </a:prstGeom>
        </p:spPr>
        <p:txBody>
          <a:bodyPr lIns="0" tIns="0" rIns="0" bIns="0" rtlCol="0" anchor="t">
            <a:spAutoFit/>
          </a:bodyPr>
          <a:lstStyle/>
          <a:p>
            <a:pPr algn="l">
              <a:lnSpc>
                <a:spcPts val="5038"/>
              </a:lnSpc>
            </a:pPr>
            <a:r>
              <a:rPr lang="en-US" sz="3599">
                <a:solidFill>
                  <a:srgbClr val="000000"/>
                </a:solidFill>
                <a:latin typeface="Canva Sans"/>
                <a:ea typeface="Canva Sans"/>
                <a:cs typeface="Canva Sans"/>
                <a:sym typeface="Canva Sans"/>
              </a:rPr>
              <a:t>Entrada</a:t>
            </a:r>
          </a:p>
        </p:txBody>
      </p:sp>
      <p:sp>
        <p:nvSpPr>
          <p:cNvPr id="9" name="TextBox 9"/>
          <p:cNvSpPr txBox="1"/>
          <p:nvPr/>
        </p:nvSpPr>
        <p:spPr>
          <a:xfrm>
            <a:off x="12390653" y="8855021"/>
            <a:ext cx="1229020" cy="633689"/>
          </a:xfrm>
          <a:prstGeom prst="rect">
            <a:avLst/>
          </a:prstGeom>
        </p:spPr>
        <p:txBody>
          <a:bodyPr lIns="0" tIns="0" rIns="0" bIns="0" rtlCol="0" anchor="t">
            <a:spAutoFit/>
          </a:bodyPr>
          <a:lstStyle/>
          <a:p>
            <a:pPr algn="l">
              <a:lnSpc>
                <a:spcPts val="5038"/>
              </a:lnSpc>
            </a:pPr>
            <a:r>
              <a:rPr lang="en-US" sz="3599">
                <a:solidFill>
                  <a:srgbClr val="000000"/>
                </a:solidFill>
                <a:latin typeface="Canva Sans"/>
                <a:ea typeface="Canva Sans"/>
                <a:cs typeface="Canva Sans"/>
                <a:sym typeface="Canva Sans"/>
              </a:rPr>
              <a:t>Saída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1674914" y="4341714"/>
            <a:ext cx="14938172" cy="146047"/>
            <a:chOff x="0" y="0"/>
            <a:chExt cx="14938172" cy="146050"/>
          </a:xfrm>
        </p:grpSpPr>
        <p:sp>
          <p:nvSpPr>
            <p:cNvPr id="3" name="Freeform 3"/>
            <p:cNvSpPr/>
            <p:nvPr/>
          </p:nvSpPr>
          <p:spPr>
            <a:xfrm>
              <a:off x="63500" y="63500"/>
              <a:ext cx="14811121" cy="19050"/>
            </a:xfrm>
            <a:custGeom>
              <a:avLst/>
              <a:gdLst/>
              <a:ahLst/>
              <a:cxnLst/>
              <a:rect l="l" t="t" r="r" b="b"/>
              <a:pathLst>
                <a:path w="14811121" h="19050">
                  <a:moveTo>
                    <a:pt x="9525" y="0"/>
                  </a:moveTo>
                  <a:lnTo>
                    <a:pt x="14801596" y="0"/>
                  </a:lnTo>
                  <a:cubicBezTo>
                    <a:pt x="14806803" y="0"/>
                    <a:pt x="14811121" y="4318"/>
                    <a:pt x="14811121" y="9525"/>
                  </a:cubicBezTo>
                  <a:cubicBezTo>
                    <a:pt x="14811121" y="14732"/>
                    <a:pt x="14806803" y="19050"/>
                    <a:pt x="14801596" y="19050"/>
                  </a:cubicBezTo>
                  <a:lnTo>
                    <a:pt x="9525" y="19050"/>
                  </a:lnTo>
                  <a:cubicBezTo>
                    <a:pt x="4318" y="19050"/>
                    <a:pt x="0" y="14732"/>
                    <a:pt x="0" y="9525"/>
                  </a:cubicBezTo>
                  <a:cubicBezTo>
                    <a:pt x="0" y="4318"/>
                    <a:pt x="4318" y="0"/>
                    <a:pt x="9525" y="0"/>
                  </a:cubicBezTo>
                  <a:close/>
                </a:path>
              </a:pathLst>
            </a:custGeom>
            <a:solidFill>
              <a:srgbClr val="10B5BF"/>
            </a:solidFill>
          </p:spPr>
        </p:sp>
        <p:sp>
          <p:nvSpPr>
            <p:cNvPr id="4" name="Freeform 4"/>
            <p:cNvSpPr/>
            <p:nvPr/>
          </p:nvSpPr>
          <p:spPr>
            <a:xfrm>
              <a:off x="63500" y="63500"/>
              <a:ext cx="14811121" cy="19050"/>
            </a:xfrm>
            <a:custGeom>
              <a:avLst/>
              <a:gdLst/>
              <a:ahLst/>
              <a:cxnLst/>
              <a:rect l="l" t="t" r="r" b="b"/>
              <a:pathLst>
                <a:path w="14811121" h="19050">
                  <a:moveTo>
                    <a:pt x="0" y="19050"/>
                  </a:moveTo>
                  <a:lnTo>
                    <a:pt x="14811121" y="19050"/>
                  </a:lnTo>
                  <a:lnTo>
                    <a:pt x="14811121" y="0"/>
                  </a:lnTo>
                  <a:lnTo>
                    <a:pt x="0" y="0"/>
                  </a:lnTo>
                  <a:close/>
                </a:path>
              </a:pathLst>
            </a:custGeom>
            <a:solidFill>
              <a:srgbClr val="000000">
                <a:alpha val="0"/>
              </a:srgbClr>
            </a:solidFill>
          </p:spPr>
        </p:sp>
      </p:grpSp>
      <p:grpSp>
        <p:nvGrpSpPr>
          <p:cNvPr id="5" name="Group 5"/>
          <p:cNvGrpSpPr>
            <a:grpSpLocks noChangeAspect="1"/>
          </p:cNvGrpSpPr>
          <p:nvPr/>
        </p:nvGrpSpPr>
        <p:grpSpPr>
          <a:xfrm>
            <a:off x="2014642" y="5339582"/>
            <a:ext cx="123825" cy="123825"/>
            <a:chOff x="0" y="0"/>
            <a:chExt cx="123825" cy="123825"/>
          </a:xfrm>
        </p:grpSpPr>
        <p:sp>
          <p:nvSpPr>
            <p:cNvPr id="6" name="Freeform 6"/>
            <p:cNvSpPr/>
            <p:nvPr/>
          </p:nvSpPr>
          <p:spPr>
            <a:xfrm>
              <a:off x="0" y="0"/>
              <a:ext cx="123825" cy="123825"/>
            </a:xfrm>
            <a:custGeom>
              <a:avLst/>
              <a:gdLst/>
              <a:ahLst/>
              <a:cxnLst/>
              <a:rect l="l" t="t" r="r" b="b"/>
              <a:pathLst>
                <a:path w="123825" h="123825">
                  <a:moveTo>
                    <a:pt x="123825" y="61976"/>
                  </a:moveTo>
                  <a:cubicBezTo>
                    <a:pt x="123825" y="66040"/>
                    <a:pt x="123444" y="70104"/>
                    <a:pt x="122682" y="74041"/>
                  </a:cubicBezTo>
                  <a:cubicBezTo>
                    <a:pt x="121920" y="77978"/>
                    <a:pt x="120777" y="81915"/>
                    <a:pt x="119126" y="85598"/>
                  </a:cubicBezTo>
                  <a:cubicBezTo>
                    <a:pt x="117475" y="89281"/>
                    <a:pt x="115697" y="92964"/>
                    <a:pt x="113411" y="96266"/>
                  </a:cubicBezTo>
                  <a:cubicBezTo>
                    <a:pt x="111125" y="99568"/>
                    <a:pt x="108585" y="102743"/>
                    <a:pt x="105664" y="105664"/>
                  </a:cubicBezTo>
                  <a:cubicBezTo>
                    <a:pt x="102743" y="108585"/>
                    <a:pt x="99695" y="111125"/>
                    <a:pt x="96266" y="113411"/>
                  </a:cubicBezTo>
                  <a:cubicBezTo>
                    <a:pt x="92837" y="115697"/>
                    <a:pt x="89281" y="117602"/>
                    <a:pt x="85598" y="119126"/>
                  </a:cubicBezTo>
                  <a:cubicBezTo>
                    <a:pt x="81915" y="120650"/>
                    <a:pt x="77978" y="121793"/>
                    <a:pt x="74041" y="122682"/>
                  </a:cubicBezTo>
                  <a:cubicBezTo>
                    <a:pt x="70104" y="123571"/>
                    <a:pt x="66040" y="123825"/>
                    <a:pt x="61976" y="123825"/>
                  </a:cubicBezTo>
                  <a:cubicBezTo>
                    <a:pt x="57912" y="123825"/>
                    <a:pt x="53848" y="123444"/>
                    <a:pt x="49911" y="122682"/>
                  </a:cubicBezTo>
                  <a:cubicBezTo>
                    <a:pt x="45974" y="121920"/>
                    <a:pt x="42037" y="120777"/>
                    <a:pt x="38354" y="119126"/>
                  </a:cubicBezTo>
                  <a:cubicBezTo>
                    <a:pt x="34671" y="117475"/>
                    <a:pt x="30988" y="115697"/>
                    <a:pt x="27686" y="113411"/>
                  </a:cubicBezTo>
                  <a:cubicBezTo>
                    <a:pt x="24384" y="111125"/>
                    <a:pt x="21209" y="108585"/>
                    <a:pt x="18288" y="105664"/>
                  </a:cubicBezTo>
                  <a:cubicBezTo>
                    <a:pt x="15367" y="102743"/>
                    <a:pt x="12700" y="99695"/>
                    <a:pt x="10414" y="96266"/>
                  </a:cubicBezTo>
                  <a:cubicBezTo>
                    <a:pt x="8128" y="92837"/>
                    <a:pt x="6223" y="89408"/>
                    <a:pt x="4699" y="85598"/>
                  </a:cubicBezTo>
                  <a:cubicBezTo>
                    <a:pt x="3175" y="81788"/>
                    <a:pt x="2032" y="77978"/>
                    <a:pt x="1143" y="74041"/>
                  </a:cubicBezTo>
                  <a:cubicBezTo>
                    <a:pt x="254" y="70104"/>
                    <a:pt x="0" y="66040"/>
                    <a:pt x="0" y="61976"/>
                  </a:cubicBezTo>
                  <a:cubicBezTo>
                    <a:pt x="0" y="57912"/>
                    <a:pt x="381" y="53848"/>
                    <a:pt x="1143" y="49911"/>
                  </a:cubicBezTo>
                  <a:cubicBezTo>
                    <a:pt x="1905" y="45974"/>
                    <a:pt x="3048" y="42037"/>
                    <a:pt x="4699" y="38354"/>
                  </a:cubicBezTo>
                  <a:cubicBezTo>
                    <a:pt x="6350" y="34671"/>
                    <a:pt x="8128" y="30988"/>
                    <a:pt x="10414" y="27686"/>
                  </a:cubicBezTo>
                  <a:cubicBezTo>
                    <a:pt x="12700" y="24384"/>
                    <a:pt x="15240" y="21209"/>
                    <a:pt x="18161" y="18288"/>
                  </a:cubicBezTo>
                  <a:cubicBezTo>
                    <a:pt x="21082" y="15367"/>
                    <a:pt x="24130" y="12700"/>
                    <a:pt x="27559" y="10414"/>
                  </a:cubicBezTo>
                  <a:cubicBezTo>
                    <a:pt x="30988" y="8128"/>
                    <a:pt x="34544" y="6223"/>
                    <a:pt x="38227" y="4699"/>
                  </a:cubicBezTo>
                  <a:cubicBezTo>
                    <a:pt x="41910" y="3175"/>
                    <a:pt x="45847" y="2032"/>
                    <a:pt x="49784" y="1143"/>
                  </a:cubicBezTo>
                  <a:cubicBezTo>
                    <a:pt x="53721" y="254"/>
                    <a:pt x="57785" y="0"/>
                    <a:pt x="61976" y="0"/>
                  </a:cubicBezTo>
                  <a:cubicBezTo>
                    <a:pt x="66167" y="0"/>
                    <a:pt x="70104" y="381"/>
                    <a:pt x="74041" y="1143"/>
                  </a:cubicBezTo>
                  <a:cubicBezTo>
                    <a:pt x="77978" y="1905"/>
                    <a:pt x="81915" y="3048"/>
                    <a:pt x="85598" y="4699"/>
                  </a:cubicBezTo>
                  <a:cubicBezTo>
                    <a:pt x="89281" y="6350"/>
                    <a:pt x="92964" y="8128"/>
                    <a:pt x="96266" y="10414"/>
                  </a:cubicBezTo>
                  <a:cubicBezTo>
                    <a:pt x="99568" y="12700"/>
                    <a:pt x="102743" y="15240"/>
                    <a:pt x="105664" y="18161"/>
                  </a:cubicBezTo>
                  <a:cubicBezTo>
                    <a:pt x="108585" y="21082"/>
                    <a:pt x="111125" y="24130"/>
                    <a:pt x="113411" y="27559"/>
                  </a:cubicBezTo>
                  <a:cubicBezTo>
                    <a:pt x="115697" y="30988"/>
                    <a:pt x="117602" y="34544"/>
                    <a:pt x="119126" y="38227"/>
                  </a:cubicBezTo>
                  <a:cubicBezTo>
                    <a:pt x="120650" y="41910"/>
                    <a:pt x="121793" y="45847"/>
                    <a:pt x="122682" y="49784"/>
                  </a:cubicBezTo>
                  <a:cubicBezTo>
                    <a:pt x="123571" y="53721"/>
                    <a:pt x="123825" y="57785"/>
                    <a:pt x="123825" y="61849"/>
                  </a:cubicBezTo>
                  <a:close/>
                </a:path>
              </a:pathLst>
            </a:custGeom>
            <a:solidFill>
              <a:srgbClr val="FFFFFF"/>
            </a:solidFill>
          </p:spPr>
        </p:sp>
      </p:grpSp>
      <p:grpSp>
        <p:nvGrpSpPr>
          <p:cNvPr id="7" name="Group 7"/>
          <p:cNvGrpSpPr>
            <a:grpSpLocks noChangeAspect="1"/>
          </p:cNvGrpSpPr>
          <p:nvPr/>
        </p:nvGrpSpPr>
        <p:grpSpPr>
          <a:xfrm>
            <a:off x="2014642" y="6292082"/>
            <a:ext cx="123825" cy="123825"/>
            <a:chOff x="0" y="0"/>
            <a:chExt cx="123825" cy="123825"/>
          </a:xfrm>
        </p:grpSpPr>
        <p:sp>
          <p:nvSpPr>
            <p:cNvPr id="8" name="Freeform 8"/>
            <p:cNvSpPr/>
            <p:nvPr/>
          </p:nvSpPr>
          <p:spPr>
            <a:xfrm>
              <a:off x="0" y="0"/>
              <a:ext cx="123825" cy="123825"/>
            </a:xfrm>
            <a:custGeom>
              <a:avLst/>
              <a:gdLst/>
              <a:ahLst/>
              <a:cxnLst/>
              <a:rect l="l" t="t" r="r" b="b"/>
              <a:pathLst>
                <a:path w="123825" h="123825">
                  <a:moveTo>
                    <a:pt x="123825" y="61976"/>
                  </a:moveTo>
                  <a:cubicBezTo>
                    <a:pt x="123825" y="66040"/>
                    <a:pt x="123444" y="70104"/>
                    <a:pt x="122682" y="74041"/>
                  </a:cubicBezTo>
                  <a:cubicBezTo>
                    <a:pt x="121920" y="77978"/>
                    <a:pt x="120777" y="81915"/>
                    <a:pt x="119126" y="85598"/>
                  </a:cubicBezTo>
                  <a:cubicBezTo>
                    <a:pt x="117475" y="89281"/>
                    <a:pt x="115697" y="92964"/>
                    <a:pt x="113411" y="96266"/>
                  </a:cubicBezTo>
                  <a:cubicBezTo>
                    <a:pt x="111125" y="99568"/>
                    <a:pt x="108585" y="102743"/>
                    <a:pt x="105664" y="105664"/>
                  </a:cubicBezTo>
                  <a:cubicBezTo>
                    <a:pt x="102743" y="108585"/>
                    <a:pt x="99695" y="111125"/>
                    <a:pt x="96266" y="113411"/>
                  </a:cubicBezTo>
                  <a:cubicBezTo>
                    <a:pt x="92837" y="115697"/>
                    <a:pt x="89281" y="117602"/>
                    <a:pt x="85598" y="119126"/>
                  </a:cubicBezTo>
                  <a:cubicBezTo>
                    <a:pt x="81915" y="120650"/>
                    <a:pt x="77978" y="121793"/>
                    <a:pt x="74041" y="122682"/>
                  </a:cubicBezTo>
                  <a:cubicBezTo>
                    <a:pt x="70104" y="123571"/>
                    <a:pt x="66040" y="123825"/>
                    <a:pt x="61976" y="123825"/>
                  </a:cubicBezTo>
                  <a:cubicBezTo>
                    <a:pt x="57912" y="123825"/>
                    <a:pt x="53848" y="123444"/>
                    <a:pt x="49911" y="122682"/>
                  </a:cubicBezTo>
                  <a:cubicBezTo>
                    <a:pt x="45974" y="121920"/>
                    <a:pt x="42037" y="120777"/>
                    <a:pt x="38354" y="119126"/>
                  </a:cubicBezTo>
                  <a:cubicBezTo>
                    <a:pt x="34671" y="117475"/>
                    <a:pt x="30988" y="115697"/>
                    <a:pt x="27686" y="113411"/>
                  </a:cubicBezTo>
                  <a:cubicBezTo>
                    <a:pt x="24384" y="111125"/>
                    <a:pt x="21209" y="108585"/>
                    <a:pt x="18288" y="105664"/>
                  </a:cubicBezTo>
                  <a:cubicBezTo>
                    <a:pt x="15367" y="102743"/>
                    <a:pt x="12700" y="99695"/>
                    <a:pt x="10414" y="96266"/>
                  </a:cubicBezTo>
                  <a:cubicBezTo>
                    <a:pt x="8128" y="92837"/>
                    <a:pt x="6223" y="89408"/>
                    <a:pt x="4699" y="85598"/>
                  </a:cubicBezTo>
                  <a:cubicBezTo>
                    <a:pt x="3175" y="81788"/>
                    <a:pt x="2032" y="77978"/>
                    <a:pt x="1143" y="74041"/>
                  </a:cubicBezTo>
                  <a:cubicBezTo>
                    <a:pt x="254" y="70104"/>
                    <a:pt x="0" y="66040"/>
                    <a:pt x="0" y="61976"/>
                  </a:cubicBezTo>
                  <a:cubicBezTo>
                    <a:pt x="0" y="57912"/>
                    <a:pt x="381" y="53848"/>
                    <a:pt x="1143" y="49911"/>
                  </a:cubicBezTo>
                  <a:cubicBezTo>
                    <a:pt x="1905" y="45974"/>
                    <a:pt x="3048" y="42037"/>
                    <a:pt x="4699" y="38354"/>
                  </a:cubicBezTo>
                  <a:cubicBezTo>
                    <a:pt x="6350" y="34671"/>
                    <a:pt x="8128" y="30988"/>
                    <a:pt x="10414" y="27686"/>
                  </a:cubicBezTo>
                  <a:cubicBezTo>
                    <a:pt x="12700" y="24384"/>
                    <a:pt x="15240" y="21209"/>
                    <a:pt x="18161" y="18288"/>
                  </a:cubicBezTo>
                  <a:cubicBezTo>
                    <a:pt x="21082" y="15367"/>
                    <a:pt x="24130" y="12700"/>
                    <a:pt x="27559" y="10414"/>
                  </a:cubicBezTo>
                  <a:cubicBezTo>
                    <a:pt x="30988" y="8128"/>
                    <a:pt x="34544" y="6223"/>
                    <a:pt x="38227" y="4699"/>
                  </a:cubicBezTo>
                  <a:cubicBezTo>
                    <a:pt x="41910" y="3175"/>
                    <a:pt x="45847" y="2032"/>
                    <a:pt x="49784" y="1143"/>
                  </a:cubicBezTo>
                  <a:cubicBezTo>
                    <a:pt x="53721" y="254"/>
                    <a:pt x="57785" y="0"/>
                    <a:pt x="61976" y="0"/>
                  </a:cubicBezTo>
                  <a:cubicBezTo>
                    <a:pt x="66167" y="0"/>
                    <a:pt x="70104" y="381"/>
                    <a:pt x="74041" y="1143"/>
                  </a:cubicBezTo>
                  <a:cubicBezTo>
                    <a:pt x="77978" y="1905"/>
                    <a:pt x="81915" y="3048"/>
                    <a:pt x="85598" y="4699"/>
                  </a:cubicBezTo>
                  <a:cubicBezTo>
                    <a:pt x="89281" y="6350"/>
                    <a:pt x="92964" y="8128"/>
                    <a:pt x="96266" y="10414"/>
                  </a:cubicBezTo>
                  <a:cubicBezTo>
                    <a:pt x="99568" y="12700"/>
                    <a:pt x="102743" y="15240"/>
                    <a:pt x="105664" y="18161"/>
                  </a:cubicBezTo>
                  <a:cubicBezTo>
                    <a:pt x="108585" y="21082"/>
                    <a:pt x="111125" y="24130"/>
                    <a:pt x="113411" y="27559"/>
                  </a:cubicBezTo>
                  <a:cubicBezTo>
                    <a:pt x="115697" y="30988"/>
                    <a:pt x="117602" y="34544"/>
                    <a:pt x="119126" y="38227"/>
                  </a:cubicBezTo>
                  <a:cubicBezTo>
                    <a:pt x="120650" y="41910"/>
                    <a:pt x="121793" y="45847"/>
                    <a:pt x="122682" y="49784"/>
                  </a:cubicBezTo>
                  <a:cubicBezTo>
                    <a:pt x="123571" y="53721"/>
                    <a:pt x="123825" y="57785"/>
                    <a:pt x="123825" y="61849"/>
                  </a:cubicBezTo>
                  <a:close/>
                </a:path>
              </a:pathLst>
            </a:custGeom>
            <a:solidFill>
              <a:srgbClr val="FFFFFF"/>
            </a:solidFill>
          </p:spPr>
        </p:sp>
      </p:grpSp>
      <p:grpSp>
        <p:nvGrpSpPr>
          <p:cNvPr id="9" name="Group 9"/>
          <p:cNvGrpSpPr>
            <a:grpSpLocks noChangeAspect="1"/>
          </p:cNvGrpSpPr>
          <p:nvPr/>
        </p:nvGrpSpPr>
        <p:grpSpPr>
          <a:xfrm>
            <a:off x="2014642" y="7244582"/>
            <a:ext cx="123825" cy="123825"/>
            <a:chOff x="0" y="0"/>
            <a:chExt cx="123825" cy="123825"/>
          </a:xfrm>
        </p:grpSpPr>
        <p:sp>
          <p:nvSpPr>
            <p:cNvPr id="10" name="Freeform 10"/>
            <p:cNvSpPr/>
            <p:nvPr/>
          </p:nvSpPr>
          <p:spPr>
            <a:xfrm>
              <a:off x="0" y="0"/>
              <a:ext cx="123825" cy="123825"/>
            </a:xfrm>
            <a:custGeom>
              <a:avLst/>
              <a:gdLst/>
              <a:ahLst/>
              <a:cxnLst/>
              <a:rect l="l" t="t" r="r" b="b"/>
              <a:pathLst>
                <a:path w="123825" h="123825">
                  <a:moveTo>
                    <a:pt x="123825" y="61976"/>
                  </a:moveTo>
                  <a:cubicBezTo>
                    <a:pt x="123825" y="66040"/>
                    <a:pt x="123444" y="70104"/>
                    <a:pt x="122682" y="74041"/>
                  </a:cubicBezTo>
                  <a:cubicBezTo>
                    <a:pt x="121920" y="77978"/>
                    <a:pt x="120777" y="81915"/>
                    <a:pt x="119126" y="85598"/>
                  </a:cubicBezTo>
                  <a:cubicBezTo>
                    <a:pt x="117475" y="89281"/>
                    <a:pt x="115697" y="92964"/>
                    <a:pt x="113411" y="96266"/>
                  </a:cubicBezTo>
                  <a:cubicBezTo>
                    <a:pt x="111125" y="99568"/>
                    <a:pt x="108585" y="102743"/>
                    <a:pt x="105664" y="105664"/>
                  </a:cubicBezTo>
                  <a:cubicBezTo>
                    <a:pt x="102743" y="108585"/>
                    <a:pt x="99695" y="111125"/>
                    <a:pt x="96266" y="113411"/>
                  </a:cubicBezTo>
                  <a:cubicBezTo>
                    <a:pt x="92837" y="115697"/>
                    <a:pt x="89281" y="117602"/>
                    <a:pt x="85598" y="119126"/>
                  </a:cubicBezTo>
                  <a:cubicBezTo>
                    <a:pt x="81915" y="120650"/>
                    <a:pt x="77978" y="121793"/>
                    <a:pt x="74041" y="122682"/>
                  </a:cubicBezTo>
                  <a:cubicBezTo>
                    <a:pt x="70104" y="123571"/>
                    <a:pt x="66040" y="123825"/>
                    <a:pt x="61976" y="123825"/>
                  </a:cubicBezTo>
                  <a:cubicBezTo>
                    <a:pt x="57912" y="123825"/>
                    <a:pt x="53848" y="123444"/>
                    <a:pt x="49911" y="122682"/>
                  </a:cubicBezTo>
                  <a:cubicBezTo>
                    <a:pt x="45974" y="121920"/>
                    <a:pt x="42037" y="120777"/>
                    <a:pt x="38354" y="119126"/>
                  </a:cubicBezTo>
                  <a:cubicBezTo>
                    <a:pt x="34671" y="117475"/>
                    <a:pt x="30988" y="115697"/>
                    <a:pt x="27686" y="113411"/>
                  </a:cubicBezTo>
                  <a:cubicBezTo>
                    <a:pt x="24384" y="111125"/>
                    <a:pt x="21209" y="108585"/>
                    <a:pt x="18288" y="105664"/>
                  </a:cubicBezTo>
                  <a:cubicBezTo>
                    <a:pt x="15367" y="102743"/>
                    <a:pt x="12700" y="99695"/>
                    <a:pt x="10414" y="96266"/>
                  </a:cubicBezTo>
                  <a:cubicBezTo>
                    <a:pt x="8128" y="92837"/>
                    <a:pt x="6223" y="89408"/>
                    <a:pt x="4699" y="85598"/>
                  </a:cubicBezTo>
                  <a:cubicBezTo>
                    <a:pt x="3175" y="81788"/>
                    <a:pt x="2032" y="77978"/>
                    <a:pt x="1143" y="74041"/>
                  </a:cubicBezTo>
                  <a:cubicBezTo>
                    <a:pt x="254" y="70104"/>
                    <a:pt x="0" y="66040"/>
                    <a:pt x="0" y="61976"/>
                  </a:cubicBezTo>
                  <a:cubicBezTo>
                    <a:pt x="0" y="57912"/>
                    <a:pt x="381" y="53848"/>
                    <a:pt x="1143" y="49911"/>
                  </a:cubicBezTo>
                  <a:cubicBezTo>
                    <a:pt x="1905" y="45974"/>
                    <a:pt x="3048" y="42037"/>
                    <a:pt x="4699" y="38354"/>
                  </a:cubicBezTo>
                  <a:cubicBezTo>
                    <a:pt x="6350" y="34671"/>
                    <a:pt x="8128" y="30988"/>
                    <a:pt x="10414" y="27686"/>
                  </a:cubicBezTo>
                  <a:cubicBezTo>
                    <a:pt x="12700" y="24384"/>
                    <a:pt x="15240" y="21209"/>
                    <a:pt x="18161" y="18288"/>
                  </a:cubicBezTo>
                  <a:cubicBezTo>
                    <a:pt x="21082" y="15367"/>
                    <a:pt x="24130" y="12700"/>
                    <a:pt x="27559" y="10414"/>
                  </a:cubicBezTo>
                  <a:cubicBezTo>
                    <a:pt x="30988" y="8128"/>
                    <a:pt x="34544" y="6223"/>
                    <a:pt x="38227" y="4699"/>
                  </a:cubicBezTo>
                  <a:cubicBezTo>
                    <a:pt x="41910" y="3175"/>
                    <a:pt x="45847" y="2032"/>
                    <a:pt x="49784" y="1143"/>
                  </a:cubicBezTo>
                  <a:cubicBezTo>
                    <a:pt x="53721" y="254"/>
                    <a:pt x="57785" y="0"/>
                    <a:pt x="61976" y="0"/>
                  </a:cubicBezTo>
                  <a:cubicBezTo>
                    <a:pt x="66167" y="0"/>
                    <a:pt x="70104" y="381"/>
                    <a:pt x="74041" y="1143"/>
                  </a:cubicBezTo>
                  <a:cubicBezTo>
                    <a:pt x="77978" y="1905"/>
                    <a:pt x="81915" y="3048"/>
                    <a:pt x="85598" y="4699"/>
                  </a:cubicBezTo>
                  <a:cubicBezTo>
                    <a:pt x="89281" y="6350"/>
                    <a:pt x="92964" y="8128"/>
                    <a:pt x="96266" y="10414"/>
                  </a:cubicBezTo>
                  <a:cubicBezTo>
                    <a:pt x="99568" y="12700"/>
                    <a:pt x="102743" y="15240"/>
                    <a:pt x="105664" y="18161"/>
                  </a:cubicBezTo>
                  <a:cubicBezTo>
                    <a:pt x="108585" y="21082"/>
                    <a:pt x="111125" y="24130"/>
                    <a:pt x="113411" y="27559"/>
                  </a:cubicBezTo>
                  <a:cubicBezTo>
                    <a:pt x="115697" y="30988"/>
                    <a:pt x="117602" y="34544"/>
                    <a:pt x="119126" y="38227"/>
                  </a:cubicBezTo>
                  <a:cubicBezTo>
                    <a:pt x="120650" y="41910"/>
                    <a:pt x="121793" y="45847"/>
                    <a:pt x="122682" y="49784"/>
                  </a:cubicBezTo>
                  <a:cubicBezTo>
                    <a:pt x="123571" y="53721"/>
                    <a:pt x="123825" y="57785"/>
                    <a:pt x="123825" y="61849"/>
                  </a:cubicBezTo>
                  <a:close/>
                </a:path>
              </a:pathLst>
            </a:custGeom>
            <a:solidFill>
              <a:srgbClr val="FFFFFF"/>
            </a:solidFill>
          </p:spPr>
        </p:sp>
      </p:grpSp>
      <p:grpSp>
        <p:nvGrpSpPr>
          <p:cNvPr id="11" name="Group 11"/>
          <p:cNvGrpSpPr>
            <a:grpSpLocks noChangeAspect="1"/>
          </p:cNvGrpSpPr>
          <p:nvPr/>
        </p:nvGrpSpPr>
        <p:grpSpPr>
          <a:xfrm>
            <a:off x="2014642" y="7720832"/>
            <a:ext cx="123825" cy="123825"/>
            <a:chOff x="0" y="0"/>
            <a:chExt cx="123825" cy="123825"/>
          </a:xfrm>
        </p:grpSpPr>
        <p:sp>
          <p:nvSpPr>
            <p:cNvPr id="12" name="Freeform 12"/>
            <p:cNvSpPr/>
            <p:nvPr/>
          </p:nvSpPr>
          <p:spPr>
            <a:xfrm>
              <a:off x="0" y="0"/>
              <a:ext cx="123825" cy="123825"/>
            </a:xfrm>
            <a:custGeom>
              <a:avLst/>
              <a:gdLst/>
              <a:ahLst/>
              <a:cxnLst/>
              <a:rect l="l" t="t" r="r" b="b"/>
              <a:pathLst>
                <a:path w="123825" h="123825">
                  <a:moveTo>
                    <a:pt x="123825" y="61976"/>
                  </a:moveTo>
                  <a:cubicBezTo>
                    <a:pt x="123825" y="66040"/>
                    <a:pt x="123444" y="70104"/>
                    <a:pt x="122682" y="74041"/>
                  </a:cubicBezTo>
                  <a:cubicBezTo>
                    <a:pt x="121920" y="77978"/>
                    <a:pt x="120777" y="81915"/>
                    <a:pt x="119126" y="85598"/>
                  </a:cubicBezTo>
                  <a:cubicBezTo>
                    <a:pt x="117475" y="89281"/>
                    <a:pt x="115697" y="92964"/>
                    <a:pt x="113411" y="96266"/>
                  </a:cubicBezTo>
                  <a:cubicBezTo>
                    <a:pt x="111125" y="99568"/>
                    <a:pt x="108585" y="102743"/>
                    <a:pt x="105664" y="105664"/>
                  </a:cubicBezTo>
                  <a:cubicBezTo>
                    <a:pt x="102743" y="108585"/>
                    <a:pt x="99695" y="111125"/>
                    <a:pt x="96266" y="113411"/>
                  </a:cubicBezTo>
                  <a:cubicBezTo>
                    <a:pt x="92837" y="115697"/>
                    <a:pt x="89281" y="117602"/>
                    <a:pt x="85598" y="119126"/>
                  </a:cubicBezTo>
                  <a:cubicBezTo>
                    <a:pt x="81915" y="120650"/>
                    <a:pt x="77978" y="121793"/>
                    <a:pt x="74041" y="122682"/>
                  </a:cubicBezTo>
                  <a:cubicBezTo>
                    <a:pt x="70104" y="123571"/>
                    <a:pt x="66040" y="123825"/>
                    <a:pt x="61976" y="123825"/>
                  </a:cubicBezTo>
                  <a:cubicBezTo>
                    <a:pt x="57912" y="123825"/>
                    <a:pt x="53848" y="123444"/>
                    <a:pt x="49911" y="122682"/>
                  </a:cubicBezTo>
                  <a:cubicBezTo>
                    <a:pt x="45974" y="121920"/>
                    <a:pt x="42037" y="120777"/>
                    <a:pt x="38354" y="119126"/>
                  </a:cubicBezTo>
                  <a:cubicBezTo>
                    <a:pt x="34671" y="117475"/>
                    <a:pt x="30988" y="115697"/>
                    <a:pt x="27686" y="113411"/>
                  </a:cubicBezTo>
                  <a:cubicBezTo>
                    <a:pt x="24384" y="111125"/>
                    <a:pt x="21209" y="108585"/>
                    <a:pt x="18288" y="105664"/>
                  </a:cubicBezTo>
                  <a:cubicBezTo>
                    <a:pt x="15367" y="102743"/>
                    <a:pt x="12700" y="99695"/>
                    <a:pt x="10414" y="96266"/>
                  </a:cubicBezTo>
                  <a:cubicBezTo>
                    <a:pt x="8128" y="92837"/>
                    <a:pt x="6223" y="89408"/>
                    <a:pt x="4699" y="85598"/>
                  </a:cubicBezTo>
                  <a:cubicBezTo>
                    <a:pt x="3175" y="81788"/>
                    <a:pt x="2032" y="77978"/>
                    <a:pt x="1143" y="74041"/>
                  </a:cubicBezTo>
                  <a:cubicBezTo>
                    <a:pt x="254" y="70104"/>
                    <a:pt x="0" y="66040"/>
                    <a:pt x="0" y="61976"/>
                  </a:cubicBezTo>
                  <a:cubicBezTo>
                    <a:pt x="0" y="57912"/>
                    <a:pt x="381" y="53848"/>
                    <a:pt x="1143" y="49911"/>
                  </a:cubicBezTo>
                  <a:cubicBezTo>
                    <a:pt x="1905" y="45974"/>
                    <a:pt x="3048" y="42037"/>
                    <a:pt x="4699" y="38354"/>
                  </a:cubicBezTo>
                  <a:cubicBezTo>
                    <a:pt x="6350" y="34671"/>
                    <a:pt x="8128" y="30988"/>
                    <a:pt x="10414" y="27686"/>
                  </a:cubicBezTo>
                  <a:cubicBezTo>
                    <a:pt x="12700" y="24384"/>
                    <a:pt x="15240" y="21209"/>
                    <a:pt x="18161" y="18288"/>
                  </a:cubicBezTo>
                  <a:cubicBezTo>
                    <a:pt x="21082" y="15367"/>
                    <a:pt x="24130" y="12700"/>
                    <a:pt x="27559" y="10414"/>
                  </a:cubicBezTo>
                  <a:cubicBezTo>
                    <a:pt x="30988" y="8128"/>
                    <a:pt x="34544" y="6223"/>
                    <a:pt x="38227" y="4699"/>
                  </a:cubicBezTo>
                  <a:cubicBezTo>
                    <a:pt x="41910" y="3175"/>
                    <a:pt x="45847" y="2032"/>
                    <a:pt x="49784" y="1143"/>
                  </a:cubicBezTo>
                  <a:cubicBezTo>
                    <a:pt x="53721" y="254"/>
                    <a:pt x="57785" y="0"/>
                    <a:pt x="61976" y="0"/>
                  </a:cubicBezTo>
                  <a:cubicBezTo>
                    <a:pt x="66167" y="0"/>
                    <a:pt x="70104" y="381"/>
                    <a:pt x="74041" y="1143"/>
                  </a:cubicBezTo>
                  <a:cubicBezTo>
                    <a:pt x="77978" y="1905"/>
                    <a:pt x="81915" y="3048"/>
                    <a:pt x="85598" y="4699"/>
                  </a:cubicBezTo>
                  <a:cubicBezTo>
                    <a:pt x="89281" y="6350"/>
                    <a:pt x="92964" y="8128"/>
                    <a:pt x="96266" y="10414"/>
                  </a:cubicBezTo>
                  <a:cubicBezTo>
                    <a:pt x="99568" y="12700"/>
                    <a:pt x="102743" y="15240"/>
                    <a:pt x="105664" y="18161"/>
                  </a:cubicBezTo>
                  <a:cubicBezTo>
                    <a:pt x="108585" y="21082"/>
                    <a:pt x="111125" y="24130"/>
                    <a:pt x="113411" y="27559"/>
                  </a:cubicBezTo>
                  <a:cubicBezTo>
                    <a:pt x="115697" y="30988"/>
                    <a:pt x="117602" y="34544"/>
                    <a:pt x="119126" y="38227"/>
                  </a:cubicBezTo>
                  <a:cubicBezTo>
                    <a:pt x="120650" y="41910"/>
                    <a:pt x="121793" y="45847"/>
                    <a:pt x="122682" y="49784"/>
                  </a:cubicBezTo>
                  <a:cubicBezTo>
                    <a:pt x="123571" y="53721"/>
                    <a:pt x="123825" y="57785"/>
                    <a:pt x="123825" y="61849"/>
                  </a:cubicBezTo>
                  <a:close/>
                </a:path>
              </a:pathLst>
            </a:custGeom>
            <a:solidFill>
              <a:srgbClr val="FFFFFF"/>
            </a:solidFill>
          </p:spPr>
        </p:sp>
      </p:grpSp>
      <p:grpSp>
        <p:nvGrpSpPr>
          <p:cNvPr id="13" name="Group 13"/>
          <p:cNvGrpSpPr>
            <a:grpSpLocks noChangeAspect="1"/>
          </p:cNvGrpSpPr>
          <p:nvPr/>
        </p:nvGrpSpPr>
        <p:grpSpPr>
          <a:xfrm>
            <a:off x="2014642" y="8197082"/>
            <a:ext cx="123825" cy="123825"/>
            <a:chOff x="0" y="0"/>
            <a:chExt cx="123825" cy="123825"/>
          </a:xfrm>
        </p:grpSpPr>
        <p:sp>
          <p:nvSpPr>
            <p:cNvPr id="14" name="Freeform 14"/>
            <p:cNvSpPr/>
            <p:nvPr/>
          </p:nvSpPr>
          <p:spPr>
            <a:xfrm>
              <a:off x="0" y="0"/>
              <a:ext cx="123825" cy="123825"/>
            </a:xfrm>
            <a:custGeom>
              <a:avLst/>
              <a:gdLst/>
              <a:ahLst/>
              <a:cxnLst/>
              <a:rect l="l" t="t" r="r" b="b"/>
              <a:pathLst>
                <a:path w="123825" h="123825">
                  <a:moveTo>
                    <a:pt x="123825" y="61976"/>
                  </a:moveTo>
                  <a:cubicBezTo>
                    <a:pt x="123825" y="66040"/>
                    <a:pt x="123444" y="70104"/>
                    <a:pt x="122682" y="74041"/>
                  </a:cubicBezTo>
                  <a:cubicBezTo>
                    <a:pt x="121920" y="77978"/>
                    <a:pt x="120777" y="81915"/>
                    <a:pt x="119126" y="85598"/>
                  </a:cubicBezTo>
                  <a:cubicBezTo>
                    <a:pt x="117475" y="89281"/>
                    <a:pt x="115697" y="92964"/>
                    <a:pt x="113411" y="96266"/>
                  </a:cubicBezTo>
                  <a:cubicBezTo>
                    <a:pt x="111125" y="99568"/>
                    <a:pt x="108585" y="102743"/>
                    <a:pt x="105664" y="105664"/>
                  </a:cubicBezTo>
                  <a:cubicBezTo>
                    <a:pt x="102743" y="108585"/>
                    <a:pt x="99695" y="111125"/>
                    <a:pt x="96266" y="113411"/>
                  </a:cubicBezTo>
                  <a:cubicBezTo>
                    <a:pt x="92837" y="115697"/>
                    <a:pt x="89281" y="117602"/>
                    <a:pt x="85598" y="119126"/>
                  </a:cubicBezTo>
                  <a:cubicBezTo>
                    <a:pt x="81915" y="120650"/>
                    <a:pt x="77978" y="121793"/>
                    <a:pt x="74041" y="122682"/>
                  </a:cubicBezTo>
                  <a:cubicBezTo>
                    <a:pt x="70104" y="123571"/>
                    <a:pt x="66040" y="123825"/>
                    <a:pt x="61976" y="123825"/>
                  </a:cubicBezTo>
                  <a:cubicBezTo>
                    <a:pt x="57912" y="123825"/>
                    <a:pt x="53848" y="123444"/>
                    <a:pt x="49911" y="122682"/>
                  </a:cubicBezTo>
                  <a:cubicBezTo>
                    <a:pt x="45974" y="121920"/>
                    <a:pt x="42037" y="120777"/>
                    <a:pt x="38354" y="119126"/>
                  </a:cubicBezTo>
                  <a:cubicBezTo>
                    <a:pt x="34671" y="117475"/>
                    <a:pt x="30988" y="115697"/>
                    <a:pt x="27686" y="113411"/>
                  </a:cubicBezTo>
                  <a:cubicBezTo>
                    <a:pt x="24384" y="111125"/>
                    <a:pt x="21209" y="108585"/>
                    <a:pt x="18288" y="105664"/>
                  </a:cubicBezTo>
                  <a:cubicBezTo>
                    <a:pt x="15367" y="102743"/>
                    <a:pt x="12700" y="99695"/>
                    <a:pt x="10414" y="96266"/>
                  </a:cubicBezTo>
                  <a:cubicBezTo>
                    <a:pt x="8128" y="92837"/>
                    <a:pt x="6223" y="89408"/>
                    <a:pt x="4699" y="85598"/>
                  </a:cubicBezTo>
                  <a:cubicBezTo>
                    <a:pt x="3175" y="81788"/>
                    <a:pt x="2032" y="77978"/>
                    <a:pt x="1143" y="74041"/>
                  </a:cubicBezTo>
                  <a:cubicBezTo>
                    <a:pt x="254" y="70104"/>
                    <a:pt x="0" y="66040"/>
                    <a:pt x="0" y="61976"/>
                  </a:cubicBezTo>
                  <a:cubicBezTo>
                    <a:pt x="0" y="57912"/>
                    <a:pt x="381" y="53848"/>
                    <a:pt x="1143" y="49911"/>
                  </a:cubicBezTo>
                  <a:cubicBezTo>
                    <a:pt x="1905" y="45974"/>
                    <a:pt x="3048" y="42037"/>
                    <a:pt x="4699" y="38354"/>
                  </a:cubicBezTo>
                  <a:cubicBezTo>
                    <a:pt x="6350" y="34671"/>
                    <a:pt x="8128" y="30988"/>
                    <a:pt x="10414" y="27686"/>
                  </a:cubicBezTo>
                  <a:cubicBezTo>
                    <a:pt x="12700" y="24384"/>
                    <a:pt x="15240" y="21209"/>
                    <a:pt x="18161" y="18288"/>
                  </a:cubicBezTo>
                  <a:cubicBezTo>
                    <a:pt x="21082" y="15367"/>
                    <a:pt x="24130" y="12700"/>
                    <a:pt x="27559" y="10414"/>
                  </a:cubicBezTo>
                  <a:cubicBezTo>
                    <a:pt x="30988" y="8128"/>
                    <a:pt x="34544" y="6223"/>
                    <a:pt x="38227" y="4699"/>
                  </a:cubicBezTo>
                  <a:cubicBezTo>
                    <a:pt x="41910" y="3175"/>
                    <a:pt x="45847" y="2032"/>
                    <a:pt x="49784" y="1143"/>
                  </a:cubicBezTo>
                  <a:cubicBezTo>
                    <a:pt x="53721" y="254"/>
                    <a:pt x="57785" y="0"/>
                    <a:pt x="61976" y="0"/>
                  </a:cubicBezTo>
                  <a:cubicBezTo>
                    <a:pt x="66167" y="0"/>
                    <a:pt x="70104" y="381"/>
                    <a:pt x="74041" y="1143"/>
                  </a:cubicBezTo>
                  <a:cubicBezTo>
                    <a:pt x="77978" y="1905"/>
                    <a:pt x="81915" y="3048"/>
                    <a:pt x="85598" y="4699"/>
                  </a:cubicBezTo>
                  <a:cubicBezTo>
                    <a:pt x="89281" y="6350"/>
                    <a:pt x="92964" y="8128"/>
                    <a:pt x="96266" y="10414"/>
                  </a:cubicBezTo>
                  <a:cubicBezTo>
                    <a:pt x="99568" y="12700"/>
                    <a:pt x="102743" y="15240"/>
                    <a:pt x="105664" y="18161"/>
                  </a:cubicBezTo>
                  <a:cubicBezTo>
                    <a:pt x="108585" y="21082"/>
                    <a:pt x="111125" y="24130"/>
                    <a:pt x="113411" y="27559"/>
                  </a:cubicBezTo>
                  <a:cubicBezTo>
                    <a:pt x="115697" y="30988"/>
                    <a:pt x="117602" y="34544"/>
                    <a:pt x="119126" y="38227"/>
                  </a:cubicBezTo>
                  <a:cubicBezTo>
                    <a:pt x="120650" y="41910"/>
                    <a:pt x="121793" y="45847"/>
                    <a:pt x="122682" y="49784"/>
                  </a:cubicBezTo>
                  <a:cubicBezTo>
                    <a:pt x="123571" y="53721"/>
                    <a:pt x="123825" y="57785"/>
                    <a:pt x="123825" y="61849"/>
                  </a:cubicBezTo>
                  <a:close/>
                </a:path>
              </a:pathLst>
            </a:custGeom>
            <a:solidFill>
              <a:srgbClr val="FFFFFF"/>
            </a:solidFill>
          </p:spPr>
        </p:sp>
      </p:grpSp>
      <p:sp>
        <p:nvSpPr>
          <p:cNvPr id="15" name="TextBox 15"/>
          <p:cNvSpPr txBox="1"/>
          <p:nvPr/>
        </p:nvSpPr>
        <p:spPr>
          <a:xfrm>
            <a:off x="2326729" y="5086207"/>
            <a:ext cx="13983710" cy="3387014"/>
          </a:xfrm>
          <a:prstGeom prst="rect">
            <a:avLst/>
          </a:prstGeom>
        </p:spPr>
        <p:txBody>
          <a:bodyPr lIns="0" tIns="0" rIns="0" bIns="0" rtlCol="0" anchor="t">
            <a:spAutoFit/>
          </a:bodyPr>
          <a:lstStyle/>
          <a:p>
            <a:pPr algn="l">
              <a:lnSpc>
                <a:spcPts val="3749"/>
              </a:lnSpc>
            </a:pPr>
            <a:r>
              <a:rPr lang="en-US" sz="2724">
                <a:solidFill>
                  <a:srgbClr val="FFFFFF"/>
                </a:solidFill>
                <a:latin typeface="Poppins Light"/>
                <a:ea typeface="Poppins Light"/>
                <a:cs typeface="Poppins Light"/>
                <a:sym typeface="Poppins Light"/>
              </a:rPr>
              <a:t>Você está desenvolvendo um jogo e em determinado momento, o personagem deve abrir uma porta. Para abrir a porta ele deve usar uma chave, essa chave ele encontra sobre uma gaveta. Essa gaveta está em outro comodo do lugar. As mecânicas que já existe no jogador é apenas de locomoção Como pode ser resolvido esse problema?</a:t>
            </a:r>
          </a:p>
        </p:txBody>
      </p:sp>
      <p:sp>
        <p:nvSpPr>
          <p:cNvPr id="16" name="TextBox 16"/>
          <p:cNvSpPr txBox="1"/>
          <p:nvPr/>
        </p:nvSpPr>
        <p:spPr>
          <a:xfrm>
            <a:off x="1738417" y="1566958"/>
            <a:ext cx="13952792" cy="2278971"/>
          </a:xfrm>
          <a:prstGeom prst="rect">
            <a:avLst/>
          </a:prstGeom>
        </p:spPr>
        <p:txBody>
          <a:bodyPr lIns="0" tIns="0" rIns="0" bIns="0" rtlCol="0" anchor="t">
            <a:spAutoFit/>
          </a:bodyPr>
          <a:lstStyle/>
          <a:p>
            <a:pPr algn="l">
              <a:lnSpc>
                <a:spcPts val="8322"/>
              </a:lnSpc>
            </a:pPr>
            <a:r>
              <a:rPr lang="en-US" sz="6999" b="1">
                <a:solidFill>
                  <a:srgbClr val="FFFFFF"/>
                </a:solidFill>
                <a:latin typeface="Poppins Semi-Bold"/>
                <a:ea typeface="Poppins Semi-Bold"/>
                <a:cs typeface="Poppins Semi-Bold"/>
                <a:sym typeface="Poppins Semi-Bold"/>
              </a:rPr>
              <a:t>Exemplo de um problema em um jogo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1674914" y="3813077"/>
            <a:ext cx="14938172" cy="146047"/>
            <a:chOff x="0" y="0"/>
            <a:chExt cx="14938172" cy="146050"/>
          </a:xfrm>
        </p:grpSpPr>
        <p:sp>
          <p:nvSpPr>
            <p:cNvPr id="3" name="Freeform 3"/>
            <p:cNvSpPr/>
            <p:nvPr/>
          </p:nvSpPr>
          <p:spPr>
            <a:xfrm>
              <a:off x="63500" y="63500"/>
              <a:ext cx="14811121" cy="19050"/>
            </a:xfrm>
            <a:custGeom>
              <a:avLst/>
              <a:gdLst/>
              <a:ahLst/>
              <a:cxnLst/>
              <a:rect l="l" t="t" r="r" b="b"/>
              <a:pathLst>
                <a:path w="14811121" h="19050">
                  <a:moveTo>
                    <a:pt x="9525" y="0"/>
                  </a:moveTo>
                  <a:lnTo>
                    <a:pt x="14801596" y="0"/>
                  </a:lnTo>
                  <a:cubicBezTo>
                    <a:pt x="14806803" y="0"/>
                    <a:pt x="14811121" y="4318"/>
                    <a:pt x="14811121" y="9525"/>
                  </a:cubicBezTo>
                  <a:cubicBezTo>
                    <a:pt x="14811121" y="14732"/>
                    <a:pt x="14806803" y="19050"/>
                    <a:pt x="14801596" y="19050"/>
                  </a:cubicBezTo>
                  <a:lnTo>
                    <a:pt x="9525" y="19050"/>
                  </a:lnTo>
                  <a:cubicBezTo>
                    <a:pt x="4318" y="19050"/>
                    <a:pt x="0" y="14732"/>
                    <a:pt x="0" y="9525"/>
                  </a:cubicBezTo>
                  <a:cubicBezTo>
                    <a:pt x="0" y="4318"/>
                    <a:pt x="4318" y="0"/>
                    <a:pt x="9525" y="0"/>
                  </a:cubicBezTo>
                  <a:close/>
                </a:path>
              </a:pathLst>
            </a:custGeom>
            <a:solidFill>
              <a:srgbClr val="10B5BF"/>
            </a:solidFill>
          </p:spPr>
        </p:sp>
        <p:sp>
          <p:nvSpPr>
            <p:cNvPr id="4" name="Freeform 4"/>
            <p:cNvSpPr/>
            <p:nvPr/>
          </p:nvSpPr>
          <p:spPr>
            <a:xfrm>
              <a:off x="63500" y="63500"/>
              <a:ext cx="14811121" cy="19050"/>
            </a:xfrm>
            <a:custGeom>
              <a:avLst/>
              <a:gdLst/>
              <a:ahLst/>
              <a:cxnLst/>
              <a:rect l="l" t="t" r="r" b="b"/>
              <a:pathLst>
                <a:path w="14811121" h="19050">
                  <a:moveTo>
                    <a:pt x="0" y="19050"/>
                  </a:moveTo>
                  <a:lnTo>
                    <a:pt x="14811121" y="19050"/>
                  </a:lnTo>
                  <a:lnTo>
                    <a:pt x="14811121" y="0"/>
                  </a:lnTo>
                  <a:lnTo>
                    <a:pt x="0" y="0"/>
                  </a:lnTo>
                  <a:close/>
                </a:path>
              </a:pathLst>
            </a:custGeom>
            <a:solidFill>
              <a:srgbClr val="000000">
                <a:alpha val="0"/>
              </a:srgbClr>
            </a:solidFill>
          </p:spPr>
        </p:sp>
      </p:grpSp>
      <p:grpSp>
        <p:nvGrpSpPr>
          <p:cNvPr id="5" name="Group 5"/>
          <p:cNvGrpSpPr>
            <a:grpSpLocks noChangeAspect="1"/>
          </p:cNvGrpSpPr>
          <p:nvPr/>
        </p:nvGrpSpPr>
        <p:grpSpPr>
          <a:xfrm>
            <a:off x="2014642" y="4810944"/>
            <a:ext cx="123825" cy="123825"/>
            <a:chOff x="0" y="0"/>
            <a:chExt cx="123825" cy="123825"/>
          </a:xfrm>
        </p:grpSpPr>
        <p:sp>
          <p:nvSpPr>
            <p:cNvPr id="6" name="Freeform 6"/>
            <p:cNvSpPr/>
            <p:nvPr/>
          </p:nvSpPr>
          <p:spPr>
            <a:xfrm>
              <a:off x="0" y="0"/>
              <a:ext cx="123825" cy="123825"/>
            </a:xfrm>
            <a:custGeom>
              <a:avLst/>
              <a:gdLst/>
              <a:ahLst/>
              <a:cxnLst/>
              <a:rect l="l" t="t" r="r" b="b"/>
              <a:pathLst>
                <a:path w="123825" h="123825">
                  <a:moveTo>
                    <a:pt x="123825" y="61976"/>
                  </a:moveTo>
                  <a:cubicBezTo>
                    <a:pt x="123825" y="66040"/>
                    <a:pt x="123444" y="70104"/>
                    <a:pt x="122682" y="74041"/>
                  </a:cubicBezTo>
                  <a:cubicBezTo>
                    <a:pt x="121920" y="77978"/>
                    <a:pt x="120777" y="81915"/>
                    <a:pt x="119126" y="85598"/>
                  </a:cubicBezTo>
                  <a:cubicBezTo>
                    <a:pt x="117475" y="89281"/>
                    <a:pt x="115697" y="92964"/>
                    <a:pt x="113411" y="96266"/>
                  </a:cubicBezTo>
                  <a:cubicBezTo>
                    <a:pt x="111125" y="99568"/>
                    <a:pt x="108585" y="102743"/>
                    <a:pt x="105664" y="105664"/>
                  </a:cubicBezTo>
                  <a:cubicBezTo>
                    <a:pt x="102743" y="108585"/>
                    <a:pt x="99695" y="111125"/>
                    <a:pt x="96266" y="113411"/>
                  </a:cubicBezTo>
                  <a:cubicBezTo>
                    <a:pt x="92837" y="115697"/>
                    <a:pt x="89281" y="117602"/>
                    <a:pt x="85598" y="119126"/>
                  </a:cubicBezTo>
                  <a:cubicBezTo>
                    <a:pt x="81915" y="120650"/>
                    <a:pt x="77978" y="121793"/>
                    <a:pt x="74041" y="122682"/>
                  </a:cubicBezTo>
                  <a:cubicBezTo>
                    <a:pt x="70104" y="123571"/>
                    <a:pt x="66040" y="123825"/>
                    <a:pt x="61976" y="123825"/>
                  </a:cubicBezTo>
                  <a:cubicBezTo>
                    <a:pt x="57912" y="123825"/>
                    <a:pt x="53848" y="123444"/>
                    <a:pt x="49911" y="122682"/>
                  </a:cubicBezTo>
                  <a:cubicBezTo>
                    <a:pt x="45974" y="121920"/>
                    <a:pt x="42037" y="120777"/>
                    <a:pt x="38354" y="119126"/>
                  </a:cubicBezTo>
                  <a:cubicBezTo>
                    <a:pt x="34671" y="117475"/>
                    <a:pt x="30988" y="115697"/>
                    <a:pt x="27686" y="113411"/>
                  </a:cubicBezTo>
                  <a:cubicBezTo>
                    <a:pt x="24384" y="111125"/>
                    <a:pt x="21209" y="108585"/>
                    <a:pt x="18288" y="105664"/>
                  </a:cubicBezTo>
                  <a:cubicBezTo>
                    <a:pt x="15367" y="102743"/>
                    <a:pt x="12700" y="99695"/>
                    <a:pt x="10414" y="96266"/>
                  </a:cubicBezTo>
                  <a:cubicBezTo>
                    <a:pt x="8128" y="92837"/>
                    <a:pt x="6223" y="89408"/>
                    <a:pt x="4699" y="85598"/>
                  </a:cubicBezTo>
                  <a:cubicBezTo>
                    <a:pt x="3175" y="81788"/>
                    <a:pt x="2032" y="77978"/>
                    <a:pt x="1143" y="74041"/>
                  </a:cubicBezTo>
                  <a:cubicBezTo>
                    <a:pt x="254" y="70104"/>
                    <a:pt x="0" y="66040"/>
                    <a:pt x="0" y="61976"/>
                  </a:cubicBezTo>
                  <a:cubicBezTo>
                    <a:pt x="0" y="57912"/>
                    <a:pt x="381" y="53848"/>
                    <a:pt x="1143" y="49911"/>
                  </a:cubicBezTo>
                  <a:cubicBezTo>
                    <a:pt x="1905" y="45974"/>
                    <a:pt x="3048" y="42037"/>
                    <a:pt x="4699" y="38354"/>
                  </a:cubicBezTo>
                  <a:cubicBezTo>
                    <a:pt x="6350" y="34671"/>
                    <a:pt x="8128" y="30988"/>
                    <a:pt x="10414" y="27686"/>
                  </a:cubicBezTo>
                  <a:cubicBezTo>
                    <a:pt x="12700" y="24384"/>
                    <a:pt x="15240" y="21209"/>
                    <a:pt x="18161" y="18288"/>
                  </a:cubicBezTo>
                  <a:cubicBezTo>
                    <a:pt x="21082" y="15367"/>
                    <a:pt x="24130" y="12700"/>
                    <a:pt x="27559" y="10414"/>
                  </a:cubicBezTo>
                  <a:cubicBezTo>
                    <a:pt x="30988" y="8128"/>
                    <a:pt x="34544" y="6223"/>
                    <a:pt x="38227" y="4699"/>
                  </a:cubicBezTo>
                  <a:cubicBezTo>
                    <a:pt x="41910" y="3175"/>
                    <a:pt x="45847" y="2032"/>
                    <a:pt x="49784" y="1143"/>
                  </a:cubicBezTo>
                  <a:cubicBezTo>
                    <a:pt x="53721" y="254"/>
                    <a:pt x="57785" y="0"/>
                    <a:pt x="61976" y="0"/>
                  </a:cubicBezTo>
                  <a:cubicBezTo>
                    <a:pt x="66167" y="0"/>
                    <a:pt x="70104" y="381"/>
                    <a:pt x="74041" y="1143"/>
                  </a:cubicBezTo>
                  <a:cubicBezTo>
                    <a:pt x="77978" y="1905"/>
                    <a:pt x="81915" y="3048"/>
                    <a:pt x="85598" y="4699"/>
                  </a:cubicBezTo>
                  <a:cubicBezTo>
                    <a:pt x="89281" y="6350"/>
                    <a:pt x="92964" y="8128"/>
                    <a:pt x="96266" y="10414"/>
                  </a:cubicBezTo>
                  <a:cubicBezTo>
                    <a:pt x="99568" y="12700"/>
                    <a:pt x="102743" y="15240"/>
                    <a:pt x="105664" y="18161"/>
                  </a:cubicBezTo>
                  <a:cubicBezTo>
                    <a:pt x="108585" y="21082"/>
                    <a:pt x="111125" y="24130"/>
                    <a:pt x="113411" y="27559"/>
                  </a:cubicBezTo>
                  <a:cubicBezTo>
                    <a:pt x="115697" y="30988"/>
                    <a:pt x="117602" y="34544"/>
                    <a:pt x="119126" y="38227"/>
                  </a:cubicBezTo>
                  <a:cubicBezTo>
                    <a:pt x="120650" y="41910"/>
                    <a:pt x="121793" y="45847"/>
                    <a:pt x="122682" y="49784"/>
                  </a:cubicBezTo>
                  <a:cubicBezTo>
                    <a:pt x="123571" y="53721"/>
                    <a:pt x="123825" y="57785"/>
                    <a:pt x="123825" y="61849"/>
                  </a:cubicBezTo>
                  <a:close/>
                </a:path>
              </a:pathLst>
            </a:custGeom>
            <a:solidFill>
              <a:srgbClr val="FFFFFF"/>
            </a:solidFill>
          </p:spPr>
        </p:sp>
      </p:grpSp>
      <p:grpSp>
        <p:nvGrpSpPr>
          <p:cNvPr id="7" name="Group 7"/>
          <p:cNvGrpSpPr>
            <a:grpSpLocks noChangeAspect="1"/>
          </p:cNvGrpSpPr>
          <p:nvPr/>
        </p:nvGrpSpPr>
        <p:grpSpPr>
          <a:xfrm>
            <a:off x="2014642" y="5287194"/>
            <a:ext cx="123825" cy="123825"/>
            <a:chOff x="0" y="0"/>
            <a:chExt cx="123825" cy="123825"/>
          </a:xfrm>
        </p:grpSpPr>
        <p:sp>
          <p:nvSpPr>
            <p:cNvPr id="8" name="Freeform 8"/>
            <p:cNvSpPr/>
            <p:nvPr/>
          </p:nvSpPr>
          <p:spPr>
            <a:xfrm>
              <a:off x="0" y="0"/>
              <a:ext cx="123825" cy="123825"/>
            </a:xfrm>
            <a:custGeom>
              <a:avLst/>
              <a:gdLst/>
              <a:ahLst/>
              <a:cxnLst/>
              <a:rect l="l" t="t" r="r" b="b"/>
              <a:pathLst>
                <a:path w="123825" h="123825">
                  <a:moveTo>
                    <a:pt x="123825" y="61976"/>
                  </a:moveTo>
                  <a:cubicBezTo>
                    <a:pt x="123825" y="66040"/>
                    <a:pt x="123444" y="70104"/>
                    <a:pt x="122682" y="74041"/>
                  </a:cubicBezTo>
                  <a:cubicBezTo>
                    <a:pt x="121920" y="77978"/>
                    <a:pt x="120777" y="81915"/>
                    <a:pt x="119126" y="85598"/>
                  </a:cubicBezTo>
                  <a:cubicBezTo>
                    <a:pt x="117475" y="89281"/>
                    <a:pt x="115697" y="92964"/>
                    <a:pt x="113411" y="96266"/>
                  </a:cubicBezTo>
                  <a:cubicBezTo>
                    <a:pt x="111125" y="99568"/>
                    <a:pt x="108585" y="102743"/>
                    <a:pt x="105664" y="105664"/>
                  </a:cubicBezTo>
                  <a:cubicBezTo>
                    <a:pt x="102743" y="108585"/>
                    <a:pt x="99695" y="111125"/>
                    <a:pt x="96266" y="113411"/>
                  </a:cubicBezTo>
                  <a:cubicBezTo>
                    <a:pt x="92837" y="115697"/>
                    <a:pt x="89281" y="117602"/>
                    <a:pt x="85598" y="119126"/>
                  </a:cubicBezTo>
                  <a:cubicBezTo>
                    <a:pt x="81915" y="120650"/>
                    <a:pt x="77978" y="121793"/>
                    <a:pt x="74041" y="122682"/>
                  </a:cubicBezTo>
                  <a:cubicBezTo>
                    <a:pt x="70104" y="123571"/>
                    <a:pt x="66040" y="123825"/>
                    <a:pt x="61976" y="123825"/>
                  </a:cubicBezTo>
                  <a:cubicBezTo>
                    <a:pt x="57912" y="123825"/>
                    <a:pt x="53848" y="123444"/>
                    <a:pt x="49911" y="122682"/>
                  </a:cubicBezTo>
                  <a:cubicBezTo>
                    <a:pt x="45974" y="121920"/>
                    <a:pt x="42037" y="120777"/>
                    <a:pt x="38354" y="119126"/>
                  </a:cubicBezTo>
                  <a:cubicBezTo>
                    <a:pt x="34671" y="117475"/>
                    <a:pt x="30988" y="115697"/>
                    <a:pt x="27686" y="113411"/>
                  </a:cubicBezTo>
                  <a:cubicBezTo>
                    <a:pt x="24384" y="111125"/>
                    <a:pt x="21209" y="108585"/>
                    <a:pt x="18288" y="105664"/>
                  </a:cubicBezTo>
                  <a:cubicBezTo>
                    <a:pt x="15367" y="102743"/>
                    <a:pt x="12700" y="99695"/>
                    <a:pt x="10414" y="96266"/>
                  </a:cubicBezTo>
                  <a:cubicBezTo>
                    <a:pt x="8128" y="92837"/>
                    <a:pt x="6223" y="89408"/>
                    <a:pt x="4699" y="85598"/>
                  </a:cubicBezTo>
                  <a:cubicBezTo>
                    <a:pt x="3175" y="81788"/>
                    <a:pt x="2032" y="77978"/>
                    <a:pt x="1143" y="74041"/>
                  </a:cubicBezTo>
                  <a:cubicBezTo>
                    <a:pt x="254" y="70104"/>
                    <a:pt x="0" y="66040"/>
                    <a:pt x="0" y="61976"/>
                  </a:cubicBezTo>
                  <a:cubicBezTo>
                    <a:pt x="0" y="57912"/>
                    <a:pt x="381" y="53848"/>
                    <a:pt x="1143" y="49911"/>
                  </a:cubicBezTo>
                  <a:cubicBezTo>
                    <a:pt x="1905" y="45974"/>
                    <a:pt x="3048" y="42037"/>
                    <a:pt x="4699" y="38354"/>
                  </a:cubicBezTo>
                  <a:cubicBezTo>
                    <a:pt x="6350" y="34671"/>
                    <a:pt x="8128" y="30988"/>
                    <a:pt x="10414" y="27686"/>
                  </a:cubicBezTo>
                  <a:cubicBezTo>
                    <a:pt x="12700" y="24384"/>
                    <a:pt x="15240" y="21209"/>
                    <a:pt x="18161" y="18288"/>
                  </a:cubicBezTo>
                  <a:cubicBezTo>
                    <a:pt x="21082" y="15367"/>
                    <a:pt x="24130" y="12700"/>
                    <a:pt x="27559" y="10414"/>
                  </a:cubicBezTo>
                  <a:cubicBezTo>
                    <a:pt x="30988" y="8128"/>
                    <a:pt x="34544" y="6223"/>
                    <a:pt x="38227" y="4699"/>
                  </a:cubicBezTo>
                  <a:cubicBezTo>
                    <a:pt x="41910" y="3175"/>
                    <a:pt x="45847" y="2032"/>
                    <a:pt x="49784" y="1143"/>
                  </a:cubicBezTo>
                  <a:cubicBezTo>
                    <a:pt x="53721" y="254"/>
                    <a:pt x="57785" y="0"/>
                    <a:pt x="61976" y="0"/>
                  </a:cubicBezTo>
                  <a:cubicBezTo>
                    <a:pt x="66167" y="0"/>
                    <a:pt x="70104" y="381"/>
                    <a:pt x="74041" y="1143"/>
                  </a:cubicBezTo>
                  <a:cubicBezTo>
                    <a:pt x="77978" y="1905"/>
                    <a:pt x="81915" y="3048"/>
                    <a:pt x="85598" y="4699"/>
                  </a:cubicBezTo>
                  <a:cubicBezTo>
                    <a:pt x="89281" y="6350"/>
                    <a:pt x="92964" y="8128"/>
                    <a:pt x="96266" y="10414"/>
                  </a:cubicBezTo>
                  <a:cubicBezTo>
                    <a:pt x="99568" y="12700"/>
                    <a:pt x="102743" y="15240"/>
                    <a:pt x="105664" y="18161"/>
                  </a:cubicBezTo>
                  <a:cubicBezTo>
                    <a:pt x="108585" y="21082"/>
                    <a:pt x="111125" y="24130"/>
                    <a:pt x="113411" y="27559"/>
                  </a:cubicBezTo>
                  <a:cubicBezTo>
                    <a:pt x="115697" y="30988"/>
                    <a:pt x="117602" y="34544"/>
                    <a:pt x="119126" y="38227"/>
                  </a:cubicBezTo>
                  <a:cubicBezTo>
                    <a:pt x="120650" y="41910"/>
                    <a:pt x="121793" y="45847"/>
                    <a:pt x="122682" y="49784"/>
                  </a:cubicBezTo>
                  <a:cubicBezTo>
                    <a:pt x="123571" y="53721"/>
                    <a:pt x="123825" y="57785"/>
                    <a:pt x="123825" y="61849"/>
                  </a:cubicBezTo>
                  <a:close/>
                </a:path>
              </a:pathLst>
            </a:custGeom>
            <a:solidFill>
              <a:srgbClr val="FFFFFF"/>
            </a:solidFill>
          </p:spPr>
        </p:sp>
      </p:grpSp>
      <p:grpSp>
        <p:nvGrpSpPr>
          <p:cNvPr id="9" name="Group 9"/>
          <p:cNvGrpSpPr>
            <a:grpSpLocks noChangeAspect="1"/>
          </p:cNvGrpSpPr>
          <p:nvPr/>
        </p:nvGrpSpPr>
        <p:grpSpPr>
          <a:xfrm>
            <a:off x="2014642" y="6239694"/>
            <a:ext cx="123825" cy="123825"/>
            <a:chOff x="0" y="0"/>
            <a:chExt cx="123825" cy="123825"/>
          </a:xfrm>
        </p:grpSpPr>
        <p:sp>
          <p:nvSpPr>
            <p:cNvPr id="10" name="Freeform 10"/>
            <p:cNvSpPr/>
            <p:nvPr/>
          </p:nvSpPr>
          <p:spPr>
            <a:xfrm>
              <a:off x="0" y="0"/>
              <a:ext cx="123825" cy="123825"/>
            </a:xfrm>
            <a:custGeom>
              <a:avLst/>
              <a:gdLst/>
              <a:ahLst/>
              <a:cxnLst/>
              <a:rect l="l" t="t" r="r" b="b"/>
              <a:pathLst>
                <a:path w="123825" h="123825">
                  <a:moveTo>
                    <a:pt x="123825" y="61976"/>
                  </a:moveTo>
                  <a:cubicBezTo>
                    <a:pt x="123825" y="66040"/>
                    <a:pt x="123444" y="70104"/>
                    <a:pt x="122682" y="74041"/>
                  </a:cubicBezTo>
                  <a:cubicBezTo>
                    <a:pt x="121920" y="77978"/>
                    <a:pt x="120777" y="81915"/>
                    <a:pt x="119126" y="85598"/>
                  </a:cubicBezTo>
                  <a:cubicBezTo>
                    <a:pt x="117475" y="89281"/>
                    <a:pt x="115697" y="92964"/>
                    <a:pt x="113411" y="96266"/>
                  </a:cubicBezTo>
                  <a:cubicBezTo>
                    <a:pt x="111125" y="99568"/>
                    <a:pt x="108585" y="102743"/>
                    <a:pt x="105664" y="105664"/>
                  </a:cubicBezTo>
                  <a:cubicBezTo>
                    <a:pt x="102743" y="108585"/>
                    <a:pt x="99695" y="111125"/>
                    <a:pt x="96266" y="113411"/>
                  </a:cubicBezTo>
                  <a:cubicBezTo>
                    <a:pt x="92837" y="115697"/>
                    <a:pt x="89281" y="117602"/>
                    <a:pt x="85598" y="119126"/>
                  </a:cubicBezTo>
                  <a:cubicBezTo>
                    <a:pt x="81915" y="120650"/>
                    <a:pt x="77978" y="121793"/>
                    <a:pt x="74041" y="122682"/>
                  </a:cubicBezTo>
                  <a:cubicBezTo>
                    <a:pt x="70104" y="123571"/>
                    <a:pt x="66040" y="123825"/>
                    <a:pt x="61976" y="123825"/>
                  </a:cubicBezTo>
                  <a:cubicBezTo>
                    <a:pt x="57912" y="123825"/>
                    <a:pt x="53848" y="123444"/>
                    <a:pt x="49911" y="122682"/>
                  </a:cubicBezTo>
                  <a:cubicBezTo>
                    <a:pt x="45974" y="121920"/>
                    <a:pt x="42037" y="120777"/>
                    <a:pt x="38354" y="119126"/>
                  </a:cubicBezTo>
                  <a:cubicBezTo>
                    <a:pt x="34671" y="117475"/>
                    <a:pt x="30988" y="115697"/>
                    <a:pt x="27686" y="113411"/>
                  </a:cubicBezTo>
                  <a:cubicBezTo>
                    <a:pt x="24384" y="111125"/>
                    <a:pt x="21209" y="108585"/>
                    <a:pt x="18288" y="105664"/>
                  </a:cubicBezTo>
                  <a:cubicBezTo>
                    <a:pt x="15367" y="102743"/>
                    <a:pt x="12700" y="99695"/>
                    <a:pt x="10414" y="96266"/>
                  </a:cubicBezTo>
                  <a:cubicBezTo>
                    <a:pt x="8128" y="92837"/>
                    <a:pt x="6223" y="89408"/>
                    <a:pt x="4699" y="85598"/>
                  </a:cubicBezTo>
                  <a:cubicBezTo>
                    <a:pt x="3175" y="81788"/>
                    <a:pt x="2032" y="77978"/>
                    <a:pt x="1143" y="74041"/>
                  </a:cubicBezTo>
                  <a:cubicBezTo>
                    <a:pt x="254" y="70104"/>
                    <a:pt x="0" y="66040"/>
                    <a:pt x="0" y="61976"/>
                  </a:cubicBezTo>
                  <a:cubicBezTo>
                    <a:pt x="0" y="57912"/>
                    <a:pt x="381" y="53848"/>
                    <a:pt x="1143" y="49911"/>
                  </a:cubicBezTo>
                  <a:cubicBezTo>
                    <a:pt x="1905" y="45974"/>
                    <a:pt x="3048" y="42037"/>
                    <a:pt x="4699" y="38354"/>
                  </a:cubicBezTo>
                  <a:cubicBezTo>
                    <a:pt x="6350" y="34671"/>
                    <a:pt x="8128" y="30988"/>
                    <a:pt x="10414" y="27686"/>
                  </a:cubicBezTo>
                  <a:cubicBezTo>
                    <a:pt x="12700" y="24384"/>
                    <a:pt x="15240" y="21209"/>
                    <a:pt x="18161" y="18288"/>
                  </a:cubicBezTo>
                  <a:cubicBezTo>
                    <a:pt x="21082" y="15367"/>
                    <a:pt x="24130" y="12700"/>
                    <a:pt x="27559" y="10414"/>
                  </a:cubicBezTo>
                  <a:cubicBezTo>
                    <a:pt x="30988" y="8128"/>
                    <a:pt x="34544" y="6223"/>
                    <a:pt x="38227" y="4699"/>
                  </a:cubicBezTo>
                  <a:cubicBezTo>
                    <a:pt x="41910" y="3175"/>
                    <a:pt x="45847" y="2032"/>
                    <a:pt x="49784" y="1143"/>
                  </a:cubicBezTo>
                  <a:cubicBezTo>
                    <a:pt x="53721" y="254"/>
                    <a:pt x="57785" y="0"/>
                    <a:pt x="61976" y="0"/>
                  </a:cubicBezTo>
                  <a:cubicBezTo>
                    <a:pt x="66167" y="0"/>
                    <a:pt x="70104" y="381"/>
                    <a:pt x="74041" y="1143"/>
                  </a:cubicBezTo>
                  <a:cubicBezTo>
                    <a:pt x="77978" y="1905"/>
                    <a:pt x="81915" y="3048"/>
                    <a:pt x="85598" y="4699"/>
                  </a:cubicBezTo>
                  <a:cubicBezTo>
                    <a:pt x="89281" y="6350"/>
                    <a:pt x="92964" y="8128"/>
                    <a:pt x="96266" y="10414"/>
                  </a:cubicBezTo>
                  <a:cubicBezTo>
                    <a:pt x="99568" y="12700"/>
                    <a:pt x="102743" y="15240"/>
                    <a:pt x="105664" y="18161"/>
                  </a:cubicBezTo>
                  <a:cubicBezTo>
                    <a:pt x="108585" y="21082"/>
                    <a:pt x="111125" y="24130"/>
                    <a:pt x="113411" y="27559"/>
                  </a:cubicBezTo>
                  <a:cubicBezTo>
                    <a:pt x="115697" y="30988"/>
                    <a:pt x="117602" y="34544"/>
                    <a:pt x="119126" y="38227"/>
                  </a:cubicBezTo>
                  <a:cubicBezTo>
                    <a:pt x="120650" y="41910"/>
                    <a:pt x="121793" y="45847"/>
                    <a:pt x="122682" y="49784"/>
                  </a:cubicBezTo>
                  <a:cubicBezTo>
                    <a:pt x="123571" y="53721"/>
                    <a:pt x="123825" y="57785"/>
                    <a:pt x="123825" y="61849"/>
                  </a:cubicBezTo>
                  <a:close/>
                </a:path>
              </a:pathLst>
            </a:custGeom>
            <a:solidFill>
              <a:srgbClr val="FFFFFF"/>
            </a:solidFill>
          </p:spPr>
        </p:sp>
      </p:grpSp>
      <p:grpSp>
        <p:nvGrpSpPr>
          <p:cNvPr id="11" name="Group 11"/>
          <p:cNvGrpSpPr>
            <a:grpSpLocks noChangeAspect="1"/>
          </p:cNvGrpSpPr>
          <p:nvPr/>
        </p:nvGrpSpPr>
        <p:grpSpPr>
          <a:xfrm>
            <a:off x="2014642" y="6715944"/>
            <a:ext cx="123825" cy="123825"/>
            <a:chOff x="0" y="0"/>
            <a:chExt cx="123825" cy="123825"/>
          </a:xfrm>
        </p:grpSpPr>
        <p:sp>
          <p:nvSpPr>
            <p:cNvPr id="12" name="Freeform 12"/>
            <p:cNvSpPr/>
            <p:nvPr/>
          </p:nvSpPr>
          <p:spPr>
            <a:xfrm>
              <a:off x="0" y="0"/>
              <a:ext cx="123825" cy="123825"/>
            </a:xfrm>
            <a:custGeom>
              <a:avLst/>
              <a:gdLst/>
              <a:ahLst/>
              <a:cxnLst/>
              <a:rect l="l" t="t" r="r" b="b"/>
              <a:pathLst>
                <a:path w="123825" h="123825">
                  <a:moveTo>
                    <a:pt x="123825" y="61976"/>
                  </a:moveTo>
                  <a:cubicBezTo>
                    <a:pt x="123825" y="66040"/>
                    <a:pt x="123444" y="70104"/>
                    <a:pt x="122682" y="74041"/>
                  </a:cubicBezTo>
                  <a:cubicBezTo>
                    <a:pt x="121920" y="77978"/>
                    <a:pt x="120777" y="81915"/>
                    <a:pt x="119126" y="85598"/>
                  </a:cubicBezTo>
                  <a:cubicBezTo>
                    <a:pt x="117475" y="89281"/>
                    <a:pt x="115697" y="92964"/>
                    <a:pt x="113411" y="96266"/>
                  </a:cubicBezTo>
                  <a:cubicBezTo>
                    <a:pt x="111125" y="99568"/>
                    <a:pt x="108585" y="102743"/>
                    <a:pt x="105664" y="105664"/>
                  </a:cubicBezTo>
                  <a:cubicBezTo>
                    <a:pt x="102743" y="108585"/>
                    <a:pt x="99695" y="111125"/>
                    <a:pt x="96266" y="113411"/>
                  </a:cubicBezTo>
                  <a:cubicBezTo>
                    <a:pt x="92837" y="115697"/>
                    <a:pt x="89281" y="117602"/>
                    <a:pt x="85598" y="119126"/>
                  </a:cubicBezTo>
                  <a:cubicBezTo>
                    <a:pt x="81915" y="120650"/>
                    <a:pt x="77978" y="121793"/>
                    <a:pt x="74041" y="122682"/>
                  </a:cubicBezTo>
                  <a:cubicBezTo>
                    <a:pt x="70104" y="123571"/>
                    <a:pt x="66040" y="123825"/>
                    <a:pt x="61976" y="123825"/>
                  </a:cubicBezTo>
                  <a:cubicBezTo>
                    <a:pt x="57912" y="123825"/>
                    <a:pt x="53848" y="123444"/>
                    <a:pt x="49911" y="122682"/>
                  </a:cubicBezTo>
                  <a:cubicBezTo>
                    <a:pt x="45974" y="121920"/>
                    <a:pt x="42037" y="120777"/>
                    <a:pt x="38354" y="119126"/>
                  </a:cubicBezTo>
                  <a:cubicBezTo>
                    <a:pt x="34671" y="117475"/>
                    <a:pt x="30988" y="115697"/>
                    <a:pt x="27686" y="113411"/>
                  </a:cubicBezTo>
                  <a:cubicBezTo>
                    <a:pt x="24384" y="111125"/>
                    <a:pt x="21209" y="108585"/>
                    <a:pt x="18288" y="105664"/>
                  </a:cubicBezTo>
                  <a:cubicBezTo>
                    <a:pt x="15367" y="102743"/>
                    <a:pt x="12700" y="99695"/>
                    <a:pt x="10414" y="96266"/>
                  </a:cubicBezTo>
                  <a:cubicBezTo>
                    <a:pt x="8128" y="92837"/>
                    <a:pt x="6223" y="89408"/>
                    <a:pt x="4699" y="85598"/>
                  </a:cubicBezTo>
                  <a:cubicBezTo>
                    <a:pt x="3175" y="81788"/>
                    <a:pt x="2032" y="77978"/>
                    <a:pt x="1143" y="74041"/>
                  </a:cubicBezTo>
                  <a:cubicBezTo>
                    <a:pt x="254" y="70104"/>
                    <a:pt x="0" y="66040"/>
                    <a:pt x="0" y="61976"/>
                  </a:cubicBezTo>
                  <a:cubicBezTo>
                    <a:pt x="0" y="57912"/>
                    <a:pt x="381" y="53848"/>
                    <a:pt x="1143" y="49911"/>
                  </a:cubicBezTo>
                  <a:cubicBezTo>
                    <a:pt x="1905" y="45974"/>
                    <a:pt x="3048" y="42037"/>
                    <a:pt x="4699" y="38354"/>
                  </a:cubicBezTo>
                  <a:cubicBezTo>
                    <a:pt x="6350" y="34671"/>
                    <a:pt x="8128" y="30988"/>
                    <a:pt x="10414" y="27686"/>
                  </a:cubicBezTo>
                  <a:cubicBezTo>
                    <a:pt x="12700" y="24384"/>
                    <a:pt x="15240" y="21209"/>
                    <a:pt x="18161" y="18288"/>
                  </a:cubicBezTo>
                  <a:cubicBezTo>
                    <a:pt x="21082" y="15367"/>
                    <a:pt x="24130" y="12700"/>
                    <a:pt x="27559" y="10414"/>
                  </a:cubicBezTo>
                  <a:cubicBezTo>
                    <a:pt x="30988" y="8128"/>
                    <a:pt x="34544" y="6223"/>
                    <a:pt x="38227" y="4699"/>
                  </a:cubicBezTo>
                  <a:cubicBezTo>
                    <a:pt x="41910" y="3175"/>
                    <a:pt x="45847" y="2032"/>
                    <a:pt x="49784" y="1143"/>
                  </a:cubicBezTo>
                  <a:cubicBezTo>
                    <a:pt x="53721" y="254"/>
                    <a:pt x="57785" y="0"/>
                    <a:pt x="61976" y="0"/>
                  </a:cubicBezTo>
                  <a:cubicBezTo>
                    <a:pt x="66167" y="0"/>
                    <a:pt x="70104" y="381"/>
                    <a:pt x="74041" y="1143"/>
                  </a:cubicBezTo>
                  <a:cubicBezTo>
                    <a:pt x="77978" y="1905"/>
                    <a:pt x="81915" y="3048"/>
                    <a:pt x="85598" y="4699"/>
                  </a:cubicBezTo>
                  <a:cubicBezTo>
                    <a:pt x="89281" y="6350"/>
                    <a:pt x="92964" y="8128"/>
                    <a:pt x="96266" y="10414"/>
                  </a:cubicBezTo>
                  <a:cubicBezTo>
                    <a:pt x="99568" y="12700"/>
                    <a:pt x="102743" y="15240"/>
                    <a:pt x="105664" y="18161"/>
                  </a:cubicBezTo>
                  <a:cubicBezTo>
                    <a:pt x="108585" y="21082"/>
                    <a:pt x="111125" y="24130"/>
                    <a:pt x="113411" y="27559"/>
                  </a:cubicBezTo>
                  <a:cubicBezTo>
                    <a:pt x="115697" y="30988"/>
                    <a:pt x="117602" y="34544"/>
                    <a:pt x="119126" y="38227"/>
                  </a:cubicBezTo>
                  <a:cubicBezTo>
                    <a:pt x="120650" y="41910"/>
                    <a:pt x="121793" y="45847"/>
                    <a:pt x="122682" y="49784"/>
                  </a:cubicBezTo>
                  <a:cubicBezTo>
                    <a:pt x="123571" y="53721"/>
                    <a:pt x="123825" y="57785"/>
                    <a:pt x="123825" y="61849"/>
                  </a:cubicBezTo>
                  <a:close/>
                </a:path>
              </a:pathLst>
            </a:custGeom>
            <a:solidFill>
              <a:srgbClr val="FFFFFF"/>
            </a:solidFill>
          </p:spPr>
        </p:sp>
      </p:grpSp>
      <p:grpSp>
        <p:nvGrpSpPr>
          <p:cNvPr id="13" name="Group 13"/>
          <p:cNvGrpSpPr>
            <a:grpSpLocks noChangeAspect="1"/>
          </p:cNvGrpSpPr>
          <p:nvPr/>
        </p:nvGrpSpPr>
        <p:grpSpPr>
          <a:xfrm>
            <a:off x="2014642" y="7668444"/>
            <a:ext cx="123825" cy="123825"/>
            <a:chOff x="0" y="0"/>
            <a:chExt cx="123825" cy="123825"/>
          </a:xfrm>
        </p:grpSpPr>
        <p:sp>
          <p:nvSpPr>
            <p:cNvPr id="14" name="Freeform 14"/>
            <p:cNvSpPr/>
            <p:nvPr/>
          </p:nvSpPr>
          <p:spPr>
            <a:xfrm>
              <a:off x="0" y="0"/>
              <a:ext cx="123825" cy="123825"/>
            </a:xfrm>
            <a:custGeom>
              <a:avLst/>
              <a:gdLst/>
              <a:ahLst/>
              <a:cxnLst/>
              <a:rect l="l" t="t" r="r" b="b"/>
              <a:pathLst>
                <a:path w="123825" h="123825">
                  <a:moveTo>
                    <a:pt x="123825" y="61976"/>
                  </a:moveTo>
                  <a:cubicBezTo>
                    <a:pt x="123825" y="66040"/>
                    <a:pt x="123444" y="70104"/>
                    <a:pt x="122682" y="74041"/>
                  </a:cubicBezTo>
                  <a:cubicBezTo>
                    <a:pt x="121920" y="77978"/>
                    <a:pt x="120777" y="81915"/>
                    <a:pt x="119126" y="85598"/>
                  </a:cubicBezTo>
                  <a:cubicBezTo>
                    <a:pt x="117475" y="89281"/>
                    <a:pt x="115697" y="92964"/>
                    <a:pt x="113411" y="96266"/>
                  </a:cubicBezTo>
                  <a:cubicBezTo>
                    <a:pt x="111125" y="99568"/>
                    <a:pt x="108585" y="102743"/>
                    <a:pt x="105664" y="105664"/>
                  </a:cubicBezTo>
                  <a:cubicBezTo>
                    <a:pt x="102743" y="108585"/>
                    <a:pt x="99695" y="111125"/>
                    <a:pt x="96266" y="113411"/>
                  </a:cubicBezTo>
                  <a:cubicBezTo>
                    <a:pt x="92837" y="115697"/>
                    <a:pt x="89281" y="117602"/>
                    <a:pt x="85598" y="119126"/>
                  </a:cubicBezTo>
                  <a:cubicBezTo>
                    <a:pt x="81915" y="120650"/>
                    <a:pt x="77978" y="121793"/>
                    <a:pt x="74041" y="122682"/>
                  </a:cubicBezTo>
                  <a:cubicBezTo>
                    <a:pt x="70104" y="123571"/>
                    <a:pt x="66040" y="123825"/>
                    <a:pt x="61976" y="123825"/>
                  </a:cubicBezTo>
                  <a:cubicBezTo>
                    <a:pt x="57912" y="123825"/>
                    <a:pt x="53848" y="123444"/>
                    <a:pt x="49911" y="122682"/>
                  </a:cubicBezTo>
                  <a:cubicBezTo>
                    <a:pt x="45974" y="121920"/>
                    <a:pt x="42037" y="120777"/>
                    <a:pt x="38354" y="119126"/>
                  </a:cubicBezTo>
                  <a:cubicBezTo>
                    <a:pt x="34671" y="117475"/>
                    <a:pt x="30988" y="115697"/>
                    <a:pt x="27686" y="113411"/>
                  </a:cubicBezTo>
                  <a:cubicBezTo>
                    <a:pt x="24384" y="111125"/>
                    <a:pt x="21209" y="108585"/>
                    <a:pt x="18288" y="105664"/>
                  </a:cubicBezTo>
                  <a:cubicBezTo>
                    <a:pt x="15367" y="102743"/>
                    <a:pt x="12700" y="99695"/>
                    <a:pt x="10414" y="96266"/>
                  </a:cubicBezTo>
                  <a:cubicBezTo>
                    <a:pt x="8128" y="92837"/>
                    <a:pt x="6223" y="89408"/>
                    <a:pt x="4699" y="85598"/>
                  </a:cubicBezTo>
                  <a:cubicBezTo>
                    <a:pt x="3175" y="81788"/>
                    <a:pt x="2032" y="77978"/>
                    <a:pt x="1143" y="74041"/>
                  </a:cubicBezTo>
                  <a:cubicBezTo>
                    <a:pt x="254" y="70104"/>
                    <a:pt x="0" y="66040"/>
                    <a:pt x="0" y="61976"/>
                  </a:cubicBezTo>
                  <a:cubicBezTo>
                    <a:pt x="0" y="57912"/>
                    <a:pt x="381" y="53848"/>
                    <a:pt x="1143" y="49911"/>
                  </a:cubicBezTo>
                  <a:cubicBezTo>
                    <a:pt x="1905" y="45974"/>
                    <a:pt x="3048" y="42037"/>
                    <a:pt x="4699" y="38354"/>
                  </a:cubicBezTo>
                  <a:cubicBezTo>
                    <a:pt x="6350" y="34671"/>
                    <a:pt x="8128" y="30988"/>
                    <a:pt x="10414" y="27686"/>
                  </a:cubicBezTo>
                  <a:cubicBezTo>
                    <a:pt x="12700" y="24384"/>
                    <a:pt x="15240" y="21209"/>
                    <a:pt x="18161" y="18288"/>
                  </a:cubicBezTo>
                  <a:cubicBezTo>
                    <a:pt x="21082" y="15367"/>
                    <a:pt x="24130" y="12700"/>
                    <a:pt x="27559" y="10414"/>
                  </a:cubicBezTo>
                  <a:cubicBezTo>
                    <a:pt x="30988" y="8128"/>
                    <a:pt x="34544" y="6223"/>
                    <a:pt x="38227" y="4699"/>
                  </a:cubicBezTo>
                  <a:cubicBezTo>
                    <a:pt x="41910" y="3175"/>
                    <a:pt x="45847" y="2032"/>
                    <a:pt x="49784" y="1143"/>
                  </a:cubicBezTo>
                  <a:cubicBezTo>
                    <a:pt x="53721" y="254"/>
                    <a:pt x="57785" y="0"/>
                    <a:pt x="61976" y="0"/>
                  </a:cubicBezTo>
                  <a:cubicBezTo>
                    <a:pt x="66167" y="0"/>
                    <a:pt x="70104" y="381"/>
                    <a:pt x="74041" y="1143"/>
                  </a:cubicBezTo>
                  <a:cubicBezTo>
                    <a:pt x="77978" y="1905"/>
                    <a:pt x="81915" y="3048"/>
                    <a:pt x="85598" y="4699"/>
                  </a:cubicBezTo>
                  <a:cubicBezTo>
                    <a:pt x="89281" y="6350"/>
                    <a:pt x="92964" y="8128"/>
                    <a:pt x="96266" y="10414"/>
                  </a:cubicBezTo>
                  <a:cubicBezTo>
                    <a:pt x="99568" y="12700"/>
                    <a:pt x="102743" y="15240"/>
                    <a:pt x="105664" y="18161"/>
                  </a:cubicBezTo>
                  <a:cubicBezTo>
                    <a:pt x="108585" y="21082"/>
                    <a:pt x="111125" y="24130"/>
                    <a:pt x="113411" y="27559"/>
                  </a:cubicBezTo>
                  <a:cubicBezTo>
                    <a:pt x="115697" y="30988"/>
                    <a:pt x="117602" y="34544"/>
                    <a:pt x="119126" y="38227"/>
                  </a:cubicBezTo>
                  <a:cubicBezTo>
                    <a:pt x="120650" y="41910"/>
                    <a:pt x="121793" y="45847"/>
                    <a:pt x="122682" y="49784"/>
                  </a:cubicBezTo>
                  <a:cubicBezTo>
                    <a:pt x="123571" y="53721"/>
                    <a:pt x="123825" y="57785"/>
                    <a:pt x="123825" y="61849"/>
                  </a:cubicBezTo>
                  <a:close/>
                </a:path>
              </a:pathLst>
            </a:custGeom>
            <a:solidFill>
              <a:srgbClr val="FFFFFF"/>
            </a:solidFill>
          </p:spPr>
        </p:sp>
      </p:grpSp>
      <p:sp>
        <p:nvSpPr>
          <p:cNvPr id="15" name="TextBox 15"/>
          <p:cNvSpPr txBox="1"/>
          <p:nvPr/>
        </p:nvSpPr>
        <p:spPr>
          <a:xfrm>
            <a:off x="2326729" y="4557570"/>
            <a:ext cx="14311246" cy="3387014"/>
          </a:xfrm>
          <a:prstGeom prst="rect">
            <a:avLst/>
          </a:prstGeom>
        </p:spPr>
        <p:txBody>
          <a:bodyPr lIns="0" tIns="0" rIns="0" bIns="0" rtlCol="0" anchor="t">
            <a:spAutoFit/>
          </a:bodyPr>
          <a:lstStyle/>
          <a:p>
            <a:pPr algn="l">
              <a:lnSpc>
                <a:spcPts val="3749"/>
              </a:lnSpc>
            </a:pPr>
            <a:r>
              <a:rPr lang="en-US" sz="2724">
                <a:solidFill>
                  <a:srgbClr val="FFFFFF"/>
                </a:solidFill>
                <a:latin typeface="Poppins Light"/>
                <a:ea typeface="Poppins Light"/>
                <a:cs typeface="Poppins Light"/>
                <a:sym typeface="Poppins Light"/>
              </a:rPr>
              <a:t>A chave tem um corpo que sofrerá uma colisão com o corpo do jogador Ao identificar essa colisão, deve se verificar se foi o jogador que colidiu com a chave Caso seja o jogador, armazenar a informação de que a chave foi coletada Jogador ao se aproximar da porta e interagir com ela, verifica se a informação da chave foi coletada Caso estiver coletada a porta se abre</a:t>
            </a:r>
          </a:p>
        </p:txBody>
      </p:sp>
      <p:sp>
        <p:nvSpPr>
          <p:cNvPr id="16" name="TextBox 16"/>
          <p:cNvSpPr txBox="1"/>
          <p:nvPr/>
        </p:nvSpPr>
        <p:spPr>
          <a:xfrm>
            <a:off x="1738417" y="1962245"/>
            <a:ext cx="10138162" cy="1355046"/>
          </a:xfrm>
          <a:prstGeom prst="rect">
            <a:avLst/>
          </a:prstGeom>
        </p:spPr>
        <p:txBody>
          <a:bodyPr lIns="0" tIns="0" rIns="0" bIns="0" rtlCol="0" anchor="t">
            <a:spAutoFit/>
          </a:bodyPr>
          <a:lstStyle/>
          <a:p>
            <a:pPr algn="l">
              <a:lnSpc>
                <a:spcPts val="9799"/>
              </a:lnSpc>
            </a:pPr>
            <a:r>
              <a:rPr lang="en-US" sz="6999" b="1">
                <a:solidFill>
                  <a:srgbClr val="FFFFFF"/>
                </a:solidFill>
                <a:latin typeface="Poppins Semi-Bold"/>
                <a:ea typeface="Poppins Semi-Bold"/>
                <a:cs typeface="Poppins Semi-Bold"/>
                <a:sym typeface="Poppins Semi-Bold"/>
              </a:rPr>
              <a:t>Solução do problema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5254190" y="5514842"/>
            <a:ext cx="7934896" cy="1331262"/>
          </a:xfrm>
          <a:prstGeom prst="rect">
            <a:avLst/>
          </a:prstGeom>
        </p:spPr>
        <p:txBody>
          <a:bodyPr lIns="0" tIns="0" rIns="0" bIns="0" rtlCol="0" anchor="t">
            <a:spAutoFit/>
          </a:bodyPr>
          <a:lstStyle/>
          <a:p>
            <a:pPr algn="l">
              <a:lnSpc>
                <a:spcPts val="9519"/>
              </a:lnSpc>
            </a:pPr>
            <a:r>
              <a:rPr lang="en-US" sz="6799" b="1">
                <a:solidFill>
                  <a:srgbClr val="10B5BF"/>
                </a:solidFill>
                <a:latin typeface="Poppins Medium"/>
                <a:ea typeface="Poppins Medium"/>
                <a:cs typeface="Poppins Medium"/>
                <a:sym typeface="Poppins Medium"/>
              </a:rPr>
              <a:t>bit.ly/form-logica</a:t>
            </a:r>
          </a:p>
        </p:txBody>
      </p:sp>
      <p:sp>
        <p:nvSpPr>
          <p:cNvPr id="4" name="TextBox 4"/>
          <p:cNvSpPr txBox="1"/>
          <p:nvPr/>
        </p:nvSpPr>
        <p:spPr>
          <a:xfrm>
            <a:off x="2926223" y="1790757"/>
            <a:ext cx="12683957" cy="3473053"/>
          </a:xfrm>
          <a:prstGeom prst="rect">
            <a:avLst/>
          </a:prstGeom>
        </p:spPr>
        <p:txBody>
          <a:bodyPr lIns="0" tIns="0" rIns="0" bIns="0" rtlCol="0" anchor="t">
            <a:spAutoFit/>
          </a:bodyPr>
          <a:lstStyle/>
          <a:p>
            <a:pPr algn="ctr">
              <a:lnSpc>
                <a:spcPts val="8699"/>
              </a:lnSpc>
            </a:pPr>
            <a:r>
              <a:rPr lang="en-US" sz="7249" b="1">
                <a:solidFill>
                  <a:srgbClr val="FFFFFF"/>
                </a:solidFill>
                <a:latin typeface="Poppins Semi-Bold"/>
                <a:ea typeface="Poppins Semi-Bold"/>
                <a:cs typeface="Poppins Semi-Bold"/>
                <a:sym typeface="Poppins Semi-Bold"/>
              </a:rPr>
              <a:t>Tente você agora resolver uma atividade de problemas lógicos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69278" y="4833661"/>
            <a:ext cx="2562225" cy="2562225"/>
          </a:xfrm>
          <a:custGeom>
            <a:avLst/>
            <a:gdLst/>
            <a:ahLst/>
            <a:cxnLst/>
            <a:rect l="l" t="t" r="r" b="b"/>
            <a:pathLst>
              <a:path w="2562225" h="2562225">
                <a:moveTo>
                  <a:pt x="0" y="0"/>
                </a:moveTo>
                <a:lnTo>
                  <a:pt x="2562225" y="0"/>
                </a:lnTo>
                <a:lnTo>
                  <a:pt x="2562225" y="2562225"/>
                </a:lnTo>
                <a:lnTo>
                  <a:pt x="0" y="2562225"/>
                </a:lnTo>
                <a:lnTo>
                  <a:pt x="0" y="0"/>
                </a:lnTo>
                <a:close/>
              </a:path>
            </a:pathLst>
          </a:custGeom>
          <a:blipFill>
            <a:blip r:embed="rId2"/>
            <a:stretch>
              <a:fillRect/>
            </a:stretch>
          </a:blipFill>
        </p:spPr>
      </p:sp>
      <p:sp>
        <p:nvSpPr>
          <p:cNvPr id="3" name="Freeform 3"/>
          <p:cNvSpPr/>
          <p:nvPr/>
        </p:nvSpPr>
        <p:spPr>
          <a:xfrm>
            <a:off x="3135592" y="5950334"/>
            <a:ext cx="2400300" cy="3810000"/>
          </a:xfrm>
          <a:custGeom>
            <a:avLst/>
            <a:gdLst/>
            <a:ahLst/>
            <a:cxnLst/>
            <a:rect l="l" t="t" r="r" b="b"/>
            <a:pathLst>
              <a:path w="2400300" h="3810000">
                <a:moveTo>
                  <a:pt x="0" y="0"/>
                </a:moveTo>
                <a:lnTo>
                  <a:pt x="2400300" y="0"/>
                </a:lnTo>
                <a:lnTo>
                  <a:pt x="2400300" y="3810000"/>
                </a:lnTo>
                <a:lnTo>
                  <a:pt x="0" y="3810000"/>
                </a:lnTo>
                <a:lnTo>
                  <a:pt x="0" y="0"/>
                </a:lnTo>
                <a:close/>
              </a:path>
            </a:pathLst>
          </a:custGeom>
          <a:blipFill>
            <a:blip r:embed="rId3"/>
            <a:stretch>
              <a:fillRect l="-74086" r="-64405"/>
            </a:stretch>
          </a:blipFill>
        </p:spPr>
      </p:sp>
      <p:sp>
        <p:nvSpPr>
          <p:cNvPr id="4" name="Freeform 4"/>
          <p:cNvSpPr/>
          <p:nvPr/>
        </p:nvSpPr>
        <p:spPr>
          <a:xfrm>
            <a:off x="606057" y="7853753"/>
            <a:ext cx="1685925" cy="1800225"/>
          </a:xfrm>
          <a:custGeom>
            <a:avLst/>
            <a:gdLst/>
            <a:ahLst/>
            <a:cxnLst/>
            <a:rect l="l" t="t" r="r" b="b"/>
            <a:pathLst>
              <a:path w="1685925" h="1800225">
                <a:moveTo>
                  <a:pt x="0" y="0"/>
                </a:moveTo>
                <a:lnTo>
                  <a:pt x="1685925" y="0"/>
                </a:lnTo>
                <a:lnTo>
                  <a:pt x="1685925" y="1800225"/>
                </a:lnTo>
                <a:lnTo>
                  <a:pt x="0" y="1800225"/>
                </a:lnTo>
                <a:lnTo>
                  <a:pt x="0" y="0"/>
                </a:lnTo>
                <a:close/>
              </a:path>
            </a:pathLst>
          </a:custGeom>
          <a:blipFill>
            <a:blip r:embed="rId4"/>
            <a:stretch>
              <a:fillRect l="-58201" t="-53846" r="-62702" b="-52502"/>
            </a:stretch>
          </a:blipFill>
        </p:spPr>
      </p:sp>
      <p:sp>
        <p:nvSpPr>
          <p:cNvPr id="5" name="Freeform 5"/>
          <p:cNvSpPr/>
          <p:nvPr/>
        </p:nvSpPr>
        <p:spPr>
          <a:xfrm>
            <a:off x="5940371" y="4833661"/>
            <a:ext cx="2419350" cy="2714625"/>
          </a:xfrm>
          <a:custGeom>
            <a:avLst/>
            <a:gdLst/>
            <a:ahLst/>
            <a:cxnLst/>
            <a:rect l="l" t="t" r="r" b="b"/>
            <a:pathLst>
              <a:path w="2419350" h="2714625">
                <a:moveTo>
                  <a:pt x="0" y="0"/>
                </a:moveTo>
                <a:lnTo>
                  <a:pt x="2419350" y="0"/>
                </a:lnTo>
                <a:lnTo>
                  <a:pt x="2419350" y="2714625"/>
                </a:lnTo>
                <a:lnTo>
                  <a:pt x="0" y="2714625"/>
                </a:lnTo>
                <a:lnTo>
                  <a:pt x="0" y="0"/>
                </a:lnTo>
                <a:close/>
              </a:path>
            </a:pathLst>
          </a:custGeom>
          <a:blipFill>
            <a:blip r:embed="rId5"/>
            <a:stretch>
              <a:fillRect/>
            </a:stretch>
          </a:blipFill>
        </p:spPr>
      </p:sp>
      <p:sp>
        <p:nvSpPr>
          <p:cNvPr id="6" name="Freeform 6"/>
          <p:cNvSpPr/>
          <p:nvPr/>
        </p:nvSpPr>
        <p:spPr>
          <a:xfrm>
            <a:off x="5940371" y="7981760"/>
            <a:ext cx="6276975" cy="1800225"/>
          </a:xfrm>
          <a:custGeom>
            <a:avLst/>
            <a:gdLst/>
            <a:ahLst/>
            <a:cxnLst/>
            <a:rect l="l" t="t" r="r" b="b"/>
            <a:pathLst>
              <a:path w="6276975" h="1800225">
                <a:moveTo>
                  <a:pt x="0" y="0"/>
                </a:moveTo>
                <a:lnTo>
                  <a:pt x="6276975" y="0"/>
                </a:lnTo>
                <a:lnTo>
                  <a:pt x="6276975" y="1800224"/>
                </a:lnTo>
                <a:lnTo>
                  <a:pt x="0" y="1800224"/>
                </a:lnTo>
                <a:lnTo>
                  <a:pt x="0" y="0"/>
                </a:lnTo>
                <a:close/>
              </a:path>
            </a:pathLst>
          </a:custGeom>
          <a:blipFill>
            <a:blip r:embed="rId6"/>
            <a:stretch>
              <a:fillRect t="-11276" b="-26818"/>
            </a:stretch>
          </a:blipFill>
        </p:spPr>
      </p:sp>
      <p:sp>
        <p:nvSpPr>
          <p:cNvPr id="7" name="Freeform 7"/>
          <p:cNvSpPr/>
          <p:nvPr/>
        </p:nvSpPr>
        <p:spPr>
          <a:xfrm>
            <a:off x="9076477" y="4833661"/>
            <a:ext cx="5200650" cy="2800350"/>
          </a:xfrm>
          <a:custGeom>
            <a:avLst/>
            <a:gdLst/>
            <a:ahLst/>
            <a:cxnLst/>
            <a:rect l="l" t="t" r="r" b="b"/>
            <a:pathLst>
              <a:path w="5200650" h="2800350">
                <a:moveTo>
                  <a:pt x="0" y="0"/>
                </a:moveTo>
                <a:lnTo>
                  <a:pt x="5200650" y="0"/>
                </a:lnTo>
                <a:lnTo>
                  <a:pt x="5200650" y="2800350"/>
                </a:lnTo>
                <a:lnTo>
                  <a:pt x="0" y="2800350"/>
                </a:lnTo>
                <a:lnTo>
                  <a:pt x="0" y="0"/>
                </a:lnTo>
                <a:close/>
              </a:path>
            </a:pathLst>
          </a:custGeom>
          <a:blipFill>
            <a:blip r:embed="rId7"/>
            <a:stretch>
              <a:fillRect/>
            </a:stretch>
          </a:blipFill>
        </p:spPr>
      </p:sp>
      <p:sp>
        <p:nvSpPr>
          <p:cNvPr id="8" name="Freeform 8"/>
          <p:cNvSpPr/>
          <p:nvPr/>
        </p:nvSpPr>
        <p:spPr>
          <a:xfrm>
            <a:off x="15047557" y="4833661"/>
            <a:ext cx="2600325" cy="2600325"/>
          </a:xfrm>
          <a:custGeom>
            <a:avLst/>
            <a:gdLst/>
            <a:ahLst/>
            <a:cxnLst/>
            <a:rect l="l" t="t" r="r" b="b"/>
            <a:pathLst>
              <a:path w="2600325" h="2600325">
                <a:moveTo>
                  <a:pt x="0" y="0"/>
                </a:moveTo>
                <a:lnTo>
                  <a:pt x="2600325" y="0"/>
                </a:lnTo>
                <a:lnTo>
                  <a:pt x="2600325" y="2600325"/>
                </a:lnTo>
                <a:lnTo>
                  <a:pt x="0" y="2600325"/>
                </a:lnTo>
                <a:lnTo>
                  <a:pt x="0" y="0"/>
                </a:lnTo>
                <a:close/>
              </a:path>
            </a:pathLst>
          </a:custGeom>
          <a:blipFill>
            <a:blip r:embed="rId8"/>
            <a:stretch>
              <a:fillRect/>
            </a:stretch>
          </a:blipFill>
        </p:spPr>
      </p:sp>
      <p:sp>
        <p:nvSpPr>
          <p:cNvPr id="9" name="Freeform 9"/>
          <p:cNvSpPr/>
          <p:nvPr/>
        </p:nvSpPr>
        <p:spPr>
          <a:xfrm>
            <a:off x="12736459" y="8122501"/>
            <a:ext cx="1800225" cy="1800225"/>
          </a:xfrm>
          <a:custGeom>
            <a:avLst/>
            <a:gdLst/>
            <a:ahLst/>
            <a:cxnLst/>
            <a:rect l="l" t="t" r="r" b="b"/>
            <a:pathLst>
              <a:path w="1800225" h="1800225">
                <a:moveTo>
                  <a:pt x="0" y="0"/>
                </a:moveTo>
                <a:lnTo>
                  <a:pt x="1800225" y="0"/>
                </a:lnTo>
                <a:lnTo>
                  <a:pt x="1800225" y="1800225"/>
                </a:lnTo>
                <a:lnTo>
                  <a:pt x="0" y="1800225"/>
                </a:lnTo>
                <a:lnTo>
                  <a:pt x="0" y="0"/>
                </a:lnTo>
                <a:close/>
              </a:path>
            </a:pathLst>
          </a:custGeom>
          <a:blipFill>
            <a:blip r:embed="rId9"/>
            <a:stretch>
              <a:fillRect/>
            </a:stretch>
          </a:blipFill>
        </p:spPr>
      </p:sp>
      <p:sp>
        <p:nvSpPr>
          <p:cNvPr id="10" name="Freeform 10"/>
          <p:cNvSpPr/>
          <p:nvPr/>
        </p:nvSpPr>
        <p:spPr>
          <a:xfrm>
            <a:off x="3135592" y="4833661"/>
            <a:ext cx="2400300" cy="781050"/>
          </a:xfrm>
          <a:custGeom>
            <a:avLst/>
            <a:gdLst/>
            <a:ahLst/>
            <a:cxnLst/>
            <a:rect l="l" t="t" r="r" b="b"/>
            <a:pathLst>
              <a:path w="2400300" h="781050">
                <a:moveTo>
                  <a:pt x="0" y="0"/>
                </a:moveTo>
                <a:lnTo>
                  <a:pt x="2400300" y="0"/>
                </a:lnTo>
                <a:lnTo>
                  <a:pt x="2400300" y="781050"/>
                </a:lnTo>
                <a:lnTo>
                  <a:pt x="0" y="781050"/>
                </a:lnTo>
                <a:lnTo>
                  <a:pt x="0" y="0"/>
                </a:lnTo>
                <a:close/>
              </a:path>
            </a:pathLst>
          </a:custGeom>
          <a:blipFill>
            <a:blip r:embed="rId10"/>
            <a:stretch>
              <a:fillRect t="-32106" b="-28869"/>
            </a:stretch>
          </a:blipFill>
        </p:spPr>
      </p:sp>
      <p:sp>
        <p:nvSpPr>
          <p:cNvPr id="11" name="Freeform 11"/>
          <p:cNvSpPr/>
          <p:nvPr/>
        </p:nvSpPr>
        <p:spPr>
          <a:xfrm>
            <a:off x="15383675" y="7990646"/>
            <a:ext cx="1933575" cy="1933575"/>
          </a:xfrm>
          <a:custGeom>
            <a:avLst/>
            <a:gdLst/>
            <a:ahLst/>
            <a:cxnLst/>
            <a:rect l="l" t="t" r="r" b="b"/>
            <a:pathLst>
              <a:path w="1933575" h="1933575">
                <a:moveTo>
                  <a:pt x="0" y="0"/>
                </a:moveTo>
                <a:lnTo>
                  <a:pt x="1933575" y="0"/>
                </a:lnTo>
                <a:lnTo>
                  <a:pt x="1933575" y="1933575"/>
                </a:lnTo>
                <a:lnTo>
                  <a:pt x="0" y="1933575"/>
                </a:lnTo>
                <a:lnTo>
                  <a:pt x="0" y="0"/>
                </a:lnTo>
                <a:close/>
              </a:path>
            </a:pathLst>
          </a:custGeom>
          <a:blipFill>
            <a:blip r:embed="rId11"/>
            <a:stretch>
              <a:fillRect/>
            </a:stretch>
          </a:blipFill>
        </p:spPr>
      </p:sp>
      <p:sp>
        <p:nvSpPr>
          <p:cNvPr id="12" name="TextBox 12"/>
          <p:cNvSpPr txBox="1"/>
          <p:nvPr/>
        </p:nvSpPr>
        <p:spPr>
          <a:xfrm>
            <a:off x="1291771" y="4029265"/>
            <a:ext cx="9881826" cy="584835"/>
          </a:xfrm>
          <a:prstGeom prst="rect">
            <a:avLst/>
          </a:prstGeom>
        </p:spPr>
        <p:txBody>
          <a:bodyPr lIns="0" tIns="0" rIns="0" bIns="0" rtlCol="0" anchor="t">
            <a:spAutoFit/>
          </a:bodyPr>
          <a:lstStyle/>
          <a:p>
            <a:pPr algn="l">
              <a:lnSpc>
                <a:spcPts val="4200"/>
              </a:lnSpc>
            </a:pPr>
            <a:r>
              <a:rPr lang="en-US" sz="3000" b="1">
                <a:solidFill>
                  <a:srgbClr val="10B5BF"/>
                </a:solidFill>
                <a:latin typeface="Poppins Medium"/>
                <a:ea typeface="Poppins Medium"/>
                <a:cs typeface="Poppins Medium"/>
                <a:sym typeface="Poppins Medium"/>
              </a:rPr>
              <a:t>Diversas linguagens para diversos tipos de coisas</a:t>
            </a:r>
          </a:p>
        </p:txBody>
      </p:sp>
      <p:sp>
        <p:nvSpPr>
          <p:cNvPr id="13" name="TextBox 13"/>
          <p:cNvSpPr txBox="1"/>
          <p:nvPr/>
        </p:nvSpPr>
        <p:spPr>
          <a:xfrm>
            <a:off x="1291771" y="1471574"/>
            <a:ext cx="14447187" cy="2129076"/>
          </a:xfrm>
          <a:prstGeom prst="rect">
            <a:avLst/>
          </a:prstGeom>
        </p:spPr>
        <p:txBody>
          <a:bodyPr lIns="0" tIns="0" rIns="0" bIns="0" rtlCol="0" anchor="t">
            <a:spAutoFit/>
          </a:bodyPr>
          <a:lstStyle/>
          <a:p>
            <a:pPr algn="l">
              <a:lnSpc>
                <a:spcPts val="7799"/>
              </a:lnSpc>
            </a:pPr>
            <a:r>
              <a:rPr lang="en-US" sz="6499" b="1">
                <a:solidFill>
                  <a:srgbClr val="FFFFFF"/>
                </a:solidFill>
                <a:latin typeface="Poppins Semi-Bold"/>
                <a:ea typeface="Poppins Semi-Bold"/>
                <a:cs typeface="Poppins Semi-Bold"/>
                <a:sym typeface="Poppins Semi-Bold"/>
              </a:rPr>
              <a:t>Hoje no mercado temos diversas linguagens de programação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420176" y="4813754"/>
            <a:ext cx="2819400" cy="2771775"/>
          </a:xfrm>
          <a:custGeom>
            <a:avLst/>
            <a:gdLst/>
            <a:ahLst/>
            <a:cxnLst/>
            <a:rect l="l" t="t" r="r" b="b"/>
            <a:pathLst>
              <a:path w="2819400" h="2771775">
                <a:moveTo>
                  <a:pt x="0" y="0"/>
                </a:moveTo>
                <a:lnTo>
                  <a:pt x="2819400" y="0"/>
                </a:lnTo>
                <a:lnTo>
                  <a:pt x="2819400" y="2771775"/>
                </a:lnTo>
                <a:lnTo>
                  <a:pt x="0" y="2771775"/>
                </a:lnTo>
                <a:lnTo>
                  <a:pt x="0" y="0"/>
                </a:lnTo>
                <a:close/>
              </a:path>
            </a:pathLst>
          </a:custGeom>
          <a:blipFill>
            <a:blip r:embed="rId2"/>
            <a:stretch>
              <a:fillRect l="-14086" t="-15956" r="-14629" b="-14971"/>
            </a:stretch>
          </a:blipFill>
        </p:spPr>
      </p:sp>
      <p:sp>
        <p:nvSpPr>
          <p:cNvPr id="3" name="Freeform 3"/>
          <p:cNvSpPr/>
          <p:nvPr/>
        </p:nvSpPr>
        <p:spPr>
          <a:xfrm>
            <a:off x="3496485" y="4813754"/>
            <a:ext cx="2800350" cy="2771775"/>
          </a:xfrm>
          <a:custGeom>
            <a:avLst/>
            <a:gdLst/>
            <a:ahLst/>
            <a:cxnLst/>
            <a:rect l="l" t="t" r="r" b="b"/>
            <a:pathLst>
              <a:path w="2800350" h="2771775">
                <a:moveTo>
                  <a:pt x="0" y="0"/>
                </a:moveTo>
                <a:lnTo>
                  <a:pt x="2800350" y="0"/>
                </a:lnTo>
                <a:lnTo>
                  <a:pt x="2800350" y="2771775"/>
                </a:lnTo>
                <a:lnTo>
                  <a:pt x="0" y="2771775"/>
                </a:lnTo>
                <a:lnTo>
                  <a:pt x="0" y="0"/>
                </a:lnTo>
                <a:close/>
              </a:path>
            </a:pathLst>
          </a:custGeom>
          <a:blipFill>
            <a:blip r:embed="rId3"/>
            <a:stretch>
              <a:fillRect l="-5537" t="-6103" r="-5006" b="-5580"/>
            </a:stretch>
          </a:blipFill>
        </p:spPr>
      </p:sp>
      <p:sp>
        <p:nvSpPr>
          <p:cNvPr id="4" name="Freeform 4"/>
          <p:cNvSpPr/>
          <p:nvPr/>
        </p:nvSpPr>
        <p:spPr>
          <a:xfrm>
            <a:off x="6549952" y="4813754"/>
            <a:ext cx="2771775" cy="2771775"/>
          </a:xfrm>
          <a:custGeom>
            <a:avLst/>
            <a:gdLst/>
            <a:ahLst/>
            <a:cxnLst/>
            <a:rect l="l" t="t" r="r" b="b"/>
            <a:pathLst>
              <a:path w="2771775" h="2771775">
                <a:moveTo>
                  <a:pt x="0" y="0"/>
                </a:moveTo>
                <a:lnTo>
                  <a:pt x="2771775" y="0"/>
                </a:lnTo>
                <a:lnTo>
                  <a:pt x="2771775" y="2771775"/>
                </a:lnTo>
                <a:lnTo>
                  <a:pt x="0" y="2771775"/>
                </a:lnTo>
                <a:lnTo>
                  <a:pt x="0" y="0"/>
                </a:lnTo>
                <a:close/>
              </a:path>
            </a:pathLst>
          </a:custGeom>
          <a:blipFill>
            <a:blip r:embed="rId4"/>
            <a:stretch>
              <a:fillRect/>
            </a:stretch>
          </a:blipFill>
        </p:spPr>
      </p:sp>
      <p:sp>
        <p:nvSpPr>
          <p:cNvPr id="5" name="Freeform 5"/>
          <p:cNvSpPr/>
          <p:nvPr/>
        </p:nvSpPr>
        <p:spPr>
          <a:xfrm>
            <a:off x="9575216" y="4813754"/>
            <a:ext cx="2771775" cy="2771775"/>
          </a:xfrm>
          <a:custGeom>
            <a:avLst/>
            <a:gdLst/>
            <a:ahLst/>
            <a:cxnLst/>
            <a:rect l="l" t="t" r="r" b="b"/>
            <a:pathLst>
              <a:path w="2771775" h="2771775">
                <a:moveTo>
                  <a:pt x="0" y="0"/>
                </a:moveTo>
                <a:lnTo>
                  <a:pt x="2771775" y="0"/>
                </a:lnTo>
                <a:lnTo>
                  <a:pt x="2771775" y="2771775"/>
                </a:lnTo>
                <a:lnTo>
                  <a:pt x="0" y="2771775"/>
                </a:lnTo>
                <a:lnTo>
                  <a:pt x="0" y="0"/>
                </a:lnTo>
                <a:close/>
              </a:path>
            </a:pathLst>
          </a:custGeom>
          <a:blipFill>
            <a:blip r:embed="rId5"/>
            <a:stretch>
              <a:fillRect/>
            </a:stretch>
          </a:blipFill>
        </p:spPr>
      </p:sp>
      <p:sp>
        <p:nvSpPr>
          <p:cNvPr id="6" name="Freeform 6"/>
          <p:cNvSpPr/>
          <p:nvPr/>
        </p:nvSpPr>
        <p:spPr>
          <a:xfrm>
            <a:off x="12600489" y="4813754"/>
            <a:ext cx="2609850" cy="2771775"/>
          </a:xfrm>
          <a:custGeom>
            <a:avLst/>
            <a:gdLst/>
            <a:ahLst/>
            <a:cxnLst/>
            <a:rect l="l" t="t" r="r" b="b"/>
            <a:pathLst>
              <a:path w="2609850" h="2771775">
                <a:moveTo>
                  <a:pt x="0" y="0"/>
                </a:moveTo>
                <a:lnTo>
                  <a:pt x="2609850" y="0"/>
                </a:lnTo>
                <a:lnTo>
                  <a:pt x="2609850" y="2771775"/>
                </a:lnTo>
                <a:lnTo>
                  <a:pt x="0" y="2771775"/>
                </a:lnTo>
                <a:lnTo>
                  <a:pt x="0" y="0"/>
                </a:lnTo>
                <a:close/>
              </a:path>
            </a:pathLst>
          </a:custGeom>
          <a:blipFill>
            <a:blip r:embed="rId6"/>
            <a:stretch>
              <a:fillRect l="-20728" r="-20512"/>
            </a:stretch>
          </a:blipFill>
        </p:spPr>
      </p:sp>
      <p:sp>
        <p:nvSpPr>
          <p:cNvPr id="7" name="Freeform 7"/>
          <p:cNvSpPr/>
          <p:nvPr/>
        </p:nvSpPr>
        <p:spPr>
          <a:xfrm>
            <a:off x="15466504" y="4813754"/>
            <a:ext cx="2400300" cy="2771775"/>
          </a:xfrm>
          <a:custGeom>
            <a:avLst/>
            <a:gdLst/>
            <a:ahLst/>
            <a:cxnLst/>
            <a:rect l="l" t="t" r="r" b="b"/>
            <a:pathLst>
              <a:path w="2400300" h="2771775">
                <a:moveTo>
                  <a:pt x="0" y="0"/>
                </a:moveTo>
                <a:lnTo>
                  <a:pt x="2400300" y="0"/>
                </a:lnTo>
                <a:lnTo>
                  <a:pt x="2400300" y="2771775"/>
                </a:lnTo>
                <a:lnTo>
                  <a:pt x="0" y="2771775"/>
                </a:lnTo>
                <a:lnTo>
                  <a:pt x="0" y="0"/>
                </a:lnTo>
                <a:close/>
              </a:path>
            </a:pathLst>
          </a:custGeom>
          <a:blipFill>
            <a:blip r:embed="rId7"/>
            <a:stretch>
              <a:fillRect/>
            </a:stretch>
          </a:blipFill>
        </p:spPr>
      </p:sp>
      <p:sp>
        <p:nvSpPr>
          <p:cNvPr id="8" name="TextBox 8"/>
          <p:cNvSpPr txBox="1"/>
          <p:nvPr/>
        </p:nvSpPr>
        <p:spPr>
          <a:xfrm>
            <a:off x="1291771" y="4029265"/>
            <a:ext cx="6631410" cy="584835"/>
          </a:xfrm>
          <a:prstGeom prst="rect">
            <a:avLst/>
          </a:prstGeom>
        </p:spPr>
        <p:txBody>
          <a:bodyPr lIns="0" tIns="0" rIns="0" bIns="0" rtlCol="0" anchor="t">
            <a:spAutoFit/>
          </a:bodyPr>
          <a:lstStyle/>
          <a:p>
            <a:pPr algn="l">
              <a:lnSpc>
                <a:spcPts val="4200"/>
              </a:lnSpc>
            </a:pPr>
            <a:r>
              <a:rPr lang="en-US" sz="3000" b="1">
                <a:solidFill>
                  <a:srgbClr val="10B5BF"/>
                </a:solidFill>
                <a:latin typeface="Poppins Medium"/>
                <a:ea typeface="Poppins Medium"/>
                <a:cs typeface="Poppins Medium"/>
                <a:sym typeface="Poppins Medium"/>
              </a:rPr>
              <a:t>Seja para jogo, web, mobile e etc.</a:t>
            </a:r>
          </a:p>
        </p:txBody>
      </p:sp>
      <p:sp>
        <p:nvSpPr>
          <p:cNvPr id="9" name="TextBox 9"/>
          <p:cNvSpPr txBox="1"/>
          <p:nvPr/>
        </p:nvSpPr>
        <p:spPr>
          <a:xfrm>
            <a:off x="1291771" y="1471574"/>
            <a:ext cx="13431841" cy="2129076"/>
          </a:xfrm>
          <a:prstGeom prst="rect">
            <a:avLst/>
          </a:prstGeom>
        </p:spPr>
        <p:txBody>
          <a:bodyPr lIns="0" tIns="0" rIns="0" bIns="0" rtlCol="0" anchor="t">
            <a:spAutoFit/>
          </a:bodyPr>
          <a:lstStyle/>
          <a:p>
            <a:pPr algn="l">
              <a:lnSpc>
                <a:spcPts val="7799"/>
              </a:lnSpc>
            </a:pPr>
            <a:r>
              <a:rPr lang="en-US" sz="6499" b="1">
                <a:solidFill>
                  <a:srgbClr val="FFFFFF"/>
                </a:solidFill>
                <a:latin typeface="Poppins Semi-Bold"/>
                <a:ea typeface="Poppins Semi-Bold"/>
                <a:cs typeface="Poppins Semi-Bold"/>
                <a:sym typeface="Poppins Semi-Bold"/>
              </a:rPr>
              <a:t>E existe diversas ferramentas para nos ajudar a desenvolver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5915970" y="1401213"/>
            <a:ext cx="1343025" cy="4733925"/>
          </a:xfrm>
          <a:custGeom>
            <a:avLst/>
            <a:gdLst/>
            <a:ahLst/>
            <a:cxnLst/>
            <a:rect l="l" t="t" r="r" b="b"/>
            <a:pathLst>
              <a:path w="1343025" h="4733925">
                <a:moveTo>
                  <a:pt x="0" y="0"/>
                </a:moveTo>
                <a:lnTo>
                  <a:pt x="1343025" y="0"/>
                </a:lnTo>
                <a:lnTo>
                  <a:pt x="1343025" y="4733925"/>
                </a:lnTo>
                <a:lnTo>
                  <a:pt x="0" y="4733925"/>
                </a:lnTo>
                <a:lnTo>
                  <a:pt x="0" y="0"/>
                </a:lnTo>
                <a:close/>
              </a:path>
            </a:pathLst>
          </a:custGeom>
          <a:blipFill>
            <a:blip r:embed="rId2"/>
            <a:stretch>
              <a:fillRect/>
            </a:stretch>
          </a:blipFill>
        </p:spPr>
      </p:sp>
      <p:sp>
        <p:nvSpPr>
          <p:cNvPr id="3" name="Freeform 3"/>
          <p:cNvSpPr/>
          <p:nvPr/>
        </p:nvSpPr>
        <p:spPr>
          <a:xfrm>
            <a:off x="1028700" y="1401213"/>
            <a:ext cx="1343025" cy="4733925"/>
          </a:xfrm>
          <a:custGeom>
            <a:avLst/>
            <a:gdLst/>
            <a:ahLst/>
            <a:cxnLst/>
            <a:rect l="l" t="t" r="r" b="b"/>
            <a:pathLst>
              <a:path w="1343025" h="4733925">
                <a:moveTo>
                  <a:pt x="0" y="0"/>
                </a:moveTo>
                <a:lnTo>
                  <a:pt x="1343025" y="0"/>
                </a:lnTo>
                <a:lnTo>
                  <a:pt x="1343025" y="4733925"/>
                </a:lnTo>
                <a:lnTo>
                  <a:pt x="0" y="4733925"/>
                </a:lnTo>
                <a:lnTo>
                  <a:pt x="0" y="0"/>
                </a:lnTo>
                <a:close/>
              </a:path>
            </a:pathLst>
          </a:custGeom>
          <a:blipFill>
            <a:blip r:embed="rId2"/>
            <a:stretch>
              <a:fillRect/>
            </a:stretch>
          </a:blipFill>
        </p:spPr>
      </p:sp>
      <p:sp>
        <p:nvSpPr>
          <p:cNvPr id="4" name="TextBox 4"/>
          <p:cNvSpPr txBox="1"/>
          <p:nvPr/>
        </p:nvSpPr>
        <p:spPr>
          <a:xfrm>
            <a:off x="3782073" y="2640835"/>
            <a:ext cx="10938158" cy="4868818"/>
          </a:xfrm>
          <a:prstGeom prst="rect">
            <a:avLst/>
          </a:prstGeom>
        </p:spPr>
        <p:txBody>
          <a:bodyPr lIns="0" tIns="0" rIns="0" bIns="0" rtlCol="0" anchor="t">
            <a:spAutoFit/>
          </a:bodyPr>
          <a:lstStyle/>
          <a:p>
            <a:pPr algn="ctr">
              <a:lnSpc>
                <a:spcPts val="7424"/>
              </a:lnSpc>
            </a:pPr>
            <a:r>
              <a:rPr lang="en-US" sz="6249" b="1">
                <a:solidFill>
                  <a:srgbClr val="FFFFFF"/>
                </a:solidFill>
                <a:latin typeface="Poppins Semi-Bold"/>
                <a:ea typeface="Poppins Semi-Bold"/>
                <a:cs typeface="Poppins Semi-Bold"/>
                <a:sym typeface="Poppins Semi-Bold"/>
              </a:rPr>
              <a:t>Como você ja sabe, o computador só entende 0 ou 1. Como que um programa de texto pode um conjunto de 0 ou 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054303" y="3941607"/>
            <a:ext cx="16182975" cy="4162425"/>
          </a:xfrm>
          <a:custGeom>
            <a:avLst/>
            <a:gdLst/>
            <a:ahLst/>
            <a:cxnLst/>
            <a:rect l="l" t="t" r="r" b="b"/>
            <a:pathLst>
              <a:path w="16182975" h="4162425">
                <a:moveTo>
                  <a:pt x="0" y="0"/>
                </a:moveTo>
                <a:lnTo>
                  <a:pt x="16182975" y="0"/>
                </a:lnTo>
                <a:lnTo>
                  <a:pt x="16182975" y="4162425"/>
                </a:lnTo>
                <a:lnTo>
                  <a:pt x="0" y="4162425"/>
                </a:lnTo>
                <a:lnTo>
                  <a:pt x="0" y="0"/>
                </a:lnTo>
                <a:close/>
              </a:path>
            </a:pathLst>
          </a:custGeom>
          <a:blipFill>
            <a:blip r:embed="rId2"/>
            <a:stretch>
              <a:fillRect/>
            </a:stretch>
          </a:blipFill>
        </p:spPr>
      </p:sp>
      <p:sp>
        <p:nvSpPr>
          <p:cNvPr id="3" name="TextBox 3"/>
          <p:cNvSpPr txBox="1"/>
          <p:nvPr/>
        </p:nvSpPr>
        <p:spPr>
          <a:xfrm>
            <a:off x="1184196" y="224809"/>
            <a:ext cx="5005016" cy="1729407"/>
          </a:xfrm>
          <a:prstGeom prst="rect">
            <a:avLst/>
          </a:prstGeom>
        </p:spPr>
        <p:txBody>
          <a:bodyPr lIns="0" tIns="0" rIns="0" bIns="0" rtlCol="0" anchor="t">
            <a:spAutoFit/>
          </a:bodyPr>
          <a:lstStyle/>
          <a:p>
            <a:pPr algn="ctr">
              <a:lnSpc>
                <a:spcPts val="6301"/>
              </a:lnSpc>
            </a:pPr>
            <a:r>
              <a:rPr lang="en-US" sz="5299" b="1">
                <a:solidFill>
                  <a:srgbClr val="10B5BF"/>
                </a:solidFill>
                <a:latin typeface="Poppins Medium"/>
                <a:ea typeface="Poppins Medium"/>
                <a:cs typeface="Poppins Medium"/>
                <a:sym typeface="Poppins Medium"/>
              </a:rPr>
              <a:t>Linguagem de alto nível</a:t>
            </a:r>
          </a:p>
        </p:txBody>
      </p:sp>
      <p:sp>
        <p:nvSpPr>
          <p:cNvPr id="4" name="TextBox 4"/>
          <p:cNvSpPr txBox="1"/>
          <p:nvPr/>
        </p:nvSpPr>
        <p:spPr>
          <a:xfrm>
            <a:off x="6392342" y="1874987"/>
            <a:ext cx="5613216" cy="1376982"/>
          </a:xfrm>
          <a:prstGeom prst="rect">
            <a:avLst/>
          </a:prstGeom>
        </p:spPr>
        <p:txBody>
          <a:bodyPr lIns="0" tIns="0" rIns="0" bIns="0" rtlCol="0" anchor="t">
            <a:spAutoFit/>
          </a:bodyPr>
          <a:lstStyle/>
          <a:p>
            <a:pPr algn="just">
              <a:lnSpc>
                <a:spcPts val="2649"/>
              </a:lnSpc>
            </a:pPr>
            <a:r>
              <a:rPr lang="en-US" sz="5299" b="1">
                <a:solidFill>
                  <a:srgbClr val="10B5BF"/>
                </a:solidFill>
                <a:latin typeface="Poppins Medium"/>
                <a:ea typeface="Poppins Medium"/>
                <a:cs typeface="Poppins Medium"/>
                <a:sym typeface="Poppins Medium"/>
              </a:rPr>
              <a:t>Ferramenta que</a:t>
            </a:r>
          </a:p>
          <a:p>
            <a:pPr algn="just">
              <a:lnSpc>
                <a:spcPts val="9952"/>
              </a:lnSpc>
            </a:pPr>
            <a:r>
              <a:rPr lang="en-US" sz="5299" b="1">
                <a:solidFill>
                  <a:srgbClr val="10B5BF"/>
                </a:solidFill>
                <a:latin typeface="Poppins Medium"/>
                <a:ea typeface="Poppins Medium"/>
                <a:cs typeface="Poppins Medium"/>
                <a:sym typeface="Poppins Medium"/>
              </a:rPr>
              <a:t>faz a conversão</a:t>
            </a:r>
          </a:p>
        </p:txBody>
      </p:sp>
      <p:sp>
        <p:nvSpPr>
          <p:cNvPr id="5" name="TextBox 5"/>
          <p:cNvSpPr txBox="1"/>
          <p:nvPr/>
        </p:nvSpPr>
        <p:spPr>
          <a:xfrm>
            <a:off x="12886553" y="224809"/>
            <a:ext cx="4559494" cy="1729407"/>
          </a:xfrm>
          <a:prstGeom prst="rect">
            <a:avLst/>
          </a:prstGeom>
        </p:spPr>
        <p:txBody>
          <a:bodyPr lIns="0" tIns="0" rIns="0" bIns="0" rtlCol="0" anchor="t">
            <a:spAutoFit/>
          </a:bodyPr>
          <a:lstStyle/>
          <a:p>
            <a:pPr algn="ctr">
              <a:lnSpc>
                <a:spcPts val="6301"/>
              </a:lnSpc>
            </a:pPr>
            <a:r>
              <a:rPr lang="en-US" sz="5299" b="1">
                <a:solidFill>
                  <a:srgbClr val="10B5BF"/>
                </a:solidFill>
                <a:latin typeface="Poppins Medium"/>
                <a:ea typeface="Poppins Medium"/>
                <a:cs typeface="Poppins Medium"/>
                <a:sym typeface="Poppins Medium"/>
              </a:rPr>
              <a:t>Liguagem de máquina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5915970" y="1401213"/>
            <a:ext cx="1343025" cy="4733925"/>
          </a:xfrm>
          <a:custGeom>
            <a:avLst/>
            <a:gdLst/>
            <a:ahLst/>
            <a:cxnLst/>
            <a:rect l="l" t="t" r="r" b="b"/>
            <a:pathLst>
              <a:path w="1343025" h="4733925">
                <a:moveTo>
                  <a:pt x="0" y="0"/>
                </a:moveTo>
                <a:lnTo>
                  <a:pt x="1343025" y="0"/>
                </a:lnTo>
                <a:lnTo>
                  <a:pt x="1343025" y="4733925"/>
                </a:lnTo>
                <a:lnTo>
                  <a:pt x="0" y="4733925"/>
                </a:lnTo>
                <a:lnTo>
                  <a:pt x="0" y="0"/>
                </a:lnTo>
                <a:close/>
              </a:path>
            </a:pathLst>
          </a:custGeom>
          <a:blipFill>
            <a:blip r:embed="rId2"/>
            <a:stretch>
              <a:fillRect/>
            </a:stretch>
          </a:blipFill>
        </p:spPr>
      </p:sp>
      <p:sp>
        <p:nvSpPr>
          <p:cNvPr id="3" name="Freeform 3"/>
          <p:cNvSpPr/>
          <p:nvPr/>
        </p:nvSpPr>
        <p:spPr>
          <a:xfrm>
            <a:off x="1028700" y="1401213"/>
            <a:ext cx="1343025" cy="4733925"/>
          </a:xfrm>
          <a:custGeom>
            <a:avLst/>
            <a:gdLst/>
            <a:ahLst/>
            <a:cxnLst/>
            <a:rect l="l" t="t" r="r" b="b"/>
            <a:pathLst>
              <a:path w="1343025" h="4733925">
                <a:moveTo>
                  <a:pt x="0" y="0"/>
                </a:moveTo>
                <a:lnTo>
                  <a:pt x="1343025" y="0"/>
                </a:lnTo>
                <a:lnTo>
                  <a:pt x="1343025" y="4733925"/>
                </a:lnTo>
                <a:lnTo>
                  <a:pt x="0" y="4733925"/>
                </a:lnTo>
                <a:lnTo>
                  <a:pt x="0" y="0"/>
                </a:lnTo>
                <a:close/>
              </a:path>
            </a:pathLst>
          </a:custGeom>
          <a:blipFill>
            <a:blip r:embed="rId2"/>
            <a:stretch>
              <a:fillRect/>
            </a:stretch>
          </a:blipFill>
        </p:spPr>
      </p:sp>
      <p:sp>
        <p:nvSpPr>
          <p:cNvPr id="4" name="TextBox 4"/>
          <p:cNvSpPr txBox="1"/>
          <p:nvPr/>
        </p:nvSpPr>
        <p:spPr>
          <a:xfrm>
            <a:off x="3768233" y="3112322"/>
            <a:ext cx="10966485" cy="3925843"/>
          </a:xfrm>
          <a:prstGeom prst="rect">
            <a:avLst/>
          </a:prstGeom>
        </p:spPr>
        <p:txBody>
          <a:bodyPr lIns="0" tIns="0" rIns="0" bIns="0" rtlCol="0" anchor="t">
            <a:spAutoFit/>
          </a:bodyPr>
          <a:lstStyle/>
          <a:p>
            <a:pPr algn="ctr">
              <a:lnSpc>
                <a:spcPts val="7424"/>
              </a:lnSpc>
            </a:pPr>
            <a:r>
              <a:rPr lang="en-US" sz="6249" b="1">
                <a:solidFill>
                  <a:srgbClr val="FFFFFF"/>
                </a:solidFill>
                <a:latin typeface="Poppins Semi-Bold"/>
                <a:ea typeface="Poppins Semi-Bold"/>
                <a:cs typeface="Poppins Semi-Bold"/>
                <a:sym typeface="Poppins Semi-Bold"/>
              </a:rPr>
              <a:t>Falando sobre linguagens de progamação, basicamente temos a de alto e baixo nível.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9144000" y="1096699"/>
            <a:ext cx="8867775" cy="8420100"/>
          </a:xfrm>
          <a:custGeom>
            <a:avLst/>
            <a:gdLst/>
            <a:ahLst/>
            <a:cxnLst/>
            <a:rect l="l" t="t" r="r" b="b"/>
            <a:pathLst>
              <a:path w="8867775" h="8420100">
                <a:moveTo>
                  <a:pt x="0" y="0"/>
                </a:moveTo>
                <a:lnTo>
                  <a:pt x="8867775" y="0"/>
                </a:lnTo>
                <a:lnTo>
                  <a:pt x="8867775" y="8420100"/>
                </a:lnTo>
                <a:lnTo>
                  <a:pt x="0" y="8420100"/>
                </a:lnTo>
                <a:lnTo>
                  <a:pt x="0" y="0"/>
                </a:lnTo>
                <a:close/>
              </a:path>
            </a:pathLst>
          </a:custGeom>
          <a:blipFill>
            <a:blip r:embed="rId2"/>
            <a:stretch>
              <a:fillRect/>
            </a:stretch>
          </a:blipFill>
        </p:spPr>
      </p:sp>
      <p:sp>
        <p:nvSpPr>
          <p:cNvPr id="3" name="TextBox 3"/>
          <p:cNvSpPr txBox="1"/>
          <p:nvPr/>
        </p:nvSpPr>
        <p:spPr>
          <a:xfrm>
            <a:off x="485299" y="917477"/>
            <a:ext cx="8432530" cy="8640718"/>
          </a:xfrm>
          <a:prstGeom prst="rect">
            <a:avLst/>
          </a:prstGeom>
        </p:spPr>
        <p:txBody>
          <a:bodyPr lIns="0" tIns="0" rIns="0" bIns="0" rtlCol="0" anchor="t">
            <a:spAutoFit/>
          </a:bodyPr>
          <a:lstStyle/>
          <a:p>
            <a:pPr algn="ctr">
              <a:lnSpc>
                <a:spcPts val="7424"/>
              </a:lnSpc>
            </a:pPr>
            <a:r>
              <a:rPr lang="en-US" sz="6249" b="1">
                <a:solidFill>
                  <a:srgbClr val="FFFFFF"/>
                </a:solidFill>
                <a:latin typeface="Poppins Semi-Bold"/>
                <a:ea typeface="Poppins Semi-Bold"/>
                <a:cs typeface="Poppins Semi-Bold"/>
                <a:sym typeface="Poppins Semi-Bold"/>
              </a:rPr>
              <a:t>Esse código ao lado é de uma linguagem de baixo nível, analise como o código é bem confuso de imediato. A linguagem se chama </a:t>
            </a:r>
            <a:r>
              <a:rPr lang="en-US" sz="6249" b="1">
                <a:solidFill>
                  <a:srgbClr val="FF5757"/>
                </a:solidFill>
                <a:latin typeface="Poppins Semi-Bold"/>
                <a:ea typeface="Poppins Semi-Bold"/>
                <a:cs typeface="Poppins Semi-Bold"/>
                <a:sym typeface="Poppins Semi-Bold"/>
              </a:rPr>
              <a:t>Assembler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252498" y="2438676"/>
            <a:ext cx="9382125" cy="5410200"/>
          </a:xfrm>
          <a:custGeom>
            <a:avLst/>
            <a:gdLst/>
            <a:ahLst/>
            <a:cxnLst/>
            <a:rect l="l" t="t" r="r" b="b"/>
            <a:pathLst>
              <a:path w="9382125" h="5410200">
                <a:moveTo>
                  <a:pt x="0" y="0"/>
                </a:moveTo>
                <a:lnTo>
                  <a:pt x="9382125" y="0"/>
                </a:lnTo>
                <a:lnTo>
                  <a:pt x="9382125" y="5410200"/>
                </a:lnTo>
                <a:lnTo>
                  <a:pt x="0" y="5410200"/>
                </a:lnTo>
                <a:lnTo>
                  <a:pt x="0" y="0"/>
                </a:lnTo>
                <a:close/>
              </a:path>
            </a:pathLst>
          </a:custGeom>
          <a:blipFill>
            <a:blip r:embed="rId2"/>
            <a:stretch>
              <a:fillRect/>
            </a:stretch>
          </a:blipFill>
        </p:spPr>
      </p:sp>
      <p:sp>
        <p:nvSpPr>
          <p:cNvPr id="3" name="TextBox 3"/>
          <p:cNvSpPr txBox="1"/>
          <p:nvPr/>
        </p:nvSpPr>
        <p:spPr>
          <a:xfrm>
            <a:off x="9866709" y="-59503"/>
            <a:ext cx="7983217" cy="10526668"/>
          </a:xfrm>
          <a:prstGeom prst="rect">
            <a:avLst/>
          </a:prstGeom>
        </p:spPr>
        <p:txBody>
          <a:bodyPr lIns="0" tIns="0" rIns="0" bIns="0" rtlCol="0" anchor="t">
            <a:spAutoFit/>
          </a:bodyPr>
          <a:lstStyle/>
          <a:p>
            <a:pPr algn="ctr">
              <a:lnSpc>
                <a:spcPts val="7424"/>
              </a:lnSpc>
            </a:pPr>
            <a:r>
              <a:rPr lang="en-US" sz="6249" b="1">
                <a:solidFill>
                  <a:srgbClr val="FFFFFF"/>
                </a:solidFill>
                <a:latin typeface="Poppins Semi-Bold"/>
                <a:ea typeface="Poppins Semi-Bold"/>
                <a:cs typeface="Poppins Semi-Bold"/>
                <a:sym typeface="Poppins Semi-Bold"/>
              </a:rPr>
              <a:t>Agora podemos ver um código mais limpo e de fácil entendimento dos comandos, mesmo que em inglês. Esse exemplo é de um código em </a:t>
            </a:r>
            <a:r>
              <a:rPr lang="en-US" sz="6249" b="1">
                <a:solidFill>
                  <a:srgbClr val="FF5757"/>
                </a:solidFill>
                <a:latin typeface="Poppins Semi-Bold"/>
                <a:ea typeface="Poppins Semi-Bold"/>
                <a:cs typeface="Poppins Semi-Bold"/>
                <a:sym typeface="Poppins Semi-Bold"/>
              </a:rPr>
              <a:t>C#</a:t>
            </a:r>
            <a:r>
              <a:rPr lang="en-US" sz="6249" b="1">
                <a:solidFill>
                  <a:srgbClr val="FFFFFF"/>
                </a:solidFill>
                <a:latin typeface="Poppins Semi-Bold"/>
                <a:ea typeface="Poppins Semi-Bold"/>
                <a:cs typeface="Poppins Semi-Bold"/>
                <a:sym typeface="Poppins Semi-Bold"/>
              </a:rPr>
              <a:t>, uma linguagem de alto nível.</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rot="6585360">
            <a:off x="835543" y="6608540"/>
            <a:ext cx="2524144" cy="2600344"/>
            <a:chOff x="0" y="0"/>
            <a:chExt cx="3365525" cy="3467125"/>
          </a:xfrm>
        </p:grpSpPr>
        <p:sp>
          <p:nvSpPr>
            <p:cNvPr id="3" name="Freeform 3"/>
            <p:cNvSpPr/>
            <p:nvPr/>
          </p:nvSpPr>
          <p:spPr>
            <a:xfrm>
              <a:off x="0" y="0"/>
              <a:ext cx="3365500" cy="3467100"/>
            </a:xfrm>
            <a:custGeom>
              <a:avLst/>
              <a:gdLst/>
              <a:ahLst/>
              <a:cxnLst/>
              <a:rect l="l" t="t" r="r" b="b"/>
              <a:pathLst>
                <a:path w="3365500" h="3467100">
                  <a:moveTo>
                    <a:pt x="0" y="3467100"/>
                  </a:moveTo>
                  <a:lnTo>
                    <a:pt x="3365500" y="3467100"/>
                  </a:lnTo>
                  <a:lnTo>
                    <a:pt x="3365500" y="0"/>
                  </a:lnTo>
                  <a:lnTo>
                    <a:pt x="0" y="0"/>
                  </a:lnTo>
                  <a:lnTo>
                    <a:pt x="0" y="3467100"/>
                  </a:lnTo>
                  <a:close/>
                </a:path>
              </a:pathLst>
            </a:custGeom>
            <a:blipFill>
              <a:blip r:embed="rId2"/>
              <a:stretch>
                <a:fillRect/>
              </a:stretch>
            </a:blipFill>
          </p:spPr>
        </p:sp>
      </p:grpSp>
      <p:grpSp>
        <p:nvGrpSpPr>
          <p:cNvPr id="4" name="Group 4"/>
          <p:cNvGrpSpPr>
            <a:grpSpLocks noChangeAspect="1"/>
          </p:cNvGrpSpPr>
          <p:nvPr/>
        </p:nvGrpSpPr>
        <p:grpSpPr>
          <a:xfrm rot="65340">
            <a:off x="14619341" y="3886105"/>
            <a:ext cx="3029464" cy="2515581"/>
            <a:chOff x="0" y="0"/>
            <a:chExt cx="4039286" cy="3354108"/>
          </a:xfrm>
        </p:grpSpPr>
        <p:sp>
          <p:nvSpPr>
            <p:cNvPr id="5" name="Freeform 5"/>
            <p:cNvSpPr/>
            <p:nvPr/>
          </p:nvSpPr>
          <p:spPr>
            <a:xfrm flipH="1">
              <a:off x="0" y="0"/>
              <a:ext cx="4039362" cy="3354070"/>
            </a:xfrm>
            <a:custGeom>
              <a:avLst/>
              <a:gdLst/>
              <a:ahLst/>
              <a:cxnLst/>
              <a:rect l="l" t="t" r="r" b="b"/>
              <a:pathLst>
                <a:path w="4039362" h="3354070">
                  <a:moveTo>
                    <a:pt x="4039362" y="1270"/>
                  </a:moveTo>
                  <a:lnTo>
                    <a:pt x="4038219" y="3354070"/>
                  </a:lnTo>
                  <a:lnTo>
                    <a:pt x="0" y="3352800"/>
                  </a:lnTo>
                  <a:lnTo>
                    <a:pt x="1143" y="0"/>
                  </a:lnTo>
                  <a:lnTo>
                    <a:pt x="4039362" y="1270"/>
                  </a:lnTo>
                  <a:close/>
                </a:path>
              </a:pathLst>
            </a:custGeom>
            <a:blipFill>
              <a:blip r:embed="rId3"/>
              <a:stretch>
                <a:fillRect l="-9" r="1" b="-1"/>
              </a:stretch>
            </a:blipFill>
          </p:spPr>
        </p:sp>
      </p:grpSp>
      <p:grpSp>
        <p:nvGrpSpPr>
          <p:cNvPr id="6" name="Group 6"/>
          <p:cNvGrpSpPr>
            <a:grpSpLocks noChangeAspect="1"/>
          </p:cNvGrpSpPr>
          <p:nvPr/>
        </p:nvGrpSpPr>
        <p:grpSpPr>
          <a:xfrm>
            <a:off x="1685925" y="2643188"/>
            <a:ext cx="285750" cy="285750"/>
            <a:chOff x="0" y="0"/>
            <a:chExt cx="285750" cy="285750"/>
          </a:xfrm>
        </p:grpSpPr>
        <p:sp>
          <p:nvSpPr>
            <p:cNvPr id="7" name="Freeform 7"/>
            <p:cNvSpPr/>
            <p:nvPr/>
          </p:nvSpPr>
          <p:spPr>
            <a:xfrm>
              <a:off x="0" y="0"/>
              <a:ext cx="285750" cy="285623"/>
            </a:xfrm>
            <a:custGeom>
              <a:avLst/>
              <a:gdLst/>
              <a:ahLst/>
              <a:cxnLst/>
              <a:rect l="l" t="t" r="r" b="b"/>
              <a:pathLst>
                <a:path w="285750" h="285623">
                  <a:moveTo>
                    <a:pt x="285750" y="142875"/>
                  </a:moveTo>
                  <a:cubicBezTo>
                    <a:pt x="285750" y="152273"/>
                    <a:pt x="284861" y="161544"/>
                    <a:pt x="282956" y="170688"/>
                  </a:cubicBezTo>
                  <a:cubicBezTo>
                    <a:pt x="281051" y="179832"/>
                    <a:pt x="278384" y="188849"/>
                    <a:pt x="274828" y="197485"/>
                  </a:cubicBezTo>
                  <a:cubicBezTo>
                    <a:pt x="271272" y="206121"/>
                    <a:pt x="266827" y="214376"/>
                    <a:pt x="261620" y="222123"/>
                  </a:cubicBezTo>
                  <a:cubicBezTo>
                    <a:pt x="256413" y="229870"/>
                    <a:pt x="250444" y="237109"/>
                    <a:pt x="243840" y="243713"/>
                  </a:cubicBezTo>
                  <a:cubicBezTo>
                    <a:pt x="237236" y="250317"/>
                    <a:pt x="229997" y="256286"/>
                    <a:pt x="222250" y="261493"/>
                  </a:cubicBezTo>
                  <a:cubicBezTo>
                    <a:pt x="214503" y="266700"/>
                    <a:pt x="206248" y="271145"/>
                    <a:pt x="197612" y="274701"/>
                  </a:cubicBezTo>
                  <a:cubicBezTo>
                    <a:pt x="188976" y="278257"/>
                    <a:pt x="179959" y="281051"/>
                    <a:pt x="170815" y="282829"/>
                  </a:cubicBezTo>
                  <a:cubicBezTo>
                    <a:pt x="161671" y="284607"/>
                    <a:pt x="152273" y="285623"/>
                    <a:pt x="143002" y="285623"/>
                  </a:cubicBezTo>
                  <a:cubicBezTo>
                    <a:pt x="133731" y="285623"/>
                    <a:pt x="124333" y="284734"/>
                    <a:pt x="115189" y="282829"/>
                  </a:cubicBezTo>
                  <a:cubicBezTo>
                    <a:pt x="106045" y="280924"/>
                    <a:pt x="97028" y="278257"/>
                    <a:pt x="88392" y="274701"/>
                  </a:cubicBezTo>
                  <a:cubicBezTo>
                    <a:pt x="79756" y="271145"/>
                    <a:pt x="71247" y="266827"/>
                    <a:pt x="63500" y="261620"/>
                  </a:cubicBezTo>
                  <a:cubicBezTo>
                    <a:pt x="55753" y="256413"/>
                    <a:pt x="48514" y="250444"/>
                    <a:pt x="41910" y="243840"/>
                  </a:cubicBezTo>
                  <a:cubicBezTo>
                    <a:pt x="35306" y="237236"/>
                    <a:pt x="29337" y="229997"/>
                    <a:pt x="24130" y="222250"/>
                  </a:cubicBezTo>
                  <a:cubicBezTo>
                    <a:pt x="18923" y="214503"/>
                    <a:pt x="14478" y="206248"/>
                    <a:pt x="10922" y="197612"/>
                  </a:cubicBezTo>
                  <a:cubicBezTo>
                    <a:pt x="7366" y="188976"/>
                    <a:pt x="4572" y="179959"/>
                    <a:pt x="2794" y="170815"/>
                  </a:cubicBezTo>
                  <a:cubicBezTo>
                    <a:pt x="1016" y="161671"/>
                    <a:pt x="0" y="152273"/>
                    <a:pt x="0" y="142875"/>
                  </a:cubicBezTo>
                  <a:cubicBezTo>
                    <a:pt x="0" y="133477"/>
                    <a:pt x="889" y="124206"/>
                    <a:pt x="2794" y="115062"/>
                  </a:cubicBezTo>
                  <a:cubicBezTo>
                    <a:pt x="4699" y="105918"/>
                    <a:pt x="7239" y="96901"/>
                    <a:pt x="10922" y="88138"/>
                  </a:cubicBezTo>
                  <a:cubicBezTo>
                    <a:pt x="14605" y="79375"/>
                    <a:pt x="18923" y="71247"/>
                    <a:pt x="24130" y="63500"/>
                  </a:cubicBezTo>
                  <a:cubicBezTo>
                    <a:pt x="29337" y="55753"/>
                    <a:pt x="35306" y="48514"/>
                    <a:pt x="41910" y="41910"/>
                  </a:cubicBezTo>
                  <a:cubicBezTo>
                    <a:pt x="48514" y="35306"/>
                    <a:pt x="55753" y="29337"/>
                    <a:pt x="63500" y="24130"/>
                  </a:cubicBezTo>
                  <a:cubicBezTo>
                    <a:pt x="71247" y="18923"/>
                    <a:pt x="79502" y="14478"/>
                    <a:pt x="88138" y="10922"/>
                  </a:cubicBezTo>
                  <a:cubicBezTo>
                    <a:pt x="96774" y="7366"/>
                    <a:pt x="105791" y="4572"/>
                    <a:pt x="115062" y="2794"/>
                  </a:cubicBezTo>
                  <a:cubicBezTo>
                    <a:pt x="124333" y="1016"/>
                    <a:pt x="133477" y="0"/>
                    <a:pt x="142875" y="0"/>
                  </a:cubicBezTo>
                  <a:cubicBezTo>
                    <a:pt x="152273" y="0"/>
                    <a:pt x="161544" y="889"/>
                    <a:pt x="170688" y="2794"/>
                  </a:cubicBezTo>
                  <a:cubicBezTo>
                    <a:pt x="179832" y="4699"/>
                    <a:pt x="188849" y="7366"/>
                    <a:pt x="197485" y="10922"/>
                  </a:cubicBezTo>
                  <a:cubicBezTo>
                    <a:pt x="206121" y="14478"/>
                    <a:pt x="214376" y="18923"/>
                    <a:pt x="222123" y="24130"/>
                  </a:cubicBezTo>
                  <a:cubicBezTo>
                    <a:pt x="229870" y="29337"/>
                    <a:pt x="237109" y="35306"/>
                    <a:pt x="243713" y="41910"/>
                  </a:cubicBezTo>
                  <a:cubicBezTo>
                    <a:pt x="250317" y="48514"/>
                    <a:pt x="256286" y="55753"/>
                    <a:pt x="261493" y="63500"/>
                  </a:cubicBezTo>
                  <a:cubicBezTo>
                    <a:pt x="266700" y="71247"/>
                    <a:pt x="271145" y="79502"/>
                    <a:pt x="274701" y="88138"/>
                  </a:cubicBezTo>
                  <a:cubicBezTo>
                    <a:pt x="278257" y="96774"/>
                    <a:pt x="281051" y="105791"/>
                    <a:pt x="282829" y="114935"/>
                  </a:cubicBezTo>
                  <a:cubicBezTo>
                    <a:pt x="284607" y="124079"/>
                    <a:pt x="285623" y="133477"/>
                    <a:pt x="285623" y="142748"/>
                  </a:cubicBezTo>
                  <a:close/>
                </a:path>
              </a:pathLst>
            </a:custGeom>
            <a:solidFill>
              <a:srgbClr val="FFFFFF"/>
            </a:solidFill>
          </p:spPr>
        </p:sp>
      </p:grpSp>
      <p:grpSp>
        <p:nvGrpSpPr>
          <p:cNvPr id="8" name="Group 8"/>
          <p:cNvGrpSpPr>
            <a:grpSpLocks noChangeAspect="1"/>
          </p:cNvGrpSpPr>
          <p:nvPr/>
        </p:nvGrpSpPr>
        <p:grpSpPr>
          <a:xfrm>
            <a:off x="1685925" y="3548062"/>
            <a:ext cx="285750" cy="285750"/>
            <a:chOff x="0" y="0"/>
            <a:chExt cx="285750" cy="285750"/>
          </a:xfrm>
        </p:grpSpPr>
        <p:sp>
          <p:nvSpPr>
            <p:cNvPr id="9" name="Freeform 9"/>
            <p:cNvSpPr/>
            <p:nvPr/>
          </p:nvSpPr>
          <p:spPr>
            <a:xfrm>
              <a:off x="0" y="0"/>
              <a:ext cx="285750" cy="285623"/>
            </a:xfrm>
            <a:custGeom>
              <a:avLst/>
              <a:gdLst/>
              <a:ahLst/>
              <a:cxnLst/>
              <a:rect l="l" t="t" r="r" b="b"/>
              <a:pathLst>
                <a:path w="285750" h="285623">
                  <a:moveTo>
                    <a:pt x="285750" y="142875"/>
                  </a:moveTo>
                  <a:cubicBezTo>
                    <a:pt x="285750" y="152273"/>
                    <a:pt x="284861" y="161544"/>
                    <a:pt x="282956" y="170688"/>
                  </a:cubicBezTo>
                  <a:cubicBezTo>
                    <a:pt x="281051" y="179832"/>
                    <a:pt x="278384" y="188849"/>
                    <a:pt x="274828" y="197485"/>
                  </a:cubicBezTo>
                  <a:cubicBezTo>
                    <a:pt x="271272" y="206121"/>
                    <a:pt x="266827" y="214376"/>
                    <a:pt x="261620" y="222123"/>
                  </a:cubicBezTo>
                  <a:cubicBezTo>
                    <a:pt x="256413" y="229870"/>
                    <a:pt x="250444" y="237109"/>
                    <a:pt x="243840" y="243713"/>
                  </a:cubicBezTo>
                  <a:cubicBezTo>
                    <a:pt x="237236" y="250317"/>
                    <a:pt x="229997" y="256286"/>
                    <a:pt x="222250" y="261493"/>
                  </a:cubicBezTo>
                  <a:cubicBezTo>
                    <a:pt x="214503" y="266700"/>
                    <a:pt x="206248" y="271145"/>
                    <a:pt x="197612" y="274701"/>
                  </a:cubicBezTo>
                  <a:cubicBezTo>
                    <a:pt x="188976" y="278257"/>
                    <a:pt x="179959" y="281051"/>
                    <a:pt x="170815" y="282829"/>
                  </a:cubicBezTo>
                  <a:cubicBezTo>
                    <a:pt x="161671" y="284607"/>
                    <a:pt x="152273" y="285623"/>
                    <a:pt x="143002" y="285623"/>
                  </a:cubicBezTo>
                  <a:cubicBezTo>
                    <a:pt x="133731" y="285623"/>
                    <a:pt x="124333" y="284734"/>
                    <a:pt x="115189" y="282829"/>
                  </a:cubicBezTo>
                  <a:cubicBezTo>
                    <a:pt x="106045" y="280924"/>
                    <a:pt x="97028" y="278257"/>
                    <a:pt x="88392" y="274701"/>
                  </a:cubicBezTo>
                  <a:cubicBezTo>
                    <a:pt x="79756" y="271145"/>
                    <a:pt x="71247" y="266827"/>
                    <a:pt x="63500" y="261620"/>
                  </a:cubicBezTo>
                  <a:cubicBezTo>
                    <a:pt x="55753" y="256413"/>
                    <a:pt x="48514" y="250444"/>
                    <a:pt x="41910" y="243840"/>
                  </a:cubicBezTo>
                  <a:cubicBezTo>
                    <a:pt x="35306" y="237236"/>
                    <a:pt x="29337" y="229997"/>
                    <a:pt x="24130" y="222250"/>
                  </a:cubicBezTo>
                  <a:cubicBezTo>
                    <a:pt x="18923" y="214503"/>
                    <a:pt x="14478" y="206248"/>
                    <a:pt x="10922" y="197612"/>
                  </a:cubicBezTo>
                  <a:cubicBezTo>
                    <a:pt x="7366" y="188976"/>
                    <a:pt x="4572" y="179959"/>
                    <a:pt x="2794" y="170815"/>
                  </a:cubicBezTo>
                  <a:cubicBezTo>
                    <a:pt x="1016" y="161671"/>
                    <a:pt x="0" y="152273"/>
                    <a:pt x="0" y="142875"/>
                  </a:cubicBezTo>
                  <a:cubicBezTo>
                    <a:pt x="0" y="133477"/>
                    <a:pt x="889" y="124206"/>
                    <a:pt x="2794" y="115062"/>
                  </a:cubicBezTo>
                  <a:cubicBezTo>
                    <a:pt x="4699" y="105918"/>
                    <a:pt x="7239" y="96901"/>
                    <a:pt x="10922" y="88138"/>
                  </a:cubicBezTo>
                  <a:cubicBezTo>
                    <a:pt x="14605" y="79375"/>
                    <a:pt x="18923" y="71247"/>
                    <a:pt x="24130" y="63500"/>
                  </a:cubicBezTo>
                  <a:cubicBezTo>
                    <a:pt x="29337" y="55753"/>
                    <a:pt x="35306" y="48514"/>
                    <a:pt x="41910" y="41910"/>
                  </a:cubicBezTo>
                  <a:cubicBezTo>
                    <a:pt x="48514" y="35306"/>
                    <a:pt x="55753" y="29337"/>
                    <a:pt x="63500" y="24130"/>
                  </a:cubicBezTo>
                  <a:cubicBezTo>
                    <a:pt x="71247" y="18923"/>
                    <a:pt x="79502" y="14478"/>
                    <a:pt x="88138" y="10922"/>
                  </a:cubicBezTo>
                  <a:cubicBezTo>
                    <a:pt x="96774" y="7366"/>
                    <a:pt x="105791" y="4572"/>
                    <a:pt x="115062" y="2794"/>
                  </a:cubicBezTo>
                  <a:cubicBezTo>
                    <a:pt x="124333" y="1016"/>
                    <a:pt x="133477" y="0"/>
                    <a:pt x="142875" y="0"/>
                  </a:cubicBezTo>
                  <a:cubicBezTo>
                    <a:pt x="152273" y="0"/>
                    <a:pt x="161544" y="889"/>
                    <a:pt x="170688" y="2794"/>
                  </a:cubicBezTo>
                  <a:cubicBezTo>
                    <a:pt x="179832" y="4699"/>
                    <a:pt x="188849" y="7366"/>
                    <a:pt x="197485" y="10922"/>
                  </a:cubicBezTo>
                  <a:cubicBezTo>
                    <a:pt x="206121" y="14478"/>
                    <a:pt x="214376" y="18923"/>
                    <a:pt x="222123" y="24130"/>
                  </a:cubicBezTo>
                  <a:cubicBezTo>
                    <a:pt x="229870" y="29337"/>
                    <a:pt x="237109" y="35306"/>
                    <a:pt x="243713" y="41910"/>
                  </a:cubicBezTo>
                  <a:cubicBezTo>
                    <a:pt x="250317" y="48514"/>
                    <a:pt x="256286" y="55753"/>
                    <a:pt x="261493" y="63500"/>
                  </a:cubicBezTo>
                  <a:cubicBezTo>
                    <a:pt x="266700" y="71247"/>
                    <a:pt x="271145" y="79502"/>
                    <a:pt x="274701" y="88265"/>
                  </a:cubicBezTo>
                  <a:cubicBezTo>
                    <a:pt x="278257" y="97028"/>
                    <a:pt x="281051" y="105918"/>
                    <a:pt x="282829" y="115062"/>
                  </a:cubicBezTo>
                  <a:cubicBezTo>
                    <a:pt x="284607" y="124206"/>
                    <a:pt x="285623" y="133604"/>
                    <a:pt x="285623" y="142875"/>
                  </a:cubicBezTo>
                  <a:close/>
                </a:path>
              </a:pathLst>
            </a:custGeom>
            <a:solidFill>
              <a:srgbClr val="FFFFFF"/>
            </a:solidFill>
          </p:spPr>
        </p:sp>
      </p:grpSp>
      <p:grpSp>
        <p:nvGrpSpPr>
          <p:cNvPr id="10" name="Group 10"/>
          <p:cNvGrpSpPr>
            <a:grpSpLocks noChangeAspect="1"/>
          </p:cNvGrpSpPr>
          <p:nvPr/>
        </p:nvGrpSpPr>
        <p:grpSpPr>
          <a:xfrm>
            <a:off x="1685925" y="4452938"/>
            <a:ext cx="285750" cy="285750"/>
            <a:chOff x="0" y="0"/>
            <a:chExt cx="285750" cy="285750"/>
          </a:xfrm>
        </p:grpSpPr>
        <p:sp>
          <p:nvSpPr>
            <p:cNvPr id="11" name="Freeform 11"/>
            <p:cNvSpPr/>
            <p:nvPr/>
          </p:nvSpPr>
          <p:spPr>
            <a:xfrm>
              <a:off x="0" y="0"/>
              <a:ext cx="285750" cy="285750"/>
            </a:xfrm>
            <a:custGeom>
              <a:avLst/>
              <a:gdLst/>
              <a:ahLst/>
              <a:cxnLst/>
              <a:rect l="l" t="t" r="r" b="b"/>
              <a:pathLst>
                <a:path w="285750" h="285750">
                  <a:moveTo>
                    <a:pt x="285750" y="142875"/>
                  </a:moveTo>
                  <a:cubicBezTo>
                    <a:pt x="285750" y="152273"/>
                    <a:pt x="284861" y="161544"/>
                    <a:pt x="282956" y="170688"/>
                  </a:cubicBezTo>
                  <a:cubicBezTo>
                    <a:pt x="281051" y="179832"/>
                    <a:pt x="278384" y="188849"/>
                    <a:pt x="274828" y="197485"/>
                  </a:cubicBezTo>
                  <a:cubicBezTo>
                    <a:pt x="271272" y="206121"/>
                    <a:pt x="266827" y="214376"/>
                    <a:pt x="261620" y="222250"/>
                  </a:cubicBezTo>
                  <a:cubicBezTo>
                    <a:pt x="256413" y="230124"/>
                    <a:pt x="250444" y="237236"/>
                    <a:pt x="243840" y="243840"/>
                  </a:cubicBezTo>
                  <a:cubicBezTo>
                    <a:pt x="237236" y="250444"/>
                    <a:pt x="229997" y="256413"/>
                    <a:pt x="222250" y="261620"/>
                  </a:cubicBezTo>
                  <a:cubicBezTo>
                    <a:pt x="214503" y="266827"/>
                    <a:pt x="206248" y="271272"/>
                    <a:pt x="197612" y="274828"/>
                  </a:cubicBezTo>
                  <a:cubicBezTo>
                    <a:pt x="188976" y="278384"/>
                    <a:pt x="179959" y="281178"/>
                    <a:pt x="170815" y="282956"/>
                  </a:cubicBezTo>
                  <a:cubicBezTo>
                    <a:pt x="161671" y="284734"/>
                    <a:pt x="152273" y="285750"/>
                    <a:pt x="143002" y="285750"/>
                  </a:cubicBezTo>
                  <a:cubicBezTo>
                    <a:pt x="133731" y="285750"/>
                    <a:pt x="124333" y="284861"/>
                    <a:pt x="115189" y="282956"/>
                  </a:cubicBezTo>
                  <a:cubicBezTo>
                    <a:pt x="106045" y="281051"/>
                    <a:pt x="97028" y="278384"/>
                    <a:pt x="88392" y="274828"/>
                  </a:cubicBezTo>
                  <a:cubicBezTo>
                    <a:pt x="79756" y="271272"/>
                    <a:pt x="71247" y="266827"/>
                    <a:pt x="63500" y="261620"/>
                  </a:cubicBezTo>
                  <a:cubicBezTo>
                    <a:pt x="55753" y="256413"/>
                    <a:pt x="48514" y="250444"/>
                    <a:pt x="41910" y="243840"/>
                  </a:cubicBezTo>
                  <a:cubicBezTo>
                    <a:pt x="35306" y="237236"/>
                    <a:pt x="29337" y="229997"/>
                    <a:pt x="24130" y="222250"/>
                  </a:cubicBezTo>
                  <a:cubicBezTo>
                    <a:pt x="18923" y="214503"/>
                    <a:pt x="14478" y="206248"/>
                    <a:pt x="10922" y="197612"/>
                  </a:cubicBezTo>
                  <a:cubicBezTo>
                    <a:pt x="7366" y="188976"/>
                    <a:pt x="4572" y="179959"/>
                    <a:pt x="2794" y="170815"/>
                  </a:cubicBezTo>
                  <a:cubicBezTo>
                    <a:pt x="1016" y="161671"/>
                    <a:pt x="0" y="152273"/>
                    <a:pt x="0" y="142875"/>
                  </a:cubicBezTo>
                  <a:cubicBezTo>
                    <a:pt x="0" y="133477"/>
                    <a:pt x="889" y="124206"/>
                    <a:pt x="2794" y="115062"/>
                  </a:cubicBezTo>
                  <a:cubicBezTo>
                    <a:pt x="4699" y="105918"/>
                    <a:pt x="7239" y="96901"/>
                    <a:pt x="10922" y="88138"/>
                  </a:cubicBezTo>
                  <a:cubicBezTo>
                    <a:pt x="14605" y="79375"/>
                    <a:pt x="18923" y="71247"/>
                    <a:pt x="24130" y="63500"/>
                  </a:cubicBezTo>
                  <a:cubicBezTo>
                    <a:pt x="29337" y="55753"/>
                    <a:pt x="35306" y="48514"/>
                    <a:pt x="41910" y="41910"/>
                  </a:cubicBezTo>
                  <a:cubicBezTo>
                    <a:pt x="48514" y="35306"/>
                    <a:pt x="55753" y="29337"/>
                    <a:pt x="63500" y="24130"/>
                  </a:cubicBezTo>
                  <a:cubicBezTo>
                    <a:pt x="71247" y="18923"/>
                    <a:pt x="79502" y="14478"/>
                    <a:pt x="88138" y="10922"/>
                  </a:cubicBezTo>
                  <a:cubicBezTo>
                    <a:pt x="96774" y="7366"/>
                    <a:pt x="105791" y="4572"/>
                    <a:pt x="115062" y="2794"/>
                  </a:cubicBezTo>
                  <a:cubicBezTo>
                    <a:pt x="124333" y="1016"/>
                    <a:pt x="133477" y="0"/>
                    <a:pt x="142875" y="0"/>
                  </a:cubicBezTo>
                  <a:cubicBezTo>
                    <a:pt x="152273" y="0"/>
                    <a:pt x="161544" y="889"/>
                    <a:pt x="170688" y="2794"/>
                  </a:cubicBezTo>
                  <a:cubicBezTo>
                    <a:pt x="179832" y="4699"/>
                    <a:pt x="188849" y="7366"/>
                    <a:pt x="197485" y="10922"/>
                  </a:cubicBezTo>
                  <a:cubicBezTo>
                    <a:pt x="206121" y="14478"/>
                    <a:pt x="214376" y="18923"/>
                    <a:pt x="222123" y="24130"/>
                  </a:cubicBezTo>
                  <a:cubicBezTo>
                    <a:pt x="229870" y="29337"/>
                    <a:pt x="237109" y="35306"/>
                    <a:pt x="243713" y="41910"/>
                  </a:cubicBezTo>
                  <a:cubicBezTo>
                    <a:pt x="250317" y="48514"/>
                    <a:pt x="256286" y="55753"/>
                    <a:pt x="261493" y="63500"/>
                  </a:cubicBezTo>
                  <a:cubicBezTo>
                    <a:pt x="266700" y="71247"/>
                    <a:pt x="271145" y="79502"/>
                    <a:pt x="274701" y="88138"/>
                  </a:cubicBezTo>
                  <a:cubicBezTo>
                    <a:pt x="278257" y="96774"/>
                    <a:pt x="281051" y="105791"/>
                    <a:pt x="282829" y="114935"/>
                  </a:cubicBezTo>
                  <a:cubicBezTo>
                    <a:pt x="284607" y="124079"/>
                    <a:pt x="285623" y="133477"/>
                    <a:pt x="285623" y="142748"/>
                  </a:cubicBezTo>
                  <a:close/>
                </a:path>
              </a:pathLst>
            </a:custGeom>
            <a:solidFill>
              <a:srgbClr val="FFFFFF"/>
            </a:solidFill>
          </p:spPr>
        </p:sp>
      </p:grpSp>
      <p:grpSp>
        <p:nvGrpSpPr>
          <p:cNvPr id="12" name="Group 12"/>
          <p:cNvGrpSpPr>
            <a:grpSpLocks noChangeAspect="1"/>
          </p:cNvGrpSpPr>
          <p:nvPr/>
        </p:nvGrpSpPr>
        <p:grpSpPr>
          <a:xfrm>
            <a:off x="1685925" y="5357812"/>
            <a:ext cx="285750" cy="285750"/>
            <a:chOff x="0" y="0"/>
            <a:chExt cx="285750" cy="285750"/>
          </a:xfrm>
        </p:grpSpPr>
        <p:sp>
          <p:nvSpPr>
            <p:cNvPr id="13" name="Freeform 13"/>
            <p:cNvSpPr/>
            <p:nvPr/>
          </p:nvSpPr>
          <p:spPr>
            <a:xfrm>
              <a:off x="0" y="0"/>
              <a:ext cx="285750" cy="285623"/>
            </a:xfrm>
            <a:custGeom>
              <a:avLst/>
              <a:gdLst/>
              <a:ahLst/>
              <a:cxnLst/>
              <a:rect l="l" t="t" r="r" b="b"/>
              <a:pathLst>
                <a:path w="285750" h="285623">
                  <a:moveTo>
                    <a:pt x="285750" y="142875"/>
                  </a:moveTo>
                  <a:cubicBezTo>
                    <a:pt x="285750" y="152273"/>
                    <a:pt x="284861" y="161544"/>
                    <a:pt x="282956" y="170688"/>
                  </a:cubicBezTo>
                  <a:cubicBezTo>
                    <a:pt x="281051" y="179832"/>
                    <a:pt x="278384" y="188849"/>
                    <a:pt x="274828" y="197485"/>
                  </a:cubicBezTo>
                  <a:cubicBezTo>
                    <a:pt x="271272" y="206121"/>
                    <a:pt x="266827" y="214376"/>
                    <a:pt x="261620" y="222123"/>
                  </a:cubicBezTo>
                  <a:cubicBezTo>
                    <a:pt x="256413" y="229870"/>
                    <a:pt x="250444" y="237109"/>
                    <a:pt x="243840" y="243713"/>
                  </a:cubicBezTo>
                  <a:cubicBezTo>
                    <a:pt x="237236" y="250317"/>
                    <a:pt x="229997" y="256286"/>
                    <a:pt x="222250" y="261493"/>
                  </a:cubicBezTo>
                  <a:cubicBezTo>
                    <a:pt x="214503" y="266700"/>
                    <a:pt x="206248" y="271145"/>
                    <a:pt x="197612" y="274701"/>
                  </a:cubicBezTo>
                  <a:cubicBezTo>
                    <a:pt x="188976" y="278257"/>
                    <a:pt x="179959" y="281051"/>
                    <a:pt x="170815" y="282829"/>
                  </a:cubicBezTo>
                  <a:cubicBezTo>
                    <a:pt x="161671" y="284607"/>
                    <a:pt x="152273" y="285623"/>
                    <a:pt x="143002" y="285623"/>
                  </a:cubicBezTo>
                  <a:cubicBezTo>
                    <a:pt x="133731" y="285623"/>
                    <a:pt x="124333" y="284734"/>
                    <a:pt x="115189" y="282829"/>
                  </a:cubicBezTo>
                  <a:cubicBezTo>
                    <a:pt x="106045" y="280924"/>
                    <a:pt x="97028" y="278257"/>
                    <a:pt x="88392" y="274701"/>
                  </a:cubicBezTo>
                  <a:cubicBezTo>
                    <a:pt x="79756" y="271145"/>
                    <a:pt x="71247" y="266827"/>
                    <a:pt x="63500" y="261620"/>
                  </a:cubicBezTo>
                  <a:cubicBezTo>
                    <a:pt x="55753" y="256413"/>
                    <a:pt x="48514" y="250444"/>
                    <a:pt x="41910" y="243840"/>
                  </a:cubicBezTo>
                  <a:cubicBezTo>
                    <a:pt x="35306" y="237236"/>
                    <a:pt x="29337" y="229997"/>
                    <a:pt x="24130" y="222250"/>
                  </a:cubicBezTo>
                  <a:cubicBezTo>
                    <a:pt x="18923" y="214503"/>
                    <a:pt x="14478" y="206248"/>
                    <a:pt x="10922" y="197485"/>
                  </a:cubicBezTo>
                  <a:cubicBezTo>
                    <a:pt x="7366" y="188722"/>
                    <a:pt x="4572" y="179832"/>
                    <a:pt x="2794" y="170688"/>
                  </a:cubicBezTo>
                  <a:cubicBezTo>
                    <a:pt x="1016" y="161544"/>
                    <a:pt x="0" y="152273"/>
                    <a:pt x="0" y="142875"/>
                  </a:cubicBezTo>
                  <a:cubicBezTo>
                    <a:pt x="0" y="133477"/>
                    <a:pt x="889" y="124206"/>
                    <a:pt x="2794" y="115062"/>
                  </a:cubicBezTo>
                  <a:cubicBezTo>
                    <a:pt x="4699" y="105918"/>
                    <a:pt x="7239" y="96901"/>
                    <a:pt x="10922" y="88138"/>
                  </a:cubicBezTo>
                  <a:cubicBezTo>
                    <a:pt x="14605" y="79375"/>
                    <a:pt x="18923" y="71247"/>
                    <a:pt x="24130" y="63500"/>
                  </a:cubicBezTo>
                  <a:cubicBezTo>
                    <a:pt x="29337" y="55753"/>
                    <a:pt x="35306" y="48514"/>
                    <a:pt x="41910" y="41910"/>
                  </a:cubicBezTo>
                  <a:cubicBezTo>
                    <a:pt x="48514" y="35306"/>
                    <a:pt x="55753" y="29337"/>
                    <a:pt x="63500" y="24130"/>
                  </a:cubicBezTo>
                  <a:cubicBezTo>
                    <a:pt x="71247" y="18923"/>
                    <a:pt x="79502" y="14478"/>
                    <a:pt x="88138" y="10922"/>
                  </a:cubicBezTo>
                  <a:cubicBezTo>
                    <a:pt x="96774" y="7366"/>
                    <a:pt x="105791" y="4572"/>
                    <a:pt x="115062" y="2794"/>
                  </a:cubicBezTo>
                  <a:cubicBezTo>
                    <a:pt x="124333" y="1016"/>
                    <a:pt x="133477" y="0"/>
                    <a:pt x="142875" y="0"/>
                  </a:cubicBezTo>
                  <a:cubicBezTo>
                    <a:pt x="152273" y="0"/>
                    <a:pt x="161544" y="889"/>
                    <a:pt x="170688" y="2794"/>
                  </a:cubicBezTo>
                  <a:cubicBezTo>
                    <a:pt x="179832" y="4699"/>
                    <a:pt x="188849" y="7366"/>
                    <a:pt x="197485" y="10922"/>
                  </a:cubicBezTo>
                  <a:cubicBezTo>
                    <a:pt x="206121" y="14478"/>
                    <a:pt x="214376" y="18923"/>
                    <a:pt x="222123" y="24130"/>
                  </a:cubicBezTo>
                  <a:cubicBezTo>
                    <a:pt x="229870" y="29337"/>
                    <a:pt x="237109" y="35306"/>
                    <a:pt x="243713" y="41910"/>
                  </a:cubicBezTo>
                  <a:cubicBezTo>
                    <a:pt x="250317" y="48514"/>
                    <a:pt x="256286" y="55753"/>
                    <a:pt x="261493" y="63500"/>
                  </a:cubicBezTo>
                  <a:cubicBezTo>
                    <a:pt x="266700" y="71247"/>
                    <a:pt x="271145" y="79502"/>
                    <a:pt x="274701" y="88138"/>
                  </a:cubicBezTo>
                  <a:cubicBezTo>
                    <a:pt x="278257" y="96774"/>
                    <a:pt x="281051" y="105791"/>
                    <a:pt x="282829" y="114935"/>
                  </a:cubicBezTo>
                  <a:cubicBezTo>
                    <a:pt x="284607" y="124079"/>
                    <a:pt x="285623" y="133477"/>
                    <a:pt x="285623" y="142748"/>
                  </a:cubicBezTo>
                  <a:close/>
                </a:path>
              </a:pathLst>
            </a:custGeom>
            <a:solidFill>
              <a:srgbClr val="FFFFFF"/>
            </a:solidFill>
          </p:spPr>
        </p:sp>
      </p:grpSp>
      <p:sp>
        <p:nvSpPr>
          <p:cNvPr id="14" name="TextBox 14"/>
          <p:cNvSpPr txBox="1"/>
          <p:nvPr/>
        </p:nvSpPr>
        <p:spPr>
          <a:xfrm>
            <a:off x="1028700" y="438626"/>
            <a:ext cx="16168478" cy="1954378"/>
          </a:xfrm>
          <a:prstGeom prst="rect">
            <a:avLst/>
          </a:prstGeom>
        </p:spPr>
        <p:txBody>
          <a:bodyPr lIns="0" tIns="0" rIns="0" bIns="0" rtlCol="0" anchor="t">
            <a:spAutoFit/>
          </a:bodyPr>
          <a:lstStyle/>
          <a:p>
            <a:pPr algn="l">
              <a:lnSpc>
                <a:spcPts val="7127"/>
              </a:lnSpc>
            </a:pPr>
            <a:r>
              <a:rPr lang="en-US" sz="5964" b="1">
                <a:solidFill>
                  <a:srgbClr val="FFFFFF"/>
                </a:solidFill>
                <a:latin typeface="Poppins Semi-Bold"/>
                <a:ea typeface="Poppins Semi-Bold"/>
                <a:cs typeface="Poppins Semi-Bold"/>
                <a:sym typeface="Poppins Semi-Bold"/>
              </a:rPr>
              <a:t>As linguagem podem ter categorias, como por exemplo:</a:t>
            </a:r>
          </a:p>
        </p:txBody>
      </p:sp>
      <p:sp>
        <p:nvSpPr>
          <p:cNvPr id="15" name="TextBox 15"/>
          <p:cNvSpPr txBox="1"/>
          <p:nvPr/>
        </p:nvSpPr>
        <p:spPr>
          <a:xfrm>
            <a:off x="2316509" y="2248376"/>
            <a:ext cx="11314633" cy="3764128"/>
          </a:xfrm>
          <a:prstGeom prst="rect">
            <a:avLst/>
          </a:prstGeom>
        </p:spPr>
        <p:txBody>
          <a:bodyPr lIns="0" tIns="0" rIns="0" bIns="0" rtlCol="0" anchor="t">
            <a:spAutoFit/>
          </a:bodyPr>
          <a:lstStyle/>
          <a:p>
            <a:pPr algn="l">
              <a:lnSpc>
                <a:spcPts val="7127"/>
              </a:lnSpc>
            </a:pPr>
            <a:r>
              <a:rPr lang="en-US" sz="5964" b="1">
                <a:solidFill>
                  <a:srgbClr val="FFFFFF"/>
                </a:solidFill>
                <a:latin typeface="Poppins Semi-Bold"/>
                <a:ea typeface="Poppins Semi-Bold"/>
                <a:cs typeface="Poppins Semi-Bold"/>
                <a:sym typeface="Poppins Semi-Bold"/>
              </a:rPr>
              <a:t>linguagem estruturada linguagem orientada objeto linguagem de script ...</a:t>
            </a:r>
          </a:p>
        </p:txBody>
      </p:sp>
      <p:sp>
        <p:nvSpPr>
          <p:cNvPr id="16" name="TextBox 16"/>
          <p:cNvSpPr txBox="1"/>
          <p:nvPr/>
        </p:nvSpPr>
        <p:spPr>
          <a:xfrm>
            <a:off x="5245979" y="8553926"/>
            <a:ext cx="13057461"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...entre muitas outras categorias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078259" y="2640835"/>
            <a:ext cx="16511254" cy="4868818"/>
          </a:xfrm>
          <a:prstGeom prst="rect">
            <a:avLst/>
          </a:prstGeom>
        </p:spPr>
        <p:txBody>
          <a:bodyPr lIns="0" tIns="0" rIns="0" bIns="0" rtlCol="0" anchor="t">
            <a:spAutoFit/>
          </a:bodyPr>
          <a:lstStyle/>
          <a:p>
            <a:pPr algn="ctr">
              <a:lnSpc>
                <a:spcPts val="7424"/>
              </a:lnSpc>
            </a:pPr>
            <a:r>
              <a:rPr lang="en-US" sz="6249" b="1">
                <a:solidFill>
                  <a:srgbClr val="FFFFFF"/>
                </a:solidFill>
                <a:latin typeface="Poppins Semi-Bold"/>
                <a:ea typeface="Poppins Semi-Bold"/>
                <a:cs typeface="Poppins Semi-Bold"/>
                <a:sym typeface="Poppins Semi-Bold"/>
              </a:rPr>
              <a:t>A </a:t>
            </a:r>
            <a:r>
              <a:rPr lang="en-US" sz="6249" b="1">
                <a:solidFill>
                  <a:srgbClr val="FF5757"/>
                </a:solidFill>
                <a:latin typeface="Poppins Semi-Bold"/>
                <a:ea typeface="Poppins Semi-Bold"/>
                <a:cs typeface="Poppins Semi-Bold"/>
                <a:sym typeface="Poppins Semi-Bold"/>
              </a:rPr>
              <a:t>linguagem orientada a objetos</a:t>
            </a:r>
            <a:r>
              <a:rPr lang="en-US" sz="6249" b="1">
                <a:solidFill>
                  <a:srgbClr val="FFFFFF"/>
                </a:solidFill>
                <a:latin typeface="Poppins Semi-Bold"/>
                <a:ea typeface="Poppins Semi-Bold"/>
                <a:cs typeface="Poppins Semi-Bold"/>
                <a:sym typeface="Poppins Semi-Bold"/>
              </a:rPr>
              <a:t> nos proporciona criar objetos que existem no mundo real para o mundo virtual através das declarações de atributos e funções.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4920320"/>
            <a:ext cx="3838575" cy="3952875"/>
          </a:xfrm>
          <a:custGeom>
            <a:avLst/>
            <a:gdLst/>
            <a:ahLst/>
            <a:cxnLst/>
            <a:rect l="l" t="t" r="r" b="b"/>
            <a:pathLst>
              <a:path w="3838575" h="3952875">
                <a:moveTo>
                  <a:pt x="0" y="0"/>
                </a:moveTo>
                <a:lnTo>
                  <a:pt x="3838575" y="0"/>
                </a:lnTo>
                <a:lnTo>
                  <a:pt x="3838575" y="3952875"/>
                </a:lnTo>
                <a:lnTo>
                  <a:pt x="0" y="3952875"/>
                </a:lnTo>
                <a:lnTo>
                  <a:pt x="0" y="0"/>
                </a:lnTo>
                <a:close/>
              </a:path>
            </a:pathLst>
          </a:custGeom>
          <a:blipFill>
            <a:blip r:embed="rId2"/>
            <a:stretch>
              <a:fillRect l="-34739"/>
            </a:stretch>
          </a:blipFill>
        </p:spPr>
      </p:sp>
      <p:grpSp>
        <p:nvGrpSpPr>
          <p:cNvPr id="3" name="Group 3"/>
          <p:cNvGrpSpPr>
            <a:grpSpLocks noChangeAspect="1"/>
          </p:cNvGrpSpPr>
          <p:nvPr/>
        </p:nvGrpSpPr>
        <p:grpSpPr>
          <a:xfrm rot="-479400">
            <a:off x="15522969" y="1654359"/>
            <a:ext cx="2980106" cy="2886437"/>
            <a:chOff x="0" y="0"/>
            <a:chExt cx="3973474" cy="3848583"/>
          </a:xfrm>
        </p:grpSpPr>
        <p:sp>
          <p:nvSpPr>
            <p:cNvPr id="4" name="Freeform 4"/>
            <p:cNvSpPr/>
            <p:nvPr/>
          </p:nvSpPr>
          <p:spPr>
            <a:xfrm>
              <a:off x="0" y="0"/>
              <a:ext cx="3973449" cy="3848608"/>
            </a:xfrm>
            <a:custGeom>
              <a:avLst/>
              <a:gdLst/>
              <a:ahLst/>
              <a:cxnLst/>
              <a:rect l="l" t="t" r="r" b="b"/>
              <a:pathLst>
                <a:path w="3973449" h="3848608">
                  <a:moveTo>
                    <a:pt x="3973449" y="0"/>
                  </a:moveTo>
                  <a:lnTo>
                    <a:pt x="0" y="508"/>
                  </a:lnTo>
                  <a:lnTo>
                    <a:pt x="508" y="3848608"/>
                  </a:lnTo>
                  <a:lnTo>
                    <a:pt x="3433318" y="3848227"/>
                  </a:lnTo>
                  <a:lnTo>
                    <a:pt x="3973449" y="0"/>
                  </a:lnTo>
                  <a:close/>
                </a:path>
              </a:pathLst>
            </a:custGeom>
            <a:blipFill>
              <a:blip r:embed="rId3"/>
              <a:stretch>
                <a:fillRect t="-1" r="-16673"/>
              </a:stretch>
            </a:blipFill>
          </p:spPr>
        </p:sp>
      </p:grpSp>
      <p:sp>
        <p:nvSpPr>
          <p:cNvPr id="5" name="TextBox 5"/>
          <p:cNvSpPr txBox="1"/>
          <p:nvPr/>
        </p:nvSpPr>
        <p:spPr>
          <a:xfrm>
            <a:off x="4268229" y="3620262"/>
            <a:ext cx="9946329" cy="2893695"/>
          </a:xfrm>
          <a:prstGeom prst="rect">
            <a:avLst/>
          </a:prstGeom>
        </p:spPr>
        <p:txBody>
          <a:bodyPr lIns="0" tIns="0" rIns="0" bIns="0" rtlCol="0" anchor="t">
            <a:spAutoFit/>
          </a:bodyPr>
          <a:lstStyle/>
          <a:p>
            <a:pPr algn="ctr">
              <a:lnSpc>
                <a:spcPts val="7200"/>
              </a:lnSpc>
            </a:pPr>
            <a:r>
              <a:rPr lang="en-US" sz="6000" b="1">
                <a:solidFill>
                  <a:srgbClr val="FFFFFF"/>
                </a:solidFill>
                <a:latin typeface="Poppins Semi-Bold"/>
                <a:ea typeface="Poppins Semi-Bold"/>
                <a:cs typeface="Poppins Semi-Bold"/>
                <a:sym typeface="Poppins Semi-Bold"/>
              </a:rPr>
              <a:t>A linguagem que vamos aprender é a C#, e ela é orientada a objetos.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5672664" y="0"/>
            <a:ext cx="2615336" cy="2619375"/>
          </a:xfrm>
          <a:custGeom>
            <a:avLst/>
            <a:gdLst/>
            <a:ahLst/>
            <a:cxnLst/>
            <a:rect l="l" t="t" r="r" b="b"/>
            <a:pathLst>
              <a:path w="2615336" h="2619375">
                <a:moveTo>
                  <a:pt x="0" y="0"/>
                </a:moveTo>
                <a:lnTo>
                  <a:pt x="2615336" y="0"/>
                </a:lnTo>
                <a:lnTo>
                  <a:pt x="2615336" y="2619375"/>
                </a:lnTo>
                <a:lnTo>
                  <a:pt x="0" y="2619375"/>
                </a:lnTo>
                <a:lnTo>
                  <a:pt x="0" y="0"/>
                </a:lnTo>
                <a:close/>
              </a:path>
            </a:pathLst>
          </a:custGeom>
          <a:blipFill>
            <a:blip r:embed="rId2"/>
            <a:stretch>
              <a:fillRect r="-154"/>
            </a:stretch>
          </a:blipFill>
        </p:spPr>
      </p:sp>
      <p:sp>
        <p:nvSpPr>
          <p:cNvPr id="3" name="TextBox 3"/>
          <p:cNvSpPr txBox="1"/>
          <p:nvPr/>
        </p:nvSpPr>
        <p:spPr>
          <a:xfrm>
            <a:off x="1028700" y="776764"/>
            <a:ext cx="5332124"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O que é C #?</a:t>
            </a:r>
          </a:p>
        </p:txBody>
      </p:sp>
      <p:sp>
        <p:nvSpPr>
          <p:cNvPr id="4" name="TextBox 4"/>
          <p:cNvSpPr txBox="1"/>
          <p:nvPr/>
        </p:nvSpPr>
        <p:spPr>
          <a:xfrm>
            <a:off x="164983" y="2362791"/>
            <a:ext cx="17722367" cy="7182869"/>
          </a:xfrm>
          <a:prstGeom prst="rect">
            <a:avLst/>
          </a:prstGeom>
        </p:spPr>
        <p:txBody>
          <a:bodyPr lIns="0" tIns="0" rIns="0" bIns="0" rtlCol="0" anchor="t">
            <a:spAutoFit/>
          </a:bodyPr>
          <a:lstStyle/>
          <a:p>
            <a:pPr algn="l">
              <a:lnSpc>
                <a:spcPts val="4651"/>
              </a:lnSpc>
            </a:pPr>
            <a:r>
              <a:rPr lang="en-US" sz="3899" b="1">
                <a:solidFill>
                  <a:srgbClr val="FF5757"/>
                </a:solidFill>
                <a:latin typeface="Poppins Semi-Bold"/>
                <a:ea typeface="Poppins Semi-Bold"/>
                <a:cs typeface="Poppins Semi-Bold"/>
                <a:sym typeface="Poppins Semi-Bold"/>
              </a:rPr>
              <a:t>C#</a:t>
            </a:r>
            <a:r>
              <a:rPr lang="en-US" sz="3899" b="1">
                <a:solidFill>
                  <a:srgbClr val="FFFFFF"/>
                </a:solidFill>
                <a:latin typeface="Poppins Semi-Bold"/>
                <a:ea typeface="Poppins Semi-Bold"/>
                <a:cs typeface="Poppins Semi-Bold"/>
                <a:sym typeface="Poppins Semi-Bold"/>
              </a:rPr>
              <a:t> é pronunciado como "C-Sharp". É uma linguagem de programação orientada a objetos criada pela Microsoft que é executada no .NET Framework. </a:t>
            </a:r>
            <a:r>
              <a:rPr lang="en-US" sz="3899" b="1">
                <a:solidFill>
                  <a:srgbClr val="FF5757"/>
                </a:solidFill>
                <a:latin typeface="Poppins Semi-Bold"/>
                <a:ea typeface="Poppins Semi-Bold"/>
                <a:cs typeface="Poppins Semi-Bold"/>
                <a:sym typeface="Poppins Semi-Bold"/>
              </a:rPr>
              <a:t>C#</a:t>
            </a:r>
            <a:r>
              <a:rPr lang="en-US" sz="3899" b="1">
                <a:solidFill>
                  <a:srgbClr val="FFFFFF"/>
                </a:solidFill>
                <a:latin typeface="Poppins Semi-Bold"/>
                <a:ea typeface="Poppins Semi-Bold"/>
                <a:cs typeface="Poppins Semi-Bold"/>
                <a:sym typeface="Poppins Semi-Bold"/>
              </a:rPr>
              <a:t> tem raízes na família C e a linguagem é próxima a outras linguagens populares como C++ e Java . A primeira versão foi lançada no ano de 2002. </a:t>
            </a:r>
            <a:r>
              <a:rPr lang="en-US" sz="3899" b="1">
                <a:solidFill>
                  <a:srgbClr val="FF5757"/>
                </a:solidFill>
                <a:latin typeface="Poppins Semi-Bold"/>
                <a:ea typeface="Poppins Semi-Bold"/>
                <a:cs typeface="Poppins Semi-Bold"/>
                <a:sym typeface="Poppins Semi-Bold"/>
              </a:rPr>
              <a:t>C#</a:t>
            </a:r>
            <a:r>
              <a:rPr lang="en-US" sz="3899" b="1">
                <a:solidFill>
                  <a:srgbClr val="FFFFFF"/>
                </a:solidFill>
                <a:latin typeface="Poppins Semi-Bold"/>
                <a:ea typeface="Poppins Semi-Bold"/>
                <a:cs typeface="Poppins Semi-Bold"/>
                <a:sym typeface="Poppins Semi-Bold"/>
              </a:rPr>
              <a:t> é usado para desenvolver aplicativos da web, aplicativos de desktop, aplicativos móveis, jogos e muito mais.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5672664" y="0"/>
            <a:ext cx="2615336" cy="2619375"/>
          </a:xfrm>
          <a:custGeom>
            <a:avLst/>
            <a:gdLst/>
            <a:ahLst/>
            <a:cxnLst/>
            <a:rect l="l" t="t" r="r" b="b"/>
            <a:pathLst>
              <a:path w="2615336" h="2619375">
                <a:moveTo>
                  <a:pt x="0" y="0"/>
                </a:moveTo>
                <a:lnTo>
                  <a:pt x="2615336" y="0"/>
                </a:lnTo>
                <a:lnTo>
                  <a:pt x="2615336" y="2619375"/>
                </a:lnTo>
                <a:lnTo>
                  <a:pt x="0" y="2619375"/>
                </a:lnTo>
                <a:lnTo>
                  <a:pt x="0" y="0"/>
                </a:lnTo>
                <a:close/>
              </a:path>
            </a:pathLst>
          </a:custGeom>
          <a:blipFill>
            <a:blip r:embed="rId2"/>
            <a:stretch>
              <a:fillRect r="-154"/>
            </a:stretch>
          </a:blipFill>
        </p:spPr>
      </p:sp>
      <p:sp>
        <p:nvSpPr>
          <p:cNvPr id="3" name="Freeform 3"/>
          <p:cNvSpPr/>
          <p:nvPr/>
        </p:nvSpPr>
        <p:spPr>
          <a:xfrm>
            <a:off x="9377486" y="6432785"/>
            <a:ext cx="3438525" cy="1304925"/>
          </a:xfrm>
          <a:custGeom>
            <a:avLst/>
            <a:gdLst/>
            <a:ahLst/>
            <a:cxnLst/>
            <a:rect l="l" t="t" r="r" b="b"/>
            <a:pathLst>
              <a:path w="3438525" h="1304925">
                <a:moveTo>
                  <a:pt x="0" y="0"/>
                </a:moveTo>
                <a:lnTo>
                  <a:pt x="3438525" y="0"/>
                </a:lnTo>
                <a:lnTo>
                  <a:pt x="3438525" y="1304925"/>
                </a:lnTo>
                <a:lnTo>
                  <a:pt x="0" y="1304925"/>
                </a:lnTo>
                <a:lnTo>
                  <a:pt x="0" y="0"/>
                </a:lnTo>
                <a:close/>
              </a:path>
            </a:pathLst>
          </a:custGeom>
          <a:blipFill>
            <a:blip r:embed="rId3"/>
            <a:stretch>
              <a:fillRect l="-11215" t="-39613" r="-11222" b="-42137"/>
            </a:stretch>
          </a:blipFill>
        </p:spPr>
      </p:sp>
      <p:grpSp>
        <p:nvGrpSpPr>
          <p:cNvPr id="4" name="Group 4"/>
          <p:cNvGrpSpPr>
            <a:grpSpLocks noChangeAspect="1"/>
          </p:cNvGrpSpPr>
          <p:nvPr/>
        </p:nvGrpSpPr>
        <p:grpSpPr>
          <a:xfrm rot="1340700">
            <a:off x="10342312" y="3428514"/>
            <a:ext cx="4942618" cy="3083519"/>
            <a:chOff x="0" y="0"/>
            <a:chExt cx="6590157" cy="4111358"/>
          </a:xfrm>
        </p:grpSpPr>
        <p:sp>
          <p:nvSpPr>
            <p:cNvPr id="5" name="Freeform 5"/>
            <p:cNvSpPr/>
            <p:nvPr/>
          </p:nvSpPr>
          <p:spPr>
            <a:xfrm>
              <a:off x="0" y="0"/>
              <a:ext cx="6590157" cy="4111371"/>
            </a:xfrm>
            <a:custGeom>
              <a:avLst/>
              <a:gdLst/>
              <a:ahLst/>
              <a:cxnLst/>
              <a:rect l="l" t="t" r="r" b="b"/>
              <a:pathLst>
                <a:path w="6590157" h="4111371">
                  <a:moveTo>
                    <a:pt x="37211" y="0"/>
                  </a:moveTo>
                  <a:lnTo>
                    <a:pt x="0" y="4051173"/>
                  </a:lnTo>
                  <a:lnTo>
                    <a:pt x="6552946" y="4111371"/>
                  </a:lnTo>
                  <a:lnTo>
                    <a:pt x="6590157" y="60198"/>
                  </a:lnTo>
                  <a:lnTo>
                    <a:pt x="37211" y="0"/>
                  </a:lnTo>
                  <a:close/>
                </a:path>
              </a:pathLst>
            </a:custGeom>
            <a:blipFill>
              <a:blip r:embed="rId4"/>
              <a:stretch>
                <a:fillRect l="-17091" t="-24193" r="-12700" b="-29987"/>
              </a:stretch>
            </a:blipFill>
          </p:spPr>
        </p:sp>
      </p:grpSp>
      <p:sp>
        <p:nvSpPr>
          <p:cNvPr id="6" name="Freeform 6"/>
          <p:cNvSpPr/>
          <p:nvPr/>
        </p:nvSpPr>
        <p:spPr>
          <a:xfrm>
            <a:off x="13382492" y="6432785"/>
            <a:ext cx="3219450" cy="1304925"/>
          </a:xfrm>
          <a:custGeom>
            <a:avLst/>
            <a:gdLst/>
            <a:ahLst/>
            <a:cxnLst/>
            <a:rect l="l" t="t" r="r" b="b"/>
            <a:pathLst>
              <a:path w="3219450" h="1304925">
                <a:moveTo>
                  <a:pt x="0" y="0"/>
                </a:moveTo>
                <a:lnTo>
                  <a:pt x="3219450" y="0"/>
                </a:lnTo>
                <a:lnTo>
                  <a:pt x="3219450" y="1304925"/>
                </a:lnTo>
                <a:lnTo>
                  <a:pt x="0" y="1304925"/>
                </a:lnTo>
                <a:lnTo>
                  <a:pt x="0" y="0"/>
                </a:lnTo>
                <a:close/>
              </a:path>
            </a:pathLst>
          </a:custGeom>
          <a:blipFill>
            <a:blip r:embed="rId5"/>
            <a:stretch>
              <a:fillRect/>
            </a:stretch>
          </a:blipFill>
        </p:spPr>
      </p:sp>
      <p:sp>
        <p:nvSpPr>
          <p:cNvPr id="7" name="Freeform 7"/>
          <p:cNvSpPr/>
          <p:nvPr/>
        </p:nvSpPr>
        <p:spPr>
          <a:xfrm>
            <a:off x="1787157" y="6632581"/>
            <a:ext cx="7309037" cy="698497"/>
          </a:xfrm>
          <a:custGeom>
            <a:avLst/>
            <a:gdLst/>
            <a:ahLst/>
            <a:cxnLst/>
            <a:rect l="l" t="t" r="r" b="b"/>
            <a:pathLst>
              <a:path w="7309037" h="698497">
                <a:moveTo>
                  <a:pt x="0" y="0"/>
                </a:moveTo>
                <a:lnTo>
                  <a:pt x="7309037" y="0"/>
                </a:lnTo>
                <a:lnTo>
                  <a:pt x="7309037" y="698497"/>
                </a:lnTo>
                <a:lnTo>
                  <a:pt x="0" y="69849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Freeform 8"/>
          <p:cNvSpPr/>
          <p:nvPr/>
        </p:nvSpPr>
        <p:spPr>
          <a:xfrm>
            <a:off x="5539464" y="3788693"/>
            <a:ext cx="4414590" cy="1123617"/>
          </a:xfrm>
          <a:custGeom>
            <a:avLst/>
            <a:gdLst/>
            <a:ahLst/>
            <a:cxnLst/>
            <a:rect l="l" t="t" r="r" b="b"/>
            <a:pathLst>
              <a:path w="4414590" h="1123617">
                <a:moveTo>
                  <a:pt x="0" y="0"/>
                </a:moveTo>
                <a:lnTo>
                  <a:pt x="4414590" y="0"/>
                </a:lnTo>
                <a:lnTo>
                  <a:pt x="4414590" y="1123616"/>
                </a:lnTo>
                <a:lnTo>
                  <a:pt x="0" y="11236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TextBox 9"/>
          <p:cNvSpPr txBox="1"/>
          <p:nvPr/>
        </p:nvSpPr>
        <p:spPr>
          <a:xfrm>
            <a:off x="1028700" y="776764"/>
            <a:ext cx="5332124"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O que é C #?</a:t>
            </a:r>
          </a:p>
        </p:txBody>
      </p:sp>
      <p:sp>
        <p:nvSpPr>
          <p:cNvPr id="10" name="TextBox 10"/>
          <p:cNvSpPr txBox="1"/>
          <p:nvPr/>
        </p:nvSpPr>
        <p:spPr>
          <a:xfrm>
            <a:off x="164983" y="2511152"/>
            <a:ext cx="8129378" cy="6592319"/>
          </a:xfrm>
          <a:prstGeom prst="rect">
            <a:avLst/>
          </a:prstGeom>
        </p:spPr>
        <p:txBody>
          <a:bodyPr lIns="0" tIns="0" rIns="0" bIns="0" rtlCol="0" anchor="t">
            <a:spAutoFit/>
          </a:bodyPr>
          <a:lstStyle/>
          <a:p>
            <a:pPr algn="l">
              <a:lnSpc>
                <a:spcPts val="4651"/>
              </a:lnSpc>
            </a:pPr>
            <a:r>
              <a:rPr lang="en-US" sz="3899" b="1">
                <a:solidFill>
                  <a:srgbClr val="FFFFFF"/>
                </a:solidFill>
                <a:latin typeface="Poppins Semi-Bold"/>
                <a:ea typeface="Poppins Semi-Bold"/>
                <a:cs typeface="Poppins Semi-Bold"/>
                <a:sym typeface="Poppins Semi-Bold"/>
              </a:rPr>
              <a:t>C# é usado para: Aplicações Móveis Aplicativos de desktop Aplicativos da web serviços web Sites Jogos VR Aplicativos de banco de dados E muito, muito mais!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028700" y="786289"/>
            <a:ext cx="7078056" cy="1154278"/>
          </a:xfrm>
          <a:prstGeom prst="rect">
            <a:avLst/>
          </a:prstGeom>
        </p:spPr>
        <p:txBody>
          <a:bodyPr lIns="0" tIns="0" rIns="0" bIns="0" rtlCol="0" anchor="t">
            <a:spAutoFit/>
          </a:bodyPr>
          <a:lstStyle/>
          <a:p>
            <a:pPr algn="l">
              <a:lnSpc>
                <a:spcPts val="8231"/>
              </a:lnSpc>
            </a:pPr>
            <a:r>
              <a:rPr lang="en-US" sz="5964" b="1">
                <a:solidFill>
                  <a:srgbClr val="FFFFFF"/>
                </a:solidFill>
                <a:latin typeface="Poppins Semi-Bold"/>
                <a:ea typeface="Poppins Semi-Bold"/>
                <a:cs typeface="Poppins Semi-Bold"/>
                <a:sym typeface="Poppins Semi-Bold"/>
              </a:rPr>
              <a:t>Por que usar C#?</a:t>
            </a:r>
          </a:p>
        </p:txBody>
      </p:sp>
      <p:sp>
        <p:nvSpPr>
          <p:cNvPr id="3" name="TextBox 3"/>
          <p:cNvSpPr txBox="1"/>
          <p:nvPr/>
        </p:nvSpPr>
        <p:spPr>
          <a:xfrm>
            <a:off x="5916158" y="1753191"/>
            <a:ext cx="151533" cy="1001144"/>
          </a:xfrm>
          <a:prstGeom prst="rect">
            <a:avLst/>
          </a:prstGeom>
        </p:spPr>
        <p:txBody>
          <a:bodyPr lIns="0" tIns="0" rIns="0" bIns="0" rtlCol="0" anchor="t">
            <a:spAutoFit/>
          </a:bodyPr>
          <a:lstStyle/>
          <a:p>
            <a:pPr algn="l">
              <a:lnSpc>
                <a:spcPts val="7934"/>
              </a:lnSpc>
            </a:pPr>
            <a:r>
              <a:rPr lang="en-US" sz="3899" b="1">
                <a:solidFill>
                  <a:srgbClr val="FFFFFF"/>
                </a:solidFill>
                <a:latin typeface="Poppins Semi-Bold"/>
                <a:ea typeface="Poppins Semi-Bold"/>
                <a:cs typeface="Poppins Semi-Bold"/>
                <a:sym typeface="Poppins Semi-Bold"/>
              </a:rPr>
              <a:t> </a:t>
            </a:r>
          </a:p>
        </p:txBody>
      </p:sp>
      <p:sp>
        <p:nvSpPr>
          <p:cNvPr id="4" name="TextBox 4"/>
          <p:cNvSpPr txBox="1"/>
          <p:nvPr/>
        </p:nvSpPr>
        <p:spPr>
          <a:xfrm>
            <a:off x="164983" y="2067516"/>
            <a:ext cx="18225535" cy="7182869"/>
          </a:xfrm>
          <a:prstGeom prst="rect">
            <a:avLst/>
          </a:prstGeom>
        </p:spPr>
        <p:txBody>
          <a:bodyPr lIns="0" tIns="0" rIns="0" bIns="0" rtlCol="0" anchor="t">
            <a:spAutoFit/>
          </a:bodyPr>
          <a:lstStyle/>
          <a:p>
            <a:pPr algn="l">
              <a:lnSpc>
                <a:spcPts val="4651"/>
              </a:lnSpc>
            </a:pPr>
            <a:r>
              <a:rPr lang="en-US" sz="3899" b="1">
                <a:solidFill>
                  <a:srgbClr val="FFFFFF"/>
                </a:solidFill>
                <a:latin typeface="Poppins Semi-Bold"/>
                <a:ea typeface="Poppins Semi-Bold"/>
                <a:cs typeface="Poppins Semi-Bold"/>
                <a:sym typeface="Poppins Semi-Bold"/>
              </a:rPr>
              <a:t>É uma das linguagensdeprogramação mais populares do mundo É fácil de aprender e simples de usar Tem um grande apoio da comunidade </a:t>
            </a:r>
            <a:r>
              <a:rPr lang="en-US" sz="3899" b="1">
                <a:solidFill>
                  <a:srgbClr val="FF5757"/>
                </a:solidFill>
                <a:latin typeface="Poppins Semi-Bold"/>
                <a:ea typeface="Poppins Semi-Bold"/>
                <a:cs typeface="Poppins Semi-Bold"/>
                <a:sym typeface="Poppins Semi-Bold"/>
              </a:rPr>
              <a:t>C#</a:t>
            </a:r>
            <a:r>
              <a:rPr lang="en-US" sz="3899" b="1">
                <a:solidFill>
                  <a:srgbClr val="FFFFFF"/>
                </a:solidFill>
                <a:latin typeface="Poppins Semi-Bold"/>
                <a:ea typeface="Poppins Semi-Bold"/>
                <a:cs typeface="Poppins Semi-Bold"/>
                <a:sym typeface="Poppins Semi-Bold"/>
              </a:rPr>
              <a:t> é uma linguagem orientada a objetos que fornece uma estrutura clara aos programas e permite que o código seja reutilizado, reduzindo os custos de desenvolvimento. Como </a:t>
            </a:r>
            <a:r>
              <a:rPr lang="en-US" sz="3899" b="1">
                <a:solidFill>
                  <a:srgbClr val="FF5757"/>
                </a:solidFill>
                <a:latin typeface="Poppins Semi-Bold"/>
                <a:ea typeface="Poppins Semi-Bold"/>
                <a:cs typeface="Poppins Semi-Bold"/>
                <a:sym typeface="Poppins Semi-Bold"/>
              </a:rPr>
              <a:t>C#</a:t>
            </a:r>
            <a:r>
              <a:rPr lang="en-US" sz="3899" b="1">
                <a:solidFill>
                  <a:srgbClr val="FFFFFF"/>
                </a:solidFill>
                <a:latin typeface="Poppins Semi-Bold"/>
                <a:ea typeface="Poppins Semi-Bold"/>
                <a:cs typeface="Poppins Semi-Bold"/>
                <a:sym typeface="Poppins Semi-Bold"/>
              </a:rPr>
              <a:t> é semelhante a C, C ++ e Java , é fácil para os programadores mudarem para </a:t>
            </a:r>
            <a:r>
              <a:rPr lang="en-US" sz="3899" b="1">
                <a:solidFill>
                  <a:srgbClr val="FF5757"/>
                </a:solidFill>
                <a:latin typeface="Poppins Semi-Bold"/>
                <a:ea typeface="Poppins Semi-Bold"/>
                <a:cs typeface="Poppins Semi-Bold"/>
                <a:sym typeface="Poppins Semi-Bold"/>
              </a:rPr>
              <a:t>C#</a:t>
            </a:r>
            <a:r>
              <a:rPr lang="en-US" sz="3899" b="1">
                <a:solidFill>
                  <a:srgbClr val="FFFFFF"/>
                </a:solidFill>
                <a:latin typeface="Poppins Semi-Bold"/>
                <a:ea typeface="Poppins Semi-Bold"/>
                <a:cs typeface="Poppins Semi-Bold"/>
                <a:sym typeface="Poppins Semi-Bold"/>
              </a:rPr>
              <a:t> ou vice-versa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738417" y="4405217"/>
            <a:ext cx="14811165" cy="19050"/>
          </a:xfrm>
          <a:custGeom>
            <a:avLst/>
            <a:gdLst/>
            <a:ahLst/>
            <a:cxnLst/>
            <a:rect l="l" t="t" r="r" b="b"/>
            <a:pathLst>
              <a:path w="14811165" h="19050">
                <a:moveTo>
                  <a:pt x="0" y="0"/>
                </a:moveTo>
                <a:lnTo>
                  <a:pt x="14811166" y="0"/>
                </a:lnTo>
                <a:lnTo>
                  <a:pt x="14811166" y="19050"/>
                </a:lnTo>
                <a:lnTo>
                  <a:pt x="0" y="190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7732871" y="5143500"/>
            <a:ext cx="2819400" cy="2771775"/>
          </a:xfrm>
          <a:custGeom>
            <a:avLst/>
            <a:gdLst/>
            <a:ahLst/>
            <a:cxnLst/>
            <a:rect l="l" t="t" r="r" b="b"/>
            <a:pathLst>
              <a:path w="2819400" h="2771775">
                <a:moveTo>
                  <a:pt x="0" y="0"/>
                </a:moveTo>
                <a:lnTo>
                  <a:pt x="2819400" y="0"/>
                </a:lnTo>
                <a:lnTo>
                  <a:pt x="2819400" y="2771775"/>
                </a:lnTo>
                <a:lnTo>
                  <a:pt x="0" y="2771775"/>
                </a:lnTo>
                <a:lnTo>
                  <a:pt x="0" y="0"/>
                </a:lnTo>
                <a:close/>
              </a:path>
            </a:pathLst>
          </a:custGeom>
          <a:blipFill>
            <a:blip r:embed="rId4"/>
            <a:stretch>
              <a:fillRect l="-14086" t="-15956" r="-14629" b="-14971"/>
            </a:stretch>
          </a:blipFill>
        </p:spPr>
      </p:sp>
      <p:grpSp>
        <p:nvGrpSpPr>
          <p:cNvPr id="4" name="Group 4"/>
          <p:cNvGrpSpPr>
            <a:grpSpLocks noChangeAspect="1"/>
          </p:cNvGrpSpPr>
          <p:nvPr/>
        </p:nvGrpSpPr>
        <p:grpSpPr>
          <a:xfrm>
            <a:off x="1738417" y="4405217"/>
            <a:ext cx="14811165" cy="19050"/>
            <a:chOff x="0" y="0"/>
            <a:chExt cx="14811172" cy="19050"/>
          </a:xfrm>
        </p:grpSpPr>
        <p:sp>
          <p:nvSpPr>
            <p:cNvPr id="5" name="Freeform 5"/>
            <p:cNvSpPr/>
            <p:nvPr/>
          </p:nvSpPr>
          <p:spPr>
            <a:xfrm>
              <a:off x="0" y="0"/>
              <a:ext cx="14811121" cy="19050"/>
            </a:xfrm>
            <a:custGeom>
              <a:avLst/>
              <a:gdLst/>
              <a:ahLst/>
              <a:cxnLst/>
              <a:rect l="l" t="t" r="r" b="b"/>
              <a:pathLst>
                <a:path w="14811121" h="19050">
                  <a:moveTo>
                    <a:pt x="0" y="19050"/>
                  </a:moveTo>
                  <a:lnTo>
                    <a:pt x="14811121" y="19050"/>
                  </a:lnTo>
                  <a:lnTo>
                    <a:pt x="14811121" y="0"/>
                  </a:lnTo>
                  <a:lnTo>
                    <a:pt x="0" y="0"/>
                  </a:lnTo>
                  <a:close/>
                </a:path>
              </a:pathLst>
            </a:custGeom>
            <a:solidFill>
              <a:srgbClr val="000000">
                <a:alpha val="0"/>
              </a:srgbClr>
            </a:solidFill>
          </p:spPr>
        </p:sp>
      </p:grpSp>
      <p:sp>
        <p:nvSpPr>
          <p:cNvPr id="6" name="TextBox 6"/>
          <p:cNvSpPr txBox="1"/>
          <p:nvPr/>
        </p:nvSpPr>
        <p:spPr>
          <a:xfrm>
            <a:off x="1738417" y="1566958"/>
            <a:ext cx="14642802" cy="2278971"/>
          </a:xfrm>
          <a:prstGeom prst="rect">
            <a:avLst/>
          </a:prstGeom>
        </p:spPr>
        <p:txBody>
          <a:bodyPr lIns="0" tIns="0" rIns="0" bIns="0" rtlCol="0" anchor="t">
            <a:spAutoFit/>
          </a:bodyPr>
          <a:lstStyle/>
          <a:p>
            <a:pPr algn="l">
              <a:lnSpc>
                <a:spcPts val="8322"/>
              </a:lnSpc>
            </a:pPr>
            <a:r>
              <a:rPr lang="en-US" sz="6999" b="1">
                <a:solidFill>
                  <a:srgbClr val="FFFFFF"/>
                </a:solidFill>
                <a:latin typeface="Poppins Semi-Bold"/>
                <a:ea typeface="Poppins Semi-Bold"/>
                <a:cs typeface="Poppins Semi-Bold"/>
                <a:sym typeface="Poppins Semi-Bold"/>
              </a:rPr>
              <a:t>Configurando os ambientes de desenvolvimento</a:t>
            </a:r>
          </a:p>
        </p:txBody>
      </p:sp>
      <p:sp>
        <p:nvSpPr>
          <p:cNvPr id="7" name="TextBox 7"/>
          <p:cNvSpPr txBox="1"/>
          <p:nvPr/>
        </p:nvSpPr>
        <p:spPr>
          <a:xfrm>
            <a:off x="8029384" y="8008496"/>
            <a:ext cx="2273475" cy="779736"/>
          </a:xfrm>
          <a:prstGeom prst="rect">
            <a:avLst/>
          </a:prstGeom>
        </p:spPr>
        <p:txBody>
          <a:bodyPr lIns="0" tIns="0" rIns="0" bIns="0" rtlCol="0" anchor="t">
            <a:spAutoFit/>
          </a:bodyPr>
          <a:lstStyle/>
          <a:p>
            <a:pPr algn="l">
              <a:lnSpc>
                <a:spcPts val="5599"/>
              </a:lnSpc>
            </a:pPr>
            <a:r>
              <a:rPr lang="en-US" sz="3999" b="1">
                <a:solidFill>
                  <a:srgbClr val="10B5BF"/>
                </a:solidFill>
                <a:latin typeface="Poppins Medium"/>
                <a:ea typeface="Poppins Medium"/>
                <a:cs typeface="Poppins Medium"/>
                <a:sym typeface="Poppins Medium"/>
              </a:rPr>
              <a:t>VS CODE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a:off x="657225" y="3562807"/>
            <a:ext cx="285750" cy="285750"/>
            <a:chOff x="0" y="0"/>
            <a:chExt cx="285750" cy="285750"/>
          </a:xfrm>
        </p:grpSpPr>
        <p:sp>
          <p:nvSpPr>
            <p:cNvPr id="3" name="Freeform 3"/>
            <p:cNvSpPr/>
            <p:nvPr/>
          </p:nvSpPr>
          <p:spPr>
            <a:xfrm>
              <a:off x="0" y="0"/>
              <a:ext cx="285750" cy="285750"/>
            </a:xfrm>
            <a:custGeom>
              <a:avLst/>
              <a:gdLst/>
              <a:ahLst/>
              <a:cxnLst/>
              <a:rect l="l" t="t" r="r" b="b"/>
              <a:pathLst>
                <a:path w="285750" h="285750">
                  <a:moveTo>
                    <a:pt x="285750" y="142875"/>
                  </a:moveTo>
                  <a:cubicBezTo>
                    <a:pt x="285750" y="152273"/>
                    <a:pt x="284861" y="161544"/>
                    <a:pt x="282956" y="170688"/>
                  </a:cubicBezTo>
                  <a:cubicBezTo>
                    <a:pt x="281051" y="179832"/>
                    <a:pt x="278384" y="188849"/>
                    <a:pt x="274828" y="197485"/>
                  </a:cubicBezTo>
                  <a:cubicBezTo>
                    <a:pt x="271272" y="206121"/>
                    <a:pt x="266827" y="214376"/>
                    <a:pt x="261620" y="222250"/>
                  </a:cubicBezTo>
                  <a:cubicBezTo>
                    <a:pt x="256413" y="230124"/>
                    <a:pt x="250444" y="237236"/>
                    <a:pt x="243840" y="243840"/>
                  </a:cubicBezTo>
                  <a:cubicBezTo>
                    <a:pt x="237236" y="250444"/>
                    <a:pt x="229997" y="256413"/>
                    <a:pt x="222250" y="261620"/>
                  </a:cubicBezTo>
                  <a:cubicBezTo>
                    <a:pt x="214503" y="266827"/>
                    <a:pt x="206248" y="271272"/>
                    <a:pt x="197612" y="274828"/>
                  </a:cubicBezTo>
                  <a:cubicBezTo>
                    <a:pt x="188976" y="278384"/>
                    <a:pt x="179959" y="281178"/>
                    <a:pt x="170815" y="282956"/>
                  </a:cubicBezTo>
                  <a:cubicBezTo>
                    <a:pt x="161671" y="284734"/>
                    <a:pt x="152273" y="285750"/>
                    <a:pt x="143002" y="285750"/>
                  </a:cubicBezTo>
                  <a:cubicBezTo>
                    <a:pt x="133731" y="285750"/>
                    <a:pt x="124333" y="284861"/>
                    <a:pt x="115189" y="282956"/>
                  </a:cubicBezTo>
                  <a:cubicBezTo>
                    <a:pt x="106045" y="281051"/>
                    <a:pt x="97028" y="278384"/>
                    <a:pt x="88392" y="274828"/>
                  </a:cubicBezTo>
                  <a:cubicBezTo>
                    <a:pt x="79756" y="271272"/>
                    <a:pt x="71247" y="266827"/>
                    <a:pt x="63500" y="261620"/>
                  </a:cubicBezTo>
                  <a:cubicBezTo>
                    <a:pt x="55753" y="256413"/>
                    <a:pt x="48514" y="250444"/>
                    <a:pt x="41910" y="243840"/>
                  </a:cubicBezTo>
                  <a:cubicBezTo>
                    <a:pt x="35306" y="237236"/>
                    <a:pt x="29337" y="229997"/>
                    <a:pt x="24130" y="222250"/>
                  </a:cubicBezTo>
                  <a:cubicBezTo>
                    <a:pt x="18923" y="214503"/>
                    <a:pt x="14478" y="206248"/>
                    <a:pt x="10922" y="197485"/>
                  </a:cubicBezTo>
                  <a:cubicBezTo>
                    <a:pt x="7366" y="188722"/>
                    <a:pt x="4572" y="179832"/>
                    <a:pt x="2794" y="170688"/>
                  </a:cubicBezTo>
                  <a:cubicBezTo>
                    <a:pt x="1016" y="161544"/>
                    <a:pt x="0" y="152273"/>
                    <a:pt x="0" y="142875"/>
                  </a:cubicBezTo>
                  <a:cubicBezTo>
                    <a:pt x="0" y="133477"/>
                    <a:pt x="889" y="124206"/>
                    <a:pt x="2794" y="115062"/>
                  </a:cubicBezTo>
                  <a:cubicBezTo>
                    <a:pt x="4699" y="105918"/>
                    <a:pt x="7239" y="96901"/>
                    <a:pt x="10922" y="88138"/>
                  </a:cubicBezTo>
                  <a:cubicBezTo>
                    <a:pt x="14605" y="79375"/>
                    <a:pt x="18923" y="71247"/>
                    <a:pt x="24130" y="63500"/>
                  </a:cubicBezTo>
                  <a:cubicBezTo>
                    <a:pt x="29337" y="55753"/>
                    <a:pt x="35306" y="48514"/>
                    <a:pt x="41910" y="41910"/>
                  </a:cubicBezTo>
                  <a:cubicBezTo>
                    <a:pt x="48514" y="35306"/>
                    <a:pt x="55753" y="29337"/>
                    <a:pt x="63500" y="24130"/>
                  </a:cubicBezTo>
                  <a:cubicBezTo>
                    <a:pt x="71247" y="18923"/>
                    <a:pt x="79502" y="14478"/>
                    <a:pt x="88138" y="10922"/>
                  </a:cubicBezTo>
                  <a:cubicBezTo>
                    <a:pt x="96774" y="7366"/>
                    <a:pt x="105791" y="4572"/>
                    <a:pt x="115062" y="2794"/>
                  </a:cubicBezTo>
                  <a:cubicBezTo>
                    <a:pt x="124333" y="1016"/>
                    <a:pt x="133477" y="0"/>
                    <a:pt x="142875" y="0"/>
                  </a:cubicBezTo>
                  <a:cubicBezTo>
                    <a:pt x="152273" y="0"/>
                    <a:pt x="161544" y="889"/>
                    <a:pt x="170688" y="2794"/>
                  </a:cubicBezTo>
                  <a:cubicBezTo>
                    <a:pt x="179832" y="4699"/>
                    <a:pt x="188849" y="7366"/>
                    <a:pt x="197485" y="10922"/>
                  </a:cubicBezTo>
                  <a:cubicBezTo>
                    <a:pt x="206121" y="14478"/>
                    <a:pt x="214376" y="18923"/>
                    <a:pt x="222123" y="24130"/>
                  </a:cubicBezTo>
                  <a:cubicBezTo>
                    <a:pt x="229870" y="29337"/>
                    <a:pt x="237109" y="35306"/>
                    <a:pt x="243713" y="41910"/>
                  </a:cubicBezTo>
                  <a:cubicBezTo>
                    <a:pt x="250317" y="48514"/>
                    <a:pt x="256286" y="55753"/>
                    <a:pt x="261493" y="63500"/>
                  </a:cubicBezTo>
                  <a:cubicBezTo>
                    <a:pt x="266700" y="71247"/>
                    <a:pt x="271145" y="79502"/>
                    <a:pt x="274701" y="88265"/>
                  </a:cubicBezTo>
                  <a:cubicBezTo>
                    <a:pt x="278257" y="97028"/>
                    <a:pt x="281051" y="105918"/>
                    <a:pt x="282829" y="115062"/>
                  </a:cubicBezTo>
                  <a:cubicBezTo>
                    <a:pt x="284607" y="124206"/>
                    <a:pt x="285623" y="133604"/>
                    <a:pt x="285623" y="142875"/>
                  </a:cubicBezTo>
                  <a:close/>
                </a:path>
              </a:pathLst>
            </a:custGeom>
            <a:solidFill>
              <a:srgbClr val="FFFFFF"/>
            </a:solidFill>
          </p:spPr>
        </p:sp>
      </p:grpSp>
      <p:grpSp>
        <p:nvGrpSpPr>
          <p:cNvPr id="4" name="Group 4"/>
          <p:cNvGrpSpPr>
            <a:grpSpLocks noChangeAspect="1"/>
          </p:cNvGrpSpPr>
          <p:nvPr/>
        </p:nvGrpSpPr>
        <p:grpSpPr>
          <a:xfrm>
            <a:off x="657225" y="4467682"/>
            <a:ext cx="285750" cy="285750"/>
            <a:chOff x="0" y="0"/>
            <a:chExt cx="285750" cy="285750"/>
          </a:xfrm>
        </p:grpSpPr>
        <p:sp>
          <p:nvSpPr>
            <p:cNvPr id="5" name="Freeform 5"/>
            <p:cNvSpPr/>
            <p:nvPr/>
          </p:nvSpPr>
          <p:spPr>
            <a:xfrm>
              <a:off x="0" y="0"/>
              <a:ext cx="285750" cy="285623"/>
            </a:xfrm>
            <a:custGeom>
              <a:avLst/>
              <a:gdLst/>
              <a:ahLst/>
              <a:cxnLst/>
              <a:rect l="l" t="t" r="r" b="b"/>
              <a:pathLst>
                <a:path w="285750" h="285623">
                  <a:moveTo>
                    <a:pt x="285750" y="142875"/>
                  </a:moveTo>
                  <a:cubicBezTo>
                    <a:pt x="285750" y="152273"/>
                    <a:pt x="284861" y="161544"/>
                    <a:pt x="282956" y="170688"/>
                  </a:cubicBezTo>
                  <a:cubicBezTo>
                    <a:pt x="281051" y="179832"/>
                    <a:pt x="278384" y="188849"/>
                    <a:pt x="274828" y="197485"/>
                  </a:cubicBezTo>
                  <a:cubicBezTo>
                    <a:pt x="271272" y="206121"/>
                    <a:pt x="266827" y="214376"/>
                    <a:pt x="261620" y="222123"/>
                  </a:cubicBezTo>
                  <a:cubicBezTo>
                    <a:pt x="256413" y="229870"/>
                    <a:pt x="250444" y="237109"/>
                    <a:pt x="243840" y="243713"/>
                  </a:cubicBezTo>
                  <a:cubicBezTo>
                    <a:pt x="237236" y="250317"/>
                    <a:pt x="229997" y="256286"/>
                    <a:pt x="222250" y="261493"/>
                  </a:cubicBezTo>
                  <a:cubicBezTo>
                    <a:pt x="214503" y="266700"/>
                    <a:pt x="206248" y="271145"/>
                    <a:pt x="197612" y="274701"/>
                  </a:cubicBezTo>
                  <a:cubicBezTo>
                    <a:pt x="188976" y="278257"/>
                    <a:pt x="179959" y="281051"/>
                    <a:pt x="170815" y="282829"/>
                  </a:cubicBezTo>
                  <a:cubicBezTo>
                    <a:pt x="161671" y="284607"/>
                    <a:pt x="152273" y="285623"/>
                    <a:pt x="143002" y="285623"/>
                  </a:cubicBezTo>
                  <a:cubicBezTo>
                    <a:pt x="133731" y="285623"/>
                    <a:pt x="124333" y="284734"/>
                    <a:pt x="115189" y="282829"/>
                  </a:cubicBezTo>
                  <a:cubicBezTo>
                    <a:pt x="106045" y="280924"/>
                    <a:pt x="97028" y="278257"/>
                    <a:pt x="88392" y="274701"/>
                  </a:cubicBezTo>
                  <a:cubicBezTo>
                    <a:pt x="79756" y="271145"/>
                    <a:pt x="71247" y="266827"/>
                    <a:pt x="63500" y="261620"/>
                  </a:cubicBezTo>
                  <a:cubicBezTo>
                    <a:pt x="55753" y="256413"/>
                    <a:pt x="48514" y="250444"/>
                    <a:pt x="41910" y="243840"/>
                  </a:cubicBezTo>
                  <a:cubicBezTo>
                    <a:pt x="35306" y="237236"/>
                    <a:pt x="29337" y="229997"/>
                    <a:pt x="24130" y="222250"/>
                  </a:cubicBezTo>
                  <a:cubicBezTo>
                    <a:pt x="18923" y="214503"/>
                    <a:pt x="14478" y="206248"/>
                    <a:pt x="10922" y="197612"/>
                  </a:cubicBezTo>
                  <a:cubicBezTo>
                    <a:pt x="7366" y="188976"/>
                    <a:pt x="4572" y="179959"/>
                    <a:pt x="2794" y="170815"/>
                  </a:cubicBezTo>
                  <a:cubicBezTo>
                    <a:pt x="1016" y="161671"/>
                    <a:pt x="0" y="152273"/>
                    <a:pt x="0" y="142875"/>
                  </a:cubicBezTo>
                  <a:cubicBezTo>
                    <a:pt x="0" y="133477"/>
                    <a:pt x="889" y="124206"/>
                    <a:pt x="2794" y="115062"/>
                  </a:cubicBezTo>
                  <a:cubicBezTo>
                    <a:pt x="4699" y="105918"/>
                    <a:pt x="7239" y="96901"/>
                    <a:pt x="10922" y="88138"/>
                  </a:cubicBezTo>
                  <a:cubicBezTo>
                    <a:pt x="14605" y="79375"/>
                    <a:pt x="18923" y="71247"/>
                    <a:pt x="24130" y="63500"/>
                  </a:cubicBezTo>
                  <a:cubicBezTo>
                    <a:pt x="29337" y="55753"/>
                    <a:pt x="35306" y="48514"/>
                    <a:pt x="41910" y="41910"/>
                  </a:cubicBezTo>
                  <a:cubicBezTo>
                    <a:pt x="48514" y="35306"/>
                    <a:pt x="55753" y="29337"/>
                    <a:pt x="63500" y="24130"/>
                  </a:cubicBezTo>
                  <a:cubicBezTo>
                    <a:pt x="71247" y="18923"/>
                    <a:pt x="79502" y="14478"/>
                    <a:pt x="88138" y="10922"/>
                  </a:cubicBezTo>
                  <a:cubicBezTo>
                    <a:pt x="96774" y="7366"/>
                    <a:pt x="105791" y="4572"/>
                    <a:pt x="115062" y="2794"/>
                  </a:cubicBezTo>
                  <a:cubicBezTo>
                    <a:pt x="124333" y="1016"/>
                    <a:pt x="133477" y="0"/>
                    <a:pt x="142875" y="0"/>
                  </a:cubicBezTo>
                  <a:cubicBezTo>
                    <a:pt x="152273" y="0"/>
                    <a:pt x="161544" y="889"/>
                    <a:pt x="170688" y="2794"/>
                  </a:cubicBezTo>
                  <a:cubicBezTo>
                    <a:pt x="179832" y="4699"/>
                    <a:pt x="188849" y="7366"/>
                    <a:pt x="197485" y="10922"/>
                  </a:cubicBezTo>
                  <a:cubicBezTo>
                    <a:pt x="206121" y="14478"/>
                    <a:pt x="214376" y="18923"/>
                    <a:pt x="222123" y="24130"/>
                  </a:cubicBezTo>
                  <a:cubicBezTo>
                    <a:pt x="229870" y="29337"/>
                    <a:pt x="237109" y="35306"/>
                    <a:pt x="243713" y="41910"/>
                  </a:cubicBezTo>
                  <a:cubicBezTo>
                    <a:pt x="250317" y="48514"/>
                    <a:pt x="256286" y="55753"/>
                    <a:pt x="261493" y="63500"/>
                  </a:cubicBezTo>
                  <a:cubicBezTo>
                    <a:pt x="266700" y="71247"/>
                    <a:pt x="271145" y="79502"/>
                    <a:pt x="274701" y="88138"/>
                  </a:cubicBezTo>
                  <a:cubicBezTo>
                    <a:pt x="278257" y="96774"/>
                    <a:pt x="281051" y="105791"/>
                    <a:pt x="282829" y="114935"/>
                  </a:cubicBezTo>
                  <a:cubicBezTo>
                    <a:pt x="284607" y="124079"/>
                    <a:pt x="285623" y="133477"/>
                    <a:pt x="285623" y="142748"/>
                  </a:cubicBezTo>
                  <a:close/>
                </a:path>
              </a:pathLst>
            </a:custGeom>
            <a:solidFill>
              <a:srgbClr val="FFFFFF"/>
            </a:solidFill>
          </p:spPr>
        </p:sp>
      </p:grpSp>
      <p:grpSp>
        <p:nvGrpSpPr>
          <p:cNvPr id="6" name="Group 6"/>
          <p:cNvGrpSpPr>
            <a:grpSpLocks noChangeAspect="1"/>
          </p:cNvGrpSpPr>
          <p:nvPr/>
        </p:nvGrpSpPr>
        <p:grpSpPr>
          <a:xfrm>
            <a:off x="657225" y="5372557"/>
            <a:ext cx="285750" cy="285750"/>
            <a:chOff x="0" y="0"/>
            <a:chExt cx="285750" cy="285750"/>
          </a:xfrm>
        </p:grpSpPr>
        <p:sp>
          <p:nvSpPr>
            <p:cNvPr id="7" name="Freeform 7"/>
            <p:cNvSpPr/>
            <p:nvPr/>
          </p:nvSpPr>
          <p:spPr>
            <a:xfrm>
              <a:off x="0" y="0"/>
              <a:ext cx="285750" cy="285623"/>
            </a:xfrm>
            <a:custGeom>
              <a:avLst/>
              <a:gdLst/>
              <a:ahLst/>
              <a:cxnLst/>
              <a:rect l="l" t="t" r="r" b="b"/>
              <a:pathLst>
                <a:path w="285750" h="285623">
                  <a:moveTo>
                    <a:pt x="285750" y="142875"/>
                  </a:moveTo>
                  <a:cubicBezTo>
                    <a:pt x="285750" y="152273"/>
                    <a:pt x="284861" y="161544"/>
                    <a:pt x="282956" y="170688"/>
                  </a:cubicBezTo>
                  <a:cubicBezTo>
                    <a:pt x="281051" y="179832"/>
                    <a:pt x="278384" y="188849"/>
                    <a:pt x="274828" y="197485"/>
                  </a:cubicBezTo>
                  <a:cubicBezTo>
                    <a:pt x="271272" y="206121"/>
                    <a:pt x="266827" y="214376"/>
                    <a:pt x="261620" y="222123"/>
                  </a:cubicBezTo>
                  <a:cubicBezTo>
                    <a:pt x="256413" y="229870"/>
                    <a:pt x="250444" y="237109"/>
                    <a:pt x="243840" y="243713"/>
                  </a:cubicBezTo>
                  <a:cubicBezTo>
                    <a:pt x="237236" y="250317"/>
                    <a:pt x="229997" y="256286"/>
                    <a:pt x="222250" y="261493"/>
                  </a:cubicBezTo>
                  <a:cubicBezTo>
                    <a:pt x="214503" y="266700"/>
                    <a:pt x="206248" y="271145"/>
                    <a:pt x="197612" y="274701"/>
                  </a:cubicBezTo>
                  <a:cubicBezTo>
                    <a:pt x="188976" y="278257"/>
                    <a:pt x="179959" y="281051"/>
                    <a:pt x="170815" y="282829"/>
                  </a:cubicBezTo>
                  <a:cubicBezTo>
                    <a:pt x="161671" y="284607"/>
                    <a:pt x="152273" y="285623"/>
                    <a:pt x="143002" y="285623"/>
                  </a:cubicBezTo>
                  <a:cubicBezTo>
                    <a:pt x="133731" y="285623"/>
                    <a:pt x="124333" y="284734"/>
                    <a:pt x="115189" y="282829"/>
                  </a:cubicBezTo>
                  <a:cubicBezTo>
                    <a:pt x="106045" y="280924"/>
                    <a:pt x="97028" y="278257"/>
                    <a:pt x="88392" y="274701"/>
                  </a:cubicBezTo>
                  <a:cubicBezTo>
                    <a:pt x="79756" y="271145"/>
                    <a:pt x="71247" y="266827"/>
                    <a:pt x="63500" y="261620"/>
                  </a:cubicBezTo>
                  <a:cubicBezTo>
                    <a:pt x="55753" y="256413"/>
                    <a:pt x="48514" y="250444"/>
                    <a:pt x="41910" y="243840"/>
                  </a:cubicBezTo>
                  <a:cubicBezTo>
                    <a:pt x="35306" y="237236"/>
                    <a:pt x="29337" y="229997"/>
                    <a:pt x="24130" y="222250"/>
                  </a:cubicBezTo>
                  <a:cubicBezTo>
                    <a:pt x="18923" y="214503"/>
                    <a:pt x="14478" y="206248"/>
                    <a:pt x="10922" y="197612"/>
                  </a:cubicBezTo>
                  <a:cubicBezTo>
                    <a:pt x="7366" y="188976"/>
                    <a:pt x="4572" y="179959"/>
                    <a:pt x="2794" y="170815"/>
                  </a:cubicBezTo>
                  <a:cubicBezTo>
                    <a:pt x="1016" y="161671"/>
                    <a:pt x="0" y="152273"/>
                    <a:pt x="0" y="142875"/>
                  </a:cubicBezTo>
                  <a:cubicBezTo>
                    <a:pt x="0" y="133477"/>
                    <a:pt x="889" y="124206"/>
                    <a:pt x="2794" y="115062"/>
                  </a:cubicBezTo>
                  <a:cubicBezTo>
                    <a:pt x="4699" y="105918"/>
                    <a:pt x="7239" y="96901"/>
                    <a:pt x="10922" y="88138"/>
                  </a:cubicBezTo>
                  <a:cubicBezTo>
                    <a:pt x="14605" y="79375"/>
                    <a:pt x="18923" y="71247"/>
                    <a:pt x="24130" y="63500"/>
                  </a:cubicBezTo>
                  <a:cubicBezTo>
                    <a:pt x="29337" y="55753"/>
                    <a:pt x="35306" y="48514"/>
                    <a:pt x="41910" y="41910"/>
                  </a:cubicBezTo>
                  <a:cubicBezTo>
                    <a:pt x="48514" y="35306"/>
                    <a:pt x="55753" y="29337"/>
                    <a:pt x="63500" y="24130"/>
                  </a:cubicBezTo>
                  <a:cubicBezTo>
                    <a:pt x="71247" y="18923"/>
                    <a:pt x="79502" y="14478"/>
                    <a:pt x="88138" y="10922"/>
                  </a:cubicBezTo>
                  <a:cubicBezTo>
                    <a:pt x="96774" y="7366"/>
                    <a:pt x="105791" y="4572"/>
                    <a:pt x="115062" y="2794"/>
                  </a:cubicBezTo>
                  <a:cubicBezTo>
                    <a:pt x="124333" y="1016"/>
                    <a:pt x="133477" y="0"/>
                    <a:pt x="142875" y="0"/>
                  </a:cubicBezTo>
                  <a:cubicBezTo>
                    <a:pt x="152273" y="0"/>
                    <a:pt x="161544" y="889"/>
                    <a:pt x="170688" y="2794"/>
                  </a:cubicBezTo>
                  <a:cubicBezTo>
                    <a:pt x="179832" y="4699"/>
                    <a:pt x="188849" y="7366"/>
                    <a:pt x="197485" y="10922"/>
                  </a:cubicBezTo>
                  <a:cubicBezTo>
                    <a:pt x="206121" y="14478"/>
                    <a:pt x="214376" y="18923"/>
                    <a:pt x="222123" y="24130"/>
                  </a:cubicBezTo>
                  <a:cubicBezTo>
                    <a:pt x="229870" y="29337"/>
                    <a:pt x="237109" y="35306"/>
                    <a:pt x="243713" y="41910"/>
                  </a:cubicBezTo>
                  <a:cubicBezTo>
                    <a:pt x="250317" y="48514"/>
                    <a:pt x="256286" y="55753"/>
                    <a:pt x="261493" y="63500"/>
                  </a:cubicBezTo>
                  <a:cubicBezTo>
                    <a:pt x="266700" y="71247"/>
                    <a:pt x="271145" y="79502"/>
                    <a:pt x="274701" y="88138"/>
                  </a:cubicBezTo>
                  <a:cubicBezTo>
                    <a:pt x="278257" y="96774"/>
                    <a:pt x="281051" y="105791"/>
                    <a:pt x="282829" y="114935"/>
                  </a:cubicBezTo>
                  <a:cubicBezTo>
                    <a:pt x="284607" y="124079"/>
                    <a:pt x="285623" y="133477"/>
                    <a:pt x="285623" y="142748"/>
                  </a:cubicBezTo>
                  <a:close/>
                </a:path>
              </a:pathLst>
            </a:custGeom>
            <a:solidFill>
              <a:srgbClr val="FFFFFF"/>
            </a:solidFill>
          </p:spPr>
        </p:sp>
      </p:grpSp>
      <p:grpSp>
        <p:nvGrpSpPr>
          <p:cNvPr id="8" name="Group 8"/>
          <p:cNvGrpSpPr>
            <a:grpSpLocks noChangeAspect="1"/>
          </p:cNvGrpSpPr>
          <p:nvPr/>
        </p:nvGrpSpPr>
        <p:grpSpPr>
          <a:xfrm>
            <a:off x="657225" y="6277432"/>
            <a:ext cx="285750" cy="285750"/>
            <a:chOff x="0" y="0"/>
            <a:chExt cx="285750" cy="285750"/>
          </a:xfrm>
        </p:grpSpPr>
        <p:sp>
          <p:nvSpPr>
            <p:cNvPr id="9" name="Freeform 9"/>
            <p:cNvSpPr/>
            <p:nvPr/>
          </p:nvSpPr>
          <p:spPr>
            <a:xfrm>
              <a:off x="0" y="0"/>
              <a:ext cx="285750" cy="285750"/>
            </a:xfrm>
            <a:custGeom>
              <a:avLst/>
              <a:gdLst/>
              <a:ahLst/>
              <a:cxnLst/>
              <a:rect l="l" t="t" r="r" b="b"/>
              <a:pathLst>
                <a:path w="285750" h="285750">
                  <a:moveTo>
                    <a:pt x="285750" y="142875"/>
                  </a:moveTo>
                  <a:cubicBezTo>
                    <a:pt x="285750" y="152273"/>
                    <a:pt x="284861" y="161544"/>
                    <a:pt x="282956" y="170688"/>
                  </a:cubicBezTo>
                  <a:cubicBezTo>
                    <a:pt x="281051" y="179832"/>
                    <a:pt x="278384" y="188849"/>
                    <a:pt x="274828" y="197485"/>
                  </a:cubicBezTo>
                  <a:cubicBezTo>
                    <a:pt x="271272" y="206121"/>
                    <a:pt x="266827" y="214376"/>
                    <a:pt x="261620" y="222250"/>
                  </a:cubicBezTo>
                  <a:cubicBezTo>
                    <a:pt x="256413" y="230124"/>
                    <a:pt x="250444" y="237236"/>
                    <a:pt x="243840" y="243840"/>
                  </a:cubicBezTo>
                  <a:cubicBezTo>
                    <a:pt x="237236" y="250444"/>
                    <a:pt x="229997" y="256413"/>
                    <a:pt x="222250" y="261620"/>
                  </a:cubicBezTo>
                  <a:cubicBezTo>
                    <a:pt x="214503" y="266827"/>
                    <a:pt x="206248" y="271272"/>
                    <a:pt x="197612" y="274828"/>
                  </a:cubicBezTo>
                  <a:cubicBezTo>
                    <a:pt x="188976" y="278384"/>
                    <a:pt x="179959" y="281178"/>
                    <a:pt x="170815" y="282956"/>
                  </a:cubicBezTo>
                  <a:cubicBezTo>
                    <a:pt x="161671" y="284734"/>
                    <a:pt x="152273" y="285750"/>
                    <a:pt x="143002" y="285750"/>
                  </a:cubicBezTo>
                  <a:cubicBezTo>
                    <a:pt x="133731" y="285750"/>
                    <a:pt x="124333" y="284861"/>
                    <a:pt x="115189" y="282956"/>
                  </a:cubicBezTo>
                  <a:cubicBezTo>
                    <a:pt x="106045" y="281051"/>
                    <a:pt x="97028" y="278384"/>
                    <a:pt x="88392" y="274828"/>
                  </a:cubicBezTo>
                  <a:cubicBezTo>
                    <a:pt x="79756" y="271272"/>
                    <a:pt x="71247" y="266827"/>
                    <a:pt x="63500" y="261620"/>
                  </a:cubicBezTo>
                  <a:cubicBezTo>
                    <a:pt x="55753" y="256413"/>
                    <a:pt x="48514" y="250444"/>
                    <a:pt x="41910" y="243840"/>
                  </a:cubicBezTo>
                  <a:cubicBezTo>
                    <a:pt x="35306" y="237236"/>
                    <a:pt x="29337" y="229997"/>
                    <a:pt x="24130" y="222250"/>
                  </a:cubicBezTo>
                  <a:cubicBezTo>
                    <a:pt x="18923" y="214503"/>
                    <a:pt x="14478" y="206248"/>
                    <a:pt x="10922" y="197612"/>
                  </a:cubicBezTo>
                  <a:cubicBezTo>
                    <a:pt x="7366" y="188976"/>
                    <a:pt x="4572" y="179959"/>
                    <a:pt x="2794" y="170815"/>
                  </a:cubicBezTo>
                  <a:cubicBezTo>
                    <a:pt x="1016" y="161671"/>
                    <a:pt x="0" y="152273"/>
                    <a:pt x="0" y="142875"/>
                  </a:cubicBezTo>
                  <a:cubicBezTo>
                    <a:pt x="0" y="133477"/>
                    <a:pt x="889" y="124206"/>
                    <a:pt x="2794" y="115062"/>
                  </a:cubicBezTo>
                  <a:cubicBezTo>
                    <a:pt x="4699" y="105918"/>
                    <a:pt x="7239" y="96901"/>
                    <a:pt x="10922" y="88138"/>
                  </a:cubicBezTo>
                  <a:cubicBezTo>
                    <a:pt x="14605" y="79375"/>
                    <a:pt x="18923" y="71247"/>
                    <a:pt x="24130" y="63500"/>
                  </a:cubicBezTo>
                  <a:cubicBezTo>
                    <a:pt x="29337" y="55753"/>
                    <a:pt x="35306" y="48514"/>
                    <a:pt x="41910" y="41910"/>
                  </a:cubicBezTo>
                  <a:cubicBezTo>
                    <a:pt x="48514" y="35306"/>
                    <a:pt x="55753" y="29337"/>
                    <a:pt x="63500" y="24130"/>
                  </a:cubicBezTo>
                  <a:cubicBezTo>
                    <a:pt x="71247" y="18923"/>
                    <a:pt x="79502" y="14478"/>
                    <a:pt x="88138" y="10922"/>
                  </a:cubicBezTo>
                  <a:cubicBezTo>
                    <a:pt x="96774" y="7366"/>
                    <a:pt x="105791" y="4572"/>
                    <a:pt x="115062" y="2794"/>
                  </a:cubicBezTo>
                  <a:cubicBezTo>
                    <a:pt x="124333" y="1016"/>
                    <a:pt x="133477" y="0"/>
                    <a:pt x="142875" y="0"/>
                  </a:cubicBezTo>
                  <a:cubicBezTo>
                    <a:pt x="152273" y="0"/>
                    <a:pt x="161544" y="889"/>
                    <a:pt x="170688" y="2794"/>
                  </a:cubicBezTo>
                  <a:cubicBezTo>
                    <a:pt x="179832" y="4699"/>
                    <a:pt x="188849" y="7366"/>
                    <a:pt x="197485" y="10922"/>
                  </a:cubicBezTo>
                  <a:cubicBezTo>
                    <a:pt x="206121" y="14478"/>
                    <a:pt x="214376" y="18923"/>
                    <a:pt x="222123" y="24130"/>
                  </a:cubicBezTo>
                  <a:cubicBezTo>
                    <a:pt x="229870" y="29337"/>
                    <a:pt x="237109" y="35306"/>
                    <a:pt x="243713" y="41910"/>
                  </a:cubicBezTo>
                  <a:cubicBezTo>
                    <a:pt x="250317" y="48514"/>
                    <a:pt x="256286" y="55753"/>
                    <a:pt x="261493" y="63500"/>
                  </a:cubicBezTo>
                  <a:cubicBezTo>
                    <a:pt x="266700" y="71247"/>
                    <a:pt x="271145" y="79502"/>
                    <a:pt x="274701" y="88138"/>
                  </a:cubicBezTo>
                  <a:cubicBezTo>
                    <a:pt x="278257" y="96774"/>
                    <a:pt x="281051" y="105791"/>
                    <a:pt x="282829" y="114935"/>
                  </a:cubicBezTo>
                  <a:cubicBezTo>
                    <a:pt x="284607" y="124079"/>
                    <a:pt x="285623" y="133477"/>
                    <a:pt x="285623" y="142748"/>
                  </a:cubicBezTo>
                  <a:close/>
                </a:path>
              </a:pathLst>
            </a:custGeom>
            <a:solidFill>
              <a:srgbClr val="FFFFFF"/>
            </a:solidFill>
          </p:spPr>
        </p:sp>
      </p:grpSp>
      <p:grpSp>
        <p:nvGrpSpPr>
          <p:cNvPr id="10" name="Group 10"/>
          <p:cNvGrpSpPr>
            <a:grpSpLocks noChangeAspect="1"/>
          </p:cNvGrpSpPr>
          <p:nvPr/>
        </p:nvGrpSpPr>
        <p:grpSpPr>
          <a:xfrm>
            <a:off x="657225" y="7182307"/>
            <a:ext cx="285750" cy="285750"/>
            <a:chOff x="0" y="0"/>
            <a:chExt cx="285750" cy="285750"/>
          </a:xfrm>
        </p:grpSpPr>
        <p:sp>
          <p:nvSpPr>
            <p:cNvPr id="11" name="Freeform 11"/>
            <p:cNvSpPr/>
            <p:nvPr/>
          </p:nvSpPr>
          <p:spPr>
            <a:xfrm>
              <a:off x="0" y="0"/>
              <a:ext cx="285750" cy="285623"/>
            </a:xfrm>
            <a:custGeom>
              <a:avLst/>
              <a:gdLst/>
              <a:ahLst/>
              <a:cxnLst/>
              <a:rect l="l" t="t" r="r" b="b"/>
              <a:pathLst>
                <a:path w="285750" h="285623">
                  <a:moveTo>
                    <a:pt x="285750" y="142875"/>
                  </a:moveTo>
                  <a:cubicBezTo>
                    <a:pt x="285750" y="152273"/>
                    <a:pt x="284861" y="161544"/>
                    <a:pt x="282956" y="170688"/>
                  </a:cubicBezTo>
                  <a:cubicBezTo>
                    <a:pt x="281051" y="179832"/>
                    <a:pt x="278384" y="188849"/>
                    <a:pt x="274828" y="197485"/>
                  </a:cubicBezTo>
                  <a:cubicBezTo>
                    <a:pt x="271272" y="206121"/>
                    <a:pt x="266827" y="214376"/>
                    <a:pt x="261620" y="222123"/>
                  </a:cubicBezTo>
                  <a:cubicBezTo>
                    <a:pt x="256413" y="229870"/>
                    <a:pt x="250444" y="237109"/>
                    <a:pt x="243840" y="243713"/>
                  </a:cubicBezTo>
                  <a:cubicBezTo>
                    <a:pt x="237236" y="250317"/>
                    <a:pt x="229997" y="256286"/>
                    <a:pt x="222250" y="261493"/>
                  </a:cubicBezTo>
                  <a:cubicBezTo>
                    <a:pt x="214503" y="266700"/>
                    <a:pt x="206248" y="271145"/>
                    <a:pt x="197612" y="274701"/>
                  </a:cubicBezTo>
                  <a:cubicBezTo>
                    <a:pt x="188976" y="278257"/>
                    <a:pt x="179959" y="281051"/>
                    <a:pt x="170815" y="282829"/>
                  </a:cubicBezTo>
                  <a:cubicBezTo>
                    <a:pt x="161671" y="284607"/>
                    <a:pt x="152273" y="285623"/>
                    <a:pt x="143002" y="285623"/>
                  </a:cubicBezTo>
                  <a:cubicBezTo>
                    <a:pt x="133731" y="285623"/>
                    <a:pt x="124333" y="284734"/>
                    <a:pt x="115189" y="282829"/>
                  </a:cubicBezTo>
                  <a:cubicBezTo>
                    <a:pt x="106045" y="280924"/>
                    <a:pt x="97028" y="278257"/>
                    <a:pt x="88392" y="274701"/>
                  </a:cubicBezTo>
                  <a:cubicBezTo>
                    <a:pt x="79756" y="271145"/>
                    <a:pt x="71247" y="266827"/>
                    <a:pt x="63500" y="261620"/>
                  </a:cubicBezTo>
                  <a:cubicBezTo>
                    <a:pt x="55753" y="256413"/>
                    <a:pt x="48514" y="250444"/>
                    <a:pt x="41910" y="243840"/>
                  </a:cubicBezTo>
                  <a:cubicBezTo>
                    <a:pt x="35306" y="237236"/>
                    <a:pt x="29337" y="229997"/>
                    <a:pt x="24130" y="222250"/>
                  </a:cubicBezTo>
                  <a:cubicBezTo>
                    <a:pt x="18923" y="214503"/>
                    <a:pt x="14478" y="206248"/>
                    <a:pt x="10922" y="197612"/>
                  </a:cubicBezTo>
                  <a:cubicBezTo>
                    <a:pt x="7366" y="188976"/>
                    <a:pt x="4572" y="179959"/>
                    <a:pt x="2794" y="170815"/>
                  </a:cubicBezTo>
                  <a:cubicBezTo>
                    <a:pt x="1016" y="161671"/>
                    <a:pt x="0" y="152273"/>
                    <a:pt x="0" y="142875"/>
                  </a:cubicBezTo>
                  <a:cubicBezTo>
                    <a:pt x="0" y="133477"/>
                    <a:pt x="889" y="124206"/>
                    <a:pt x="2794" y="115062"/>
                  </a:cubicBezTo>
                  <a:cubicBezTo>
                    <a:pt x="4699" y="105918"/>
                    <a:pt x="7239" y="96901"/>
                    <a:pt x="10922" y="88138"/>
                  </a:cubicBezTo>
                  <a:cubicBezTo>
                    <a:pt x="14605" y="79375"/>
                    <a:pt x="18923" y="71247"/>
                    <a:pt x="24130" y="63500"/>
                  </a:cubicBezTo>
                  <a:cubicBezTo>
                    <a:pt x="29337" y="55753"/>
                    <a:pt x="35306" y="48514"/>
                    <a:pt x="41910" y="41910"/>
                  </a:cubicBezTo>
                  <a:cubicBezTo>
                    <a:pt x="48514" y="35306"/>
                    <a:pt x="55753" y="29337"/>
                    <a:pt x="63500" y="24130"/>
                  </a:cubicBezTo>
                  <a:cubicBezTo>
                    <a:pt x="71247" y="18923"/>
                    <a:pt x="79502" y="14478"/>
                    <a:pt x="88138" y="10922"/>
                  </a:cubicBezTo>
                  <a:cubicBezTo>
                    <a:pt x="96774" y="7366"/>
                    <a:pt x="105791" y="4572"/>
                    <a:pt x="115062" y="2794"/>
                  </a:cubicBezTo>
                  <a:cubicBezTo>
                    <a:pt x="124333" y="1016"/>
                    <a:pt x="133477" y="0"/>
                    <a:pt x="142875" y="0"/>
                  </a:cubicBezTo>
                  <a:cubicBezTo>
                    <a:pt x="152273" y="0"/>
                    <a:pt x="161544" y="889"/>
                    <a:pt x="170688" y="2794"/>
                  </a:cubicBezTo>
                  <a:cubicBezTo>
                    <a:pt x="179832" y="4699"/>
                    <a:pt x="188849" y="7366"/>
                    <a:pt x="197485" y="10922"/>
                  </a:cubicBezTo>
                  <a:cubicBezTo>
                    <a:pt x="206121" y="14478"/>
                    <a:pt x="214376" y="18923"/>
                    <a:pt x="222123" y="24130"/>
                  </a:cubicBezTo>
                  <a:cubicBezTo>
                    <a:pt x="229870" y="29337"/>
                    <a:pt x="237109" y="35306"/>
                    <a:pt x="243713" y="41910"/>
                  </a:cubicBezTo>
                  <a:cubicBezTo>
                    <a:pt x="250317" y="48514"/>
                    <a:pt x="256286" y="55753"/>
                    <a:pt x="261493" y="63500"/>
                  </a:cubicBezTo>
                  <a:cubicBezTo>
                    <a:pt x="266700" y="71247"/>
                    <a:pt x="271145" y="79502"/>
                    <a:pt x="274701" y="88138"/>
                  </a:cubicBezTo>
                  <a:cubicBezTo>
                    <a:pt x="278257" y="96774"/>
                    <a:pt x="281051" y="105791"/>
                    <a:pt x="282829" y="114935"/>
                  </a:cubicBezTo>
                  <a:cubicBezTo>
                    <a:pt x="284607" y="124079"/>
                    <a:pt x="285623" y="133477"/>
                    <a:pt x="285623" y="142748"/>
                  </a:cubicBezTo>
                  <a:close/>
                </a:path>
              </a:pathLst>
            </a:custGeom>
            <a:solidFill>
              <a:srgbClr val="FFFFFF"/>
            </a:solidFill>
          </p:spPr>
        </p:sp>
      </p:grpSp>
      <p:sp>
        <p:nvSpPr>
          <p:cNvPr id="12" name="Freeform 12"/>
          <p:cNvSpPr/>
          <p:nvPr/>
        </p:nvSpPr>
        <p:spPr>
          <a:xfrm>
            <a:off x="15465752" y="0"/>
            <a:ext cx="2819400" cy="2771775"/>
          </a:xfrm>
          <a:custGeom>
            <a:avLst/>
            <a:gdLst/>
            <a:ahLst/>
            <a:cxnLst/>
            <a:rect l="l" t="t" r="r" b="b"/>
            <a:pathLst>
              <a:path w="2819400" h="2771775">
                <a:moveTo>
                  <a:pt x="0" y="0"/>
                </a:moveTo>
                <a:lnTo>
                  <a:pt x="2819400" y="0"/>
                </a:lnTo>
                <a:lnTo>
                  <a:pt x="2819400" y="2771775"/>
                </a:lnTo>
                <a:lnTo>
                  <a:pt x="0" y="2771775"/>
                </a:lnTo>
                <a:lnTo>
                  <a:pt x="0" y="0"/>
                </a:lnTo>
                <a:close/>
              </a:path>
            </a:pathLst>
          </a:custGeom>
          <a:blipFill>
            <a:blip r:embed="rId2"/>
            <a:stretch>
              <a:fillRect l="-14086" t="-15956" r="-14629" b="-14971"/>
            </a:stretch>
          </a:blipFill>
        </p:spPr>
      </p:sp>
      <p:sp>
        <p:nvSpPr>
          <p:cNvPr id="13" name="TextBox 13"/>
          <p:cNvSpPr txBox="1"/>
          <p:nvPr/>
        </p:nvSpPr>
        <p:spPr>
          <a:xfrm>
            <a:off x="0" y="2263111"/>
            <a:ext cx="9491405" cy="1049503"/>
          </a:xfrm>
          <a:prstGeom prst="rect">
            <a:avLst/>
          </a:prstGeom>
        </p:spPr>
        <p:txBody>
          <a:bodyPr lIns="0" tIns="0" rIns="0" bIns="0" rtlCol="0" anchor="t">
            <a:spAutoFit/>
          </a:bodyPr>
          <a:lstStyle/>
          <a:p>
            <a:pPr algn="l">
              <a:lnSpc>
                <a:spcPts val="7127"/>
              </a:lnSpc>
            </a:pPr>
            <a:r>
              <a:rPr lang="en-US" sz="5964" b="1">
                <a:solidFill>
                  <a:srgbClr val="FFFFFF"/>
                </a:solidFill>
                <a:latin typeface="Poppins Semi-Bold"/>
                <a:ea typeface="Poppins Semi-Bold"/>
                <a:cs typeface="Poppins Semi-Bold"/>
                <a:sym typeface="Poppins Semi-Bold"/>
              </a:rPr>
              <a:t>No VS CODE, você deve:</a:t>
            </a:r>
          </a:p>
        </p:txBody>
      </p:sp>
      <p:sp>
        <p:nvSpPr>
          <p:cNvPr id="14" name="TextBox 14"/>
          <p:cNvSpPr txBox="1"/>
          <p:nvPr/>
        </p:nvSpPr>
        <p:spPr>
          <a:xfrm>
            <a:off x="1287809" y="3167986"/>
            <a:ext cx="15986112" cy="4669003"/>
          </a:xfrm>
          <a:prstGeom prst="rect">
            <a:avLst/>
          </a:prstGeom>
        </p:spPr>
        <p:txBody>
          <a:bodyPr lIns="0" tIns="0" rIns="0" bIns="0" rtlCol="0" anchor="t">
            <a:spAutoFit/>
          </a:bodyPr>
          <a:lstStyle/>
          <a:p>
            <a:pPr algn="l">
              <a:lnSpc>
                <a:spcPts val="7127"/>
              </a:lnSpc>
            </a:pPr>
            <a:r>
              <a:rPr lang="en-US" sz="5964" b="1">
                <a:solidFill>
                  <a:srgbClr val="FFFFFF"/>
                </a:solidFill>
                <a:latin typeface="Poppins Semi-Bold"/>
                <a:ea typeface="Poppins Semi-Bold"/>
                <a:cs typeface="Poppins Semi-Bold"/>
                <a:sym typeface="Poppins Semi-Bold"/>
              </a:rPr>
              <a:t>Instalar o vscode, baixando da internet; Baixar e instalar o .Net 8 Instalar a Extensão C# Dev Kit; Criar uma pasta e abrir ela no vscode; Utilizar o comando no terminal: </a:t>
            </a:r>
          </a:p>
        </p:txBody>
      </p:sp>
      <p:sp>
        <p:nvSpPr>
          <p:cNvPr id="15" name="TextBox 15"/>
          <p:cNvSpPr txBox="1"/>
          <p:nvPr/>
        </p:nvSpPr>
        <p:spPr>
          <a:xfrm>
            <a:off x="0" y="7692361"/>
            <a:ext cx="16943327" cy="1049503"/>
          </a:xfrm>
          <a:prstGeom prst="rect">
            <a:avLst/>
          </a:prstGeom>
        </p:spPr>
        <p:txBody>
          <a:bodyPr lIns="0" tIns="0" rIns="0" bIns="0" rtlCol="0" anchor="t">
            <a:spAutoFit/>
          </a:bodyPr>
          <a:lstStyle/>
          <a:p>
            <a:pPr algn="l">
              <a:lnSpc>
                <a:spcPts val="7127"/>
              </a:lnSpc>
            </a:pPr>
            <a:r>
              <a:rPr lang="en-US" sz="5964" b="1">
                <a:solidFill>
                  <a:srgbClr val="FF5757"/>
                </a:solidFill>
                <a:latin typeface="Poppins Semi-Bold"/>
                <a:ea typeface="Poppins Semi-Bold"/>
                <a:cs typeface="Poppins Semi-Bold"/>
                <a:sym typeface="Poppins Semi-Bold"/>
              </a:rPr>
              <a:t>dotnet new console --use-program-main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rot="6585360">
            <a:off x="15375607" y="328317"/>
            <a:ext cx="2524144" cy="2600344"/>
            <a:chOff x="0" y="0"/>
            <a:chExt cx="3365525" cy="3467125"/>
          </a:xfrm>
        </p:grpSpPr>
        <p:sp>
          <p:nvSpPr>
            <p:cNvPr id="3" name="Freeform 3"/>
            <p:cNvSpPr/>
            <p:nvPr/>
          </p:nvSpPr>
          <p:spPr>
            <a:xfrm>
              <a:off x="0" y="0"/>
              <a:ext cx="3365500" cy="3467100"/>
            </a:xfrm>
            <a:custGeom>
              <a:avLst/>
              <a:gdLst/>
              <a:ahLst/>
              <a:cxnLst/>
              <a:rect l="l" t="t" r="r" b="b"/>
              <a:pathLst>
                <a:path w="3365500" h="3467100">
                  <a:moveTo>
                    <a:pt x="0" y="3467100"/>
                  </a:moveTo>
                  <a:lnTo>
                    <a:pt x="3365500" y="3467100"/>
                  </a:lnTo>
                  <a:lnTo>
                    <a:pt x="3365500" y="1822323"/>
                  </a:lnTo>
                  <a:lnTo>
                    <a:pt x="3365500" y="0"/>
                  </a:lnTo>
                  <a:lnTo>
                    <a:pt x="359537" y="0"/>
                  </a:lnTo>
                  <a:lnTo>
                    <a:pt x="0" y="0"/>
                  </a:lnTo>
                  <a:lnTo>
                    <a:pt x="0" y="3467100"/>
                  </a:lnTo>
                  <a:close/>
                </a:path>
              </a:pathLst>
            </a:custGeom>
            <a:blipFill>
              <a:blip r:embed="rId2"/>
              <a:stretch>
                <a:fillRect/>
              </a:stretch>
            </a:blipFill>
          </p:spPr>
        </p:sp>
      </p:grpSp>
      <p:grpSp>
        <p:nvGrpSpPr>
          <p:cNvPr id="4" name="Group 4"/>
          <p:cNvGrpSpPr>
            <a:grpSpLocks noChangeAspect="1"/>
          </p:cNvGrpSpPr>
          <p:nvPr/>
        </p:nvGrpSpPr>
        <p:grpSpPr>
          <a:xfrm rot="65340">
            <a:off x="1051503" y="7588225"/>
            <a:ext cx="3029464" cy="2515581"/>
            <a:chOff x="0" y="0"/>
            <a:chExt cx="4039286" cy="3354108"/>
          </a:xfrm>
        </p:grpSpPr>
        <p:sp>
          <p:nvSpPr>
            <p:cNvPr id="5" name="Freeform 5"/>
            <p:cNvSpPr/>
            <p:nvPr/>
          </p:nvSpPr>
          <p:spPr>
            <a:xfrm flipH="1">
              <a:off x="0" y="0"/>
              <a:ext cx="4039362" cy="3354070"/>
            </a:xfrm>
            <a:custGeom>
              <a:avLst/>
              <a:gdLst/>
              <a:ahLst/>
              <a:cxnLst/>
              <a:rect l="l" t="t" r="r" b="b"/>
              <a:pathLst>
                <a:path w="4039362" h="3354070">
                  <a:moveTo>
                    <a:pt x="4039362" y="1270"/>
                  </a:moveTo>
                  <a:lnTo>
                    <a:pt x="4038219" y="3354070"/>
                  </a:lnTo>
                  <a:lnTo>
                    <a:pt x="0" y="3352800"/>
                  </a:lnTo>
                  <a:lnTo>
                    <a:pt x="1143" y="0"/>
                  </a:lnTo>
                  <a:lnTo>
                    <a:pt x="4039362" y="1270"/>
                  </a:lnTo>
                  <a:close/>
                </a:path>
              </a:pathLst>
            </a:custGeom>
            <a:blipFill>
              <a:blip r:embed="rId3"/>
              <a:stretch>
                <a:fillRect l="-9" r="1" b="-1"/>
              </a:stretch>
            </a:blipFill>
          </p:spPr>
        </p:sp>
      </p:grpSp>
      <p:sp>
        <p:nvSpPr>
          <p:cNvPr id="6" name="TextBox 6"/>
          <p:cNvSpPr txBox="1"/>
          <p:nvPr/>
        </p:nvSpPr>
        <p:spPr>
          <a:xfrm>
            <a:off x="4555750" y="310039"/>
            <a:ext cx="3665734" cy="1630528"/>
          </a:xfrm>
          <a:prstGeom prst="rect">
            <a:avLst/>
          </a:prstGeom>
        </p:spPr>
        <p:txBody>
          <a:bodyPr lIns="0" tIns="0" rIns="0" bIns="0" rtlCol="0" anchor="t">
            <a:spAutoFit/>
          </a:bodyPr>
          <a:lstStyle/>
          <a:p>
            <a:pPr algn="l">
              <a:lnSpc>
                <a:spcPts val="13217"/>
              </a:lnSpc>
            </a:pPr>
            <a:r>
              <a:rPr lang="en-US" sz="5964" b="1">
                <a:solidFill>
                  <a:srgbClr val="FFCB85"/>
                </a:solidFill>
                <a:latin typeface="Poppins Semi-Bold"/>
                <a:ea typeface="Poppins Semi-Bold"/>
                <a:cs typeface="Poppins Semi-Bold"/>
                <a:sym typeface="Poppins Semi-Bold"/>
              </a:rPr>
              <a:t>Atenção!</a:t>
            </a:r>
          </a:p>
        </p:txBody>
      </p:sp>
      <p:sp>
        <p:nvSpPr>
          <p:cNvPr id="7" name="TextBox 7"/>
          <p:cNvSpPr txBox="1"/>
          <p:nvPr/>
        </p:nvSpPr>
        <p:spPr>
          <a:xfrm>
            <a:off x="1513161" y="1989049"/>
            <a:ext cx="15566669" cy="5076911"/>
          </a:xfrm>
          <a:prstGeom prst="rect">
            <a:avLst/>
          </a:prstGeom>
        </p:spPr>
        <p:txBody>
          <a:bodyPr lIns="0" tIns="0" rIns="0" bIns="0" rtlCol="0" anchor="t">
            <a:spAutoFit/>
          </a:bodyPr>
          <a:lstStyle/>
          <a:p>
            <a:pPr algn="ctr">
              <a:lnSpc>
                <a:spcPts val="13217"/>
              </a:lnSpc>
            </a:pPr>
            <a:r>
              <a:rPr lang="en-US" sz="5964" b="1">
                <a:solidFill>
                  <a:srgbClr val="FFFFFF"/>
                </a:solidFill>
                <a:latin typeface="Poppins Semi-Bold"/>
                <a:ea typeface="Poppins Semi-Bold"/>
                <a:cs typeface="Poppins Semi-Bold"/>
                <a:sym typeface="Poppins Semi-Bold"/>
              </a:rPr>
              <a:t>Toda vez que for criar um novo projeto</a:t>
            </a:r>
          </a:p>
          <a:p>
            <a:pPr algn="ctr">
              <a:lnSpc>
                <a:spcPts val="2982"/>
              </a:lnSpc>
            </a:pPr>
            <a:r>
              <a:rPr lang="en-US" sz="5964" b="1">
                <a:solidFill>
                  <a:srgbClr val="FFFFFF"/>
                </a:solidFill>
                <a:latin typeface="Poppins Semi-Bold"/>
                <a:ea typeface="Poppins Semi-Bold"/>
                <a:cs typeface="Poppins Semi-Bold"/>
                <a:sym typeface="Poppins Semi-Bold"/>
              </a:rPr>
              <a:t>C# no VS CODE, não se esqueça de</a:t>
            </a:r>
          </a:p>
          <a:p>
            <a:pPr algn="ctr">
              <a:lnSpc>
                <a:spcPts val="11267"/>
              </a:lnSpc>
            </a:pPr>
            <a:r>
              <a:rPr lang="en-US" sz="5964" b="1">
                <a:solidFill>
                  <a:srgbClr val="FFFFFF"/>
                </a:solidFill>
                <a:latin typeface="Poppins Semi-Bold"/>
                <a:ea typeface="Poppins Semi-Bold"/>
                <a:cs typeface="Poppins Semi-Bold"/>
                <a:sym typeface="Poppins Semi-Bold"/>
              </a:rPr>
              <a:t>utilizar o comando abaixo.</a:t>
            </a:r>
          </a:p>
          <a:p>
            <a:pPr algn="ctr">
              <a:lnSpc>
                <a:spcPts val="7650"/>
              </a:lnSpc>
            </a:pPr>
            <a:r>
              <a:rPr lang="en-US" sz="5464" b="1">
                <a:solidFill>
                  <a:srgbClr val="FF5757"/>
                </a:solidFill>
                <a:latin typeface="Poppins Semi-Bold"/>
                <a:ea typeface="Poppins Semi-Bold"/>
                <a:cs typeface="Poppins Semi-Bold"/>
                <a:sym typeface="Poppins Semi-Bold"/>
              </a:rPr>
              <a:t>dotnet new console --use-program-main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rot="6585360">
            <a:off x="15240133" y="328317"/>
            <a:ext cx="2524144" cy="2600344"/>
            <a:chOff x="0" y="0"/>
            <a:chExt cx="3365525" cy="3467125"/>
          </a:xfrm>
        </p:grpSpPr>
        <p:sp>
          <p:nvSpPr>
            <p:cNvPr id="3" name="Freeform 3"/>
            <p:cNvSpPr/>
            <p:nvPr/>
          </p:nvSpPr>
          <p:spPr>
            <a:xfrm>
              <a:off x="0" y="0"/>
              <a:ext cx="3365500" cy="3467100"/>
            </a:xfrm>
            <a:custGeom>
              <a:avLst/>
              <a:gdLst/>
              <a:ahLst/>
              <a:cxnLst/>
              <a:rect l="l" t="t" r="r" b="b"/>
              <a:pathLst>
                <a:path w="3365500" h="3467100">
                  <a:moveTo>
                    <a:pt x="0" y="3467100"/>
                  </a:moveTo>
                  <a:lnTo>
                    <a:pt x="3365500" y="3467100"/>
                  </a:lnTo>
                  <a:lnTo>
                    <a:pt x="3365500" y="1822323"/>
                  </a:lnTo>
                  <a:lnTo>
                    <a:pt x="3365500" y="0"/>
                  </a:lnTo>
                  <a:lnTo>
                    <a:pt x="359537" y="0"/>
                  </a:lnTo>
                  <a:lnTo>
                    <a:pt x="0" y="0"/>
                  </a:lnTo>
                  <a:lnTo>
                    <a:pt x="0" y="3467100"/>
                  </a:lnTo>
                  <a:close/>
                </a:path>
              </a:pathLst>
            </a:custGeom>
            <a:blipFill>
              <a:blip r:embed="rId2"/>
              <a:stretch>
                <a:fillRect/>
              </a:stretch>
            </a:blipFill>
          </p:spPr>
        </p:sp>
      </p:grpSp>
      <p:sp>
        <p:nvSpPr>
          <p:cNvPr id="4" name="Freeform 4"/>
          <p:cNvSpPr/>
          <p:nvPr/>
        </p:nvSpPr>
        <p:spPr>
          <a:xfrm>
            <a:off x="2532698" y="2682697"/>
            <a:ext cx="13220700" cy="7058025"/>
          </a:xfrm>
          <a:custGeom>
            <a:avLst/>
            <a:gdLst/>
            <a:ahLst/>
            <a:cxnLst/>
            <a:rect l="l" t="t" r="r" b="b"/>
            <a:pathLst>
              <a:path w="13220700" h="7058025">
                <a:moveTo>
                  <a:pt x="0" y="0"/>
                </a:moveTo>
                <a:lnTo>
                  <a:pt x="13220700" y="0"/>
                </a:lnTo>
                <a:lnTo>
                  <a:pt x="13220700" y="7058025"/>
                </a:lnTo>
                <a:lnTo>
                  <a:pt x="0" y="7058025"/>
                </a:lnTo>
                <a:lnTo>
                  <a:pt x="0" y="0"/>
                </a:lnTo>
                <a:close/>
              </a:path>
            </a:pathLst>
          </a:custGeom>
          <a:blipFill>
            <a:blip r:embed="rId3"/>
            <a:stretch>
              <a:fillRect/>
            </a:stretch>
          </a:blipFill>
        </p:spPr>
      </p:sp>
      <p:sp>
        <p:nvSpPr>
          <p:cNvPr id="5" name="TextBox 5"/>
          <p:cNvSpPr txBox="1"/>
          <p:nvPr/>
        </p:nvSpPr>
        <p:spPr>
          <a:xfrm>
            <a:off x="628840" y="195672"/>
            <a:ext cx="10386822" cy="1954378"/>
          </a:xfrm>
          <a:prstGeom prst="rect">
            <a:avLst/>
          </a:prstGeom>
        </p:spPr>
        <p:txBody>
          <a:bodyPr lIns="0" tIns="0" rIns="0" bIns="0" rtlCol="0" anchor="t">
            <a:spAutoFit/>
          </a:bodyPr>
          <a:lstStyle/>
          <a:p>
            <a:pPr algn="ctr">
              <a:lnSpc>
                <a:spcPts val="7127"/>
              </a:lnSpc>
            </a:pPr>
            <a:r>
              <a:rPr lang="en-US" sz="5964" b="1">
                <a:solidFill>
                  <a:srgbClr val="FFFFFF"/>
                </a:solidFill>
                <a:latin typeface="Poppins Semi-Bold"/>
                <a:ea typeface="Poppins Semi-Bold"/>
                <a:cs typeface="Poppins Semi-Bold"/>
                <a:sym typeface="Poppins Semi-Bold"/>
              </a:rPr>
              <a:t>Vamos entender o código padrão criado.</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rot="6585360">
            <a:off x="15193937" y="661626"/>
            <a:ext cx="2524144" cy="2600344"/>
            <a:chOff x="0" y="0"/>
            <a:chExt cx="3365525" cy="3467125"/>
          </a:xfrm>
        </p:grpSpPr>
        <p:sp>
          <p:nvSpPr>
            <p:cNvPr id="3" name="Freeform 3"/>
            <p:cNvSpPr/>
            <p:nvPr/>
          </p:nvSpPr>
          <p:spPr>
            <a:xfrm>
              <a:off x="0" y="0"/>
              <a:ext cx="3365500" cy="3467100"/>
            </a:xfrm>
            <a:custGeom>
              <a:avLst/>
              <a:gdLst/>
              <a:ahLst/>
              <a:cxnLst/>
              <a:rect l="l" t="t" r="r" b="b"/>
              <a:pathLst>
                <a:path w="3365500" h="3467100">
                  <a:moveTo>
                    <a:pt x="0" y="3467100"/>
                  </a:moveTo>
                  <a:lnTo>
                    <a:pt x="3365500" y="3467100"/>
                  </a:lnTo>
                  <a:lnTo>
                    <a:pt x="3365500" y="2523998"/>
                  </a:lnTo>
                  <a:lnTo>
                    <a:pt x="3365500" y="0"/>
                  </a:lnTo>
                  <a:lnTo>
                    <a:pt x="0" y="0"/>
                  </a:lnTo>
                  <a:lnTo>
                    <a:pt x="0" y="3467100"/>
                  </a:lnTo>
                  <a:close/>
                </a:path>
              </a:pathLst>
            </a:custGeom>
            <a:blipFill>
              <a:blip r:embed="rId2"/>
              <a:stretch>
                <a:fillRect/>
              </a:stretch>
            </a:blipFill>
          </p:spPr>
        </p:sp>
      </p:grpSp>
      <p:sp>
        <p:nvSpPr>
          <p:cNvPr id="4" name="Freeform 4"/>
          <p:cNvSpPr/>
          <p:nvPr/>
        </p:nvSpPr>
        <p:spPr>
          <a:xfrm>
            <a:off x="582806" y="2989869"/>
            <a:ext cx="11296650" cy="6029325"/>
          </a:xfrm>
          <a:custGeom>
            <a:avLst/>
            <a:gdLst/>
            <a:ahLst/>
            <a:cxnLst/>
            <a:rect l="l" t="t" r="r" b="b"/>
            <a:pathLst>
              <a:path w="11296650" h="6029325">
                <a:moveTo>
                  <a:pt x="0" y="0"/>
                </a:moveTo>
                <a:lnTo>
                  <a:pt x="11296650" y="0"/>
                </a:lnTo>
                <a:lnTo>
                  <a:pt x="11296650" y="6029325"/>
                </a:lnTo>
                <a:lnTo>
                  <a:pt x="0" y="6029325"/>
                </a:lnTo>
                <a:lnTo>
                  <a:pt x="0" y="0"/>
                </a:lnTo>
                <a:close/>
              </a:path>
            </a:pathLst>
          </a:custGeom>
          <a:blipFill>
            <a:blip r:embed="rId3"/>
            <a:stretch>
              <a:fillRect/>
            </a:stretch>
          </a:blipFill>
        </p:spPr>
      </p:sp>
      <p:sp>
        <p:nvSpPr>
          <p:cNvPr id="5" name="Freeform 5"/>
          <p:cNvSpPr/>
          <p:nvPr/>
        </p:nvSpPr>
        <p:spPr>
          <a:xfrm>
            <a:off x="7410421" y="3305366"/>
            <a:ext cx="4689358" cy="1776460"/>
          </a:xfrm>
          <a:custGeom>
            <a:avLst/>
            <a:gdLst/>
            <a:ahLst/>
            <a:cxnLst/>
            <a:rect l="l" t="t" r="r" b="b"/>
            <a:pathLst>
              <a:path w="4689358" h="1776460">
                <a:moveTo>
                  <a:pt x="0" y="0"/>
                </a:moveTo>
                <a:lnTo>
                  <a:pt x="4689358" y="0"/>
                </a:lnTo>
                <a:lnTo>
                  <a:pt x="4689358" y="1776460"/>
                </a:lnTo>
                <a:lnTo>
                  <a:pt x="0" y="177646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628840" y="195672"/>
            <a:ext cx="10386822" cy="1954378"/>
          </a:xfrm>
          <a:prstGeom prst="rect">
            <a:avLst/>
          </a:prstGeom>
        </p:spPr>
        <p:txBody>
          <a:bodyPr lIns="0" tIns="0" rIns="0" bIns="0" rtlCol="0" anchor="t">
            <a:spAutoFit/>
          </a:bodyPr>
          <a:lstStyle/>
          <a:p>
            <a:pPr algn="ctr">
              <a:lnSpc>
                <a:spcPts val="7127"/>
              </a:lnSpc>
            </a:pPr>
            <a:r>
              <a:rPr lang="en-US" sz="5964" b="1">
                <a:solidFill>
                  <a:srgbClr val="FFFFFF"/>
                </a:solidFill>
                <a:latin typeface="Poppins Semi-Bold"/>
                <a:ea typeface="Poppins Semi-Bold"/>
                <a:cs typeface="Poppins Semi-Bold"/>
                <a:sym typeface="Poppins Semi-Bold"/>
              </a:rPr>
              <a:t>Vamos entender o código padrão criado.</a:t>
            </a:r>
          </a:p>
        </p:txBody>
      </p:sp>
      <p:sp>
        <p:nvSpPr>
          <p:cNvPr id="7" name="TextBox 7"/>
          <p:cNvSpPr txBox="1"/>
          <p:nvPr/>
        </p:nvSpPr>
        <p:spPr>
          <a:xfrm>
            <a:off x="12055583" y="4407818"/>
            <a:ext cx="6125613" cy="3103836"/>
          </a:xfrm>
          <a:prstGeom prst="rect">
            <a:avLst/>
          </a:prstGeom>
        </p:spPr>
        <p:txBody>
          <a:bodyPr lIns="0" tIns="0" rIns="0" bIns="0" rtlCol="0" anchor="t">
            <a:spAutoFit/>
          </a:bodyPr>
          <a:lstStyle/>
          <a:p>
            <a:pPr algn="ctr">
              <a:lnSpc>
                <a:spcPts val="4723"/>
              </a:lnSpc>
            </a:pPr>
            <a:r>
              <a:rPr lang="en-US" sz="3999" b="1">
                <a:solidFill>
                  <a:srgbClr val="FF5757"/>
                </a:solidFill>
                <a:latin typeface="Poppins Semi-Bold"/>
                <a:ea typeface="Poppins Semi-Bold"/>
                <a:cs typeface="Poppins Semi-Bold"/>
                <a:sym typeface="Poppins Semi-Bold"/>
              </a:rPr>
              <a:t>namespace </a:t>
            </a:r>
            <a:r>
              <a:rPr lang="en-US" sz="3999" b="1">
                <a:solidFill>
                  <a:srgbClr val="FFFFFF"/>
                </a:solidFill>
                <a:latin typeface="Poppins Semi-Bold"/>
                <a:ea typeface="Poppins Semi-Bold"/>
                <a:cs typeface="Poppins Semi-Bold"/>
                <a:sym typeface="Poppins Semi-Bold"/>
              </a:rPr>
              <a:t>é usada para organizar seu código e é um contêiner para classes e outros namespaces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582806" y="2989869"/>
            <a:ext cx="11296650" cy="6029325"/>
          </a:xfrm>
          <a:custGeom>
            <a:avLst/>
            <a:gdLst/>
            <a:ahLst/>
            <a:cxnLst/>
            <a:rect l="l" t="t" r="r" b="b"/>
            <a:pathLst>
              <a:path w="11296650" h="6029325">
                <a:moveTo>
                  <a:pt x="0" y="0"/>
                </a:moveTo>
                <a:lnTo>
                  <a:pt x="11296650" y="0"/>
                </a:lnTo>
                <a:lnTo>
                  <a:pt x="11296650" y="6029325"/>
                </a:lnTo>
                <a:lnTo>
                  <a:pt x="0" y="6029325"/>
                </a:lnTo>
                <a:lnTo>
                  <a:pt x="0" y="0"/>
                </a:lnTo>
                <a:close/>
              </a:path>
            </a:pathLst>
          </a:custGeom>
          <a:blipFill>
            <a:blip r:embed="rId2"/>
            <a:stretch>
              <a:fillRect/>
            </a:stretch>
          </a:blipFill>
        </p:spPr>
      </p:sp>
      <p:sp>
        <p:nvSpPr>
          <p:cNvPr id="3" name="Freeform 3"/>
          <p:cNvSpPr/>
          <p:nvPr/>
        </p:nvSpPr>
        <p:spPr>
          <a:xfrm>
            <a:off x="5055937" y="4503525"/>
            <a:ext cx="6857343" cy="1182233"/>
          </a:xfrm>
          <a:custGeom>
            <a:avLst/>
            <a:gdLst/>
            <a:ahLst/>
            <a:cxnLst/>
            <a:rect l="l" t="t" r="r" b="b"/>
            <a:pathLst>
              <a:path w="6857343" h="1182233">
                <a:moveTo>
                  <a:pt x="0" y="0"/>
                </a:moveTo>
                <a:lnTo>
                  <a:pt x="6857342" y="0"/>
                </a:lnTo>
                <a:lnTo>
                  <a:pt x="6857342" y="1182233"/>
                </a:lnTo>
                <a:lnTo>
                  <a:pt x="0" y="118223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628840" y="195672"/>
            <a:ext cx="10386822" cy="1954378"/>
          </a:xfrm>
          <a:prstGeom prst="rect">
            <a:avLst/>
          </a:prstGeom>
        </p:spPr>
        <p:txBody>
          <a:bodyPr lIns="0" tIns="0" rIns="0" bIns="0" rtlCol="0" anchor="t">
            <a:spAutoFit/>
          </a:bodyPr>
          <a:lstStyle/>
          <a:p>
            <a:pPr algn="ctr">
              <a:lnSpc>
                <a:spcPts val="7127"/>
              </a:lnSpc>
            </a:pPr>
            <a:r>
              <a:rPr lang="en-US" sz="5964" b="1">
                <a:solidFill>
                  <a:srgbClr val="FFFFFF"/>
                </a:solidFill>
                <a:latin typeface="Poppins Semi-Bold"/>
                <a:ea typeface="Poppins Semi-Bold"/>
                <a:cs typeface="Poppins Semi-Bold"/>
                <a:sym typeface="Poppins Semi-Bold"/>
              </a:rPr>
              <a:t>Vamos entender o código padrão criado.</a:t>
            </a:r>
          </a:p>
        </p:txBody>
      </p:sp>
      <p:sp>
        <p:nvSpPr>
          <p:cNvPr id="5" name="TextBox 5"/>
          <p:cNvSpPr txBox="1"/>
          <p:nvPr/>
        </p:nvSpPr>
        <p:spPr>
          <a:xfrm>
            <a:off x="12108123" y="2145602"/>
            <a:ext cx="6018362" cy="6704286"/>
          </a:xfrm>
          <a:prstGeom prst="rect">
            <a:avLst/>
          </a:prstGeom>
        </p:spPr>
        <p:txBody>
          <a:bodyPr lIns="0" tIns="0" rIns="0" bIns="0" rtlCol="0" anchor="t">
            <a:spAutoFit/>
          </a:bodyPr>
          <a:lstStyle/>
          <a:p>
            <a:pPr algn="ctr">
              <a:lnSpc>
                <a:spcPts val="4723"/>
              </a:lnSpc>
            </a:pPr>
            <a:r>
              <a:rPr lang="en-US" sz="3999" b="1">
                <a:solidFill>
                  <a:srgbClr val="FF5757"/>
                </a:solidFill>
                <a:latin typeface="Poppins Semi-Bold"/>
                <a:ea typeface="Poppins Semi-Bold"/>
                <a:cs typeface="Poppins Semi-Bold"/>
                <a:sym typeface="Poppins Semi-Bold"/>
              </a:rPr>
              <a:t>class </a:t>
            </a:r>
            <a:r>
              <a:rPr lang="en-US" sz="3999" b="1">
                <a:solidFill>
                  <a:srgbClr val="FFFFFF"/>
                </a:solidFill>
                <a:latin typeface="Poppins Semi-Bold"/>
                <a:ea typeface="Poppins Semi-Bold"/>
                <a:cs typeface="Poppins Semi-Bold"/>
                <a:sym typeface="Poppins Semi-Bold"/>
              </a:rPr>
              <a:t>é um container para dados e métodos, que traz funcionalidade ao seu programa. Cada linha de código executada em C# deve estar dentro de uma </a:t>
            </a:r>
            <a:r>
              <a:rPr lang="en-US" sz="3999" b="1">
                <a:solidFill>
                  <a:srgbClr val="FF5757"/>
                </a:solidFill>
                <a:latin typeface="Poppins Semi-Bold"/>
                <a:ea typeface="Poppins Semi-Bold"/>
                <a:cs typeface="Poppins Semi-Bold"/>
                <a:sym typeface="Poppins Semi-Bold"/>
              </a:rPr>
              <a:t>classe</a:t>
            </a:r>
            <a:r>
              <a:rPr lang="en-US" sz="3999" b="1">
                <a:solidFill>
                  <a:srgbClr val="FFFFFF"/>
                </a:solidFill>
                <a:latin typeface="Poppins Semi-Bold"/>
                <a:ea typeface="Poppins Semi-Bold"/>
                <a:cs typeface="Poppins Semi-Bold"/>
                <a:sym typeface="Poppins Semi-Bold"/>
              </a:rPr>
              <a:t>. Em nosso exemplo, chamamos a classe de Program.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rot="6585360">
            <a:off x="15193937" y="661626"/>
            <a:ext cx="2524144" cy="2600344"/>
            <a:chOff x="0" y="0"/>
            <a:chExt cx="3365525" cy="3467125"/>
          </a:xfrm>
        </p:grpSpPr>
        <p:sp>
          <p:nvSpPr>
            <p:cNvPr id="3" name="Freeform 3"/>
            <p:cNvSpPr/>
            <p:nvPr/>
          </p:nvSpPr>
          <p:spPr>
            <a:xfrm>
              <a:off x="0" y="0"/>
              <a:ext cx="3365500" cy="3467100"/>
            </a:xfrm>
            <a:custGeom>
              <a:avLst/>
              <a:gdLst/>
              <a:ahLst/>
              <a:cxnLst/>
              <a:rect l="l" t="t" r="r" b="b"/>
              <a:pathLst>
                <a:path w="3365500" h="3467100">
                  <a:moveTo>
                    <a:pt x="0" y="3467100"/>
                  </a:moveTo>
                  <a:lnTo>
                    <a:pt x="3365500" y="3467100"/>
                  </a:lnTo>
                  <a:lnTo>
                    <a:pt x="3365500" y="2523998"/>
                  </a:lnTo>
                  <a:lnTo>
                    <a:pt x="3365500" y="0"/>
                  </a:lnTo>
                  <a:lnTo>
                    <a:pt x="0" y="0"/>
                  </a:lnTo>
                  <a:lnTo>
                    <a:pt x="0" y="3467100"/>
                  </a:lnTo>
                  <a:close/>
                </a:path>
              </a:pathLst>
            </a:custGeom>
            <a:blipFill>
              <a:blip r:embed="rId2"/>
              <a:stretch>
                <a:fillRect/>
              </a:stretch>
            </a:blipFill>
          </p:spPr>
        </p:sp>
      </p:grpSp>
      <p:sp>
        <p:nvSpPr>
          <p:cNvPr id="4" name="Freeform 4"/>
          <p:cNvSpPr/>
          <p:nvPr/>
        </p:nvSpPr>
        <p:spPr>
          <a:xfrm>
            <a:off x="582806" y="2989869"/>
            <a:ext cx="11296650" cy="6029325"/>
          </a:xfrm>
          <a:custGeom>
            <a:avLst/>
            <a:gdLst/>
            <a:ahLst/>
            <a:cxnLst/>
            <a:rect l="l" t="t" r="r" b="b"/>
            <a:pathLst>
              <a:path w="11296650" h="6029325">
                <a:moveTo>
                  <a:pt x="0" y="0"/>
                </a:moveTo>
                <a:lnTo>
                  <a:pt x="11296650" y="0"/>
                </a:lnTo>
                <a:lnTo>
                  <a:pt x="11296650" y="6029325"/>
                </a:lnTo>
                <a:lnTo>
                  <a:pt x="0" y="6029325"/>
                </a:lnTo>
                <a:lnTo>
                  <a:pt x="0" y="0"/>
                </a:lnTo>
                <a:close/>
              </a:path>
            </a:pathLst>
          </a:custGeom>
          <a:blipFill>
            <a:blip r:embed="rId3"/>
            <a:stretch>
              <a:fillRect/>
            </a:stretch>
          </a:blipFill>
        </p:spPr>
      </p:sp>
      <p:sp>
        <p:nvSpPr>
          <p:cNvPr id="5" name="Freeform 5"/>
          <p:cNvSpPr/>
          <p:nvPr/>
        </p:nvSpPr>
        <p:spPr>
          <a:xfrm>
            <a:off x="2260835" y="5002997"/>
            <a:ext cx="9644796" cy="850878"/>
          </a:xfrm>
          <a:custGeom>
            <a:avLst/>
            <a:gdLst/>
            <a:ahLst/>
            <a:cxnLst/>
            <a:rect l="l" t="t" r="r" b="b"/>
            <a:pathLst>
              <a:path w="9644796" h="850878">
                <a:moveTo>
                  <a:pt x="0" y="0"/>
                </a:moveTo>
                <a:lnTo>
                  <a:pt x="9644796" y="0"/>
                </a:lnTo>
                <a:lnTo>
                  <a:pt x="9644796" y="850877"/>
                </a:lnTo>
                <a:lnTo>
                  <a:pt x="0" y="85087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628840" y="195672"/>
            <a:ext cx="10386822" cy="1954378"/>
          </a:xfrm>
          <a:prstGeom prst="rect">
            <a:avLst/>
          </a:prstGeom>
        </p:spPr>
        <p:txBody>
          <a:bodyPr lIns="0" tIns="0" rIns="0" bIns="0" rtlCol="0" anchor="t">
            <a:spAutoFit/>
          </a:bodyPr>
          <a:lstStyle/>
          <a:p>
            <a:pPr algn="ctr">
              <a:lnSpc>
                <a:spcPts val="7127"/>
              </a:lnSpc>
            </a:pPr>
            <a:r>
              <a:rPr lang="en-US" sz="5964" b="1">
                <a:solidFill>
                  <a:srgbClr val="FFFFFF"/>
                </a:solidFill>
                <a:latin typeface="Poppins Semi-Bold"/>
                <a:ea typeface="Poppins Semi-Bold"/>
                <a:cs typeface="Poppins Semi-Bold"/>
                <a:sym typeface="Poppins Semi-Bold"/>
              </a:rPr>
              <a:t>Vamos entender o código padrão criado.</a:t>
            </a:r>
          </a:p>
        </p:txBody>
      </p:sp>
      <p:sp>
        <p:nvSpPr>
          <p:cNvPr id="7" name="TextBox 7"/>
          <p:cNvSpPr txBox="1"/>
          <p:nvPr/>
        </p:nvSpPr>
        <p:spPr>
          <a:xfrm>
            <a:off x="12078062" y="4545902"/>
            <a:ext cx="6079531" cy="1903686"/>
          </a:xfrm>
          <a:prstGeom prst="rect">
            <a:avLst/>
          </a:prstGeom>
        </p:spPr>
        <p:txBody>
          <a:bodyPr lIns="0" tIns="0" rIns="0" bIns="0" rtlCol="0" anchor="t">
            <a:spAutoFit/>
          </a:bodyPr>
          <a:lstStyle/>
          <a:p>
            <a:pPr algn="ctr">
              <a:lnSpc>
                <a:spcPts val="4723"/>
              </a:lnSpc>
            </a:pPr>
            <a:r>
              <a:rPr lang="en-US" sz="3999" b="1">
                <a:solidFill>
                  <a:srgbClr val="FFFFFF"/>
                </a:solidFill>
                <a:latin typeface="Poppins Semi-Bold"/>
                <a:ea typeface="Poppins Semi-Bold"/>
                <a:cs typeface="Poppins Semi-Bold"/>
                <a:sym typeface="Poppins Semi-Bold"/>
              </a:rPr>
              <a:t>As chaves </a:t>
            </a:r>
            <a:r>
              <a:rPr lang="en-US" sz="3999" b="1">
                <a:solidFill>
                  <a:srgbClr val="FF5757"/>
                </a:solidFill>
                <a:latin typeface="Poppins Semi-Bold"/>
                <a:ea typeface="Poppins Semi-Bold"/>
                <a:cs typeface="Poppins Semi-Bold"/>
                <a:sym typeface="Poppins Semi-Bold"/>
              </a:rPr>
              <a:t>{ } </a:t>
            </a:r>
            <a:r>
              <a:rPr lang="en-US" sz="3999" b="1">
                <a:solidFill>
                  <a:srgbClr val="FFFFFF"/>
                </a:solidFill>
                <a:latin typeface="Poppins Semi-Bold"/>
                <a:ea typeface="Poppins Semi-Bold"/>
                <a:cs typeface="Poppins Semi-Bold"/>
                <a:sym typeface="Poppins Semi-Bold"/>
              </a:rPr>
              <a:t>marcam o início e o fim de um bloco de código.</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rot="6585360">
            <a:off x="15193937" y="328317"/>
            <a:ext cx="2524144" cy="2600344"/>
            <a:chOff x="0" y="0"/>
            <a:chExt cx="3365525" cy="3467125"/>
          </a:xfrm>
        </p:grpSpPr>
        <p:sp>
          <p:nvSpPr>
            <p:cNvPr id="3" name="Freeform 3"/>
            <p:cNvSpPr/>
            <p:nvPr/>
          </p:nvSpPr>
          <p:spPr>
            <a:xfrm>
              <a:off x="0" y="0"/>
              <a:ext cx="3365500" cy="3467100"/>
            </a:xfrm>
            <a:custGeom>
              <a:avLst/>
              <a:gdLst/>
              <a:ahLst/>
              <a:cxnLst/>
              <a:rect l="l" t="t" r="r" b="b"/>
              <a:pathLst>
                <a:path w="3365500" h="3467100">
                  <a:moveTo>
                    <a:pt x="0" y="3467100"/>
                  </a:moveTo>
                  <a:lnTo>
                    <a:pt x="3365500" y="3467100"/>
                  </a:lnTo>
                  <a:lnTo>
                    <a:pt x="3365500" y="0"/>
                  </a:lnTo>
                  <a:lnTo>
                    <a:pt x="0" y="0"/>
                  </a:lnTo>
                  <a:lnTo>
                    <a:pt x="0" y="3467100"/>
                  </a:lnTo>
                  <a:close/>
                </a:path>
              </a:pathLst>
            </a:custGeom>
            <a:blipFill>
              <a:blip r:embed="rId2"/>
              <a:stretch>
                <a:fillRect/>
              </a:stretch>
            </a:blipFill>
          </p:spPr>
        </p:sp>
      </p:grpSp>
      <p:sp>
        <p:nvSpPr>
          <p:cNvPr id="4" name="Freeform 4"/>
          <p:cNvSpPr/>
          <p:nvPr/>
        </p:nvSpPr>
        <p:spPr>
          <a:xfrm>
            <a:off x="582806" y="2989869"/>
            <a:ext cx="11296650" cy="6029325"/>
          </a:xfrm>
          <a:custGeom>
            <a:avLst/>
            <a:gdLst/>
            <a:ahLst/>
            <a:cxnLst/>
            <a:rect l="l" t="t" r="r" b="b"/>
            <a:pathLst>
              <a:path w="11296650" h="6029325">
                <a:moveTo>
                  <a:pt x="0" y="0"/>
                </a:moveTo>
                <a:lnTo>
                  <a:pt x="11296650" y="0"/>
                </a:lnTo>
                <a:lnTo>
                  <a:pt x="11296650" y="6029325"/>
                </a:lnTo>
                <a:lnTo>
                  <a:pt x="0" y="6029325"/>
                </a:lnTo>
                <a:lnTo>
                  <a:pt x="0" y="0"/>
                </a:lnTo>
                <a:close/>
              </a:path>
            </a:pathLst>
          </a:custGeom>
          <a:blipFill>
            <a:blip r:embed="rId3"/>
            <a:stretch>
              <a:fillRect/>
            </a:stretch>
          </a:blipFill>
        </p:spPr>
      </p:sp>
      <p:sp>
        <p:nvSpPr>
          <p:cNvPr id="5" name="Freeform 5"/>
          <p:cNvSpPr/>
          <p:nvPr/>
        </p:nvSpPr>
        <p:spPr>
          <a:xfrm>
            <a:off x="9900037" y="6028982"/>
            <a:ext cx="2032254" cy="850906"/>
          </a:xfrm>
          <a:custGeom>
            <a:avLst/>
            <a:gdLst/>
            <a:ahLst/>
            <a:cxnLst/>
            <a:rect l="l" t="t" r="r" b="b"/>
            <a:pathLst>
              <a:path w="2032254" h="850906">
                <a:moveTo>
                  <a:pt x="0" y="0"/>
                </a:moveTo>
                <a:lnTo>
                  <a:pt x="2032254" y="0"/>
                </a:lnTo>
                <a:lnTo>
                  <a:pt x="2032254" y="850906"/>
                </a:lnTo>
                <a:lnTo>
                  <a:pt x="0" y="8509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628840" y="195672"/>
            <a:ext cx="10386822" cy="1954378"/>
          </a:xfrm>
          <a:prstGeom prst="rect">
            <a:avLst/>
          </a:prstGeom>
        </p:spPr>
        <p:txBody>
          <a:bodyPr lIns="0" tIns="0" rIns="0" bIns="0" rtlCol="0" anchor="t">
            <a:spAutoFit/>
          </a:bodyPr>
          <a:lstStyle/>
          <a:p>
            <a:pPr algn="ctr">
              <a:lnSpc>
                <a:spcPts val="7127"/>
              </a:lnSpc>
            </a:pPr>
            <a:r>
              <a:rPr lang="en-US" sz="5964" b="1">
                <a:solidFill>
                  <a:srgbClr val="FFFFFF"/>
                </a:solidFill>
                <a:latin typeface="Poppins Semi-Bold"/>
                <a:ea typeface="Poppins Semi-Bold"/>
                <a:cs typeface="Poppins Semi-Bold"/>
                <a:sym typeface="Poppins Semi-Bold"/>
              </a:rPr>
              <a:t>Vamos entender o código padrão criado.</a:t>
            </a:r>
          </a:p>
        </p:txBody>
      </p:sp>
      <p:sp>
        <p:nvSpPr>
          <p:cNvPr id="7" name="TextBox 7"/>
          <p:cNvSpPr txBox="1"/>
          <p:nvPr/>
        </p:nvSpPr>
        <p:spPr>
          <a:xfrm>
            <a:off x="12025522" y="3207668"/>
            <a:ext cx="6186745" cy="5504136"/>
          </a:xfrm>
          <a:prstGeom prst="rect">
            <a:avLst/>
          </a:prstGeom>
        </p:spPr>
        <p:txBody>
          <a:bodyPr lIns="0" tIns="0" rIns="0" bIns="0" rtlCol="0" anchor="t">
            <a:spAutoFit/>
          </a:bodyPr>
          <a:lstStyle/>
          <a:p>
            <a:pPr algn="ctr">
              <a:lnSpc>
                <a:spcPts val="4723"/>
              </a:lnSpc>
            </a:pPr>
            <a:r>
              <a:rPr lang="en-US" sz="3999" b="1">
                <a:solidFill>
                  <a:srgbClr val="FF5757"/>
                </a:solidFill>
                <a:latin typeface="Poppins Semi-Bold"/>
                <a:ea typeface="Poppins Semi-Bold"/>
                <a:cs typeface="Poppins Semi-Bold"/>
                <a:sym typeface="Poppins Semi-Bold"/>
              </a:rPr>
              <a:t>Main </a:t>
            </a:r>
            <a:r>
              <a:rPr lang="en-US" sz="3999" b="1">
                <a:solidFill>
                  <a:srgbClr val="FFFFFF"/>
                </a:solidFill>
                <a:latin typeface="Poppins Semi-Bold"/>
                <a:ea typeface="Poppins Semi-Bold"/>
                <a:cs typeface="Poppins Semi-Bold"/>
                <a:sym typeface="Poppins Semi-Bold"/>
              </a:rPr>
              <a:t>é o método principal da classe Program, aqui você irá escrever os códigos que serão executados pelo programa. Toda a lógica que iremos aprender, será escrito aqui dentro.</a:t>
            </a:r>
          </a:p>
        </p:txBody>
      </p:sp>
      <p:sp>
        <p:nvSpPr>
          <p:cNvPr id="8" name="TextBox 8"/>
          <p:cNvSpPr txBox="1"/>
          <p:nvPr/>
        </p:nvSpPr>
        <p:spPr>
          <a:xfrm>
            <a:off x="3006080" y="9239869"/>
            <a:ext cx="12521070" cy="618030"/>
          </a:xfrm>
          <a:prstGeom prst="rect">
            <a:avLst/>
          </a:prstGeom>
        </p:spPr>
        <p:txBody>
          <a:bodyPr lIns="0" tIns="0" rIns="0" bIns="0" rtlCol="0" anchor="t">
            <a:spAutoFit/>
          </a:bodyPr>
          <a:lstStyle/>
          <a:p>
            <a:pPr algn="l">
              <a:lnSpc>
                <a:spcPts val="4479"/>
              </a:lnSpc>
            </a:pPr>
            <a:r>
              <a:rPr lang="en-US" sz="3199" b="1">
                <a:solidFill>
                  <a:srgbClr val="FFCB85"/>
                </a:solidFill>
                <a:latin typeface="Poppins Semi-Bold"/>
                <a:ea typeface="Poppins Semi-Bold"/>
                <a:cs typeface="Poppins Semi-Bold"/>
                <a:sym typeface="Poppins Semi-Bold"/>
              </a:rPr>
              <a:t>Métodos são blocos de códigos isolados dentro da classe.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rot="6585360">
            <a:off x="15193937" y="328317"/>
            <a:ext cx="2524144" cy="2600344"/>
            <a:chOff x="0" y="0"/>
            <a:chExt cx="3365525" cy="3467125"/>
          </a:xfrm>
        </p:grpSpPr>
        <p:sp>
          <p:nvSpPr>
            <p:cNvPr id="3" name="Freeform 3"/>
            <p:cNvSpPr/>
            <p:nvPr/>
          </p:nvSpPr>
          <p:spPr>
            <a:xfrm>
              <a:off x="0" y="0"/>
              <a:ext cx="3365500" cy="3467100"/>
            </a:xfrm>
            <a:custGeom>
              <a:avLst/>
              <a:gdLst/>
              <a:ahLst/>
              <a:cxnLst/>
              <a:rect l="l" t="t" r="r" b="b"/>
              <a:pathLst>
                <a:path w="3365500" h="3467100">
                  <a:moveTo>
                    <a:pt x="0" y="3467100"/>
                  </a:moveTo>
                  <a:lnTo>
                    <a:pt x="3365500" y="3467100"/>
                  </a:lnTo>
                  <a:lnTo>
                    <a:pt x="3365500" y="0"/>
                  </a:lnTo>
                  <a:lnTo>
                    <a:pt x="0" y="0"/>
                  </a:lnTo>
                  <a:lnTo>
                    <a:pt x="0" y="3467100"/>
                  </a:lnTo>
                  <a:close/>
                </a:path>
              </a:pathLst>
            </a:custGeom>
            <a:blipFill>
              <a:blip r:embed="rId2"/>
              <a:stretch>
                <a:fillRect/>
              </a:stretch>
            </a:blipFill>
          </p:spPr>
        </p:sp>
      </p:grpSp>
      <p:sp>
        <p:nvSpPr>
          <p:cNvPr id="4" name="Freeform 4"/>
          <p:cNvSpPr/>
          <p:nvPr/>
        </p:nvSpPr>
        <p:spPr>
          <a:xfrm>
            <a:off x="582806" y="2989869"/>
            <a:ext cx="11296650" cy="6029325"/>
          </a:xfrm>
          <a:custGeom>
            <a:avLst/>
            <a:gdLst/>
            <a:ahLst/>
            <a:cxnLst/>
            <a:rect l="l" t="t" r="r" b="b"/>
            <a:pathLst>
              <a:path w="11296650" h="6029325">
                <a:moveTo>
                  <a:pt x="0" y="0"/>
                </a:moveTo>
                <a:lnTo>
                  <a:pt x="11296650" y="0"/>
                </a:lnTo>
                <a:lnTo>
                  <a:pt x="11296650" y="6029325"/>
                </a:lnTo>
                <a:lnTo>
                  <a:pt x="0" y="6029325"/>
                </a:lnTo>
                <a:lnTo>
                  <a:pt x="0" y="0"/>
                </a:lnTo>
                <a:close/>
              </a:path>
            </a:pathLst>
          </a:custGeom>
          <a:blipFill>
            <a:blip r:embed="rId3"/>
            <a:stretch>
              <a:fillRect/>
            </a:stretch>
          </a:blipFill>
        </p:spPr>
      </p:sp>
      <p:sp>
        <p:nvSpPr>
          <p:cNvPr id="5" name="Freeform 5"/>
          <p:cNvSpPr/>
          <p:nvPr/>
        </p:nvSpPr>
        <p:spPr>
          <a:xfrm>
            <a:off x="11794607" y="6479248"/>
            <a:ext cx="3353391" cy="1389145"/>
          </a:xfrm>
          <a:custGeom>
            <a:avLst/>
            <a:gdLst/>
            <a:ahLst/>
            <a:cxnLst/>
            <a:rect l="l" t="t" r="r" b="b"/>
            <a:pathLst>
              <a:path w="3353391" h="1389145">
                <a:moveTo>
                  <a:pt x="0" y="0"/>
                </a:moveTo>
                <a:lnTo>
                  <a:pt x="3353391" y="0"/>
                </a:lnTo>
                <a:lnTo>
                  <a:pt x="3353391" y="1389145"/>
                </a:lnTo>
                <a:lnTo>
                  <a:pt x="0" y="138914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628840" y="195672"/>
            <a:ext cx="10386822" cy="1954378"/>
          </a:xfrm>
          <a:prstGeom prst="rect">
            <a:avLst/>
          </a:prstGeom>
        </p:spPr>
        <p:txBody>
          <a:bodyPr lIns="0" tIns="0" rIns="0" bIns="0" rtlCol="0" anchor="t">
            <a:spAutoFit/>
          </a:bodyPr>
          <a:lstStyle/>
          <a:p>
            <a:pPr algn="ctr">
              <a:lnSpc>
                <a:spcPts val="7127"/>
              </a:lnSpc>
            </a:pPr>
            <a:r>
              <a:rPr lang="en-US" sz="5964" b="1">
                <a:solidFill>
                  <a:srgbClr val="FFFFFF"/>
                </a:solidFill>
                <a:latin typeface="Poppins Semi-Bold"/>
                <a:ea typeface="Poppins Semi-Bold"/>
                <a:cs typeface="Poppins Semi-Bold"/>
                <a:sym typeface="Poppins Semi-Bold"/>
              </a:rPr>
              <a:t>Vamos entender o código padrão criado.</a:t>
            </a:r>
          </a:p>
        </p:txBody>
      </p:sp>
      <p:sp>
        <p:nvSpPr>
          <p:cNvPr id="7" name="TextBox 7"/>
          <p:cNvSpPr txBox="1"/>
          <p:nvPr/>
        </p:nvSpPr>
        <p:spPr>
          <a:xfrm>
            <a:off x="12116610" y="3572294"/>
            <a:ext cx="6000979" cy="3054096"/>
          </a:xfrm>
          <a:prstGeom prst="rect">
            <a:avLst/>
          </a:prstGeom>
        </p:spPr>
        <p:txBody>
          <a:bodyPr lIns="0" tIns="0" rIns="0" bIns="0" rtlCol="0" anchor="t">
            <a:spAutoFit/>
          </a:bodyPr>
          <a:lstStyle/>
          <a:p>
            <a:pPr algn="ctr">
              <a:lnSpc>
                <a:spcPts val="3900"/>
              </a:lnSpc>
            </a:pPr>
            <a:r>
              <a:rPr lang="en-US" sz="3300" b="1">
                <a:solidFill>
                  <a:srgbClr val="7ED957"/>
                </a:solidFill>
                <a:latin typeface="Poppins Semi-Bold"/>
                <a:ea typeface="Poppins Semi-Bold"/>
                <a:cs typeface="Poppins Semi-Bold"/>
                <a:sym typeface="Poppins Semi-Bold"/>
              </a:rPr>
              <a:t>Console </a:t>
            </a:r>
            <a:r>
              <a:rPr lang="en-US" sz="3300" b="1">
                <a:solidFill>
                  <a:srgbClr val="FFFFFF"/>
                </a:solidFill>
                <a:latin typeface="Poppins Semi-Bold"/>
                <a:ea typeface="Poppins Semi-Bold"/>
                <a:cs typeface="Poppins Semi-Bold"/>
                <a:sym typeface="Poppins Semi-Bold"/>
              </a:rPr>
              <a:t>é uma classe do C#, que possui um </a:t>
            </a:r>
            <a:r>
              <a:rPr lang="en-US" sz="3300" b="1">
                <a:solidFill>
                  <a:srgbClr val="FFCB85"/>
                </a:solidFill>
                <a:latin typeface="Poppins Semi-Bold"/>
                <a:ea typeface="Poppins Semi-Bold"/>
                <a:cs typeface="Poppins Semi-Bold"/>
                <a:sym typeface="Poppins Semi-Bold"/>
              </a:rPr>
              <a:t>WriteLine()</a:t>
            </a:r>
            <a:r>
              <a:rPr lang="en-US" sz="3300" b="1">
                <a:solidFill>
                  <a:srgbClr val="FFFFFF"/>
                </a:solidFill>
                <a:latin typeface="Poppins Semi-Bold"/>
                <a:ea typeface="Poppins Semi-Bold"/>
                <a:cs typeface="Poppins Semi-Bold"/>
                <a:sym typeface="Poppins Semi-Bold"/>
              </a:rPr>
              <a:t>, um</a:t>
            </a:r>
            <a:r>
              <a:rPr lang="en-US" sz="3300" b="1">
                <a:solidFill>
                  <a:srgbClr val="FFCB85"/>
                </a:solidFill>
                <a:latin typeface="Poppins Semi-Bold"/>
                <a:ea typeface="Poppins Semi-Bold"/>
                <a:cs typeface="Poppins Semi-Bold"/>
                <a:sym typeface="Poppins Semi-Bold"/>
              </a:rPr>
              <a:t> </a:t>
            </a:r>
            <a:r>
              <a:rPr lang="en-US" sz="3300" b="1">
                <a:solidFill>
                  <a:srgbClr val="FFFFFF"/>
                </a:solidFill>
                <a:latin typeface="Poppins Semi-Bold"/>
                <a:ea typeface="Poppins Semi-Bold"/>
                <a:cs typeface="Poppins Semi-Bold"/>
                <a:sym typeface="Poppins Semi-Bold"/>
              </a:rPr>
              <a:t>método que é usado para imprimir texto. Em nosso exemplo, a saída será </a:t>
            </a:r>
            <a:r>
              <a:rPr lang="en-US" sz="3300" b="1">
                <a:solidFill>
                  <a:srgbClr val="FF5757"/>
                </a:solidFill>
                <a:latin typeface="Poppins Semi-Bold"/>
                <a:ea typeface="Poppins Semi-Bold"/>
                <a:cs typeface="Poppins Semi-Bold"/>
                <a:sym typeface="Poppins Semi-Bold"/>
              </a:rPr>
              <a:t>"Hello World!"</a:t>
            </a:r>
            <a:r>
              <a:rPr lang="en-US" sz="3300" b="1">
                <a:solidFill>
                  <a:srgbClr val="FFFFFF"/>
                </a:solidFill>
                <a:latin typeface="Poppins Semi-Bold"/>
                <a:ea typeface="Poppins Semi-Bold"/>
                <a:cs typeface="Poppins Semi-Bold"/>
                <a:sym typeface="Poppins Semi-Bold"/>
              </a:rPr>
              <a:t>.</a:t>
            </a:r>
          </a:p>
        </p:txBody>
      </p:sp>
      <p:sp>
        <p:nvSpPr>
          <p:cNvPr id="8" name="TextBox 8"/>
          <p:cNvSpPr txBox="1"/>
          <p:nvPr/>
        </p:nvSpPr>
        <p:spPr>
          <a:xfrm>
            <a:off x="301381" y="9054132"/>
            <a:ext cx="18038750" cy="1046655"/>
          </a:xfrm>
          <a:prstGeom prst="rect">
            <a:avLst/>
          </a:prstGeom>
        </p:spPr>
        <p:txBody>
          <a:bodyPr lIns="0" tIns="0" rIns="0" bIns="0" rtlCol="0" anchor="t">
            <a:spAutoFit/>
          </a:bodyPr>
          <a:lstStyle/>
          <a:p>
            <a:pPr algn="ctr">
              <a:lnSpc>
                <a:spcPts val="3823"/>
              </a:lnSpc>
            </a:pPr>
            <a:r>
              <a:rPr lang="en-US" sz="3199" b="1">
                <a:solidFill>
                  <a:srgbClr val="FFCB85"/>
                </a:solidFill>
                <a:latin typeface="Poppins Semi-Bold"/>
                <a:ea typeface="Poppins Semi-Bold"/>
                <a:cs typeface="Poppins Semi-Bold"/>
                <a:sym typeface="Poppins Semi-Bold"/>
              </a:rPr>
              <a:t>Os comandos exclusivos do C# vem de bibliotecas, as bibliotecas são um conjunto de códigos que você pode utilizar no seu programa principal.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rot="6585360">
            <a:off x="15193937" y="328317"/>
            <a:ext cx="2524144" cy="2600344"/>
            <a:chOff x="0" y="0"/>
            <a:chExt cx="3365525" cy="3467125"/>
          </a:xfrm>
        </p:grpSpPr>
        <p:sp>
          <p:nvSpPr>
            <p:cNvPr id="3" name="Freeform 3"/>
            <p:cNvSpPr/>
            <p:nvPr/>
          </p:nvSpPr>
          <p:spPr>
            <a:xfrm>
              <a:off x="0" y="0"/>
              <a:ext cx="3365500" cy="3467100"/>
            </a:xfrm>
            <a:custGeom>
              <a:avLst/>
              <a:gdLst/>
              <a:ahLst/>
              <a:cxnLst/>
              <a:rect l="l" t="t" r="r" b="b"/>
              <a:pathLst>
                <a:path w="3365500" h="3467100">
                  <a:moveTo>
                    <a:pt x="0" y="3467100"/>
                  </a:moveTo>
                  <a:lnTo>
                    <a:pt x="3365500" y="3467100"/>
                  </a:lnTo>
                  <a:lnTo>
                    <a:pt x="3365500" y="0"/>
                  </a:lnTo>
                  <a:lnTo>
                    <a:pt x="0" y="0"/>
                  </a:lnTo>
                  <a:lnTo>
                    <a:pt x="0" y="3467100"/>
                  </a:lnTo>
                  <a:close/>
                </a:path>
              </a:pathLst>
            </a:custGeom>
            <a:blipFill>
              <a:blip r:embed="rId2"/>
              <a:stretch>
                <a:fillRect/>
              </a:stretch>
            </a:blipFill>
          </p:spPr>
        </p:sp>
      </p:grpSp>
      <p:sp>
        <p:nvSpPr>
          <p:cNvPr id="4" name="Freeform 4"/>
          <p:cNvSpPr/>
          <p:nvPr/>
        </p:nvSpPr>
        <p:spPr>
          <a:xfrm>
            <a:off x="1267749" y="3717655"/>
            <a:ext cx="15754350" cy="5353050"/>
          </a:xfrm>
          <a:custGeom>
            <a:avLst/>
            <a:gdLst/>
            <a:ahLst/>
            <a:cxnLst/>
            <a:rect l="l" t="t" r="r" b="b"/>
            <a:pathLst>
              <a:path w="15754350" h="5353050">
                <a:moveTo>
                  <a:pt x="0" y="0"/>
                </a:moveTo>
                <a:lnTo>
                  <a:pt x="15754350" y="0"/>
                </a:lnTo>
                <a:lnTo>
                  <a:pt x="15754350" y="5353050"/>
                </a:lnTo>
                <a:lnTo>
                  <a:pt x="0" y="5353050"/>
                </a:lnTo>
                <a:lnTo>
                  <a:pt x="0" y="0"/>
                </a:lnTo>
                <a:close/>
              </a:path>
            </a:pathLst>
          </a:custGeom>
          <a:blipFill>
            <a:blip r:embed="rId3"/>
            <a:stretch>
              <a:fillRect/>
            </a:stretch>
          </a:blipFill>
        </p:spPr>
      </p:sp>
      <p:sp>
        <p:nvSpPr>
          <p:cNvPr id="5" name="Freeform 5"/>
          <p:cNvSpPr/>
          <p:nvPr/>
        </p:nvSpPr>
        <p:spPr>
          <a:xfrm>
            <a:off x="12600137" y="2079555"/>
            <a:ext cx="850906" cy="2858729"/>
          </a:xfrm>
          <a:custGeom>
            <a:avLst/>
            <a:gdLst/>
            <a:ahLst/>
            <a:cxnLst/>
            <a:rect l="l" t="t" r="r" b="b"/>
            <a:pathLst>
              <a:path w="850906" h="2858729">
                <a:moveTo>
                  <a:pt x="0" y="0"/>
                </a:moveTo>
                <a:lnTo>
                  <a:pt x="850906" y="0"/>
                </a:lnTo>
                <a:lnTo>
                  <a:pt x="850906" y="2858729"/>
                </a:lnTo>
                <a:lnTo>
                  <a:pt x="0" y="285872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788689" y="195672"/>
            <a:ext cx="10060810" cy="1954378"/>
          </a:xfrm>
          <a:prstGeom prst="rect">
            <a:avLst/>
          </a:prstGeom>
        </p:spPr>
        <p:txBody>
          <a:bodyPr lIns="0" tIns="0" rIns="0" bIns="0" rtlCol="0" anchor="t">
            <a:spAutoFit/>
          </a:bodyPr>
          <a:lstStyle/>
          <a:p>
            <a:pPr algn="ctr">
              <a:lnSpc>
                <a:spcPts val="7127"/>
              </a:lnSpc>
            </a:pPr>
            <a:r>
              <a:rPr lang="en-US" sz="5964" b="1">
                <a:solidFill>
                  <a:srgbClr val="FFFFFF"/>
                </a:solidFill>
                <a:latin typeface="Poppins Semi-Bold"/>
                <a:ea typeface="Poppins Semi-Bold"/>
                <a:cs typeface="Poppins Semi-Bold"/>
                <a:sym typeface="Poppins Semi-Bold"/>
              </a:rPr>
              <a:t>O programa é executado no VSCODE por aqui:</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grpSp>
        <p:nvGrpSpPr>
          <p:cNvPr id="2" name="Group 2"/>
          <p:cNvGrpSpPr>
            <a:grpSpLocks noChangeAspect="1"/>
          </p:cNvGrpSpPr>
          <p:nvPr/>
        </p:nvGrpSpPr>
        <p:grpSpPr>
          <a:xfrm rot="6585360">
            <a:off x="15193937" y="328317"/>
            <a:ext cx="2524144" cy="2600344"/>
            <a:chOff x="0" y="0"/>
            <a:chExt cx="3365525" cy="3467125"/>
          </a:xfrm>
        </p:grpSpPr>
        <p:sp>
          <p:nvSpPr>
            <p:cNvPr id="3" name="Freeform 3"/>
            <p:cNvSpPr/>
            <p:nvPr/>
          </p:nvSpPr>
          <p:spPr>
            <a:xfrm>
              <a:off x="0" y="0"/>
              <a:ext cx="3365500" cy="3467100"/>
            </a:xfrm>
            <a:custGeom>
              <a:avLst/>
              <a:gdLst/>
              <a:ahLst/>
              <a:cxnLst/>
              <a:rect l="l" t="t" r="r" b="b"/>
              <a:pathLst>
                <a:path w="3365500" h="3467100">
                  <a:moveTo>
                    <a:pt x="0" y="3467100"/>
                  </a:moveTo>
                  <a:lnTo>
                    <a:pt x="3365500" y="3467100"/>
                  </a:lnTo>
                  <a:lnTo>
                    <a:pt x="3365500" y="0"/>
                  </a:lnTo>
                  <a:lnTo>
                    <a:pt x="0" y="0"/>
                  </a:lnTo>
                  <a:lnTo>
                    <a:pt x="0" y="3467100"/>
                  </a:lnTo>
                  <a:close/>
                </a:path>
              </a:pathLst>
            </a:custGeom>
            <a:blipFill>
              <a:blip r:embed="rId2"/>
              <a:stretch>
                <a:fillRect/>
              </a:stretch>
            </a:blipFill>
          </p:spPr>
        </p:sp>
      </p:grpSp>
      <p:sp>
        <p:nvSpPr>
          <p:cNvPr id="4" name="Freeform 4"/>
          <p:cNvSpPr/>
          <p:nvPr/>
        </p:nvSpPr>
        <p:spPr>
          <a:xfrm>
            <a:off x="1028700" y="4874743"/>
            <a:ext cx="16592550" cy="4791075"/>
          </a:xfrm>
          <a:custGeom>
            <a:avLst/>
            <a:gdLst/>
            <a:ahLst/>
            <a:cxnLst/>
            <a:rect l="l" t="t" r="r" b="b"/>
            <a:pathLst>
              <a:path w="16592550" h="4791075">
                <a:moveTo>
                  <a:pt x="0" y="0"/>
                </a:moveTo>
                <a:lnTo>
                  <a:pt x="16592550" y="0"/>
                </a:lnTo>
                <a:lnTo>
                  <a:pt x="16592550" y="4791075"/>
                </a:lnTo>
                <a:lnTo>
                  <a:pt x="0" y="4791075"/>
                </a:lnTo>
                <a:lnTo>
                  <a:pt x="0" y="0"/>
                </a:lnTo>
                <a:close/>
              </a:path>
            </a:pathLst>
          </a:custGeom>
          <a:blipFill>
            <a:blip r:embed="rId3"/>
            <a:stretch>
              <a:fillRect/>
            </a:stretch>
          </a:blipFill>
        </p:spPr>
      </p:sp>
      <p:sp>
        <p:nvSpPr>
          <p:cNvPr id="5" name="Freeform 5"/>
          <p:cNvSpPr/>
          <p:nvPr/>
        </p:nvSpPr>
        <p:spPr>
          <a:xfrm>
            <a:off x="4414114" y="3549425"/>
            <a:ext cx="850906" cy="1657588"/>
          </a:xfrm>
          <a:custGeom>
            <a:avLst/>
            <a:gdLst/>
            <a:ahLst/>
            <a:cxnLst/>
            <a:rect l="l" t="t" r="r" b="b"/>
            <a:pathLst>
              <a:path w="850906" h="1657588">
                <a:moveTo>
                  <a:pt x="0" y="0"/>
                </a:moveTo>
                <a:lnTo>
                  <a:pt x="850906" y="0"/>
                </a:lnTo>
                <a:lnTo>
                  <a:pt x="850906" y="1657588"/>
                </a:lnTo>
                <a:lnTo>
                  <a:pt x="0" y="16575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3367297" y="1088860"/>
            <a:ext cx="11784330" cy="1954378"/>
          </a:xfrm>
          <a:prstGeom prst="rect">
            <a:avLst/>
          </a:prstGeom>
        </p:spPr>
        <p:txBody>
          <a:bodyPr lIns="0" tIns="0" rIns="0" bIns="0" rtlCol="0" anchor="t">
            <a:spAutoFit/>
          </a:bodyPr>
          <a:lstStyle/>
          <a:p>
            <a:pPr algn="ctr">
              <a:lnSpc>
                <a:spcPts val="7127"/>
              </a:lnSpc>
            </a:pPr>
            <a:r>
              <a:rPr lang="en-US" sz="5964" b="1">
                <a:solidFill>
                  <a:srgbClr val="FFFFFF"/>
                </a:solidFill>
                <a:latin typeface="Poppins Semi-Bold"/>
                <a:ea typeface="Poppins Semi-Bold"/>
                <a:cs typeface="Poppins Semi-Bold"/>
                <a:sym typeface="Poppins Semi-Bold"/>
              </a:rPr>
              <a:t>Após a execução, o resultado sairá no terminal</a:t>
            </a:r>
          </a:p>
        </p:txBody>
      </p:sp>
      <p:sp>
        <p:nvSpPr>
          <p:cNvPr id="7" name="TextBox 7"/>
          <p:cNvSpPr txBox="1"/>
          <p:nvPr/>
        </p:nvSpPr>
        <p:spPr>
          <a:xfrm>
            <a:off x="11597478" y="7360187"/>
            <a:ext cx="6227674" cy="1903686"/>
          </a:xfrm>
          <a:prstGeom prst="rect">
            <a:avLst/>
          </a:prstGeom>
        </p:spPr>
        <p:txBody>
          <a:bodyPr lIns="0" tIns="0" rIns="0" bIns="0" rtlCol="0" anchor="t">
            <a:spAutoFit/>
          </a:bodyPr>
          <a:lstStyle/>
          <a:p>
            <a:pPr algn="ctr">
              <a:lnSpc>
                <a:spcPts val="4723"/>
              </a:lnSpc>
            </a:pPr>
            <a:r>
              <a:rPr lang="en-US" sz="3999" b="1">
                <a:solidFill>
                  <a:srgbClr val="FFFFFF"/>
                </a:solidFill>
                <a:latin typeface="Poppins Semi-Bold"/>
                <a:ea typeface="Poppins Semi-Bold"/>
                <a:cs typeface="Poppins Semi-Bold"/>
                <a:sym typeface="Poppins Semi-Bold"/>
              </a:rPr>
              <a:t>Esse programa apenas escreve no terminal o texto </a:t>
            </a:r>
            <a:r>
              <a:rPr lang="en-US" sz="3999" b="1">
                <a:solidFill>
                  <a:srgbClr val="FF5757"/>
                </a:solidFill>
                <a:latin typeface="Poppins Semi-Bold"/>
                <a:ea typeface="Poppins Semi-Bold"/>
                <a:cs typeface="Poppins Semi-Bold"/>
                <a:sym typeface="Poppins Semi-Bold"/>
              </a:rPr>
              <a:t>Hello, World!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5672664" y="0"/>
            <a:ext cx="2615336" cy="2619375"/>
          </a:xfrm>
          <a:custGeom>
            <a:avLst/>
            <a:gdLst/>
            <a:ahLst/>
            <a:cxnLst/>
            <a:rect l="l" t="t" r="r" b="b"/>
            <a:pathLst>
              <a:path w="2615336" h="2619375">
                <a:moveTo>
                  <a:pt x="0" y="0"/>
                </a:moveTo>
                <a:lnTo>
                  <a:pt x="2615336" y="0"/>
                </a:lnTo>
                <a:lnTo>
                  <a:pt x="2615336" y="2619375"/>
                </a:lnTo>
                <a:lnTo>
                  <a:pt x="0" y="2619375"/>
                </a:lnTo>
                <a:lnTo>
                  <a:pt x="0" y="0"/>
                </a:lnTo>
                <a:close/>
              </a:path>
            </a:pathLst>
          </a:custGeom>
          <a:blipFill>
            <a:blip r:embed="rId2"/>
            <a:stretch>
              <a:fillRect r="-154"/>
            </a:stretch>
          </a:blipFill>
        </p:spPr>
      </p:sp>
      <p:sp>
        <p:nvSpPr>
          <p:cNvPr id="3" name="TextBox 3"/>
          <p:cNvSpPr txBox="1"/>
          <p:nvPr/>
        </p:nvSpPr>
        <p:spPr>
          <a:xfrm>
            <a:off x="1028700" y="776764"/>
            <a:ext cx="825388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Comentários em C#</a:t>
            </a:r>
          </a:p>
        </p:txBody>
      </p:sp>
      <p:sp>
        <p:nvSpPr>
          <p:cNvPr id="4" name="TextBox 4"/>
          <p:cNvSpPr txBox="1"/>
          <p:nvPr/>
        </p:nvSpPr>
        <p:spPr>
          <a:xfrm>
            <a:off x="164983" y="3310214"/>
            <a:ext cx="18010251" cy="6592319"/>
          </a:xfrm>
          <a:prstGeom prst="rect">
            <a:avLst/>
          </a:prstGeom>
        </p:spPr>
        <p:txBody>
          <a:bodyPr lIns="0" tIns="0" rIns="0" bIns="0" rtlCol="0" anchor="t">
            <a:spAutoFit/>
          </a:bodyPr>
          <a:lstStyle/>
          <a:p>
            <a:pPr algn="l">
              <a:lnSpc>
                <a:spcPts val="4651"/>
              </a:lnSpc>
            </a:pPr>
            <a:r>
              <a:rPr lang="en-US" sz="3899" b="1">
                <a:solidFill>
                  <a:srgbClr val="FFFFFF"/>
                </a:solidFill>
                <a:latin typeface="Poppins Semi-Bold"/>
                <a:ea typeface="Poppins Semi-Bold"/>
                <a:cs typeface="Poppins Semi-Bold"/>
                <a:sym typeface="Poppins Semi-Bold"/>
              </a:rPr>
              <a:t>Os comentários podem ser usados para explicar o código e torná-lo mais legível. Os comentários de uma linha começam com duas barras (</a:t>
            </a:r>
            <a:r>
              <a:rPr lang="en-US" sz="3899" b="1">
                <a:solidFill>
                  <a:srgbClr val="7ED957"/>
                </a:solidFill>
                <a:latin typeface="Poppins Semi-Bold"/>
                <a:ea typeface="Poppins Semi-Bold"/>
                <a:cs typeface="Poppins Semi-Bold"/>
                <a:sym typeface="Poppins Semi-Bold"/>
              </a:rPr>
              <a:t>//</a:t>
            </a:r>
            <a:r>
              <a:rPr lang="en-US" sz="3899" b="1">
                <a:solidFill>
                  <a:srgbClr val="FFFFFF"/>
                </a:solidFill>
                <a:latin typeface="Poppins Semi-Bold"/>
                <a:ea typeface="Poppins Semi-Bold"/>
                <a:cs typeface="Poppins Semi-Bold"/>
                <a:sym typeface="Poppins Semi-Bold"/>
              </a:rPr>
              <a:t>). Qualquer texto entre </a:t>
            </a:r>
            <a:r>
              <a:rPr lang="en-US" sz="3899" b="1">
                <a:solidFill>
                  <a:srgbClr val="7ED957"/>
                </a:solidFill>
                <a:latin typeface="Poppins Semi-Bold"/>
                <a:ea typeface="Poppins Semi-Bold"/>
                <a:cs typeface="Poppins Semi-Bold"/>
                <a:sym typeface="Poppins Semi-Bold"/>
              </a:rPr>
              <a:t>// </a:t>
            </a:r>
            <a:r>
              <a:rPr lang="en-US" sz="3899" b="1">
                <a:solidFill>
                  <a:srgbClr val="FFFFFF"/>
                </a:solidFill>
                <a:latin typeface="Poppins Semi-Bold"/>
                <a:ea typeface="Poppins Semi-Bold"/>
                <a:cs typeface="Poppins Semi-Bold"/>
                <a:sym typeface="Poppins Semi-Bold"/>
              </a:rPr>
              <a:t>e o final da linha é ignorado (não será executado). •Comentários multilinhas começam com </a:t>
            </a:r>
            <a:r>
              <a:rPr lang="en-US" sz="3899" b="1">
                <a:solidFill>
                  <a:srgbClr val="7ED957"/>
                </a:solidFill>
                <a:latin typeface="Poppins Semi-Bold"/>
                <a:ea typeface="Poppins Semi-Bold"/>
                <a:cs typeface="Poppins Semi-Bold"/>
                <a:sym typeface="Poppins Semi-Bold"/>
              </a:rPr>
              <a:t>/* </a:t>
            </a:r>
            <a:r>
              <a:rPr lang="en-US" sz="3899" b="1">
                <a:solidFill>
                  <a:srgbClr val="FFFFFF"/>
                </a:solidFill>
                <a:latin typeface="Poppins Semi-Bold"/>
                <a:ea typeface="Poppins Semi-Bold"/>
                <a:cs typeface="Poppins Semi-Bold"/>
                <a:sym typeface="Poppins Semi-Bold"/>
              </a:rPr>
              <a:t>e terminam com</a:t>
            </a:r>
            <a:r>
              <a:rPr lang="en-US" sz="3899" b="1">
                <a:solidFill>
                  <a:srgbClr val="7ED957"/>
                </a:solidFill>
                <a:latin typeface="Poppins Semi-Bold"/>
                <a:ea typeface="Poppins Semi-Bold"/>
                <a:cs typeface="Poppins Semi-Bold"/>
                <a:sym typeface="Poppins Semi-Bold"/>
              </a:rPr>
              <a:t> */</a:t>
            </a:r>
            <a:r>
              <a:rPr lang="en-US" sz="3899" b="1">
                <a:solidFill>
                  <a:srgbClr val="FFFFFF"/>
                </a:solidFill>
                <a:latin typeface="Poppins Semi-Bold"/>
                <a:ea typeface="Poppins Semi-Bold"/>
                <a:cs typeface="Poppins Semi-Bold"/>
                <a:sym typeface="Poppins Semi-Bold"/>
              </a:rPr>
              <a:t>. •Qualquer texto entre </a:t>
            </a:r>
            <a:r>
              <a:rPr lang="en-US" sz="3899" b="1">
                <a:solidFill>
                  <a:srgbClr val="7ED957"/>
                </a:solidFill>
                <a:latin typeface="Poppins Semi-Bold"/>
                <a:ea typeface="Poppins Semi-Bold"/>
                <a:cs typeface="Poppins Semi-Bold"/>
                <a:sym typeface="Poppins Semi-Bold"/>
              </a:rPr>
              <a:t>/*</a:t>
            </a:r>
            <a:r>
              <a:rPr lang="en-US" sz="3899" b="1">
                <a:solidFill>
                  <a:srgbClr val="FFFFFF"/>
                </a:solidFill>
                <a:latin typeface="Poppins Semi-Bold"/>
                <a:ea typeface="Poppins Semi-Bold"/>
                <a:cs typeface="Poppins Semi-Bold"/>
                <a:sym typeface="Poppins Semi-Bold"/>
              </a:rPr>
              <a:t> e </a:t>
            </a:r>
            <a:r>
              <a:rPr lang="en-US" sz="3899" b="1">
                <a:solidFill>
                  <a:srgbClr val="7ED957"/>
                </a:solidFill>
                <a:latin typeface="Poppins Semi-Bold"/>
                <a:ea typeface="Poppins Semi-Bold"/>
                <a:cs typeface="Poppins Semi-Bold"/>
                <a:sym typeface="Poppins Semi-Bold"/>
              </a:rPr>
              <a:t>*/</a:t>
            </a:r>
            <a:r>
              <a:rPr lang="en-US" sz="3899" b="1">
                <a:solidFill>
                  <a:srgbClr val="FFFFFF"/>
                </a:solidFill>
                <a:latin typeface="Poppins Semi-Bold"/>
                <a:ea typeface="Poppins Semi-Bold"/>
                <a:cs typeface="Poppins Semi-Bold"/>
                <a:sym typeface="Poppins Semi-Bold"/>
              </a:rPr>
              <a:t>será ignorado.</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5672664" y="0"/>
            <a:ext cx="2615336" cy="2619375"/>
          </a:xfrm>
          <a:custGeom>
            <a:avLst/>
            <a:gdLst/>
            <a:ahLst/>
            <a:cxnLst/>
            <a:rect l="l" t="t" r="r" b="b"/>
            <a:pathLst>
              <a:path w="2615336" h="2619375">
                <a:moveTo>
                  <a:pt x="0" y="0"/>
                </a:moveTo>
                <a:lnTo>
                  <a:pt x="2615336" y="0"/>
                </a:lnTo>
                <a:lnTo>
                  <a:pt x="2615336" y="2619375"/>
                </a:lnTo>
                <a:lnTo>
                  <a:pt x="0" y="2619375"/>
                </a:lnTo>
                <a:lnTo>
                  <a:pt x="0" y="0"/>
                </a:lnTo>
                <a:close/>
              </a:path>
            </a:pathLst>
          </a:custGeom>
          <a:blipFill>
            <a:blip r:embed="rId2"/>
            <a:stretch>
              <a:fillRect r="-154"/>
            </a:stretch>
          </a:blipFill>
        </p:spPr>
      </p:sp>
      <p:sp>
        <p:nvSpPr>
          <p:cNvPr id="3" name="Freeform 3"/>
          <p:cNvSpPr/>
          <p:nvPr/>
        </p:nvSpPr>
        <p:spPr>
          <a:xfrm>
            <a:off x="1028700" y="2374449"/>
            <a:ext cx="12515850" cy="6886575"/>
          </a:xfrm>
          <a:custGeom>
            <a:avLst/>
            <a:gdLst/>
            <a:ahLst/>
            <a:cxnLst/>
            <a:rect l="l" t="t" r="r" b="b"/>
            <a:pathLst>
              <a:path w="12515850" h="6886575">
                <a:moveTo>
                  <a:pt x="0" y="0"/>
                </a:moveTo>
                <a:lnTo>
                  <a:pt x="12515850" y="0"/>
                </a:lnTo>
                <a:lnTo>
                  <a:pt x="12515850" y="6886575"/>
                </a:lnTo>
                <a:lnTo>
                  <a:pt x="0" y="6886575"/>
                </a:lnTo>
                <a:lnTo>
                  <a:pt x="0" y="0"/>
                </a:lnTo>
                <a:close/>
              </a:path>
            </a:pathLst>
          </a:custGeom>
          <a:blipFill>
            <a:blip r:embed="rId3"/>
            <a:stretch>
              <a:fillRect/>
            </a:stretch>
          </a:blipFill>
        </p:spPr>
      </p:sp>
      <p:sp>
        <p:nvSpPr>
          <p:cNvPr id="4" name="Freeform 4"/>
          <p:cNvSpPr/>
          <p:nvPr/>
        </p:nvSpPr>
        <p:spPr>
          <a:xfrm>
            <a:off x="12144823" y="5079997"/>
            <a:ext cx="850906" cy="1657588"/>
          </a:xfrm>
          <a:custGeom>
            <a:avLst/>
            <a:gdLst/>
            <a:ahLst/>
            <a:cxnLst/>
            <a:rect l="l" t="t" r="r" b="b"/>
            <a:pathLst>
              <a:path w="850906" h="1657588">
                <a:moveTo>
                  <a:pt x="0" y="0"/>
                </a:moveTo>
                <a:lnTo>
                  <a:pt x="850906" y="0"/>
                </a:lnTo>
                <a:lnTo>
                  <a:pt x="850906" y="1657588"/>
                </a:lnTo>
                <a:lnTo>
                  <a:pt x="0" y="165758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028700" y="776764"/>
            <a:ext cx="825388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Comentários em C#</a:t>
            </a:r>
          </a:p>
        </p:txBody>
      </p:sp>
      <p:sp>
        <p:nvSpPr>
          <p:cNvPr id="6" name="TextBox 6"/>
          <p:cNvSpPr txBox="1"/>
          <p:nvPr/>
        </p:nvSpPr>
        <p:spPr>
          <a:xfrm>
            <a:off x="11266961" y="3456080"/>
            <a:ext cx="6644240" cy="1303611"/>
          </a:xfrm>
          <a:prstGeom prst="rect">
            <a:avLst/>
          </a:prstGeom>
        </p:spPr>
        <p:txBody>
          <a:bodyPr lIns="0" tIns="0" rIns="0" bIns="0" rtlCol="0" anchor="t">
            <a:spAutoFit/>
          </a:bodyPr>
          <a:lstStyle/>
          <a:p>
            <a:pPr algn="ctr">
              <a:lnSpc>
                <a:spcPts val="4723"/>
              </a:lnSpc>
            </a:pPr>
            <a:r>
              <a:rPr lang="en-US" sz="3999" b="1">
                <a:solidFill>
                  <a:srgbClr val="FFFFFF"/>
                </a:solidFill>
                <a:latin typeface="Poppins Semi-Bold"/>
                <a:ea typeface="Poppins Semi-Bold"/>
                <a:cs typeface="Poppins Semi-Bold"/>
                <a:sym typeface="Poppins Semi-Bold"/>
              </a:rPr>
              <a:t>O texto dessa linha é ignorado pelo programa</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5672664" y="0"/>
            <a:ext cx="2615336" cy="2619375"/>
          </a:xfrm>
          <a:custGeom>
            <a:avLst/>
            <a:gdLst/>
            <a:ahLst/>
            <a:cxnLst/>
            <a:rect l="l" t="t" r="r" b="b"/>
            <a:pathLst>
              <a:path w="2615336" h="2619375">
                <a:moveTo>
                  <a:pt x="0" y="0"/>
                </a:moveTo>
                <a:lnTo>
                  <a:pt x="2615336" y="0"/>
                </a:lnTo>
                <a:lnTo>
                  <a:pt x="2615336" y="2619375"/>
                </a:lnTo>
                <a:lnTo>
                  <a:pt x="0" y="2619375"/>
                </a:lnTo>
                <a:lnTo>
                  <a:pt x="0" y="0"/>
                </a:lnTo>
                <a:close/>
              </a:path>
            </a:pathLst>
          </a:custGeom>
          <a:blipFill>
            <a:blip r:embed="rId2"/>
            <a:stretch>
              <a:fillRect r="-154"/>
            </a:stretch>
          </a:blipFill>
        </p:spPr>
      </p:sp>
      <p:sp>
        <p:nvSpPr>
          <p:cNvPr id="3" name="Freeform 3"/>
          <p:cNvSpPr/>
          <p:nvPr/>
        </p:nvSpPr>
        <p:spPr>
          <a:xfrm>
            <a:off x="4683709" y="2518162"/>
            <a:ext cx="8924925" cy="7267575"/>
          </a:xfrm>
          <a:custGeom>
            <a:avLst/>
            <a:gdLst/>
            <a:ahLst/>
            <a:cxnLst/>
            <a:rect l="l" t="t" r="r" b="b"/>
            <a:pathLst>
              <a:path w="8924925" h="7267575">
                <a:moveTo>
                  <a:pt x="0" y="0"/>
                </a:moveTo>
                <a:lnTo>
                  <a:pt x="8924925" y="0"/>
                </a:lnTo>
                <a:lnTo>
                  <a:pt x="8924925" y="7267575"/>
                </a:lnTo>
                <a:lnTo>
                  <a:pt x="0" y="7267575"/>
                </a:lnTo>
                <a:lnTo>
                  <a:pt x="0" y="0"/>
                </a:lnTo>
                <a:close/>
              </a:path>
            </a:pathLst>
          </a:custGeom>
          <a:blipFill>
            <a:blip r:embed="rId3"/>
            <a:stretch>
              <a:fillRect/>
            </a:stretch>
          </a:blipFill>
        </p:spPr>
      </p:sp>
      <p:sp>
        <p:nvSpPr>
          <p:cNvPr id="4" name="Freeform 4"/>
          <p:cNvSpPr/>
          <p:nvPr/>
        </p:nvSpPr>
        <p:spPr>
          <a:xfrm>
            <a:off x="10824972" y="4585935"/>
            <a:ext cx="4014845" cy="2951216"/>
          </a:xfrm>
          <a:custGeom>
            <a:avLst/>
            <a:gdLst/>
            <a:ahLst/>
            <a:cxnLst/>
            <a:rect l="l" t="t" r="r" b="b"/>
            <a:pathLst>
              <a:path w="4014845" h="2951216">
                <a:moveTo>
                  <a:pt x="0" y="0"/>
                </a:moveTo>
                <a:lnTo>
                  <a:pt x="4014845" y="0"/>
                </a:lnTo>
                <a:lnTo>
                  <a:pt x="4014845" y="2951217"/>
                </a:lnTo>
                <a:lnTo>
                  <a:pt x="0" y="295121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028700" y="776764"/>
            <a:ext cx="825388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Comentários em C#</a:t>
            </a:r>
          </a:p>
        </p:txBody>
      </p:sp>
      <p:sp>
        <p:nvSpPr>
          <p:cNvPr id="6" name="TextBox 6"/>
          <p:cNvSpPr txBox="1"/>
          <p:nvPr/>
        </p:nvSpPr>
        <p:spPr>
          <a:xfrm>
            <a:off x="11973763" y="3425276"/>
            <a:ext cx="5610606" cy="1303611"/>
          </a:xfrm>
          <a:prstGeom prst="rect">
            <a:avLst/>
          </a:prstGeom>
        </p:spPr>
        <p:txBody>
          <a:bodyPr lIns="0" tIns="0" rIns="0" bIns="0" rtlCol="0" anchor="t">
            <a:spAutoFit/>
          </a:bodyPr>
          <a:lstStyle/>
          <a:p>
            <a:pPr algn="ctr">
              <a:lnSpc>
                <a:spcPts val="4723"/>
              </a:lnSpc>
            </a:pPr>
            <a:r>
              <a:rPr lang="en-US" sz="3999" b="1">
                <a:solidFill>
                  <a:srgbClr val="FFFFFF"/>
                </a:solidFill>
                <a:latin typeface="Poppins Semi-Bold"/>
                <a:ea typeface="Poppins Semi-Bold"/>
                <a:cs typeface="Poppins Semi-Bold"/>
                <a:sym typeface="Poppins Semi-Bold"/>
              </a:rPr>
              <a:t>O mesmo vale nesse exemplo</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5672664" y="0"/>
            <a:ext cx="2615336" cy="2619375"/>
          </a:xfrm>
          <a:custGeom>
            <a:avLst/>
            <a:gdLst/>
            <a:ahLst/>
            <a:cxnLst/>
            <a:rect l="l" t="t" r="r" b="b"/>
            <a:pathLst>
              <a:path w="2615336" h="2619375">
                <a:moveTo>
                  <a:pt x="0" y="0"/>
                </a:moveTo>
                <a:lnTo>
                  <a:pt x="2615336" y="0"/>
                </a:lnTo>
                <a:lnTo>
                  <a:pt x="2615336" y="2619375"/>
                </a:lnTo>
                <a:lnTo>
                  <a:pt x="0" y="2619375"/>
                </a:lnTo>
                <a:lnTo>
                  <a:pt x="0" y="0"/>
                </a:lnTo>
                <a:close/>
              </a:path>
            </a:pathLst>
          </a:custGeom>
          <a:blipFill>
            <a:blip r:embed="rId2"/>
            <a:stretch>
              <a:fillRect r="-154"/>
            </a:stretch>
          </a:blipFill>
        </p:spPr>
      </p:sp>
      <p:sp>
        <p:nvSpPr>
          <p:cNvPr id="3" name="TextBox 3"/>
          <p:cNvSpPr txBox="1"/>
          <p:nvPr/>
        </p:nvSpPr>
        <p:spPr>
          <a:xfrm>
            <a:off x="1028700" y="776764"/>
            <a:ext cx="6787620"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Variáveis em C#</a:t>
            </a:r>
          </a:p>
        </p:txBody>
      </p:sp>
      <p:sp>
        <p:nvSpPr>
          <p:cNvPr id="4" name="TextBox 4"/>
          <p:cNvSpPr txBox="1"/>
          <p:nvPr/>
        </p:nvSpPr>
        <p:spPr>
          <a:xfrm>
            <a:off x="164983" y="3315576"/>
            <a:ext cx="17771354" cy="4820669"/>
          </a:xfrm>
          <a:prstGeom prst="rect">
            <a:avLst/>
          </a:prstGeom>
        </p:spPr>
        <p:txBody>
          <a:bodyPr lIns="0" tIns="0" rIns="0" bIns="0" rtlCol="0" anchor="t">
            <a:spAutoFit/>
          </a:bodyPr>
          <a:lstStyle/>
          <a:p>
            <a:pPr algn="l">
              <a:lnSpc>
                <a:spcPts val="4651"/>
              </a:lnSpc>
            </a:pPr>
            <a:r>
              <a:rPr lang="en-US" sz="3899" b="1">
                <a:solidFill>
                  <a:srgbClr val="FFFFFF"/>
                </a:solidFill>
                <a:latin typeface="Poppins Semi-Bold"/>
                <a:ea typeface="Poppins Semi-Bold"/>
                <a:cs typeface="Poppins Semi-Bold"/>
                <a:sym typeface="Poppins Semi-Bold"/>
              </a:rPr>
              <a:t>Variáveis são contêineres para armazenar valores de dados. Esses contêineres são armazenados na memória RAM do computador. Cada variável de um código gera um espaço a ser reservado pela memória RAM. Você pode armazenar números, textos, boleanos, characteres entre muitos outros.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3189399"/>
            <a:ext cx="10074078" cy="5972175"/>
          </a:xfrm>
          <a:custGeom>
            <a:avLst/>
            <a:gdLst/>
            <a:ahLst/>
            <a:cxnLst/>
            <a:rect l="l" t="t" r="r" b="b"/>
            <a:pathLst>
              <a:path w="10074078" h="5972175">
                <a:moveTo>
                  <a:pt x="0" y="0"/>
                </a:moveTo>
                <a:lnTo>
                  <a:pt x="10074078" y="0"/>
                </a:lnTo>
                <a:lnTo>
                  <a:pt x="10074078" y="5972175"/>
                </a:lnTo>
                <a:lnTo>
                  <a:pt x="0" y="5972175"/>
                </a:lnTo>
                <a:lnTo>
                  <a:pt x="0" y="0"/>
                </a:lnTo>
                <a:close/>
              </a:path>
            </a:pathLst>
          </a:custGeom>
          <a:blipFill>
            <a:blip r:embed="rId2"/>
            <a:stretch>
              <a:fillRect l="-2775"/>
            </a:stretch>
          </a:blipFill>
        </p:spPr>
      </p:sp>
      <p:sp>
        <p:nvSpPr>
          <p:cNvPr id="3" name="TextBox 3"/>
          <p:cNvSpPr txBox="1"/>
          <p:nvPr/>
        </p:nvSpPr>
        <p:spPr>
          <a:xfrm>
            <a:off x="1028700" y="776764"/>
            <a:ext cx="6787620"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Variáveis em C#</a:t>
            </a:r>
          </a:p>
        </p:txBody>
      </p:sp>
      <p:sp>
        <p:nvSpPr>
          <p:cNvPr id="4" name="TextBox 4"/>
          <p:cNvSpPr txBox="1"/>
          <p:nvPr/>
        </p:nvSpPr>
        <p:spPr>
          <a:xfrm>
            <a:off x="10210819" y="3066336"/>
            <a:ext cx="8237934" cy="6104211"/>
          </a:xfrm>
          <a:prstGeom prst="rect">
            <a:avLst/>
          </a:prstGeom>
        </p:spPr>
        <p:txBody>
          <a:bodyPr lIns="0" tIns="0" rIns="0" bIns="0" rtlCol="0" anchor="t">
            <a:spAutoFit/>
          </a:bodyPr>
          <a:lstStyle/>
          <a:p>
            <a:pPr algn="ctr">
              <a:lnSpc>
                <a:spcPts val="4723"/>
              </a:lnSpc>
            </a:pPr>
            <a:r>
              <a:rPr lang="en-US" sz="3999" b="1">
                <a:solidFill>
                  <a:srgbClr val="FFFFFF"/>
                </a:solidFill>
                <a:latin typeface="Poppins Semi-Bold"/>
                <a:ea typeface="Poppins Semi-Bold"/>
                <a:cs typeface="Poppins Semi-Bold"/>
                <a:sym typeface="Poppins Semi-Bold"/>
              </a:rPr>
              <a:t>Você define o tipo e depois um nome para a variável. O tipo é o que vem antes do nome, por exemplo na linha </a:t>
            </a:r>
            <a:r>
              <a:rPr lang="en-US" sz="3999" b="1">
                <a:solidFill>
                  <a:srgbClr val="FF5757"/>
                </a:solidFill>
                <a:latin typeface="Poppins Semi-Bold"/>
                <a:ea typeface="Poppins Semi-Bold"/>
                <a:cs typeface="Poppins Semi-Bold"/>
                <a:sym typeface="Poppins Semi-Bold"/>
              </a:rPr>
              <a:t>7</a:t>
            </a:r>
            <a:r>
              <a:rPr lang="en-US" sz="3999" b="1">
                <a:solidFill>
                  <a:srgbClr val="FFFFFF"/>
                </a:solidFill>
                <a:latin typeface="Poppins Semi-Bold"/>
                <a:ea typeface="Poppins Semi-Bold"/>
                <a:cs typeface="Poppins Semi-Bold"/>
                <a:sym typeface="Poppins Semi-Bold"/>
              </a:rPr>
              <a:t>, o tipo é </a:t>
            </a:r>
            <a:r>
              <a:rPr lang="en-US" sz="3999" b="1">
                <a:solidFill>
                  <a:srgbClr val="5284FF"/>
                </a:solidFill>
                <a:latin typeface="Poppins Semi-Bold"/>
                <a:ea typeface="Poppins Semi-Bold"/>
                <a:cs typeface="Poppins Semi-Bold"/>
                <a:sym typeface="Poppins Semi-Bold"/>
              </a:rPr>
              <a:t>int</a:t>
            </a:r>
            <a:r>
              <a:rPr lang="en-US" sz="3999" b="1">
                <a:solidFill>
                  <a:srgbClr val="FFFFFF"/>
                </a:solidFill>
                <a:latin typeface="Poppins Semi-Bold"/>
                <a:ea typeface="Poppins Semi-Bold"/>
                <a:cs typeface="Poppins Semi-Bold"/>
                <a:sym typeface="Poppins Semi-Bold"/>
              </a:rPr>
              <a:t> e o nome é </a:t>
            </a:r>
            <a:r>
              <a:rPr lang="en-US" sz="3999" b="1">
                <a:solidFill>
                  <a:srgbClr val="9FCDFF"/>
                </a:solidFill>
                <a:latin typeface="Poppins Semi-Bold"/>
                <a:ea typeface="Poppins Semi-Bold"/>
                <a:cs typeface="Poppins Semi-Bold"/>
                <a:sym typeface="Poppins Semi-Bold"/>
              </a:rPr>
              <a:t>idade</a:t>
            </a:r>
            <a:r>
              <a:rPr lang="en-US" sz="3999" b="1">
                <a:solidFill>
                  <a:srgbClr val="FFFFFF"/>
                </a:solidFill>
                <a:latin typeface="Poppins Semi-Bold"/>
                <a:ea typeface="Poppins Semi-Bold"/>
                <a:cs typeface="Poppins Semi-Bold"/>
                <a:sym typeface="Poppins Semi-Bold"/>
              </a:rPr>
              <a:t>. O que vem depois do nome é a atribuição, que podemos referenciar com o sinal de </a:t>
            </a:r>
            <a:r>
              <a:rPr lang="en-US" sz="3999" b="1">
                <a:solidFill>
                  <a:srgbClr val="FFCB85"/>
                </a:solidFill>
                <a:latin typeface="Poppins Semi-Bold"/>
                <a:ea typeface="Poppins Semi-Bold"/>
                <a:cs typeface="Poppins Semi-Bold"/>
                <a:sym typeface="Poppins Semi-Bold"/>
              </a:rPr>
              <a:t>=</a:t>
            </a:r>
            <a:r>
              <a:rPr lang="en-US" sz="3999" b="1">
                <a:solidFill>
                  <a:srgbClr val="FFFFFF"/>
                </a:solidFill>
                <a:latin typeface="Poppins Semi-Bold"/>
                <a:ea typeface="Poppins Semi-Bold"/>
                <a:cs typeface="Poppins Semi-Bold"/>
                <a:sym typeface="Poppins Semi-Bold"/>
              </a:rPr>
              <a:t>. Estou armazenando o valor de </a:t>
            </a:r>
            <a:r>
              <a:rPr lang="en-US" sz="3999" b="1">
                <a:solidFill>
                  <a:srgbClr val="7ED957"/>
                </a:solidFill>
                <a:latin typeface="Poppins Semi-Bold"/>
                <a:ea typeface="Poppins Semi-Bold"/>
                <a:cs typeface="Poppins Semi-Bold"/>
                <a:sym typeface="Poppins Semi-Bold"/>
              </a:rPr>
              <a:t>29</a:t>
            </a:r>
            <a:r>
              <a:rPr lang="en-US" sz="3999" b="1">
                <a:solidFill>
                  <a:srgbClr val="FFFFFF"/>
                </a:solidFill>
                <a:latin typeface="Poppins Semi-Bold"/>
                <a:ea typeface="Poppins Semi-Bold"/>
                <a:cs typeface="Poppins Semi-Bold"/>
                <a:sym typeface="Poppins Semi-Bold"/>
              </a:rPr>
              <a:t> na váriavel </a:t>
            </a:r>
            <a:r>
              <a:rPr lang="en-US" sz="3999" b="1">
                <a:solidFill>
                  <a:srgbClr val="9FCDFF"/>
                </a:solidFill>
                <a:latin typeface="Poppins Semi-Bold"/>
                <a:ea typeface="Poppins Semi-Bold"/>
                <a:cs typeface="Poppins Semi-Bold"/>
                <a:sym typeface="Poppins Semi-Bold"/>
              </a:rPr>
              <a:t>idade</a:t>
            </a:r>
            <a:r>
              <a:rPr lang="en-US" sz="3999" b="1">
                <a:solidFill>
                  <a:srgbClr val="FFFFFF"/>
                </a:solidFill>
                <a:latin typeface="Poppins Semi-Bold"/>
                <a:ea typeface="Poppins Semi-Bold"/>
                <a:cs typeface="Poppins Semi-Bold"/>
                <a:sym typeface="Poppins Semi-Bold"/>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4002081" y="3453975"/>
            <a:ext cx="1392012" cy="1694707"/>
          </a:xfrm>
          <a:custGeom>
            <a:avLst/>
            <a:gdLst/>
            <a:ahLst/>
            <a:cxnLst/>
            <a:rect l="l" t="t" r="r" b="b"/>
            <a:pathLst>
              <a:path w="1392012" h="1694707">
                <a:moveTo>
                  <a:pt x="0" y="0"/>
                </a:moveTo>
                <a:lnTo>
                  <a:pt x="1392012" y="0"/>
                </a:lnTo>
                <a:lnTo>
                  <a:pt x="1392012" y="1694707"/>
                </a:lnTo>
                <a:lnTo>
                  <a:pt x="0" y="169470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529514" y="6460617"/>
            <a:ext cx="850887" cy="1147667"/>
          </a:xfrm>
          <a:custGeom>
            <a:avLst/>
            <a:gdLst/>
            <a:ahLst/>
            <a:cxnLst/>
            <a:rect l="l" t="t" r="r" b="b"/>
            <a:pathLst>
              <a:path w="850887" h="1147667">
                <a:moveTo>
                  <a:pt x="0" y="0"/>
                </a:moveTo>
                <a:lnTo>
                  <a:pt x="850887" y="0"/>
                </a:lnTo>
                <a:lnTo>
                  <a:pt x="850887" y="1147667"/>
                </a:lnTo>
                <a:lnTo>
                  <a:pt x="0" y="114766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9723034" y="2973800"/>
            <a:ext cx="1288409" cy="2158975"/>
          </a:xfrm>
          <a:custGeom>
            <a:avLst/>
            <a:gdLst/>
            <a:ahLst/>
            <a:cxnLst/>
            <a:rect l="l" t="t" r="r" b="b"/>
            <a:pathLst>
              <a:path w="1288409" h="2158975">
                <a:moveTo>
                  <a:pt x="0" y="0"/>
                </a:moveTo>
                <a:lnTo>
                  <a:pt x="1288409" y="0"/>
                </a:lnTo>
                <a:lnTo>
                  <a:pt x="1288409" y="2158975"/>
                </a:lnTo>
                <a:lnTo>
                  <a:pt x="0" y="215897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2712789" y="3431019"/>
            <a:ext cx="2730503" cy="1768821"/>
          </a:xfrm>
          <a:custGeom>
            <a:avLst/>
            <a:gdLst/>
            <a:ahLst/>
            <a:cxnLst/>
            <a:rect l="l" t="t" r="r" b="b"/>
            <a:pathLst>
              <a:path w="2730503" h="1768821">
                <a:moveTo>
                  <a:pt x="0" y="0"/>
                </a:moveTo>
                <a:lnTo>
                  <a:pt x="2730503" y="0"/>
                </a:lnTo>
                <a:lnTo>
                  <a:pt x="2730503" y="1768821"/>
                </a:lnTo>
                <a:lnTo>
                  <a:pt x="0" y="176882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1028700" y="776764"/>
            <a:ext cx="6787620"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Variáveis em C#</a:t>
            </a:r>
          </a:p>
        </p:txBody>
      </p:sp>
      <p:sp>
        <p:nvSpPr>
          <p:cNvPr id="7" name="TextBox 7"/>
          <p:cNvSpPr txBox="1"/>
          <p:nvPr/>
        </p:nvSpPr>
        <p:spPr>
          <a:xfrm>
            <a:off x="5400008" y="4679556"/>
            <a:ext cx="7637421" cy="1596952"/>
          </a:xfrm>
          <a:prstGeom prst="rect">
            <a:avLst/>
          </a:prstGeom>
        </p:spPr>
        <p:txBody>
          <a:bodyPr lIns="0" tIns="0" rIns="0" bIns="0" rtlCol="0" anchor="t">
            <a:spAutoFit/>
          </a:bodyPr>
          <a:lstStyle/>
          <a:p>
            <a:pPr algn="l">
              <a:lnSpc>
                <a:spcPts val="11434"/>
              </a:lnSpc>
            </a:pPr>
            <a:r>
              <a:rPr lang="en-US" sz="8167" b="1">
                <a:solidFill>
                  <a:srgbClr val="3C67BF"/>
                </a:solidFill>
                <a:latin typeface="Poppins Semi-Bold"/>
                <a:ea typeface="Poppins Semi-Bold"/>
                <a:cs typeface="Poppins Semi-Bold"/>
                <a:sym typeface="Poppins Semi-Bold"/>
              </a:rPr>
              <a:t>int </a:t>
            </a:r>
            <a:r>
              <a:rPr lang="en-US" sz="8167" b="1">
                <a:solidFill>
                  <a:srgbClr val="FFFFFF"/>
                </a:solidFill>
                <a:latin typeface="Poppins Semi-Bold"/>
                <a:ea typeface="Poppins Semi-Bold"/>
                <a:cs typeface="Poppins Semi-Bold"/>
                <a:sym typeface="Poppins Semi-Bold"/>
              </a:rPr>
              <a:t>idade </a:t>
            </a:r>
            <a:r>
              <a:rPr lang="en-US" sz="8167" b="1">
                <a:solidFill>
                  <a:srgbClr val="FF5757"/>
                </a:solidFill>
                <a:latin typeface="Poppins Semi-Bold"/>
                <a:ea typeface="Poppins Semi-Bold"/>
                <a:cs typeface="Poppins Semi-Bold"/>
                <a:sym typeface="Poppins Semi-Bold"/>
              </a:rPr>
              <a:t>= </a:t>
            </a:r>
            <a:r>
              <a:rPr lang="en-US" sz="8167" b="1">
                <a:solidFill>
                  <a:srgbClr val="7ED957"/>
                </a:solidFill>
                <a:latin typeface="Poppins Semi-Bold"/>
                <a:ea typeface="Poppins Semi-Bold"/>
                <a:cs typeface="Poppins Semi-Bold"/>
                <a:sym typeface="Poppins Semi-Bold"/>
              </a:rPr>
              <a:t>29</a:t>
            </a:r>
          </a:p>
        </p:txBody>
      </p:sp>
      <p:sp>
        <p:nvSpPr>
          <p:cNvPr id="8" name="TextBox 8"/>
          <p:cNvSpPr txBox="1"/>
          <p:nvPr/>
        </p:nvSpPr>
        <p:spPr>
          <a:xfrm>
            <a:off x="1482614" y="2604992"/>
            <a:ext cx="5415239" cy="965121"/>
          </a:xfrm>
          <a:prstGeom prst="rect">
            <a:avLst/>
          </a:prstGeom>
        </p:spPr>
        <p:txBody>
          <a:bodyPr lIns="0" tIns="0" rIns="0" bIns="0" rtlCol="0" anchor="t">
            <a:spAutoFit/>
          </a:bodyPr>
          <a:lstStyle/>
          <a:p>
            <a:pPr algn="l">
              <a:lnSpc>
                <a:spcPts val="6999"/>
              </a:lnSpc>
            </a:pPr>
            <a:r>
              <a:rPr lang="en-US" sz="4999" b="1">
                <a:solidFill>
                  <a:srgbClr val="3C67BF"/>
                </a:solidFill>
                <a:latin typeface="Poppins Semi-Bold"/>
                <a:ea typeface="Poppins Semi-Bold"/>
                <a:cs typeface="Poppins Semi-Bold"/>
                <a:sym typeface="Poppins Semi-Bold"/>
              </a:rPr>
              <a:t>Tipo da variável</a:t>
            </a:r>
          </a:p>
        </p:txBody>
      </p:sp>
      <p:sp>
        <p:nvSpPr>
          <p:cNvPr id="9" name="TextBox 9"/>
          <p:cNvSpPr txBox="1"/>
          <p:nvPr/>
        </p:nvSpPr>
        <p:spPr>
          <a:xfrm>
            <a:off x="8167678" y="1442152"/>
            <a:ext cx="3468567" cy="1631871"/>
          </a:xfrm>
          <a:prstGeom prst="rect">
            <a:avLst/>
          </a:prstGeom>
        </p:spPr>
        <p:txBody>
          <a:bodyPr lIns="0" tIns="0" rIns="0" bIns="0" rtlCol="0" anchor="t">
            <a:spAutoFit/>
          </a:bodyPr>
          <a:lstStyle/>
          <a:p>
            <a:pPr algn="ctr">
              <a:lnSpc>
                <a:spcPts val="5999"/>
              </a:lnSpc>
            </a:pPr>
            <a:r>
              <a:rPr lang="en-US" sz="4999" b="1">
                <a:solidFill>
                  <a:srgbClr val="FF5757"/>
                </a:solidFill>
                <a:latin typeface="Poppins Semi-Bold"/>
                <a:ea typeface="Poppins Semi-Bold"/>
                <a:cs typeface="Poppins Semi-Bold"/>
                <a:sym typeface="Poppins Semi-Bold"/>
              </a:rPr>
              <a:t>Sinal de atribuição</a:t>
            </a:r>
          </a:p>
        </p:txBody>
      </p:sp>
      <p:sp>
        <p:nvSpPr>
          <p:cNvPr id="10" name="TextBox 10"/>
          <p:cNvSpPr txBox="1"/>
          <p:nvPr/>
        </p:nvSpPr>
        <p:spPr>
          <a:xfrm>
            <a:off x="6023743" y="7538942"/>
            <a:ext cx="5978652" cy="965121"/>
          </a:xfrm>
          <a:prstGeom prst="rect">
            <a:avLst/>
          </a:prstGeom>
        </p:spPr>
        <p:txBody>
          <a:bodyPr lIns="0" tIns="0" rIns="0" bIns="0" rtlCol="0" anchor="t">
            <a:spAutoFit/>
          </a:bodyPr>
          <a:lstStyle/>
          <a:p>
            <a:pPr algn="l">
              <a:lnSpc>
                <a:spcPts val="6999"/>
              </a:lnSpc>
            </a:pPr>
            <a:r>
              <a:rPr lang="en-US" sz="4999" b="1">
                <a:solidFill>
                  <a:srgbClr val="FFFFFF"/>
                </a:solidFill>
                <a:latin typeface="Poppins Semi-Bold"/>
                <a:ea typeface="Poppins Semi-Bold"/>
                <a:cs typeface="Poppins Semi-Bold"/>
                <a:sym typeface="Poppins Semi-Bold"/>
              </a:rPr>
              <a:t>Nome da variável</a:t>
            </a:r>
          </a:p>
        </p:txBody>
      </p:sp>
      <p:sp>
        <p:nvSpPr>
          <p:cNvPr id="11" name="TextBox 11"/>
          <p:cNvSpPr txBox="1"/>
          <p:nvPr/>
        </p:nvSpPr>
        <p:spPr>
          <a:xfrm>
            <a:off x="12511897" y="2604992"/>
            <a:ext cx="5757167" cy="965121"/>
          </a:xfrm>
          <a:prstGeom prst="rect">
            <a:avLst/>
          </a:prstGeom>
        </p:spPr>
        <p:txBody>
          <a:bodyPr lIns="0" tIns="0" rIns="0" bIns="0" rtlCol="0" anchor="t">
            <a:spAutoFit/>
          </a:bodyPr>
          <a:lstStyle/>
          <a:p>
            <a:pPr algn="l">
              <a:lnSpc>
                <a:spcPts val="6999"/>
              </a:lnSpc>
            </a:pPr>
            <a:r>
              <a:rPr lang="en-US" sz="4999" b="1">
                <a:solidFill>
                  <a:srgbClr val="7ED957"/>
                </a:solidFill>
                <a:latin typeface="Poppins Semi-Bold"/>
                <a:ea typeface="Poppins Semi-Bold"/>
                <a:cs typeface="Poppins Semi-Bold"/>
                <a:sym typeface="Poppins Semi-Bold"/>
              </a:rPr>
              <a:t>Valor da variável</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4560134" y="6533207"/>
            <a:ext cx="3727866" cy="3752850"/>
          </a:xfrm>
          <a:custGeom>
            <a:avLst/>
            <a:gdLst/>
            <a:ahLst/>
            <a:cxnLst/>
            <a:rect l="l" t="t" r="r" b="b"/>
            <a:pathLst>
              <a:path w="3727866" h="3752850">
                <a:moveTo>
                  <a:pt x="0" y="0"/>
                </a:moveTo>
                <a:lnTo>
                  <a:pt x="3727866" y="0"/>
                </a:lnTo>
                <a:lnTo>
                  <a:pt x="3727866" y="3752850"/>
                </a:lnTo>
                <a:lnTo>
                  <a:pt x="0" y="3752850"/>
                </a:lnTo>
                <a:lnTo>
                  <a:pt x="0" y="0"/>
                </a:lnTo>
                <a:close/>
              </a:path>
            </a:pathLst>
          </a:custGeom>
          <a:blipFill>
            <a:blip r:embed="rId2"/>
            <a:stretch>
              <a:fillRect r="-925"/>
            </a:stretch>
          </a:blipFill>
        </p:spPr>
      </p:sp>
      <p:sp>
        <p:nvSpPr>
          <p:cNvPr id="3" name="TextBox 3"/>
          <p:cNvSpPr txBox="1"/>
          <p:nvPr/>
        </p:nvSpPr>
        <p:spPr>
          <a:xfrm>
            <a:off x="1028700" y="776764"/>
            <a:ext cx="6787620"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Variáveis em C#</a:t>
            </a:r>
          </a:p>
        </p:txBody>
      </p:sp>
      <p:sp>
        <p:nvSpPr>
          <p:cNvPr id="4" name="TextBox 4"/>
          <p:cNvSpPr txBox="1"/>
          <p:nvPr/>
        </p:nvSpPr>
        <p:spPr>
          <a:xfrm>
            <a:off x="3572" y="4109295"/>
            <a:ext cx="18646473" cy="2503761"/>
          </a:xfrm>
          <a:prstGeom prst="rect">
            <a:avLst/>
          </a:prstGeom>
        </p:spPr>
        <p:txBody>
          <a:bodyPr lIns="0" tIns="0" rIns="0" bIns="0" rtlCol="0" anchor="t">
            <a:spAutoFit/>
          </a:bodyPr>
          <a:lstStyle/>
          <a:p>
            <a:pPr algn="ctr">
              <a:lnSpc>
                <a:spcPts val="4723"/>
              </a:lnSpc>
            </a:pPr>
            <a:r>
              <a:rPr lang="en-US" sz="3999" b="1">
                <a:solidFill>
                  <a:srgbClr val="FFFFFF"/>
                </a:solidFill>
                <a:latin typeface="Poppins Semi-Bold"/>
                <a:ea typeface="Poppins Semi-Bold"/>
                <a:cs typeface="Poppins Semi-Bold"/>
                <a:sym typeface="Poppins Semi-Bold"/>
              </a:rPr>
              <a:t>Não usar acento ou caracteres especiais (</a:t>
            </a:r>
            <a:r>
              <a:rPr lang="en-US" sz="3999" b="1">
                <a:solidFill>
                  <a:srgbClr val="FF5757"/>
                </a:solidFill>
                <a:latin typeface="Poppins Semi-Bold"/>
                <a:ea typeface="Poppins Semi-Bold"/>
                <a:cs typeface="Poppins Semi-Bold"/>
                <a:sym typeface="Poppins Semi-Bold"/>
              </a:rPr>
              <a:t>á, é, ô, ç</a:t>
            </a:r>
            <a:r>
              <a:rPr lang="en-US" sz="3999" b="1">
                <a:solidFill>
                  <a:srgbClr val="FFFFFF"/>
                </a:solidFill>
                <a:latin typeface="Poppins Semi-Bold"/>
                <a:ea typeface="Poppins Semi-Bold"/>
                <a:cs typeface="Poppins Semi-Bold"/>
                <a:sym typeface="Poppins Semi-Bold"/>
              </a:rPr>
              <a:t> etc.) Nunca iniciar com números (</a:t>
            </a:r>
            <a:r>
              <a:rPr lang="en-US" sz="3999" b="1">
                <a:solidFill>
                  <a:srgbClr val="FF5757"/>
                </a:solidFill>
                <a:latin typeface="Poppins Semi-Bold"/>
                <a:ea typeface="Poppins Semi-Bold"/>
                <a:cs typeface="Poppins Semi-Bold"/>
                <a:sym typeface="Poppins Semi-Bold"/>
              </a:rPr>
              <a:t>123var, 40Anos</a:t>
            </a:r>
            <a:r>
              <a:rPr lang="en-US" sz="3999" b="1">
                <a:solidFill>
                  <a:srgbClr val="FFFFFF"/>
                </a:solidFill>
                <a:latin typeface="Poppins Semi-Bold"/>
                <a:ea typeface="Poppins Semi-Bold"/>
                <a:cs typeface="Poppins Semi-Bold"/>
                <a:sym typeface="Poppins Semi-Bold"/>
              </a:rPr>
              <a:t> etc.) Não pode haver espaços (</a:t>
            </a:r>
            <a:r>
              <a:rPr lang="en-US" sz="3999" b="1">
                <a:solidFill>
                  <a:srgbClr val="FF5757"/>
                </a:solidFill>
                <a:latin typeface="Poppins Semi-Bold"/>
                <a:ea typeface="Poppins Semi-Bold"/>
                <a:cs typeface="Poppins Semi-Bold"/>
                <a:sym typeface="Poppins Semi-Bold"/>
              </a:rPr>
              <a:t>minha Nota, nota Turma</a:t>
            </a:r>
            <a:r>
              <a:rPr lang="en-US" sz="3999" b="1">
                <a:solidFill>
                  <a:srgbClr val="FFFFFF"/>
                </a:solidFill>
                <a:latin typeface="Poppins Semi-Bold"/>
                <a:ea typeface="Poppins Semi-Bold"/>
                <a:cs typeface="Poppins Semi-Bold"/>
                <a:sym typeface="Poppins Semi-Bold"/>
              </a:rPr>
              <a:t> etc.) Usar notação de camelo (</a:t>
            </a:r>
            <a:r>
              <a:rPr lang="en-US" sz="3999" b="1">
                <a:solidFill>
                  <a:srgbClr val="FFCB85"/>
                </a:solidFill>
                <a:latin typeface="Poppins Semi-Bold"/>
                <a:ea typeface="Poppins Semi-Bold"/>
                <a:cs typeface="Poppins Semi-Bold"/>
                <a:sym typeface="Poppins Semi-Bold"/>
              </a:rPr>
              <a:t>minhaNota, notaTurma, numeroMaior</a:t>
            </a:r>
            <a:r>
              <a:rPr lang="en-US" sz="3999" b="1">
                <a:solidFill>
                  <a:srgbClr val="FFFFFF"/>
                </a:solidFill>
                <a:latin typeface="Poppins Semi-Bold"/>
                <a:ea typeface="Poppins Semi-Bold"/>
                <a:cs typeface="Poppins Semi-Bold"/>
                <a:sym typeface="Poppins Semi-Bold"/>
              </a:rPr>
              <a:t> etc.)</a:t>
            </a:r>
          </a:p>
        </p:txBody>
      </p:sp>
      <p:sp>
        <p:nvSpPr>
          <p:cNvPr id="5" name="TextBox 5"/>
          <p:cNvSpPr txBox="1"/>
          <p:nvPr/>
        </p:nvSpPr>
        <p:spPr>
          <a:xfrm>
            <a:off x="1180052" y="2624414"/>
            <a:ext cx="16251536" cy="965121"/>
          </a:xfrm>
          <a:prstGeom prst="rect">
            <a:avLst/>
          </a:prstGeom>
        </p:spPr>
        <p:txBody>
          <a:bodyPr lIns="0" tIns="0" rIns="0" bIns="0" rtlCol="0" anchor="t">
            <a:spAutoFit/>
          </a:bodyPr>
          <a:lstStyle/>
          <a:p>
            <a:pPr algn="ctr">
              <a:lnSpc>
                <a:spcPts val="6999"/>
              </a:lnSpc>
            </a:pPr>
            <a:r>
              <a:rPr lang="en-US" sz="4999" b="1">
                <a:solidFill>
                  <a:srgbClr val="FFFFFF"/>
                </a:solidFill>
                <a:latin typeface="Poppins Semi-Bold"/>
                <a:ea typeface="Poppins Semi-Bold"/>
                <a:cs typeface="Poppins Semi-Bold"/>
                <a:sym typeface="Poppins Semi-Bold"/>
              </a:rPr>
              <a:t>Regras para nomes de variáveis e constantes!!!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201617" y="2786072"/>
            <a:ext cx="15506700" cy="7496175"/>
          </a:xfrm>
          <a:custGeom>
            <a:avLst/>
            <a:gdLst/>
            <a:ahLst/>
            <a:cxnLst/>
            <a:rect l="l" t="t" r="r" b="b"/>
            <a:pathLst>
              <a:path w="15506700" h="7496175">
                <a:moveTo>
                  <a:pt x="0" y="0"/>
                </a:moveTo>
                <a:lnTo>
                  <a:pt x="15506700" y="0"/>
                </a:lnTo>
                <a:lnTo>
                  <a:pt x="15506700" y="7496175"/>
                </a:lnTo>
                <a:lnTo>
                  <a:pt x="0" y="7496175"/>
                </a:lnTo>
                <a:lnTo>
                  <a:pt x="0" y="0"/>
                </a:lnTo>
                <a:close/>
              </a:path>
            </a:pathLst>
          </a:custGeom>
          <a:blipFill>
            <a:blip r:embed="rId2"/>
            <a:stretch>
              <a:fillRect/>
            </a:stretch>
          </a:blipFill>
        </p:spPr>
      </p:sp>
      <p:sp>
        <p:nvSpPr>
          <p:cNvPr id="3" name="TextBox 3"/>
          <p:cNvSpPr txBox="1"/>
          <p:nvPr/>
        </p:nvSpPr>
        <p:spPr>
          <a:xfrm>
            <a:off x="1028700" y="833914"/>
            <a:ext cx="6787620" cy="1106653"/>
          </a:xfrm>
          <a:prstGeom prst="rect">
            <a:avLst/>
          </a:prstGeom>
        </p:spPr>
        <p:txBody>
          <a:bodyPr lIns="0" tIns="0" rIns="0" bIns="0" rtlCol="0" anchor="t">
            <a:spAutoFit/>
          </a:bodyPr>
          <a:lstStyle/>
          <a:p>
            <a:pPr algn="l">
              <a:lnSpc>
                <a:spcPts val="7706"/>
              </a:lnSpc>
            </a:pPr>
            <a:r>
              <a:rPr lang="en-US" sz="5964" b="1">
                <a:solidFill>
                  <a:srgbClr val="FFFFFF"/>
                </a:solidFill>
                <a:latin typeface="Poppins Semi-Bold"/>
                <a:ea typeface="Poppins Semi-Bold"/>
                <a:cs typeface="Poppins Semi-Bold"/>
                <a:sym typeface="Poppins Semi-Bold"/>
              </a:rPr>
              <a:t>Variáveis em C#</a:t>
            </a:r>
          </a:p>
        </p:txBody>
      </p:sp>
      <p:sp>
        <p:nvSpPr>
          <p:cNvPr id="4" name="TextBox 4"/>
          <p:cNvSpPr txBox="1"/>
          <p:nvPr/>
        </p:nvSpPr>
        <p:spPr>
          <a:xfrm>
            <a:off x="6935105" y="1820770"/>
            <a:ext cx="194291" cy="917496"/>
          </a:xfrm>
          <a:prstGeom prst="rect">
            <a:avLst/>
          </a:prstGeom>
        </p:spPr>
        <p:txBody>
          <a:bodyPr lIns="0" tIns="0" rIns="0" bIns="0" rtlCol="0" anchor="t">
            <a:spAutoFit/>
          </a:bodyPr>
          <a:lstStyle/>
          <a:p>
            <a:pPr algn="l">
              <a:lnSpc>
                <a:spcPts val="6459"/>
              </a:lnSpc>
            </a:pPr>
            <a:r>
              <a:rPr lang="en-US" sz="4999" b="1">
                <a:solidFill>
                  <a:srgbClr val="FFFFFF"/>
                </a:solidFill>
                <a:latin typeface="Poppins Semi-Bold"/>
                <a:ea typeface="Poppins Semi-Bold"/>
                <a:cs typeface="Poppins Semi-Bold"/>
                <a:sym typeface="Poppins Semi-Bold"/>
              </a:rPr>
              <a:t> </a:t>
            </a:r>
          </a:p>
        </p:txBody>
      </p:sp>
      <p:sp>
        <p:nvSpPr>
          <p:cNvPr id="5" name="TextBox 5"/>
          <p:cNvSpPr txBox="1"/>
          <p:nvPr/>
        </p:nvSpPr>
        <p:spPr>
          <a:xfrm>
            <a:off x="5188487" y="1773145"/>
            <a:ext cx="7682513" cy="965121"/>
          </a:xfrm>
          <a:prstGeom prst="rect">
            <a:avLst/>
          </a:prstGeom>
        </p:spPr>
        <p:txBody>
          <a:bodyPr lIns="0" tIns="0" rIns="0" bIns="0" rtlCol="0" anchor="t">
            <a:spAutoFit/>
          </a:bodyPr>
          <a:lstStyle/>
          <a:p>
            <a:pPr algn="l">
              <a:lnSpc>
                <a:spcPts val="6999"/>
              </a:lnSpc>
            </a:pPr>
            <a:r>
              <a:rPr lang="en-US" sz="4999" b="1">
                <a:solidFill>
                  <a:srgbClr val="FFFFFF"/>
                </a:solidFill>
                <a:latin typeface="Poppins Semi-Bold"/>
                <a:ea typeface="Poppins Semi-Bold"/>
                <a:cs typeface="Poppins Semi-Bold"/>
                <a:sym typeface="Poppins Semi-Bold"/>
              </a:rPr>
              <a:t>Tiposdedados em C#</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028700" y="776764"/>
            <a:ext cx="4704817"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Operadores</a:t>
            </a:r>
          </a:p>
        </p:txBody>
      </p:sp>
      <p:sp>
        <p:nvSpPr>
          <p:cNvPr id="3" name="TextBox 3"/>
          <p:cNvSpPr txBox="1"/>
          <p:nvPr/>
        </p:nvSpPr>
        <p:spPr>
          <a:xfrm>
            <a:off x="164983" y="2301078"/>
            <a:ext cx="17873034" cy="7539819"/>
          </a:xfrm>
          <a:prstGeom prst="rect">
            <a:avLst/>
          </a:prstGeom>
        </p:spPr>
        <p:txBody>
          <a:bodyPr lIns="0" tIns="0" rIns="0" bIns="0" rtlCol="0" anchor="t">
            <a:spAutoFit/>
          </a:bodyPr>
          <a:lstStyle/>
          <a:p>
            <a:pPr algn="l">
              <a:lnSpc>
                <a:spcPts val="5850"/>
              </a:lnSpc>
            </a:pPr>
            <a:r>
              <a:rPr lang="en-US" sz="4899" b="1">
                <a:solidFill>
                  <a:srgbClr val="FFFFFF"/>
                </a:solidFill>
                <a:latin typeface="Poppins Semi-Bold"/>
                <a:ea typeface="Poppins Semi-Bold"/>
                <a:cs typeface="Poppins Semi-Bold"/>
                <a:sym typeface="Poppins Semi-Bold"/>
              </a:rPr>
              <a:t>Operadores são usados para realizar operações em variáveis e valores. No exemplo abaixo, usamos o </a:t>
            </a:r>
            <a:r>
              <a:rPr lang="en-US" sz="4899" b="1">
                <a:solidFill>
                  <a:srgbClr val="FF5757"/>
                </a:solidFill>
                <a:latin typeface="Poppins Semi-Bold"/>
                <a:ea typeface="Poppins Semi-Bold"/>
                <a:cs typeface="Poppins Semi-Bold"/>
                <a:sym typeface="Poppins Semi-Bold"/>
              </a:rPr>
              <a:t>+</a:t>
            </a:r>
            <a:r>
              <a:rPr lang="en-US" sz="4899" b="1">
                <a:solidFill>
                  <a:srgbClr val="FFFFFF"/>
                </a:solidFill>
                <a:latin typeface="Poppins Semi-Bold"/>
                <a:ea typeface="Poppins Semi-Bold"/>
                <a:cs typeface="Poppins Semi-Bold"/>
                <a:sym typeface="Poppins Semi-Bold"/>
              </a:rPr>
              <a:t> operador para somar dois valores: </a:t>
            </a:r>
            <a:r>
              <a:rPr lang="en-US" sz="4899" b="1">
                <a:solidFill>
                  <a:srgbClr val="3C67BF"/>
                </a:solidFill>
                <a:latin typeface="Poppins Semi-Bold"/>
                <a:ea typeface="Poppins Semi-Bold"/>
                <a:cs typeface="Poppins Semi-Bold"/>
                <a:sym typeface="Poppins Semi-Bold"/>
              </a:rPr>
              <a:t>int </a:t>
            </a:r>
            <a:r>
              <a:rPr lang="en-US" sz="4899" b="1">
                <a:solidFill>
                  <a:srgbClr val="FFFFFF"/>
                </a:solidFill>
                <a:latin typeface="Poppins Semi-Bold"/>
                <a:ea typeface="Poppins Semi-Bold"/>
                <a:cs typeface="Poppins Semi-Bold"/>
                <a:sym typeface="Poppins Semi-Bold"/>
              </a:rPr>
              <a:t>x = </a:t>
            </a:r>
            <a:r>
              <a:rPr lang="en-US" sz="4899" b="1">
                <a:solidFill>
                  <a:srgbClr val="FFCB85"/>
                </a:solidFill>
                <a:latin typeface="Poppins Semi-Bold"/>
                <a:ea typeface="Poppins Semi-Bold"/>
                <a:cs typeface="Poppins Semi-Bold"/>
                <a:sym typeface="Poppins Semi-Bold"/>
              </a:rPr>
              <a:t>10</a:t>
            </a:r>
            <a:r>
              <a:rPr lang="en-US" sz="4899" b="1">
                <a:solidFill>
                  <a:srgbClr val="FFFFFF"/>
                </a:solidFill>
                <a:latin typeface="Poppins Semi-Bold"/>
                <a:ea typeface="Poppins Semi-Bold"/>
                <a:cs typeface="Poppins Semi-Bold"/>
                <a:sym typeface="Poppins Semi-Bold"/>
              </a:rPr>
              <a:t> </a:t>
            </a:r>
            <a:r>
              <a:rPr lang="en-US" sz="4899" b="1">
                <a:solidFill>
                  <a:srgbClr val="FF5757"/>
                </a:solidFill>
                <a:latin typeface="Poppins Semi-Bold"/>
                <a:ea typeface="Poppins Semi-Bold"/>
                <a:cs typeface="Poppins Semi-Bold"/>
                <a:sym typeface="Poppins Semi-Bold"/>
              </a:rPr>
              <a:t>+</a:t>
            </a:r>
            <a:r>
              <a:rPr lang="en-US" sz="4899" b="1">
                <a:solidFill>
                  <a:srgbClr val="FFFFFF"/>
                </a:solidFill>
                <a:latin typeface="Poppins Semi-Bold"/>
                <a:ea typeface="Poppins Semi-Bold"/>
                <a:cs typeface="Poppins Semi-Bold"/>
                <a:sym typeface="Poppins Semi-Bold"/>
              </a:rPr>
              <a:t> </a:t>
            </a:r>
            <a:r>
              <a:rPr lang="en-US" sz="4899" b="1">
                <a:solidFill>
                  <a:srgbClr val="FFCB85"/>
                </a:solidFill>
                <a:latin typeface="Poppins Semi-Bold"/>
                <a:ea typeface="Poppins Semi-Bold"/>
                <a:cs typeface="Poppins Semi-Bold"/>
                <a:sym typeface="Poppins Semi-Bold"/>
              </a:rPr>
              <a:t>25</a:t>
            </a:r>
            <a:r>
              <a:rPr lang="en-US" sz="4899" b="1">
                <a:solidFill>
                  <a:srgbClr val="FFFFFF"/>
                </a:solidFill>
                <a:latin typeface="Poppins Semi-Bold"/>
                <a:ea typeface="Poppins Semi-Bold"/>
                <a:cs typeface="Poppins Semi-Bold"/>
                <a:sym typeface="Poppins Semi-Bold"/>
              </a:rPr>
              <a:t>; A variável x irá armazenar o valor 35 que é a soma de 10 mais 25</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4077091"/>
            <a:ext cx="18288000" cy="5010150"/>
          </a:xfrm>
          <a:custGeom>
            <a:avLst/>
            <a:gdLst/>
            <a:ahLst/>
            <a:cxnLst/>
            <a:rect l="l" t="t" r="r" b="b"/>
            <a:pathLst>
              <a:path w="18288000" h="5010150">
                <a:moveTo>
                  <a:pt x="0" y="0"/>
                </a:moveTo>
                <a:lnTo>
                  <a:pt x="18288000" y="0"/>
                </a:lnTo>
                <a:lnTo>
                  <a:pt x="18288000" y="5010150"/>
                </a:lnTo>
                <a:lnTo>
                  <a:pt x="0" y="5010150"/>
                </a:lnTo>
                <a:lnTo>
                  <a:pt x="0" y="0"/>
                </a:lnTo>
                <a:close/>
              </a:path>
            </a:pathLst>
          </a:custGeom>
          <a:blipFill>
            <a:blip r:embed="rId2"/>
            <a:stretch>
              <a:fillRect/>
            </a:stretch>
          </a:blipFill>
        </p:spPr>
      </p:sp>
      <p:sp>
        <p:nvSpPr>
          <p:cNvPr id="3" name="TextBox 3"/>
          <p:cNvSpPr txBox="1"/>
          <p:nvPr/>
        </p:nvSpPr>
        <p:spPr>
          <a:xfrm>
            <a:off x="1028700" y="776764"/>
            <a:ext cx="4704817"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Operadores</a:t>
            </a:r>
          </a:p>
        </p:txBody>
      </p:sp>
      <p:sp>
        <p:nvSpPr>
          <p:cNvPr id="4" name="TextBox 4"/>
          <p:cNvSpPr txBox="1"/>
          <p:nvPr/>
        </p:nvSpPr>
        <p:spPr>
          <a:xfrm>
            <a:off x="5329133" y="2931300"/>
            <a:ext cx="7395610" cy="965121"/>
          </a:xfrm>
          <a:prstGeom prst="rect">
            <a:avLst/>
          </a:prstGeom>
        </p:spPr>
        <p:txBody>
          <a:bodyPr lIns="0" tIns="0" rIns="0" bIns="0" rtlCol="0" anchor="t">
            <a:spAutoFit/>
          </a:bodyPr>
          <a:lstStyle/>
          <a:p>
            <a:pPr algn="l">
              <a:lnSpc>
                <a:spcPts val="6999"/>
              </a:lnSpc>
            </a:pPr>
            <a:r>
              <a:rPr lang="en-US" sz="4999" b="1">
                <a:solidFill>
                  <a:srgbClr val="FFFFFF"/>
                </a:solidFill>
                <a:latin typeface="Poppins Semi-Bold"/>
                <a:ea typeface="Poppins Semi-Bold"/>
                <a:cs typeface="Poppins Semi-Bold"/>
                <a:sym typeface="Poppins Semi-Bold"/>
              </a:rPr>
              <a:t>Tabela de operadores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850622" y="267986"/>
            <a:ext cx="14593043" cy="7822654"/>
          </a:xfrm>
          <a:prstGeom prst="rect">
            <a:avLst/>
          </a:prstGeom>
        </p:spPr>
        <p:txBody>
          <a:bodyPr lIns="0" tIns="0" rIns="0" bIns="0" rtlCol="0" anchor="t">
            <a:spAutoFit/>
          </a:bodyPr>
          <a:lstStyle/>
          <a:p>
            <a:pPr algn="l">
              <a:lnSpc>
                <a:spcPts val="6075"/>
              </a:lnSpc>
            </a:pPr>
            <a:r>
              <a:rPr lang="en-US" sz="4400" b="1" dirty="0" err="1">
                <a:solidFill>
                  <a:srgbClr val="FF5757"/>
                </a:solidFill>
                <a:latin typeface="Poppins Semi-Bold"/>
                <a:ea typeface="Poppins Semi-Bold"/>
                <a:cs typeface="Poppins Semi-Bold"/>
                <a:sym typeface="Poppins Semi-Bold"/>
              </a:rPr>
              <a:t>Atividade</a:t>
            </a:r>
            <a:r>
              <a:rPr lang="en-US" sz="4400" b="1" dirty="0">
                <a:solidFill>
                  <a:srgbClr val="FF5757"/>
                </a:solidFill>
                <a:latin typeface="Poppins Semi-Bold"/>
                <a:ea typeface="Poppins Semi-Bold"/>
                <a:cs typeface="Poppins Semi-Bold"/>
                <a:sym typeface="Poppins Semi-Bold"/>
              </a:rPr>
              <a:t> #1: </a:t>
            </a:r>
          </a:p>
          <a:p>
            <a:pPr algn="l">
              <a:lnSpc>
                <a:spcPts val="6075"/>
              </a:lnSpc>
            </a:pPr>
            <a:endParaRPr lang="en-US" sz="5084" b="1" dirty="0">
              <a:solidFill>
                <a:srgbClr val="FF5757"/>
              </a:solidFill>
              <a:latin typeface="Poppins Semi-Bold"/>
              <a:ea typeface="Poppins Medium"/>
              <a:cs typeface="Poppins Semi-Bold"/>
              <a:sym typeface="Poppins Semi-Bold"/>
            </a:endParaRPr>
          </a:p>
          <a:p>
            <a:pPr algn="l">
              <a:lnSpc>
                <a:spcPts val="6075"/>
              </a:lnSpc>
            </a:pPr>
            <a:r>
              <a:rPr lang="en-US" sz="4000" b="1" dirty="0" err="1">
                <a:solidFill>
                  <a:srgbClr val="FFFFFF"/>
                </a:solidFill>
                <a:latin typeface="Poppins Medium"/>
                <a:ea typeface="Poppins Medium"/>
                <a:cs typeface="Poppins Medium"/>
                <a:sym typeface="Poppins Medium"/>
              </a:rPr>
              <a:t>Crie</a:t>
            </a:r>
            <a:r>
              <a:rPr lang="en-US" sz="4000" b="1" dirty="0">
                <a:solidFill>
                  <a:srgbClr val="FFFFFF"/>
                </a:solidFill>
                <a:latin typeface="Poppins Medium"/>
                <a:ea typeface="Poppins Medium"/>
                <a:cs typeface="Poppins Medium"/>
                <a:sym typeface="Poppins Medium"/>
              </a:rPr>
              <a:t> </a:t>
            </a:r>
            <a:r>
              <a:rPr lang="en-US" sz="4000" b="1" dirty="0" err="1">
                <a:solidFill>
                  <a:srgbClr val="FFFFFF"/>
                </a:solidFill>
                <a:latin typeface="Poppins Medium"/>
                <a:ea typeface="Poppins Medium"/>
                <a:cs typeface="Poppins Medium"/>
                <a:sym typeface="Poppins Medium"/>
              </a:rPr>
              <a:t>uma</a:t>
            </a:r>
            <a:r>
              <a:rPr lang="en-US" sz="4000" b="1" dirty="0">
                <a:solidFill>
                  <a:srgbClr val="FFFFFF"/>
                </a:solidFill>
                <a:latin typeface="Poppins Medium"/>
                <a:ea typeface="Poppins Medium"/>
                <a:cs typeface="Poppins Medium"/>
                <a:sym typeface="Poppins Medium"/>
              </a:rPr>
              <a:t> </a:t>
            </a:r>
            <a:r>
              <a:rPr lang="en-US" sz="4000" b="1" dirty="0" err="1">
                <a:solidFill>
                  <a:srgbClr val="FFFFFF"/>
                </a:solidFill>
                <a:latin typeface="Poppins Medium"/>
                <a:ea typeface="Poppins Medium"/>
                <a:cs typeface="Poppins Medium"/>
                <a:sym typeface="Poppins Medium"/>
              </a:rPr>
              <a:t>variável</a:t>
            </a:r>
            <a:r>
              <a:rPr lang="en-US" sz="4000" b="1" dirty="0">
                <a:solidFill>
                  <a:srgbClr val="FFFFFF"/>
                </a:solidFill>
                <a:latin typeface="Poppins Medium"/>
                <a:ea typeface="Poppins Medium"/>
                <a:cs typeface="Poppins Medium"/>
                <a:sym typeface="Poppins Medium"/>
              </a:rPr>
              <a:t> para </a:t>
            </a:r>
            <a:r>
              <a:rPr lang="en-US" sz="4000" b="1" dirty="0" err="1">
                <a:solidFill>
                  <a:srgbClr val="FFFFFF"/>
                </a:solidFill>
                <a:latin typeface="Poppins Medium"/>
                <a:ea typeface="Poppins Medium"/>
                <a:cs typeface="Poppins Medium"/>
                <a:sym typeface="Poppins Medium"/>
              </a:rPr>
              <a:t>cada</a:t>
            </a:r>
            <a:r>
              <a:rPr lang="en-US" sz="4000" b="1" dirty="0">
                <a:solidFill>
                  <a:srgbClr val="FFFFFF"/>
                </a:solidFill>
                <a:latin typeface="Poppins Medium"/>
                <a:ea typeface="Poppins Medium"/>
                <a:cs typeface="Poppins Medium"/>
                <a:sym typeface="Poppins Medium"/>
              </a:rPr>
              <a:t> </a:t>
            </a:r>
            <a:r>
              <a:rPr lang="en-US" sz="4000" b="1" dirty="0" err="1">
                <a:solidFill>
                  <a:srgbClr val="FFFFFF"/>
                </a:solidFill>
                <a:latin typeface="Poppins Medium"/>
                <a:ea typeface="Poppins Medium"/>
                <a:cs typeface="Poppins Medium"/>
                <a:sym typeface="Poppins Medium"/>
              </a:rPr>
              <a:t>operação</a:t>
            </a:r>
            <a:r>
              <a:rPr lang="en-US" sz="4000" b="1" dirty="0">
                <a:solidFill>
                  <a:srgbClr val="FFFFFF"/>
                </a:solidFill>
                <a:latin typeface="Poppins Medium"/>
                <a:ea typeface="Poppins Medium"/>
                <a:cs typeface="Poppins Medium"/>
                <a:sym typeface="Poppins Medium"/>
              </a:rPr>
              <a:t> </a:t>
            </a:r>
            <a:r>
              <a:rPr lang="en-US" sz="4000" b="1" dirty="0" err="1">
                <a:solidFill>
                  <a:srgbClr val="FFFFFF"/>
                </a:solidFill>
                <a:latin typeface="Poppins Medium"/>
                <a:ea typeface="Poppins Medium"/>
                <a:cs typeface="Poppins Medium"/>
                <a:sym typeface="Poppins Medium"/>
              </a:rPr>
              <a:t>abaixo</a:t>
            </a:r>
            <a:r>
              <a:rPr lang="en-US" sz="4000" b="1" dirty="0">
                <a:solidFill>
                  <a:srgbClr val="FFFFFF"/>
                </a:solidFill>
                <a:latin typeface="Poppins Medium"/>
                <a:ea typeface="Poppins Medium"/>
                <a:cs typeface="Poppins Medium"/>
                <a:sym typeface="Poppins Medium"/>
              </a:rPr>
              <a:t>, </a:t>
            </a:r>
            <a:r>
              <a:rPr lang="en-US" sz="4000" b="1" dirty="0" err="1">
                <a:solidFill>
                  <a:srgbClr val="FFFFFF"/>
                </a:solidFill>
                <a:latin typeface="Poppins Medium"/>
                <a:ea typeface="Poppins Medium"/>
                <a:cs typeface="Poppins Medium"/>
                <a:sym typeface="Poppins Medium"/>
              </a:rPr>
              <a:t>informe</a:t>
            </a:r>
            <a:r>
              <a:rPr lang="en-US" sz="4000" b="1" dirty="0">
                <a:solidFill>
                  <a:srgbClr val="FFFFFF"/>
                </a:solidFill>
                <a:latin typeface="Poppins Medium"/>
                <a:ea typeface="Poppins Medium"/>
                <a:cs typeface="Poppins Medium"/>
                <a:sym typeface="Poppins Medium"/>
              </a:rPr>
              <a:t> </a:t>
            </a:r>
            <a:r>
              <a:rPr lang="en-US" sz="4000" b="1" dirty="0" err="1">
                <a:solidFill>
                  <a:srgbClr val="FFFFFF"/>
                </a:solidFill>
                <a:latin typeface="Poppins Medium"/>
                <a:ea typeface="Poppins Medium"/>
                <a:cs typeface="Poppins Medium"/>
                <a:sym typeface="Poppins Medium"/>
              </a:rPr>
              <a:t>manualmente</a:t>
            </a:r>
            <a:r>
              <a:rPr lang="en-US" sz="4000" b="1" dirty="0">
                <a:solidFill>
                  <a:srgbClr val="FFFFFF"/>
                </a:solidFill>
                <a:latin typeface="Poppins Medium"/>
                <a:ea typeface="Poppins Medium"/>
                <a:cs typeface="Poppins Medium"/>
                <a:sym typeface="Poppins Medium"/>
              </a:rPr>
              <a:t> </a:t>
            </a:r>
            <a:r>
              <a:rPr lang="en-US" sz="4000" b="1" dirty="0" err="1">
                <a:solidFill>
                  <a:srgbClr val="FFFFFF"/>
                </a:solidFill>
                <a:latin typeface="Poppins Medium"/>
                <a:ea typeface="Poppins Medium"/>
                <a:cs typeface="Poppins Medium"/>
                <a:sym typeface="Poppins Medium"/>
              </a:rPr>
              <a:t>dois</a:t>
            </a:r>
            <a:r>
              <a:rPr lang="en-US" sz="4000" b="1" dirty="0">
                <a:solidFill>
                  <a:srgbClr val="FFFFFF"/>
                </a:solidFill>
                <a:latin typeface="Poppins Medium"/>
                <a:ea typeface="Poppins Medium"/>
                <a:cs typeface="Poppins Medium"/>
                <a:sym typeface="Poppins Medium"/>
              </a:rPr>
              <a:t> </a:t>
            </a:r>
            <a:r>
              <a:rPr lang="en-US" sz="4000" b="1" dirty="0" err="1">
                <a:solidFill>
                  <a:srgbClr val="FFFFFF"/>
                </a:solidFill>
                <a:latin typeface="Poppins Medium"/>
                <a:ea typeface="Poppins Medium"/>
                <a:cs typeface="Poppins Medium"/>
                <a:sym typeface="Poppins Medium"/>
              </a:rPr>
              <a:t>valores</a:t>
            </a:r>
            <a:r>
              <a:rPr lang="en-US" sz="4000" b="1" dirty="0">
                <a:solidFill>
                  <a:srgbClr val="FFFFFF"/>
                </a:solidFill>
                <a:latin typeface="Poppins Medium"/>
                <a:ea typeface="Poppins Medium"/>
                <a:cs typeface="Poppins Medium"/>
                <a:sym typeface="Poppins Medium"/>
              </a:rPr>
              <a:t> para </a:t>
            </a:r>
            <a:r>
              <a:rPr lang="en-US" sz="4000" b="1" dirty="0" err="1">
                <a:solidFill>
                  <a:srgbClr val="FFFFFF"/>
                </a:solidFill>
                <a:latin typeface="Poppins Medium"/>
                <a:ea typeface="Poppins Medium"/>
                <a:cs typeface="Poppins Medium"/>
                <a:sym typeface="Poppins Medium"/>
              </a:rPr>
              <a:t>cada</a:t>
            </a:r>
            <a:r>
              <a:rPr lang="en-US" sz="4000" b="1" dirty="0">
                <a:solidFill>
                  <a:srgbClr val="FFFFFF"/>
                </a:solidFill>
                <a:latin typeface="Poppins Medium"/>
                <a:ea typeface="Poppins Medium"/>
                <a:cs typeface="Poppins Medium"/>
                <a:sym typeface="Poppins Medium"/>
              </a:rPr>
              <a:t> </a:t>
            </a:r>
            <a:r>
              <a:rPr lang="en-US" sz="4000" b="1" dirty="0" err="1">
                <a:solidFill>
                  <a:srgbClr val="FFFFFF"/>
                </a:solidFill>
                <a:latin typeface="Poppins Medium"/>
                <a:ea typeface="Poppins Medium"/>
                <a:cs typeface="Poppins Medium"/>
                <a:sym typeface="Poppins Medium"/>
              </a:rPr>
              <a:t>operador</a:t>
            </a:r>
            <a:r>
              <a:rPr lang="en-US" sz="4000" b="1" dirty="0">
                <a:solidFill>
                  <a:srgbClr val="FFFFFF"/>
                </a:solidFill>
                <a:latin typeface="Poppins Medium"/>
                <a:ea typeface="Poppins Medium"/>
                <a:cs typeface="Poppins Medium"/>
                <a:sym typeface="Poppins Medium"/>
              </a:rPr>
              <a:t> e </a:t>
            </a:r>
            <a:r>
              <a:rPr lang="en-US" sz="4000" b="1" dirty="0" err="1">
                <a:solidFill>
                  <a:srgbClr val="FFFFFF"/>
                </a:solidFill>
                <a:latin typeface="Poppins Medium"/>
                <a:ea typeface="Poppins Medium"/>
                <a:cs typeface="Poppins Medium"/>
                <a:sym typeface="Poppins Medium"/>
              </a:rPr>
              <a:t>exiba</a:t>
            </a:r>
            <a:r>
              <a:rPr lang="en-US" sz="4000" b="1" dirty="0">
                <a:solidFill>
                  <a:srgbClr val="FFFFFF"/>
                </a:solidFill>
                <a:latin typeface="Poppins Medium"/>
                <a:ea typeface="Poppins Medium"/>
                <a:cs typeface="Poppins Medium"/>
                <a:sym typeface="Poppins Medium"/>
              </a:rPr>
              <a:t> o valor final de </a:t>
            </a:r>
            <a:r>
              <a:rPr lang="en-US" sz="4000" b="1" dirty="0" err="1">
                <a:solidFill>
                  <a:srgbClr val="FFFFFF"/>
                </a:solidFill>
                <a:latin typeface="Poppins Medium"/>
                <a:ea typeface="Poppins Medium"/>
                <a:cs typeface="Poppins Medium"/>
                <a:sym typeface="Poppins Medium"/>
              </a:rPr>
              <a:t>cada</a:t>
            </a:r>
            <a:r>
              <a:rPr lang="en-US" sz="4000" b="1" dirty="0">
                <a:solidFill>
                  <a:srgbClr val="FFFFFF"/>
                </a:solidFill>
                <a:latin typeface="Poppins Medium"/>
                <a:ea typeface="Poppins Medium"/>
                <a:cs typeface="Poppins Medium"/>
                <a:sym typeface="Poppins Medium"/>
              </a:rPr>
              <a:t> </a:t>
            </a:r>
            <a:r>
              <a:rPr lang="en-US" sz="4000" b="1" dirty="0" err="1">
                <a:solidFill>
                  <a:srgbClr val="FFFFFF"/>
                </a:solidFill>
                <a:latin typeface="Poppins Medium"/>
                <a:ea typeface="Poppins Medium"/>
                <a:cs typeface="Poppins Medium"/>
                <a:sym typeface="Poppins Medium"/>
              </a:rPr>
              <a:t>variável</a:t>
            </a:r>
            <a:r>
              <a:rPr lang="en-US" sz="4000" b="1" dirty="0">
                <a:solidFill>
                  <a:srgbClr val="FFFFFF"/>
                </a:solidFill>
                <a:latin typeface="Poppins Medium"/>
                <a:ea typeface="Poppins Medium"/>
                <a:cs typeface="Poppins Medium"/>
                <a:sym typeface="Poppins Medium"/>
              </a:rPr>
              <a:t>. </a:t>
            </a:r>
          </a:p>
          <a:p>
            <a:pPr algn="l">
              <a:lnSpc>
                <a:spcPts val="6075"/>
              </a:lnSpc>
            </a:pPr>
            <a:endParaRPr lang="en-US" sz="4000" b="1" dirty="0">
              <a:solidFill>
                <a:srgbClr val="FFFFFF"/>
              </a:solidFill>
              <a:latin typeface="Poppins Medium"/>
              <a:ea typeface="Poppins Medium"/>
              <a:cs typeface="Poppins Medium"/>
              <a:sym typeface="Poppins Medium"/>
            </a:endParaRPr>
          </a:p>
          <a:p>
            <a:pPr algn="l">
              <a:lnSpc>
                <a:spcPts val="6075"/>
              </a:lnSpc>
            </a:pPr>
            <a:r>
              <a:rPr lang="en-US" sz="4400" b="1" dirty="0">
                <a:solidFill>
                  <a:srgbClr val="FFFFFF"/>
                </a:solidFill>
                <a:latin typeface="Poppins Semi-Bold"/>
                <a:ea typeface="Poppins Semi-Bold"/>
                <a:cs typeface="Poppins Semi-Bold"/>
                <a:sym typeface="Poppins Semi-Bold"/>
              </a:rPr>
              <a:t>+ soma</a:t>
            </a:r>
          </a:p>
          <a:p>
            <a:pPr algn="l">
              <a:lnSpc>
                <a:spcPts val="6075"/>
              </a:lnSpc>
            </a:pPr>
            <a:r>
              <a:rPr lang="en-US" sz="4400" b="1" dirty="0">
                <a:solidFill>
                  <a:srgbClr val="FFFFFF"/>
                </a:solidFill>
                <a:latin typeface="Poppins Semi-Bold"/>
                <a:ea typeface="Poppins Semi-Bold"/>
                <a:cs typeface="Poppins Semi-Bold"/>
                <a:sym typeface="Poppins Semi-Bold"/>
              </a:rPr>
              <a:t> - </a:t>
            </a:r>
            <a:r>
              <a:rPr lang="en-US" sz="4400" b="1" dirty="0" err="1">
                <a:solidFill>
                  <a:srgbClr val="FFFFFF"/>
                </a:solidFill>
                <a:latin typeface="Poppins Semi-Bold"/>
                <a:ea typeface="Poppins Semi-Bold"/>
                <a:cs typeface="Poppins Semi-Bold"/>
                <a:sym typeface="Poppins Semi-Bold"/>
              </a:rPr>
              <a:t>Subtração</a:t>
            </a:r>
            <a:endParaRPr lang="en-US" sz="4400" b="1" dirty="0">
              <a:solidFill>
                <a:srgbClr val="FFFFFF"/>
              </a:solidFill>
              <a:latin typeface="Poppins Semi-Bold"/>
              <a:ea typeface="Poppins Semi-Bold"/>
              <a:cs typeface="Poppins Semi-Bold"/>
              <a:sym typeface="Poppins Semi-Bold"/>
            </a:endParaRPr>
          </a:p>
          <a:p>
            <a:pPr algn="l">
              <a:lnSpc>
                <a:spcPts val="6075"/>
              </a:lnSpc>
            </a:pPr>
            <a:r>
              <a:rPr lang="en-US" sz="4400" b="1" dirty="0">
                <a:solidFill>
                  <a:srgbClr val="FFFFFF"/>
                </a:solidFill>
                <a:latin typeface="Poppins Semi-Bold"/>
                <a:ea typeface="Poppins Semi-Bold"/>
                <a:cs typeface="Poppins Semi-Bold"/>
                <a:sym typeface="Poppins Semi-Bold"/>
              </a:rPr>
              <a:t> * </a:t>
            </a:r>
            <a:r>
              <a:rPr lang="en-US" sz="4400" b="1" dirty="0" err="1">
                <a:solidFill>
                  <a:srgbClr val="FFFFFF"/>
                </a:solidFill>
                <a:latin typeface="Poppins Semi-Bold"/>
                <a:ea typeface="Poppins Semi-Bold"/>
                <a:cs typeface="Poppins Semi-Bold"/>
                <a:sym typeface="Poppins Semi-Bold"/>
              </a:rPr>
              <a:t>multiplicação</a:t>
            </a:r>
            <a:r>
              <a:rPr lang="en-US" sz="4400" b="1" dirty="0">
                <a:solidFill>
                  <a:srgbClr val="FFFFFF"/>
                </a:solidFill>
                <a:latin typeface="Poppins Semi-Bold"/>
                <a:ea typeface="Poppins Semi-Bold"/>
                <a:cs typeface="Poppins Semi-Bold"/>
                <a:sym typeface="Poppins Semi-Bold"/>
              </a:rPr>
              <a:t> </a:t>
            </a:r>
          </a:p>
          <a:p>
            <a:pPr algn="l">
              <a:lnSpc>
                <a:spcPts val="6075"/>
              </a:lnSpc>
            </a:pPr>
            <a:r>
              <a:rPr lang="en-US" sz="4400" b="1" dirty="0">
                <a:solidFill>
                  <a:srgbClr val="FFFFFF"/>
                </a:solidFill>
                <a:latin typeface="Poppins Semi-Bold"/>
                <a:ea typeface="Poppins Semi-Bold"/>
                <a:cs typeface="Poppins Semi-Bold"/>
                <a:sym typeface="Poppins Semi-Bold"/>
              </a:rPr>
              <a:t>/ </a:t>
            </a:r>
            <a:r>
              <a:rPr lang="en-US" sz="4400" b="1" dirty="0" err="1">
                <a:solidFill>
                  <a:srgbClr val="FFFFFF"/>
                </a:solidFill>
                <a:latin typeface="Poppins Semi-Bold"/>
                <a:ea typeface="Poppins Semi-Bold"/>
                <a:cs typeface="Poppins Semi-Bold"/>
                <a:sym typeface="Poppins Semi-Bold"/>
              </a:rPr>
              <a:t>divisãoEscreva</a:t>
            </a:r>
            <a:r>
              <a:rPr lang="en-US" sz="4400" b="1" dirty="0">
                <a:solidFill>
                  <a:srgbClr val="FFFFFF"/>
                </a:solidFill>
                <a:latin typeface="Poppins Semi-Bold"/>
                <a:ea typeface="Poppins Semi-Bold"/>
                <a:cs typeface="Poppins Semi-Bold"/>
                <a:sym typeface="Poppins Semi-Bold"/>
              </a:rPr>
              <a:t> </a:t>
            </a:r>
          </a:p>
        </p:txBody>
      </p:sp>
      <p:sp>
        <p:nvSpPr>
          <p:cNvPr id="4" name="TextBox 4"/>
          <p:cNvSpPr txBox="1"/>
          <p:nvPr/>
        </p:nvSpPr>
        <p:spPr>
          <a:xfrm>
            <a:off x="1366980" y="8976274"/>
            <a:ext cx="15870431" cy="1232202"/>
          </a:xfrm>
          <a:prstGeom prst="rect">
            <a:avLst/>
          </a:prstGeom>
        </p:spPr>
        <p:txBody>
          <a:bodyPr lIns="0" tIns="0" rIns="0" bIns="0" rtlCol="0" anchor="t">
            <a:spAutoFit/>
          </a:bodyPr>
          <a:lstStyle/>
          <a:p>
            <a:pPr algn="ctr">
              <a:lnSpc>
                <a:spcPts val="4498"/>
              </a:lnSpc>
            </a:pPr>
            <a:r>
              <a:rPr lang="en-US" sz="3799" b="1">
                <a:solidFill>
                  <a:srgbClr val="FFCB85"/>
                </a:solidFill>
                <a:latin typeface="Poppins Semi-Bold"/>
                <a:ea typeface="Poppins Semi-Bold"/>
                <a:cs typeface="Poppins Semi-Bold"/>
                <a:sym typeface="Poppins Semi-Bold"/>
              </a:rPr>
              <a:t>Para</a:t>
            </a:r>
            <a:r>
              <a:rPr lang="en-US" sz="3799" b="1">
                <a:solidFill>
                  <a:srgbClr val="FFFFFF"/>
                </a:solidFill>
                <a:latin typeface="Poppins Semi-Bold"/>
                <a:ea typeface="Poppins Semi-Bold"/>
                <a:cs typeface="Poppins Semi-Bold"/>
                <a:sym typeface="Poppins Semi-Bold"/>
              </a:rPr>
              <a:t> </a:t>
            </a:r>
            <a:r>
              <a:rPr lang="en-US" sz="3799" b="1">
                <a:solidFill>
                  <a:srgbClr val="FFCB85"/>
                </a:solidFill>
                <a:latin typeface="Poppins Semi-Bold"/>
                <a:ea typeface="Poppins Semi-Bold"/>
                <a:cs typeface="Poppins Semi-Bold"/>
                <a:sym typeface="Poppins Semi-Bold"/>
              </a:rPr>
              <a:t>exibir</a:t>
            </a:r>
            <a:r>
              <a:rPr lang="en-US" sz="3799" b="1">
                <a:solidFill>
                  <a:srgbClr val="FFFFFF"/>
                </a:solidFill>
                <a:latin typeface="Poppins Semi-Bold"/>
                <a:ea typeface="Poppins Semi-Bold"/>
                <a:cs typeface="Poppins Semi-Bold"/>
                <a:sym typeface="Poppins Semi-Bold"/>
              </a:rPr>
              <a:t> </a:t>
            </a:r>
            <a:r>
              <a:rPr lang="en-US" sz="3799" b="1">
                <a:solidFill>
                  <a:srgbClr val="FFCB85"/>
                </a:solidFill>
                <a:latin typeface="Poppins Semi-Bold"/>
                <a:ea typeface="Poppins Semi-Bold"/>
                <a:cs typeface="Poppins Semi-Bold"/>
                <a:sym typeface="Poppins Semi-Bold"/>
              </a:rPr>
              <a:t>o</a:t>
            </a:r>
            <a:r>
              <a:rPr lang="en-US" sz="3799" b="1">
                <a:solidFill>
                  <a:srgbClr val="FFFFFF"/>
                </a:solidFill>
                <a:latin typeface="Poppins Semi-Bold"/>
                <a:ea typeface="Poppins Semi-Bold"/>
                <a:cs typeface="Poppins Semi-Bold"/>
                <a:sym typeface="Poppins Semi-Bold"/>
              </a:rPr>
              <a:t> </a:t>
            </a:r>
            <a:r>
              <a:rPr lang="en-US" sz="3799" b="1">
                <a:solidFill>
                  <a:srgbClr val="FFCB85"/>
                </a:solidFill>
                <a:latin typeface="Poppins Semi-Bold"/>
                <a:ea typeface="Poppins Semi-Bold"/>
                <a:cs typeface="Poppins Semi-Bold"/>
                <a:sym typeface="Poppins Semi-Bold"/>
              </a:rPr>
              <a:t>resultado</a:t>
            </a:r>
            <a:r>
              <a:rPr lang="en-US" sz="3799" b="1">
                <a:solidFill>
                  <a:srgbClr val="FFFFFF"/>
                </a:solidFill>
                <a:latin typeface="Poppins Semi-Bold"/>
                <a:ea typeface="Poppins Semi-Bold"/>
                <a:cs typeface="Poppins Semi-Bold"/>
                <a:sym typeface="Poppins Semi-Bold"/>
              </a:rPr>
              <a:t> </a:t>
            </a:r>
            <a:r>
              <a:rPr lang="en-US" sz="3799" b="1">
                <a:solidFill>
                  <a:srgbClr val="FFCB85"/>
                </a:solidFill>
                <a:latin typeface="Poppins Semi-Bold"/>
                <a:ea typeface="Poppins Semi-Bold"/>
                <a:cs typeface="Poppins Semi-Bold"/>
                <a:sym typeface="Poppins Semi-Bold"/>
              </a:rPr>
              <a:t>de</a:t>
            </a:r>
            <a:r>
              <a:rPr lang="en-US" sz="3799" b="1">
                <a:solidFill>
                  <a:srgbClr val="FFFFFF"/>
                </a:solidFill>
                <a:latin typeface="Poppins Semi-Bold"/>
                <a:ea typeface="Poppins Semi-Bold"/>
                <a:cs typeface="Poppins Semi-Bold"/>
                <a:sym typeface="Poppins Semi-Bold"/>
              </a:rPr>
              <a:t> </a:t>
            </a:r>
            <a:r>
              <a:rPr lang="en-US" sz="3799" b="1">
                <a:solidFill>
                  <a:srgbClr val="FFCB85"/>
                </a:solidFill>
                <a:latin typeface="Poppins Semi-Bold"/>
                <a:ea typeface="Poppins Semi-Bold"/>
                <a:cs typeface="Poppins Semi-Bold"/>
                <a:sym typeface="Poppins Semi-Bold"/>
              </a:rPr>
              <a:t>cada</a:t>
            </a:r>
            <a:r>
              <a:rPr lang="en-US" sz="3799" b="1">
                <a:solidFill>
                  <a:srgbClr val="FFFFFF"/>
                </a:solidFill>
                <a:latin typeface="Poppins Semi-Bold"/>
                <a:ea typeface="Poppins Semi-Bold"/>
                <a:cs typeface="Poppins Semi-Bold"/>
                <a:sym typeface="Poppins Semi-Bold"/>
              </a:rPr>
              <a:t> </a:t>
            </a:r>
            <a:r>
              <a:rPr lang="en-US" sz="3799" b="1">
                <a:solidFill>
                  <a:srgbClr val="FFCB85"/>
                </a:solidFill>
                <a:latin typeface="Poppins Semi-Bold"/>
                <a:ea typeface="Poppins Semi-Bold"/>
                <a:cs typeface="Poppins Semi-Bold"/>
                <a:sym typeface="Poppins Semi-Bold"/>
              </a:rPr>
              <a:t>operação,</a:t>
            </a:r>
            <a:r>
              <a:rPr lang="en-US" sz="3799" b="1">
                <a:solidFill>
                  <a:srgbClr val="FFFFFF"/>
                </a:solidFill>
                <a:latin typeface="Poppins Semi-Bold"/>
                <a:ea typeface="Poppins Semi-Bold"/>
                <a:cs typeface="Poppins Semi-Bold"/>
                <a:sym typeface="Poppins Semi-Bold"/>
              </a:rPr>
              <a:t> </a:t>
            </a:r>
            <a:r>
              <a:rPr lang="en-US" sz="3799" b="1">
                <a:solidFill>
                  <a:srgbClr val="FFCB85"/>
                </a:solidFill>
                <a:latin typeface="Poppins Semi-Bold"/>
                <a:ea typeface="Poppins Semi-Bold"/>
                <a:cs typeface="Poppins Semi-Bold"/>
                <a:sym typeface="Poppins Semi-Bold"/>
              </a:rPr>
              <a:t>você</a:t>
            </a:r>
            <a:r>
              <a:rPr lang="en-US" sz="3799" b="1">
                <a:solidFill>
                  <a:srgbClr val="FFFFFF"/>
                </a:solidFill>
                <a:latin typeface="Poppins Semi-Bold"/>
                <a:ea typeface="Poppins Semi-Bold"/>
                <a:cs typeface="Poppins Semi-Bold"/>
                <a:sym typeface="Poppins Semi-Bold"/>
              </a:rPr>
              <a:t> </a:t>
            </a:r>
            <a:r>
              <a:rPr lang="en-US" sz="3799" b="1">
                <a:solidFill>
                  <a:srgbClr val="FFCB85"/>
                </a:solidFill>
                <a:latin typeface="Poppins Semi-Bold"/>
                <a:ea typeface="Poppins Semi-Bold"/>
                <a:cs typeface="Poppins Semi-Bold"/>
                <a:sym typeface="Poppins Semi-Bold"/>
              </a:rPr>
              <a:t>pode</a:t>
            </a:r>
            <a:r>
              <a:rPr lang="en-US" sz="3799" b="1">
                <a:solidFill>
                  <a:srgbClr val="FFFFFF"/>
                </a:solidFill>
                <a:latin typeface="Poppins Semi-Bold"/>
                <a:ea typeface="Poppins Semi-Bold"/>
                <a:cs typeface="Poppins Semi-Bold"/>
                <a:sym typeface="Poppins Semi-Bold"/>
              </a:rPr>
              <a:t> </a:t>
            </a:r>
            <a:r>
              <a:rPr lang="en-US" sz="3799" b="1">
                <a:solidFill>
                  <a:srgbClr val="FFCB85"/>
                </a:solidFill>
                <a:latin typeface="Poppins Semi-Bold"/>
                <a:ea typeface="Poppins Semi-Bold"/>
                <a:cs typeface="Poppins Semi-Bold"/>
                <a:sym typeface="Poppins Semi-Bold"/>
              </a:rPr>
              <a:t>utilizar</a:t>
            </a:r>
            <a:r>
              <a:rPr lang="en-US" sz="3799" b="1">
                <a:solidFill>
                  <a:srgbClr val="FFFFFF"/>
                </a:solidFill>
                <a:latin typeface="Poppins Semi-Bold"/>
                <a:ea typeface="Poppins Semi-Bold"/>
                <a:cs typeface="Poppins Semi-Bold"/>
                <a:sym typeface="Poppins Semi-Bold"/>
              </a:rPr>
              <a:t> </a:t>
            </a:r>
            <a:r>
              <a:rPr lang="en-US" sz="3799" b="1">
                <a:solidFill>
                  <a:srgbClr val="FFCB85"/>
                </a:solidFill>
                <a:latin typeface="Poppins Semi-Bold"/>
                <a:ea typeface="Poppins Semi-Bold"/>
                <a:cs typeface="Poppins Semi-Bold"/>
                <a:sym typeface="Poppins Semi-Bold"/>
              </a:rPr>
              <a:t>o Console.WriteLine(nomeVariavel);</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3104979" y="6434338"/>
            <a:ext cx="850906" cy="1223486"/>
          </a:xfrm>
          <a:custGeom>
            <a:avLst/>
            <a:gdLst/>
            <a:ahLst/>
            <a:cxnLst/>
            <a:rect l="l" t="t" r="r" b="b"/>
            <a:pathLst>
              <a:path w="850906" h="1223486">
                <a:moveTo>
                  <a:pt x="0" y="0"/>
                </a:moveTo>
                <a:lnTo>
                  <a:pt x="850906" y="0"/>
                </a:lnTo>
                <a:lnTo>
                  <a:pt x="850906" y="1223486"/>
                </a:lnTo>
                <a:lnTo>
                  <a:pt x="0" y="12234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843231" y="6521701"/>
            <a:ext cx="1438932" cy="1498378"/>
          </a:xfrm>
          <a:custGeom>
            <a:avLst/>
            <a:gdLst/>
            <a:ahLst/>
            <a:cxnLst/>
            <a:rect l="l" t="t" r="r" b="b"/>
            <a:pathLst>
              <a:path w="1438932" h="1498378">
                <a:moveTo>
                  <a:pt x="0" y="0"/>
                </a:moveTo>
                <a:lnTo>
                  <a:pt x="1438933" y="0"/>
                </a:lnTo>
                <a:lnTo>
                  <a:pt x="1438933" y="1498378"/>
                </a:lnTo>
                <a:lnTo>
                  <a:pt x="0" y="149837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028700" y="776764"/>
            <a:ext cx="918633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Entrada do usuário C#</a:t>
            </a:r>
          </a:p>
        </p:txBody>
      </p:sp>
      <p:sp>
        <p:nvSpPr>
          <p:cNvPr id="5" name="TextBox 5"/>
          <p:cNvSpPr txBox="1"/>
          <p:nvPr/>
        </p:nvSpPr>
        <p:spPr>
          <a:xfrm>
            <a:off x="164983" y="2426351"/>
            <a:ext cx="17455572" cy="3825069"/>
          </a:xfrm>
          <a:prstGeom prst="rect">
            <a:avLst/>
          </a:prstGeom>
        </p:spPr>
        <p:txBody>
          <a:bodyPr lIns="0" tIns="0" rIns="0" bIns="0" rtlCol="0" anchor="t">
            <a:spAutoFit/>
          </a:bodyPr>
          <a:lstStyle/>
          <a:p>
            <a:pPr algn="l">
              <a:lnSpc>
                <a:spcPts val="5850"/>
              </a:lnSpc>
            </a:pPr>
            <a:r>
              <a:rPr lang="en-US" sz="4899" b="1">
                <a:solidFill>
                  <a:srgbClr val="FFFFFF"/>
                </a:solidFill>
                <a:latin typeface="Poppins Semi-Bold"/>
                <a:ea typeface="Poppins Semi-Bold"/>
                <a:cs typeface="Poppins Semi-Bold"/>
                <a:sym typeface="Poppins Semi-Bold"/>
              </a:rPr>
              <a:t>Você já aprendeu que </a:t>
            </a:r>
            <a:r>
              <a:rPr lang="en-US" sz="4899" b="1">
                <a:solidFill>
                  <a:srgbClr val="7ED957"/>
                </a:solidFill>
                <a:latin typeface="Poppins Semi-Bold"/>
                <a:ea typeface="Poppins Semi-Bold"/>
                <a:cs typeface="Poppins Semi-Bold"/>
                <a:sym typeface="Poppins Semi-Bold"/>
              </a:rPr>
              <a:t>Console</a:t>
            </a:r>
            <a:r>
              <a:rPr lang="en-US" sz="4899" b="1">
                <a:solidFill>
                  <a:srgbClr val="FFFFFF"/>
                </a:solidFill>
                <a:latin typeface="Poppins Semi-Bold"/>
                <a:ea typeface="Poppins Semi-Bold"/>
                <a:cs typeface="Poppins Semi-Bold"/>
                <a:sym typeface="Poppins Semi-Bold"/>
              </a:rPr>
              <a:t>.</a:t>
            </a:r>
            <a:r>
              <a:rPr lang="en-US" sz="4899" b="1">
                <a:solidFill>
                  <a:srgbClr val="FFCB85"/>
                </a:solidFill>
                <a:latin typeface="Poppins Semi-Bold"/>
                <a:ea typeface="Poppins Semi-Bold"/>
                <a:cs typeface="Poppins Semi-Bold"/>
                <a:sym typeface="Poppins Semi-Bold"/>
              </a:rPr>
              <a:t>WriteLine()</a:t>
            </a:r>
            <a:r>
              <a:rPr lang="en-US" sz="4899" b="1">
                <a:solidFill>
                  <a:srgbClr val="FFFFFF"/>
                </a:solidFill>
                <a:latin typeface="Poppins Semi-Bold"/>
                <a:ea typeface="Poppins Semi-Bold"/>
                <a:cs typeface="Poppins Semi-Bold"/>
                <a:sym typeface="Poppins Semi-Bold"/>
              </a:rPr>
              <a:t> é usado para produzir (</a:t>
            </a:r>
            <a:r>
              <a:rPr lang="en-US" sz="4899" b="1">
                <a:solidFill>
                  <a:srgbClr val="FF5757"/>
                </a:solidFill>
                <a:latin typeface="Poppins Semi-Bold"/>
                <a:ea typeface="Poppins Semi-Bold"/>
                <a:cs typeface="Poppins Semi-Bold"/>
                <a:sym typeface="Poppins Semi-Bold"/>
              </a:rPr>
              <a:t>imprimir</a:t>
            </a:r>
            <a:r>
              <a:rPr lang="en-US" sz="4899" b="1">
                <a:solidFill>
                  <a:srgbClr val="FFFFFF"/>
                </a:solidFill>
                <a:latin typeface="Poppins Semi-Bold"/>
                <a:ea typeface="Poppins Semi-Bold"/>
                <a:cs typeface="Poppins Semi-Bold"/>
                <a:sym typeface="Poppins Semi-Bold"/>
              </a:rPr>
              <a:t>) valores. Agora vamos usar </a:t>
            </a:r>
            <a:r>
              <a:rPr lang="en-US" sz="4899" b="1">
                <a:solidFill>
                  <a:srgbClr val="7ED957"/>
                </a:solidFill>
                <a:latin typeface="Poppins Semi-Bold"/>
                <a:ea typeface="Poppins Semi-Bold"/>
                <a:cs typeface="Poppins Semi-Bold"/>
                <a:sym typeface="Poppins Semi-Bold"/>
              </a:rPr>
              <a:t>Console</a:t>
            </a:r>
            <a:r>
              <a:rPr lang="en-US" sz="4899" b="1">
                <a:solidFill>
                  <a:srgbClr val="FFFFFF"/>
                </a:solidFill>
                <a:latin typeface="Poppins Semi-Bold"/>
                <a:ea typeface="Poppins Semi-Bold"/>
                <a:cs typeface="Poppins Semi-Bold"/>
                <a:sym typeface="Poppins Semi-Bold"/>
              </a:rPr>
              <a:t>.</a:t>
            </a:r>
            <a:r>
              <a:rPr lang="en-US" sz="4899" b="1">
                <a:solidFill>
                  <a:srgbClr val="FFCB85"/>
                </a:solidFill>
                <a:latin typeface="Poppins Semi-Bold"/>
                <a:ea typeface="Poppins Semi-Bold"/>
                <a:cs typeface="Poppins Semi-Bold"/>
                <a:sym typeface="Poppins Semi-Bold"/>
              </a:rPr>
              <a:t>ReadLine()</a:t>
            </a:r>
            <a:r>
              <a:rPr lang="en-US" sz="4899" b="1">
                <a:solidFill>
                  <a:srgbClr val="FFFFFF"/>
                </a:solidFill>
                <a:latin typeface="Poppins Semi-Bold"/>
                <a:ea typeface="Poppins Semi-Bold"/>
                <a:cs typeface="Poppins Semi-Bold"/>
                <a:sym typeface="Poppins Semi-Bold"/>
              </a:rPr>
              <a:t> para obter a entrada do usuário. </a:t>
            </a:r>
            <a:r>
              <a:rPr lang="en-US" sz="4899" b="1">
                <a:solidFill>
                  <a:srgbClr val="3C67BF"/>
                </a:solidFill>
                <a:latin typeface="Poppins Semi-Bold"/>
                <a:ea typeface="Poppins Semi-Bold"/>
                <a:cs typeface="Poppins Semi-Bold"/>
                <a:sym typeface="Poppins Semi-Bold"/>
              </a:rPr>
              <a:t>string</a:t>
            </a:r>
            <a:r>
              <a:rPr lang="en-US" sz="4899" b="1">
                <a:solidFill>
                  <a:srgbClr val="FFFFFF"/>
                </a:solidFill>
                <a:latin typeface="Poppins Semi-Bold"/>
                <a:ea typeface="Poppins Semi-Bold"/>
                <a:cs typeface="Poppins Semi-Bold"/>
                <a:sym typeface="Poppins Semi-Bold"/>
              </a:rPr>
              <a:t> nome = </a:t>
            </a:r>
            <a:r>
              <a:rPr lang="en-US" sz="4899" b="1">
                <a:solidFill>
                  <a:srgbClr val="7ED957"/>
                </a:solidFill>
                <a:latin typeface="Poppins Semi-Bold"/>
                <a:ea typeface="Poppins Semi-Bold"/>
                <a:cs typeface="Poppins Semi-Bold"/>
                <a:sym typeface="Poppins Semi-Bold"/>
              </a:rPr>
              <a:t>Console</a:t>
            </a:r>
            <a:r>
              <a:rPr lang="en-US" sz="4899" b="1">
                <a:solidFill>
                  <a:srgbClr val="FFFFFF"/>
                </a:solidFill>
                <a:latin typeface="Poppins Semi-Bold"/>
                <a:ea typeface="Poppins Semi-Bold"/>
                <a:cs typeface="Poppins Semi-Bold"/>
                <a:sym typeface="Poppins Semi-Bold"/>
              </a:rPr>
              <a:t>.</a:t>
            </a:r>
            <a:r>
              <a:rPr lang="en-US" sz="4899" b="1">
                <a:solidFill>
                  <a:srgbClr val="FFCB85"/>
                </a:solidFill>
                <a:latin typeface="Poppins Semi-Bold"/>
                <a:ea typeface="Poppins Semi-Bold"/>
                <a:cs typeface="Poppins Semi-Bold"/>
                <a:sym typeface="Poppins Semi-Bold"/>
              </a:rPr>
              <a:t>ReadLine()</a:t>
            </a:r>
            <a:r>
              <a:rPr lang="en-US" sz="4899" b="1">
                <a:solidFill>
                  <a:srgbClr val="FFFFFF"/>
                </a:solidFill>
                <a:latin typeface="Poppins Semi-Bold"/>
                <a:ea typeface="Poppins Semi-Bold"/>
                <a:cs typeface="Poppins Semi-Bold"/>
                <a:sym typeface="Poppins Semi-Bold"/>
              </a:rPr>
              <a:t>;</a:t>
            </a:r>
          </a:p>
        </p:txBody>
      </p:sp>
      <p:sp>
        <p:nvSpPr>
          <p:cNvPr id="6" name="TextBox 6"/>
          <p:cNvSpPr txBox="1"/>
          <p:nvPr/>
        </p:nvSpPr>
        <p:spPr>
          <a:xfrm>
            <a:off x="278387" y="7496442"/>
            <a:ext cx="6818843" cy="2503761"/>
          </a:xfrm>
          <a:prstGeom prst="rect">
            <a:avLst/>
          </a:prstGeom>
        </p:spPr>
        <p:txBody>
          <a:bodyPr lIns="0" tIns="0" rIns="0" bIns="0" rtlCol="0" anchor="t">
            <a:spAutoFit/>
          </a:bodyPr>
          <a:lstStyle/>
          <a:p>
            <a:pPr algn="ctr">
              <a:lnSpc>
                <a:spcPts val="4723"/>
              </a:lnSpc>
            </a:pPr>
            <a:r>
              <a:rPr lang="en-US" sz="3999" b="1">
                <a:solidFill>
                  <a:srgbClr val="FFFFFF"/>
                </a:solidFill>
                <a:latin typeface="Poppins Semi-Bold"/>
                <a:ea typeface="Poppins Semi-Bold"/>
                <a:cs typeface="Poppins Semi-Bold"/>
                <a:sym typeface="Poppins Semi-Bold"/>
              </a:rPr>
              <a:t>Variável </a:t>
            </a:r>
            <a:r>
              <a:rPr lang="en-US" sz="3999" b="1">
                <a:solidFill>
                  <a:srgbClr val="85FFF5"/>
                </a:solidFill>
                <a:latin typeface="Poppins Semi-Bold"/>
                <a:ea typeface="Poppins Semi-Bold"/>
                <a:cs typeface="Poppins Semi-Bold"/>
                <a:sym typeface="Poppins Semi-Bold"/>
              </a:rPr>
              <a:t>nome</a:t>
            </a:r>
            <a:r>
              <a:rPr lang="en-US" sz="3999" b="1">
                <a:solidFill>
                  <a:srgbClr val="FFFFFF"/>
                </a:solidFill>
                <a:latin typeface="Poppins Semi-Bold"/>
                <a:ea typeface="Poppins Semi-Bold"/>
                <a:cs typeface="Poppins Semi-Bold"/>
                <a:sym typeface="Poppins Semi-Bold"/>
              </a:rPr>
              <a:t> que armazena uma string, ou seja um conjunto de caracteres.</a:t>
            </a:r>
          </a:p>
        </p:txBody>
      </p:sp>
      <p:sp>
        <p:nvSpPr>
          <p:cNvPr id="7" name="TextBox 7"/>
          <p:cNvSpPr txBox="1"/>
          <p:nvPr/>
        </p:nvSpPr>
        <p:spPr>
          <a:xfrm>
            <a:off x="8900246" y="7796479"/>
            <a:ext cx="6635429" cy="1903686"/>
          </a:xfrm>
          <a:prstGeom prst="rect">
            <a:avLst/>
          </a:prstGeom>
        </p:spPr>
        <p:txBody>
          <a:bodyPr lIns="0" tIns="0" rIns="0" bIns="0" rtlCol="0" anchor="t">
            <a:spAutoFit/>
          </a:bodyPr>
          <a:lstStyle/>
          <a:p>
            <a:pPr algn="ctr">
              <a:lnSpc>
                <a:spcPts val="4723"/>
              </a:lnSpc>
            </a:pPr>
            <a:r>
              <a:rPr lang="en-US" sz="3999" b="1">
                <a:solidFill>
                  <a:srgbClr val="FFFFFF"/>
                </a:solidFill>
                <a:latin typeface="Poppins Semi-Bold"/>
                <a:ea typeface="Poppins Semi-Bold"/>
                <a:cs typeface="Poppins Semi-Bold"/>
                <a:sym typeface="Poppins Semi-Bold"/>
              </a:rPr>
              <a:t>O comando vai ler o que você escrever no terminal.</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028700" y="652939"/>
            <a:ext cx="9186339" cy="1287628"/>
          </a:xfrm>
          <a:prstGeom prst="rect">
            <a:avLst/>
          </a:prstGeom>
        </p:spPr>
        <p:txBody>
          <a:bodyPr lIns="0" tIns="0" rIns="0" bIns="0" rtlCol="0" anchor="t">
            <a:spAutoFit/>
          </a:bodyPr>
          <a:lstStyle/>
          <a:p>
            <a:pPr algn="l">
              <a:lnSpc>
                <a:spcPts val="9615"/>
              </a:lnSpc>
            </a:pPr>
            <a:r>
              <a:rPr lang="en-US" sz="5964" b="1">
                <a:solidFill>
                  <a:srgbClr val="FFFFFF"/>
                </a:solidFill>
                <a:latin typeface="Poppins Semi-Bold"/>
                <a:ea typeface="Poppins Semi-Bold"/>
                <a:cs typeface="Poppins Semi-Bold"/>
                <a:sym typeface="Poppins Semi-Bold"/>
              </a:rPr>
              <a:t>Entrada do usuário C#</a:t>
            </a:r>
          </a:p>
        </p:txBody>
      </p:sp>
      <p:sp>
        <p:nvSpPr>
          <p:cNvPr id="3" name="TextBox 3"/>
          <p:cNvSpPr txBox="1"/>
          <p:nvPr/>
        </p:nvSpPr>
        <p:spPr>
          <a:xfrm>
            <a:off x="2660209" y="1892951"/>
            <a:ext cx="190414" cy="1043769"/>
          </a:xfrm>
          <a:prstGeom prst="rect">
            <a:avLst/>
          </a:prstGeom>
        </p:spPr>
        <p:txBody>
          <a:bodyPr lIns="0" tIns="0" rIns="0" bIns="0" rtlCol="0" anchor="t">
            <a:spAutoFit/>
          </a:bodyPr>
          <a:lstStyle/>
          <a:p>
            <a:pPr algn="l">
              <a:lnSpc>
                <a:spcPts val="7898"/>
              </a:lnSpc>
            </a:pPr>
            <a:r>
              <a:rPr lang="en-US" sz="4899" b="1">
                <a:solidFill>
                  <a:srgbClr val="FFFFFF"/>
                </a:solidFill>
                <a:latin typeface="Poppins Semi-Bold"/>
                <a:ea typeface="Poppins Semi-Bold"/>
                <a:cs typeface="Poppins Semi-Bold"/>
                <a:sym typeface="Poppins Semi-Bold"/>
              </a:rPr>
              <a:t> </a:t>
            </a:r>
          </a:p>
        </p:txBody>
      </p:sp>
      <p:sp>
        <p:nvSpPr>
          <p:cNvPr id="4" name="TextBox 4"/>
          <p:cNvSpPr txBox="1"/>
          <p:nvPr/>
        </p:nvSpPr>
        <p:spPr>
          <a:xfrm>
            <a:off x="164983" y="2083451"/>
            <a:ext cx="17424616" cy="7539819"/>
          </a:xfrm>
          <a:prstGeom prst="rect">
            <a:avLst/>
          </a:prstGeom>
        </p:spPr>
        <p:txBody>
          <a:bodyPr lIns="0" tIns="0" rIns="0" bIns="0" rtlCol="0" anchor="t">
            <a:spAutoFit/>
          </a:bodyPr>
          <a:lstStyle/>
          <a:p>
            <a:pPr algn="l">
              <a:lnSpc>
                <a:spcPts val="5850"/>
              </a:lnSpc>
            </a:pPr>
            <a:r>
              <a:rPr lang="en-US" sz="4899" b="1" dirty="0">
                <a:solidFill>
                  <a:srgbClr val="FFFFFF"/>
                </a:solidFill>
                <a:latin typeface="Poppins Semi-Bold"/>
                <a:ea typeface="Poppins Semi-Bold"/>
                <a:cs typeface="Poppins Semi-Bold"/>
                <a:sym typeface="Poppins Semi-Bold"/>
              </a:rPr>
              <a:t>Para </a:t>
            </a:r>
            <a:r>
              <a:rPr lang="en-US" sz="4899" b="1" dirty="0" err="1">
                <a:solidFill>
                  <a:srgbClr val="FFFFFF"/>
                </a:solidFill>
                <a:latin typeface="Poppins Semi-Bold"/>
                <a:ea typeface="Poppins Semi-Bold"/>
                <a:cs typeface="Poppins Semi-Bold"/>
                <a:sym typeface="Poppins Semi-Bold"/>
              </a:rPr>
              <a:t>lerum</a:t>
            </a:r>
            <a:r>
              <a:rPr lang="en-US" sz="4899" b="1" dirty="0">
                <a:solidFill>
                  <a:srgbClr val="FFFFFF"/>
                </a:solidFill>
                <a:latin typeface="Poppins Semi-Bold"/>
                <a:ea typeface="Poppins Semi-Bold"/>
                <a:cs typeface="Poppins Semi-Bold"/>
                <a:sym typeface="Poppins Semi-Bold"/>
              </a:rPr>
              <a:t> </a:t>
            </a:r>
            <a:r>
              <a:rPr lang="en-US" sz="4899" b="1" dirty="0" err="1">
                <a:solidFill>
                  <a:srgbClr val="FFFFFF"/>
                </a:solidFill>
                <a:latin typeface="Poppins Semi-Bold"/>
                <a:ea typeface="Poppins Semi-Bold"/>
                <a:cs typeface="Poppins Semi-Bold"/>
                <a:sym typeface="Poppins Semi-Bold"/>
              </a:rPr>
              <a:t>número</a:t>
            </a:r>
            <a:r>
              <a:rPr lang="en-US" sz="4899" b="1" dirty="0">
                <a:solidFill>
                  <a:srgbClr val="FFFFFF"/>
                </a:solidFill>
                <a:latin typeface="Poppins Semi-Bold"/>
                <a:ea typeface="Poppins Semi-Bold"/>
                <a:cs typeface="Poppins Semi-Bold"/>
                <a:sym typeface="Poppins Semi-Bold"/>
              </a:rPr>
              <a:t> </a:t>
            </a:r>
            <a:r>
              <a:rPr lang="en-US" sz="4899" b="1" dirty="0" err="1">
                <a:solidFill>
                  <a:srgbClr val="FFFFFF"/>
                </a:solidFill>
                <a:latin typeface="Poppins Semi-Bold"/>
                <a:ea typeface="Poppins Semi-Bold"/>
                <a:cs typeface="Poppins Semi-Bold"/>
                <a:sym typeface="Poppins Semi-Bold"/>
              </a:rPr>
              <a:t>inteirouou</a:t>
            </a:r>
            <a:r>
              <a:rPr lang="en-US" sz="4899" b="1" dirty="0">
                <a:solidFill>
                  <a:srgbClr val="FFFFFF"/>
                </a:solidFill>
                <a:latin typeface="Poppins Semi-Bold"/>
                <a:ea typeface="Poppins Semi-Bold"/>
                <a:cs typeface="Poppins Semi-Bold"/>
                <a:sym typeface="Poppins Semi-Bold"/>
              </a:rPr>
              <a:t> decimal, </a:t>
            </a:r>
            <a:r>
              <a:rPr lang="en-US" sz="4899" b="1" dirty="0" err="1">
                <a:solidFill>
                  <a:srgbClr val="FFFFFF"/>
                </a:solidFill>
                <a:latin typeface="Poppins Semi-Bold"/>
                <a:ea typeface="Poppins Semi-Bold"/>
                <a:cs typeface="Poppins Semi-Bold"/>
                <a:sym typeface="Poppins Semi-Bold"/>
              </a:rPr>
              <a:t>devemos</a:t>
            </a:r>
            <a:r>
              <a:rPr lang="en-US" sz="4899" b="1" dirty="0">
                <a:solidFill>
                  <a:srgbClr val="FFFFFF"/>
                </a:solidFill>
                <a:latin typeface="Poppins Semi-Bold"/>
                <a:ea typeface="Poppins Semi-Bold"/>
                <a:cs typeface="Poppins Semi-Bold"/>
                <a:sym typeface="Poppins Semi-Bold"/>
              </a:rPr>
              <a:t> </a:t>
            </a:r>
            <a:r>
              <a:rPr lang="en-US" sz="4899" b="1" dirty="0" err="1">
                <a:solidFill>
                  <a:srgbClr val="FFFFFF"/>
                </a:solidFill>
                <a:latin typeface="Poppins Semi-Bold"/>
                <a:ea typeface="Poppins Semi-Bold"/>
                <a:cs typeface="Poppins Semi-Bold"/>
                <a:sym typeface="Poppins Semi-Bold"/>
              </a:rPr>
              <a:t>converte-los</a:t>
            </a:r>
            <a:r>
              <a:rPr lang="en-US" sz="4899" b="1" dirty="0">
                <a:solidFill>
                  <a:srgbClr val="FFFFFF"/>
                </a:solidFill>
                <a:latin typeface="Poppins Semi-Bold"/>
                <a:ea typeface="Poppins Semi-Bold"/>
                <a:cs typeface="Poppins Semi-Bold"/>
                <a:sym typeface="Poppins Semi-Bold"/>
              </a:rPr>
              <a:t> antes de </a:t>
            </a:r>
            <a:r>
              <a:rPr lang="en-US" sz="4899" b="1" dirty="0" err="1">
                <a:solidFill>
                  <a:srgbClr val="FFFFFF"/>
                </a:solidFill>
                <a:latin typeface="Poppins Semi-Bold"/>
                <a:ea typeface="Poppins Semi-Bold"/>
                <a:cs typeface="Poppins Semi-Bold"/>
                <a:sym typeface="Poppins Semi-Bold"/>
              </a:rPr>
              <a:t>armazenar</a:t>
            </a:r>
            <a:r>
              <a:rPr lang="en-US" sz="4899" b="1" dirty="0">
                <a:solidFill>
                  <a:srgbClr val="FFFFFF"/>
                </a:solidFill>
                <a:latin typeface="Poppins Semi-Bold"/>
                <a:ea typeface="Poppins Semi-Bold"/>
                <a:cs typeface="Poppins Semi-Bold"/>
                <a:sym typeface="Poppins Semi-Bold"/>
              </a:rPr>
              <a:t> </a:t>
            </a:r>
            <a:r>
              <a:rPr lang="en-US" sz="4899" b="1" dirty="0" err="1">
                <a:solidFill>
                  <a:srgbClr val="FFFFFF"/>
                </a:solidFill>
                <a:latin typeface="Poppins Semi-Bold"/>
                <a:ea typeface="Poppins Semi-Bold"/>
                <a:cs typeface="Poppins Semi-Bold"/>
                <a:sym typeface="Poppins Semi-Bold"/>
              </a:rPr>
              <a:t>na</a:t>
            </a:r>
            <a:r>
              <a:rPr lang="en-US" sz="4899" b="1" dirty="0">
                <a:solidFill>
                  <a:srgbClr val="FFFFFF"/>
                </a:solidFill>
                <a:latin typeface="Poppins Semi-Bold"/>
                <a:ea typeface="Poppins Semi-Bold"/>
                <a:cs typeface="Poppins Semi-Bold"/>
                <a:sym typeface="Poppins Semi-Bold"/>
              </a:rPr>
              <a:t> </a:t>
            </a:r>
            <a:r>
              <a:rPr lang="en-US" sz="4899" b="1" dirty="0" err="1">
                <a:solidFill>
                  <a:srgbClr val="FFFFFF"/>
                </a:solidFill>
                <a:latin typeface="Poppins Semi-Bold"/>
                <a:ea typeface="Poppins Semi-Bold"/>
                <a:cs typeface="Poppins Semi-Bold"/>
                <a:sym typeface="Poppins Semi-Bold"/>
              </a:rPr>
              <a:t>variável</a:t>
            </a:r>
            <a:r>
              <a:rPr lang="en-US" sz="4899" b="1" dirty="0">
                <a:solidFill>
                  <a:srgbClr val="FFFFFF"/>
                </a:solidFill>
                <a:latin typeface="Poppins Semi-Bold"/>
                <a:ea typeface="Poppins Semi-Bold"/>
                <a:cs typeface="Poppins Semi-Bold"/>
                <a:sym typeface="Poppins Semi-Bold"/>
              </a:rPr>
              <a:t>. </a:t>
            </a:r>
            <a:r>
              <a:rPr lang="en-US" sz="4899" b="1" dirty="0" err="1">
                <a:solidFill>
                  <a:srgbClr val="FFFFFF"/>
                </a:solidFill>
                <a:latin typeface="Poppins Semi-Bold"/>
                <a:ea typeface="Poppins Semi-Bold"/>
                <a:cs typeface="Poppins Semi-Bold"/>
                <a:sym typeface="Poppins Semi-Bold"/>
              </a:rPr>
              <a:t>Tudo</a:t>
            </a:r>
            <a:r>
              <a:rPr lang="en-US" sz="4899" b="1" dirty="0">
                <a:solidFill>
                  <a:srgbClr val="FFFFFF"/>
                </a:solidFill>
                <a:latin typeface="Poppins Semi-Bold"/>
                <a:ea typeface="Poppins Semi-Bold"/>
                <a:cs typeface="Poppins Semi-Bold"/>
                <a:sym typeface="Poppins Semi-Bold"/>
              </a:rPr>
              <a:t> </a:t>
            </a:r>
            <a:r>
              <a:rPr lang="en-US" sz="4899" b="1" dirty="0" err="1">
                <a:solidFill>
                  <a:srgbClr val="FFFFFF"/>
                </a:solidFill>
                <a:latin typeface="Poppins Semi-Bold"/>
                <a:ea typeface="Poppins Semi-Bold"/>
                <a:cs typeface="Poppins Semi-Bold"/>
                <a:sym typeface="Poppins Semi-Bold"/>
              </a:rPr>
              <a:t>que</a:t>
            </a:r>
            <a:r>
              <a:rPr lang="en-US" sz="4899" b="1" dirty="0">
                <a:solidFill>
                  <a:srgbClr val="FFFFFF"/>
                </a:solidFill>
                <a:latin typeface="Poppins Semi-Bold"/>
                <a:ea typeface="Poppins Semi-Bold"/>
                <a:cs typeface="Poppins Semi-Bold"/>
                <a:sym typeface="Poppins Semi-Bold"/>
              </a:rPr>
              <a:t> é lido </a:t>
            </a:r>
            <a:r>
              <a:rPr lang="en-US" sz="4899" b="1" dirty="0" err="1">
                <a:solidFill>
                  <a:srgbClr val="FFFFFF"/>
                </a:solidFill>
                <a:latin typeface="Poppins Semi-Bold"/>
                <a:ea typeface="Poppins Semi-Bold"/>
                <a:cs typeface="Poppins Semi-Bold"/>
                <a:sym typeface="Poppins Semi-Bold"/>
              </a:rPr>
              <a:t>pelo</a:t>
            </a:r>
            <a:r>
              <a:rPr lang="en-US" sz="4899" b="1" dirty="0">
                <a:solidFill>
                  <a:srgbClr val="FFFFFF"/>
                </a:solidFill>
                <a:latin typeface="Poppins Semi-Bold"/>
                <a:ea typeface="Poppins Semi-Bold"/>
                <a:cs typeface="Poppins Semi-Bold"/>
                <a:sym typeface="Poppins Semi-Bold"/>
              </a:rPr>
              <a:t> </a:t>
            </a:r>
            <a:r>
              <a:rPr lang="en-US" sz="4899" b="1" dirty="0" err="1">
                <a:solidFill>
                  <a:srgbClr val="FFFFFF"/>
                </a:solidFill>
                <a:latin typeface="Poppins Semi-Bold"/>
                <a:ea typeface="Poppins Semi-Bold"/>
                <a:cs typeface="Poppins Semi-Bold"/>
                <a:sym typeface="Poppins Semi-Bold"/>
              </a:rPr>
              <a:t>comando</a:t>
            </a:r>
            <a:r>
              <a:rPr lang="en-US" sz="4899" b="1" dirty="0">
                <a:solidFill>
                  <a:srgbClr val="FFFFFF"/>
                </a:solidFill>
                <a:latin typeface="Poppins Semi-Bold"/>
                <a:ea typeface="Poppins Semi-Bold"/>
                <a:cs typeface="Poppins Semi-Bold"/>
                <a:sym typeface="Poppins Semi-Bold"/>
              </a:rPr>
              <a:t> </a:t>
            </a:r>
            <a:r>
              <a:rPr lang="en-US" sz="4899" b="1" dirty="0" err="1">
                <a:solidFill>
                  <a:srgbClr val="7ED957"/>
                </a:solidFill>
                <a:latin typeface="Poppins Semi-Bold"/>
                <a:ea typeface="Poppins Semi-Bold"/>
                <a:cs typeface="Poppins Semi-Bold"/>
                <a:sym typeface="Poppins Semi-Bold"/>
              </a:rPr>
              <a:t>Console</a:t>
            </a:r>
            <a:r>
              <a:rPr lang="en-US" sz="4899" b="1" dirty="0" err="1">
                <a:solidFill>
                  <a:srgbClr val="FFFFFF"/>
                </a:solidFill>
                <a:latin typeface="Poppins Semi-Bold"/>
                <a:ea typeface="Poppins Semi-Bold"/>
                <a:cs typeface="Poppins Semi-Bold"/>
                <a:sym typeface="Poppins Semi-Bold"/>
              </a:rPr>
              <a:t>.</a:t>
            </a:r>
            <a:r>
              <a:rPr lang="en-US" sz="4899" b="1" dirty="0" err="1">
                <a:solidFill>
                  <a:srgbClr val="FFCB85"/>
                </a:solidFill>
                <a:latin typeface="Poppins Semi-Bold"/>
                <a:ea typeface="Poppins Semi-Bold"/>
                <a:cs typeface="Poppins Semi-Bold"/>
                <a:sym typeface="Poppins Semi-Bold"/>
              </a:rPr>
              <a:t>ReadLine</a:t>
            </a:r>
            <a:r>
              <a:rPr lang="en-US" sz="4899" b="1" dirty="0">
                <a:solidFill>
                  <a:srgbClr val="FFCB85"/>
                </a:solidFill>
                <a:latin typeface="Poppins Semi-Bold"/>
                <a:ea typeface="Poppins Semi-Bold"/>
                <a:cs typeface="Poppins Semi-Bold"/>
                <a:sym typeface="Poppins Semi-Bold"/>
              </a:rPr>
              <a:t>()</a:t>
            </a:r>
            <a:r>
              <a:rPr lang="en-US" sz="4899" b="1" dirty="0">
                <a:solidFill>
                  <a:srgbClr val="FFFFFF"/>
                </a:solidFill>
                <a:latin typeface="Poppins Semi-Bold"/>
                <a:ea typeface="Poppins Semi-Bold"/>
                <a:cs typeface="Poppins Semi-Bold"/>
                <a:sym typeface="Poppins Semi-Bold"/>
              </a:rPr>
              <a:t>, é lido </a:t>
            </a:r>
            <a:r>
              <a:rPr lang="en-US" sz="4899" b="1" dirty="0" err="1">
                <a:solidFill>
                  <a:srgbClr val="FFFFFF"/>
                </a:solidFill>
                <a:latin typeface="Poppins Semi-Bold"/>
                <a:ea typeface="Poppins Semi-Bold"/>
                <a:cs typeface="Poppins Semi-Bold"/>
                <a:sym typeface="Poppins Semi-Bold"/>
              </a:rPr>
              <a:t>como</a:t>
            </a:r>
            <a:r>
              <a:rPr lang="en-US" sz="4899" b="1" dirty="0">
                <a:solidFill>
                  <a:srgbClr val="FFFFFF"/>
                </a:solidFill>
                <a:latin typeface="Poppins Semi-Bold"/>
                <a:ea typeface="Poppins Semi-Bold"/>
                <a:cs typeface="Poppins Semi-Bold"/>
                <a:sym typeface="Poppins Semi-Bold"/>
              </a:rPr>
              <a:t> </a:t>
            </a:r>
            <a:r>
              <a:rPr lang="en-US" sz="4899" b="1" dirty="0" err="1">
                <a:solidFill>
                  <a:srgbClr val="FFFFFF"/>
                </a:solidFill>
                <a:latin typeface="Poppins Semi-Bold"/>
                <a:ea typeface="Poppins Semi-Bold"/>
                <a:cs typeface="Poppins Semi-Bold"/>
                <a:sym typeface="Poppins Semi-Bold"/>
              </a:rPr>
              <a:t>uma</a:t>
            </a:r>
            <a:r>
              <a:rPr lang="en-US" sz="4899" b="1" dirty="0">
                <a:solidFill>
                  <a:srgbClr val="FFFFFF"/>
                </a:solidFill>
                <a:latin typeface="Poppins Semi-Bold"/>
                <a:ea typeface="Poppins Semi-Bold"/>
                <a:cs typeface="Poppins Semi-Bold"/>
                <a:sym typeface="Poppins Semi-Bold"/>
              </a:rPr>
              <a:t> string. </a:t>
            </a:r>
            <a:r>
              <a:rPr lang="en-US" sz="4899" b="1" dirty="0" err="1">
                <a:solidFill>
                  <a:srgbClr val="FFFFFF"/>
                </a:solidFill>
                <a:latin typeface="Poppins Semi-Bold"/>
                <a:ea typeface="Poppins Semi-Bold"/>
                <a:cs typeface="Poppins Semi-Bold"/>
                <a:sym typeface="Poppins Semi-Bold"/>
              </a:rPr>
              <a:t>Existe</a:t>
            </a:r>
            <a:r>
              <a:rPr lang="en-US" sz="4899" b="1" dirty="0">
                <a:solidFill>
                  <a:srgbClr val="FFFFFF"/>
                </a:solidFill>
                <a:latin typeface="Poppins Semi-Bold"/>
                <a:ea typeface="Poppins Semi-Bold"/>
                <a:cs typeface="Poppins Semi-Bold"/>
                <a:sym typeface="Poppins Semi-Bold"/>
              </a:rPr>
              <a:t> </a:t>
            </a:r>
            <a:r>
              <a:rPr lang="en-US" sz="4899" b="1" dirty="0" err="1">
                <a:solidFill>
                  <a:srgbClr val="FFFFFF"/>
                </a:solidFill>
                <a:latin typeface="Poppins Semi-Bold"/>
                <a:ea typeface="Poppins Semi-Bold"/>
                <a:cs typeface="Poppins Semi-Bold"/>
                <a:sym typeface="Poppins Semi-Bold"/>
              </a:rPr>
              <a:t>algumas</a:t>
            </a:r>
            <a:r>
              <a:rPr lang="en-US" sz="4899" b="1" dirty="0">
                <a:solidFill>
                  <a:srgbClr val="FFFFFF"/>
                </a:solidFill>
                <a:latin typeface="Poppins Semi-Bold"/>
                <a:ea typeface="Poppins Semi-Bold"/>
                <a:cs typeface="Poppins Semi-Bold"/>
                <a:sym typeface="Poppins Semi-Bold"/>
              </a:rPr>
              <a:t> formas de </a:t>
            </a:r>
            <a:r>
              <a:rPr lang="en-US" sz="4899" b="1" dirty="0" err="1">
                <a:solidFill>
                  <a:srgbClr val="FFFFFF"/>
                </a:solidFill>
                <a:latin typeface="Poppins Semi-Bold"/>
                <a:ea typeface="Poppins Semi-Bold"/>
                <a:cs typeface="Poppins Semi-Bold"/>
                <a:sym typeface="Poppins Semi-Bold"/>
              </a:rPr>
              <a:t>conversão</a:t>
            </a:r>
            <a:r>
              <a:rPr lang="en-US" sz="4899" b="1" dirty="0">
                <a:solidFill>
                  <a:srgbClr val="FFFFFF"/>
                </a:solidFill>
                <a:latin typeface="Poppins Semi-Bold"/>
                <a:ea typeface="Poppins Semi-Bold"/>
                <a:cs typeface="Poppins Semi-Bold"/>
                <a:sym typeface="Poppins Semi-Bold"/>
              </a:rPr>
              <a:t>, </a:t>
            </a:r>
            <a:r>
              <a:rPr lang="en-US" sz="4899" b="1" dirty="0" err="1">
                <a:solidFill>
                  <a:srgbClr val="FFFFFF"/>
                </a:solidFill>
                <a:latin typeface="Poppins Semi-Bold"/>
                <a:ea typeface="Poppins Semi-Bold"/>
                <a:cs typeface="Poppins Semi-Bold"/>
                <a:sym typeface="Poppins Semi-Bold"/>
              </a:rPr>
              <a:t>conforme</a:t>
            </a:r>
            <a:r>
              <a:rPr lang="en-US" sz="4899" b="1" dirty="0">
                <a:solidFill>
                  <a:srgbClr val="FFFFFF"/>
                </a:solidFill>
                <a:latin typeface="Poppins Semi-Bold"/>
                <a:ea typeface="Poppins Semi-Bold"/>
                <a:cs typeface="Poppins Semi-Bold"/>
                <a:sym typeface="Poppins Semi-Bold"/>
              </a:rPr>
              <a:t> </a:t>
            </a:r>
            <a:r>
              <a:rPr lang="en-US" sz="4899" b="1" dirty="0" err="1">
                <a:solidFill>
                  <a:srgbClr val="FFFFFF"/>
                </a:solidFill>
                <a:latin typeface="Poppins Semi-Bold"/>
                <a:ea typeface="Poppins Semi-Bold"/>
                <a:cs typeface="Poppins Semi-Bold"/>
                <a:sym typeface="Poppins Semi-Bold"/>
              </a:rPr>
              <a:t>abaixo</a:t>
            </a:r>
            <a:r>
              <a:rPr lang="en-US" sz="4899" b="1" dirty="0">
                <a:solidFill>
                  <a:srgbClr val="FFFFFF"/>
                </a:solidFill>
                <a:latin typeface="Poppins Semi-Bold"/>
                <a:ea typeface="Poppins Semi-Bold"/>
                <a:cs typeface="Poppins Semi-Bold"/>
                <a:sym typeface="Poppins Semi-Bold"/>
              </a:rPr>
              <a:t>: </a:t>
            </a:r>
            <a:r>
              <a:rPr lang="en-US" sz="4899" b="1" dirty="0">
                <a:solidFill>
                  <a:srgbClr val="7ED957"/>
                </a:solidFill>
                <a:latin typeface="Poppins Semi-Bold"/>
                <a:ea typeface="Poppins Semi-Bold"/>
                <a:cs typeface="Poppins Semi-Bold"/>
                <a:sym typeface="Poppins Semi-Bold"/>
              </a:rPr>
              <a:t>//</a:t>
            </a:r>
            <a:r>
              <a:rPr lang="en-US" sz="4899" b="1" dirty="0" err="1">
                <a:solidFill>
                  <a:srgbClr val="7ED957"/>
                </a:solidFill>
                <a:latin typeface="Poppins Semi-Bold"/>
                <a:ea typeface="Poppins Semi-Bold"/>
                <a:cs typeface="Poppins Semi-Bold"/>
                <a:sym typeface="Poppins Semi-Bold"/>
              </a:rPr>
              <a:t>exemplo</a:t>
            </a:r>
            <a:r>
              <a:rPr lang="en-US" sz="4899" b="1" dirty="0">
                <a:solidFill>
                  <a:srgbClr val="7ED957"/>
                </a:solidFill>
                <a:latin typeface="Poppins Semi-Bold"/>
                <a:ea typeface="Poppins Semi-Bold"/>
                <a:cs typeface="Poppins Semi-Bold"/>
                <a:sym typeface="Poppins Semi-Bold"/>
              </a:rPr>
              <a:t> 1 de </a:t>
            </a:r>
            <a:r>
              <a:rPr lang="en-US" sz="4899" b="1" dirty="0" err="1">
                <a:solidFill>
                  <a:srgbClr val="7ED957"/>
                </a:solidFill>
                <a:latin typeface="Poppins Semi-Bold"/>
                <a:ea typeface="Poppins Semi-Bold"/>
                <a:cs typeface="Poppins Semi-Bold"/>
                <a:sym typeface="Poppins Semi-Bold"/>
              </a:rPr>
              <a:t>conversão</a:t>
            </a:r>
            <a:r>
              <a:rPr lang="en-US" sz="4899" b="1" dirty="0">
                <a:solidFill>
                  <a:srgbClr val="7ED957"/>
                </a:solidFill>
                <a:latin typeface="Poppins Semi-Bold"/>
                <a:ea typeface="Poppins Semi-Bold"/>
                <a:cs typeface="Poppins Semi-Bold"/>
                <a:sym typeface="Poppins Semi-Bold"/>
              </a:rPr>
              <a:t> para </a:t>
            </a:r>
            <a:r>
              <a:rPr lang="en-US" sz="4899" b="1" dirty="0" err="1">
                <a:solidFill>
                  <a:srgbClr val="7ED957"/>
                </a:solidFill>
                <a:latin typeface="Poppins Semi-Bold"/>
                <a:ea typeface="Poppins Semi-Bold"/>
                <a:cs typeface="Poppins Semi-Bold"/>
                <a:sym typeface="Poppins Semi-Bold"/>
              </a:rPr>
              <a:t>inteiro</a:t>
            </a:r>
            <a:r>
              <a:rPr lang="en-US" sz="4899" b="1" dirty="0">
                <a:solidFill>
                  <a:srgbClr val="7ED957"/>
                </a:solidFill>
                <a:latin typeface="Poppins Semi-Bold"/>
                <a:ea typeface="Poppins Semi-Bold"/>
                <a:cs typeface="Poppins Semi-Bold"/>
                <a:sym typeface="Poppins Semi-Bold"/>
              </a:rPr>
              <a:t> </a:t>
            </a:r>
            <a:r>
              <a:rPr lang="en-US" sz="4899" b="1" dirty="0">
                <a:solidFill>
                  <a:srgbClr val="3C67BF"/>
                </a:solidFill>
                <a:latin typeface="Poppins Semi-Bold"/>
                <a:ea typeface="Poppins Semi-Bold"/>
                <a:cs typeface="Poppins Semi-Bold"/>
                <a:sym typeface="Poppins Semi-Bold"/>
              </a:rPr>
              <a:t>int </a:t>
            </a:r>
            <a:r>
              <a:rPr lang="en-US" sz="4899" b="1" dirty="0" err="1">
                <a:solidFill>
                  <a:srgbClr val="FFFFFF"/>
                </a:solidFill>
                <a:latin typeface="Poppins Semi-Bold"/>
                <a:ea typeface="Poppins Semi-Bold"/>
                <a:cs typeface="Poppins Semi-Bold"/>
                <a:sym typeface="Poppins Semi-Bold"/>
              </a:rPr>
              <a:t>idade</a:t>
            </a:r>
            <a:r>
              <a:rPr lang="en-US" sz="4899" b="1" dirty="0">
                <a:solidFill>
                  <a:srgbClr val="FFFFFF"/>
                </a:solidFill>
                <a:latin typeface="Poppins Semi-Bold"/>
                <a:ea typeface="Poppins Semi-Bold"/>
                <a:cs typeface="Poppins Semi-Bold"/>
                <a:sym typeface="Poppins Semi-Bold"/>
              </a:rPr>
              <a:t> = </a:t>
            </a:r>
            <a:r>
              <a:rPr lang="en-US" sz="4899" b="1" dirty="0" err="1">
                <a:solidFill>
                  <a:srgbClr val="3C67BF"/>
                </a:solidFill>
                <a:latin typeface="Poppins Semi-Bold"/>
                <a:ea typeface="Poppins Semi-Bold"/>
                <a:cs typeface="Poppins Semi-Bold"/>
                <a:sym typeface="Poppins Semi-Bold"/>
              </a:rPr>
              <a:t>int</a:t>
            </a:r>
            <a:r>
              <a:rPr lang="en-US" sz="4899" b="1" dirty="0" err="1">
                <a:solidFill>
                  <a:srgbClr val="FFFFFF"/>
                </a:solidFill>
                <a:latin typeface="Poppins Semi-Bold"/>
                <a:ea typeface="Poppins Semi-Bold"/>
                <a:cs typeface="Poppins Semi-Bold"/>
                <a:sym typeface="Poppins Semi-Bold"/>
              </a:rPr>
              <a:t>.Parse</a:t>
            </a:r>
            <a:r>
              <a:rPr lang="en-US" sz="4899" b="1" dirty="0">
                <a:solidFill>
                  <a:srgbClr val="FFFFFF"/>
                </a:solidFill>
                <a:latin typeface="Poppins Semi-Bold"/>
                <a:ea typeface="Poppins Semi-Bold"/>
                <a:cs typeface="Poppins Semi-Bold"/>
                <a:sym typeface="Poppins Semi-Bold"/>
              </a:rPr>
              <a:t>(</a:t>
            </a:r>
            <a:r>
              <a:rPr lang="en-US" sz="4899" b="1" dirty="0" err="1">
                <a:solidFill>
                  <a:srgbClr val="7ED957"/>
                </a:solidFill>
                <a:latin typeface="Poppins Semi-Bold"/>
                <a:ea typeface="Poppins Semi-Bold"/>
                <a:cs typeface="Poppins Semi-Bold"/>
                <a:sym typeface="Poppins Semi-Bold"/>
              </a:rPr>
              <a:t>Console.</a:t>
            </a:r>
            <a:r>
              <a:rPr lang="en-US" sz="4899" b="1" dirty="0" err="1">
                <a:solidFill>
                  <a:srgbClr val="FFCB85"/>
                </a:solidFill>
                <a:latin typeface="Poppins Semi-Bold"/>
                <a:ea typeface="Poppins Semi-Bold"/>
                <a:cs typeface="Poppins Semi-Bold"/>
                <a:sym typeface="Poppins Semi-Bold"/>
              </a:rPr>
              <a:t>ReadLine</a:t>
            </a:r>
            <a:r>
              <a:rPr lang="en-US" sz="4899" b="1" dirty="0">
                <a:solidFill>
                  <a:srgbClr val="FFCB85"/>
                </a:solidFill>
                <a:latin typeface="Poppins Semi-Bold"/>
                <a:ea typeface="Poppins Semi-Bold"/>
                <a:cs typeface="Poppins Semi-Bold"/>
                <a:sym typeface="Poppins Semi-Bold"/>
              </a:rPr>
              <a:t>()</a:t>
            </a:r>
            <a:r>
              <a:rPr lang="en-US" sz="4899" b="1" dirty="0">
                <a:solidFill>
                  <a:srgbClr val="FFFFFF"/>
                </a:solidFill>
                <a:latin typeface="Poppins Semi-Bold"/>
                <a:ea typeface="Poppins Semi-Bold"/>
                <a:cs typeface="Poppins Semi-Bold"/>
                <a:sym typeface="Poppins Semi-Bold"/>
              </a:rPr>
              <a:t>); </a:t>
            </a:r>
            <a:r>
              <a:rPr lang="en-US" sz="4899" b="1" dirty="0">
                <a:solidFill>
                  <a:srgbClr val="7ED957"/>
                </a:solidFill>
                <a:latin typeface="Poppins Semi-Bold"/>
                <a:ea typeface="Poppins Semi-Bold"/>
                <a:cs typeface="Poppins Semi-Bold"/>
                <a:sym typeface="Poppins Semi-Bold"/>
              </a:rPr>
              <a:t>//</a:t>
            </a:r>
            <a:r>
              <a:rPr lang="en-US" sz="4899" b="1" dirty="0" err="1">
                <a:solidFill>
                  <a:srgbClr val="7ED957"/>
                </a:solidFill>
                <a:latin typeface="Poppins Semi-Bold"/>
                <a:ea typeface="Poppins Semi-Bold"/>
                <a:cs typeface="Poppins Semi-Bold"/>
                <a:sym typeface="Poppins Semi-Bold"/>
              </a:rPr>
              <a:t>exemplo</a:t>
            </a:r>
            <a:r>
              <a:rPr lang="en-US" sz="4899" b="1" dirty="0">
                <a:solidFill>
                  <a:srgbClr val="7ED957"/>
                </a:solidFill>
                <a:latin typeface="Poppins Semi-Bold"/>
                <a:ea typeface="Poppins Semi-Bold"/>
                <a:cs typeface="Poppins Semi-Bold"/>
                <a:sym typeface="Poppins Semi-Bold"/>
              </a:rPr>
              <a:t> 2 de </a:t>
            </a:r>
            <a:r>
              <a:rPr lang="en-US" sz="4899" b="1" dirty="0" err="1">
                <a:solidFill>
                  <a:srgbClr val="7ED957"/>
                </a:solidFill>
                <a:latin typeface="Poppins Semi-Bold"/>
                <a:ea typeface="Poppins Semi-Bold"/>
                <a:cs typeface="Poppins Semi-Bold"/>
                <a:sym typeface="Poppins Semi-Bold"/>
              </a:rPr>
              <a:t>conversão</a:t>
            </a:r>
            <a:r>
              <a:rPr lang="en-US" sz="4899" b="1" dirty="0">
                <a:solidFill>
                  <a:srgbClr val="7ED957"/>
                </a:solidFill>
                <a:latin typeface="Poppins Semi-Bold"/>
                <a:ea typeface="Poppins Semi-Bold"/>
                <a:cs typeface="Poppins Semi-Bold"/>
                <a:sym typeface="Poppins Semi-Bold"/>
              </a:rPr>
              <a:t> para </a:t>
            </a:r>
            <a:r>
              <a:rPr lang="en-US" sz="4899" b="1" dirty="0" err="1">
                <a:solidFill>
                  <a:srgbClr val="7ED957"/>
                </a:solidFill>
                <a:latin typeface="Poppins Semi-Bold"/>
                <a:ea typeface="Poppins Semi-Bold"/>
                <a:cs typeface="Poppins Semi-Bold"/>
                <a:sym typeface="Poppins Semi-Bold"/>
              </a:rPr>
              <a:t>inteiro</a:t>
            </a:r>
            <a:r>
              <a:rPr lang="en-US" sz="4899" b="1" dirty="0">
                <a:solidFill>
                  <a:srgbClr val="7ED957"/>
                </a:solidFill>
                <a:latin typeface="Poppins Semi-Bold"/>
                <a:ea typeface="Poppins Semi-Bold"/>
                <a:cs typeface="Poppins Semi-Bold"/>
                <a:sym typeface="Poppins Semi-Bold"/>
              </a:rPr>
              <a:t> </a:t>
            </a:r>
            <a:r>
              <a:rPr lang="en-US" sz="4899" b="1" dirty="0">
                <a:solidFill>
                  <a:srgbClr val="3C67BF"/>
                </a:solidFill>
                <a:latin typeface="Poppins Semi-Bold"/>
                <a:ea typeface="Poppins Semi-Bold"/>
                <a:cs typeface="Poppins Semi-Bold"/>
                <a:sym typeface="Poppins Semi-Bold"/>
              </a:rPr>
              <a:t>int </a:t>
            </a:r>
            <a:r>
              <a:rPr lang="en-US" sz="4899" b="1" dirty="0" err="1">
                <a:solidFill>
                  <a:srgbClr val="FFFFFF"/>
                </a:solidFill>
                <a:latin typeface="Poppins Semi-Bold"/>
                <a:ea typeface="Poppins Semi-Bold"/>
                <a:cs typeface="Poppins Semi-Bold"/>
                <a:sym typeface="Poppins Semi-Bold"/>
              </a:rPr>
              <a:t>ano</a:t>
            </a:r>
            <a:r>
              <a:rPr lang="en-US" sz="4899" b="1" dirty="0">
                <a:solidFill>
                  <a:srgbClr val="FFFFFF"/>
                </a:solidFill>
                <a:latin typeface="Poppins Semi-Bold"/>
                <a:ea typeface="Poppins Semi-Bold"/>
                <a:cs typeface="Poppins Semi-Bold"/>
                <a:sym typeface="Poppins Semi-Bold"/>
              </a:rPr>
              <a:t> = </a:t>
            </a:r>
            <a:r>
              <a:rPr lang="en-US" sz="4899" b="1" dirty="0">
                <a:solidFill>
                  <a:srgbClr val="7ED957"/>
                </a:solidFill>
                <a:latin typeface="Poppins Semi-Bold"/>
                <a:ea typeface="Poppins Semi-Bold"/>
                <a:cs typeface="Poppins Semi-Bold"/>
                <a:sym typeface="Poppins Semi-Bold"/>
              </a:rPr>
              <a:t>Convert</a:t>
            </a:r>
            <a:r>
              <a:rPr lang="en-US" sz="4899" b="1" dirty="0">
                <a:solidFill>
                  <a:srgbClr val="FFFFFF"/>
                </a:solidFill>
                <a:latin typeface="Poppins Semi-Bold"/>
                <a:ea typeface="Poppins Semi-Bold"/>
                <a:cs typeface="Poppins Semi-Bold"/>
                <a:sym typeface="Poppins Semi-Bold"/>
              </a:rPr>
              <a:t>.</a:t>
            </a:r>
            <a:r>
              <a:rPr lang="en-US" sz="4899" b="1" dirty="0">
                <a:solidFill>
                  <a:srgbClr val="FFCB85"/>
                </a:solidFill>
                <a:latin typeface="Poppins Semi-Bold"/>
                <a:ea typeface="Poppins Semi-Bold"/>
                <a:cs typeface="Poppins Semi-Bold"/>
                <a:sym typeface="Poppins Semi-Bold"/>
              </a:rPr>
              <a:t>ToInt32</a:t>
            </a:r>
            <a:r>
              <a:rPr lang="en-US" sz="4899" b="1" dirty="0">
                <a:solidFill>
                  <a:srgbClr val="FFFFFF"/>
                </a:solidFill>
                <a:latin typeface="Poppins Semi-Bold"/>
                <a:ea typeface="Poppins Semi-Bold"/>
                <a:cs typeface="Poppins Semi-Bold"/>
                <a:sym typeface="Poppins Semi-Bold"/>
              </a:rPr>
              <a:t>(</a:t>
            </a:r>
            <a:r>
              <a:rPr lang="en-US" sz="4899" b="1" dirty="0" err="1">
                <a:solidFill>
                  <a:srgbClr val="7ED957"/>
                </a:solidFill>
                <a:latin typeface="Poppins Semi-Bold"/>
                <a:ea typeface="Poppins Semi-Bold"/>
                <a:cs typeface="Poppins Semi-Bold"/>
                <a:sym typeface="Poppins Semi-Bold"/>
              </a:rPr>
              <a:t>Console</a:t>
            </a:r>
            <a:r>
              <a:rPr lang="en-US" sz="4899" b="1" dirty="0" err="1">
                <a:solidFill>
                  <a:srgbClr val="FFFFFF"/>
                </a:solidFill>
                <a:latin typeface="Poppins Semi-Bold"/>
                <a:ea typeface="Poppins Semi-Bold"/>
                <a:cs typeface="Poppins Semi-Bold"/>
                <a:sym typeface="Poppins Semi-Bold"/>
              </a:rPr>
              <a:t>.</a:t>
            </a:r>
            <a:r>
              <a:rPr lang="en-US" sz="4899" b="1" dirty="0" err="1">
                <a:solidFill>
                  <a:srgbClr val="FFCB85"/>
                </a:solidFill>
                <a:latin typeface="Poppins Semi-Bold"/>
                <a:ea typeface="Poppins Semi-Bold"/>
                <a:cs typeface="Poppins Semi-Bold"/>
                <a:sym typeface="Poppins Semi-Bold"/>
              </a:rPr>
              <a:t>ReadLine</a:t>
            </a:r>
            <a:r>
              <a:rPr lang="en-US" sz="4899" b="1" dirty="0">
                <a:solidFill>
                  <a:srgbClr val="FFCB85"/>
                </a:solidFill>
                <a:latin typeface="Poppins Semi-Bold"/>
                <a:ea typeface="Poppins Semi-Bold"/>
                <a:cs typeface="Poppins Semi-Bold"/>
                <a:sym typeface="Poppins Semi-Bold"/>
              </a:rPr>
              <a:t>()</a:t>
            </a:r>
            <a:r>
              <a:rPr lang="en-US" sz="4899" b="1" dirty="0">
                <a:solidFill>
                  <a:srgbClr val="FFFFFF"/>
                </a:solidFill>
                <a:latin typeface="Poppins Semi-Bold"/>
                <a:ea typeface="Poppins Semi-Bold"/>
                <a:cs typeface="Poppins Semi-Bold"/>
                <a:sym typeface="Poppins Semi-Bold"/>
              </a:rPr>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028700" y="776764"/>
            <a:ext cx="918633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Entrada do usuário C#</a:t>
            </a:r>
          </a:p>
        </p:txBody>
      </p:sp>
      <p:sp>
        <p:nvSpPr>
          <p:cNvPr id="3" name="TextBox 3"/>
          <p:cNvSpPr txBox="1"/>
          <p:nvPr/>
        </p:nvSpPr>
        <p:spPr>
          <a:xfrm>
            <a:off x="164983" y="3578876"/>
            <a:ext cx="16065417" cy="3082119"/>
          </a:xfrm>
          <a:prstGeom prst="rect">
            <a:avLst/>
          </a:prstGeom>
        </p:spPr>
        <p:txBody>
          <a:bodyPr lIns="0" tIns="0" rIns="0" bIns="0" rtlCol="0" anchor="t">
            <a:spAutoFit/>
          </a:bodyPr>
          <a:lstStyle/>
          <a:p>
            <a:pPr algn="l">
              <a:lnSpc>
                <a:spcPts val="5865"/>
              </a:lnSpc>
            </a:pPr>
            <a:r>
              <a:rPr lang="en-US" sz="4899" b="1">
                <a:solidFill>
                  <a:srgbClr val="7ED957"/>
                </a:solidFill>
                <a:latin typeface="Poppins Semi-Bold"/>
                <a:ea typeface="Poppins Semi-Bold"/>
                <a:cs typeface="Poppins Semi-Bold"/>
                <a:sym typeface="Poppins Semi-Bold"/>
              </a:rPr>
              <a:t>//exemplo 1 de conversão para número decimal </a:t>
            </a:r>
            <a:r>
              <a:rPr lang="en-US" sz="4899" b="1">
                <a:solidFill>
                  <a:srgbClr val="3C67BF"/>
                </a:solidFill>
                <a:latin typeface="Poppins Semi-Bold"/>
                <a:ea typeface="Poppins Semi-Bold"/>
                <a:cs typeface="Poppins Semi-Bold"/>
                <a:sym typeface="Poppins Semi-Bold"/>
              </a:rPr>
              <a:t>float </a:t>
            </a:r>
            <a:r>
              <a:rPr lang="en-US" sz="4899" b="1">
                <a:solidFill>
                  <a:srgbClr val="FFFFFF"/>
                </a:solidFill>
                <a:latin typeface="Poppins Semi-Bold"/>
                <a:ea typeface="Poppins Semi-Bold"/>
                <a:cs typeface="Poppins Semi-Bold"/>
                <a:sym typeface="Poppins Semi-Bold"/>
              </a:rPr>
              <a:t>peso =</a:t>
            </a:r>
            <a:r>
              <a:rPr lang="en-US" sz="4899" b="1">
                <a:solidFill>
                  <a:srgbClr val="3C67BF"/>
                </a:solidFill>
                <a:latin typeface="Poppins Semi-Bold"/>
                <a:ea typeface="Poppins Semi-Bold"/>
                <a:cs typeface="Poppins Semi-Bold"/>
                <a:sym typeface="Poppins Semi-Bold"/>
              </a:rPr>
              <a:t> float</a:t>
            </a:r>
            <a:r>
              <a:rPr lang="en-US" sz="4899" b="1">
                <a:solidFill>
                  <a:srgbClr val="FFFFFF"/>
                </a:solidFill>
                <a:latin typeface="Poppins Semi-Bold"/>
                <a:ea typeface="Poppins Semi-Bold"/>
                <a:cs typeface="Poppins Semi-Bold"/>
                <a:sym typeface="Poppins Semi-Bold"/>
              </a:rPr>
              <a:t>.Parse(</a:t>
            </a:r>
            <a:r>
              <a:rPr lang="en-US" sz="4899" b="1">
                <a:solidFill>
                  <a:srgbClr val="7ED957"/>
                </a:solidFill>
                <a:latin typeface="Poppins Semi-Bold"/>
                <a:ea typeface="Poppins Semi-Bold"/>
                <a:cs typeface="Poppins Semi-Bold"/>
                <a:sym typeface="Poppins Semi-Bold"/>
              </a:rPr>
              <a:t>Console</a:t>
            </a:r>
            <a:r>
              <a:rPr lang="en-US" sz="4899" b="1">
                <a:solidFill>
                  <a:srgbClr val="FFFFFF"/>
                </a:solidFill>
                <a:latin typeface="Poppins Semi-Bold"/>
                <a:ea typeface="Poppins Semi-Bold"/>
                <a:cs typeface="Poppins Semi-Bold"/>
                <a:sym typeface="Poppins Semi-Bold"/>
              </a:rPr>
              <a:t>.</a:t>
            </a:r>
            <a:r>
              <a:rPr lang="en-US" sz="4899" b="1">
                <a:solidFill>
                  <a:srgbClr val="FFCB85"/>
                </a:solidFill>
                <a:latin typeface="Poppins Semi-Bold"/>
                <a:ea typeface="Poppins Semi-Bold"/>
                <a:cs typeface="Poppins Semi-Bold"/>
                <a:sym typeface="Poppins Semi-Bold"/>
              </a:rPr>
              <a:t>ReadLine()</a:t>
            </a:r>
            <a:r>
              <a:rPr lang="en-US" sz="4899" b="1">
                <a:solidFill>
                  <a:srgbClr val="FFFFFF"/>
                </a:solidFill>
                <a:latin typeface="Poppins Semi-Bold"/>
                <a:ea typeface="Poppins Semi-Bold"/>
                <a:cs typeface="Poppins Semi-Bold"/>
                <a:sym typeface="Poppins Semi-Bold"/>
              </a:rPr>
              <a:t>); </a:t>
            </a:r>
            <a:r>
              <a:rPr lang="en-US" sz="4899" b="1">
                <a:solidFill>
                  <a:srgbClr val="7ED957"/>
                </a:solidFill>
                <a:latin typeface="Poppins Semi-Bold"/>
                <a:ea typeface="Poppins Semi-Bold"/>
                <a:cs typeface="Poppins Semi-Bold"/>
                <a:sym typeface="Poppins Semi-Bold"/>
              </a:rPr>
              <a:t>//exemplo 2 de conversão para número decimal</a:t>
            </a:r>
          </a:p>
        </p:txBody>
      </p:sp>
      <p:sp>
        <p:nvSpPr>
          <p:cNvPr id="4" name="TextBox 4"/>
          <p:cNvSpPr txBox="1"/>
          <p:nvPr/>
        </p:nvSpPr>
        <p:spPr>
          <a:xfrm>
            <a:off x="2363267" y="6544380"/>
            <a:ext cx="186509" cy="846077"/>
          </a:xfrm>
          <a:prstGeom prst="rect">
            <a:avLst/>
          </a:prstGeom>
        </p:spPr>
        <p:txBody>
          <a:bodyPr lIns="0" tIns="0" rIns="0" bIns="0" rtlCol="0" anchor="t">
            <a:spAutoFit/>
          </a:bodyPr>
          <a:lstStyle/>
          <a:p>
            <a:pPr algn="l">
              <a:lnSpc>
                <a:spcPts val="5744"/>
              </a:lnSpc>
            </a:pPr>
            <a:r>
              <a:rPr lang="en-US" sz="4799" b="1">
                <a:solidFill>
                  <a:srgbClr val="3C67BF"/>
                </a:solidFill>
                <a:latin typeface="Poppins Semi-Bold"/>
                <a:ea typeface="Poppins Semi-Bold"/>
                <a:cs typeface="Poppins Semi-Bold"/>
                <a:sym typeface="Poppins Semi-Bold"/>
              </a:rPr>
              <a:t> </a:t>
            </a:r>
          </a:p>
        </p:txBody>
      </p:sp>
      <p:sp>
        <p:nvSpPr>
          <p:cNvPr id="5" name="TextBox 5"/>
          <p:cNvSpPr txBox="1"/>
          <p:nvPr/>
        </p:nvSpPr>
        <p:spPr>
          <a:xfrm>
            <a:off x="164983" y="6449130"/>
            <a:ext cx="18123008" cy="941327"/>
          </a:xfrm>
          <a:prstGeom prst="rect">
            <a:avLst/>
          </a:prstGeom>
        </p:spPr>
        <p:txBody>
          <a:bodyPr lIns="0" tIns="0" rIns="0" bIns="0" rtlCol="0" anchor="t">
            <a:spAutoFit/>
          </a:bodyPr>
          <a:lstStyle/>
          <a:p>
            <a:pPr algn="l">
              <a:lnSpc>
                <a:spcPts val="6718"/>
              </a:lnSpc>
            </a:pPr>
            <a:r>
              <a:rPr lang="en-US" sz="4799" b="1">
                <a:solidFill>
                  <a:srgbClr val="3C67BF"/>
                </a:solidFill>
                <a:latin typeface="Poppins Semi-Bold"/>
                <a:ea typeface="Poppins Semi-Bold"/>
                <a:cs typeface="Poppins Semi-Bold"/>
                <a:sym typeface="Poppins Semi-Bold"/>
              </a:rPr>
              <a:t>double</a:t>
            </a:r>
            <a:r>
              <a:rPr lang="en-US" sz="4799" b="1">
                <a:solidFill>
                  <a:srgbClr val="FFFFFF"/>
                </a:solidFill>
                <a:latin typeface="Poppins Semi-Bold"/>
                <a:ea typeface="Poppins Semi-Bold"/>
                <a:cs typeface="Poppins Semi-Bold"/>
                <a:sym typeface="Poppins Semi-Bold"/>
              </a:rPr>
              <a:t> altura = </a:t>
            </a:r>
            <a:r>
              <a:rPr lang="en-US" sz="4799" b="1">
                <a:solidFill>
                  <a:srgbClr val="7ED957"/>
                </a:solidFill>
                <a:latin typeface="Poppins Semi-Bold"/>
                <a:ea typeface="Poppins Semi-Bold"/>
                <a:cs typeface="Poppins Semi-Bold"/>
                <a:sym typeface="Poppins Semi-Bold"/>
              </a:rPr>
              <a:t>Convert</a:t>
            </a:r>
            <a:r>
              <a:rPr lang="en-US" sz="4799" b="1">
                <a:solidFill>
                  <a:srgbClr val="FFFFFF"/>
                </a:solidFill>
                <a:latin typeface="Poppins Semi-Bold"/>
                <a:ea typeface="Poppins Semi-Bold"/>
                <a:cs typeface="Poppins Semi-Bold"/>
                <a:sym typeface="Poppins Semi-Bold"/>
              </a:rPr>
              <a:t>.</a:t>
            </a:r>
            <a:r>
              <a:rPr lang="en-US" sz="4799" b="1">
                <a:solidFill>
                  <a:srgbClr val="FFCB85"/>
                </a:solidFill>
                <a:latin typeface="Poppins Semi-Bold"/>
                <a:ea typeface="Poppins Semi-Bold"/>
                <a:cs typeface="Poppins Semi-Bold"/>
                <a:sym typeface="Poppins Semi-Bold"/>
              </a:rPr>
              <a:t>ToDouble</a:t>
            </a:r>
            <a:r>
              <a:rPr lang="en-US" sz="4799" b="1">
                <a:solidFill>
                  <a:srgbClr val="FFFFFF"/>
                </a:solidFill>
                <a:latin typeface="Poppins Semi-Bold"/>
                <a:ea typeface="Poppins Semi-Bold"/>
                <a:cs typeface="Poppins Semi-Bold"/>
                <a:sym typeface="Poppins Semi-Bold"/>
              </a:rPr>
              <a:t>(</a:t>
            </a:r>
            <a:r>
              <a:rPr lang="en-US" sz="4799" b="1">
                <a:solidFill>
                  <a:srgbClr val="7ED957"/>
                </a:solidFill>
                <a:latin typeface="Poppins Semi-Bold"/>
                <a:ea typeface="Poppins Semi-Bold"/>
                <a:cs typeface="Poppins Semi-Bold"/>
                <a:sym typeface="Poppins Semi-Bold"/>
              </a:rPr>
              <a:t>Console</a:t>
            </a:r>
            <a:r>
              <a:rPr lang="en-US" sz="4799" b="1">
                <a:solidFill>
                  <a:srgbClr val="FFFFFF"/>
                </a:solidFill>
                <a:latin typeface="Poppins Semi-Bold"/>
                <a:ea typeface="Poppins Semi-Bold"/>
                <a:cs typeface="Poppins Semi-Bold"/>
                <a:sym typeface="Poppins Semi-Bold"/>
              </a:rPr>
              <a:t>.</a:t>
            </a:r>
            <a:r>
              <a:rPr lang="en-US" sz="4799" b="1">
                <a:solidFill>
                  <a:srgbClr val="FFCB85"/>
                </a:solidFill>
                <a:latin typeface="Poppins Semi-Bold"/>
                <a:ea typeface="Poppins Semi-Bold"/>
                <a:cs typeface="Poppins Semi-Bold"/>
                <a:sym typeface="Poppins Semi-Bold"/>
              </a:rPr>
              <a:t>ReadLine()</a:t>
            </a:r>
            <a:r>
              <a:rPr lang="en-US" sz="4799" b="1">
                <a:solidFill>
                  <a:srgbClr val="FFFFFF"/>
                </a:solidFill>
                <a:latin typeface="Poppins Semi-Bold"/>
                <a:ea typeface="Poppins Semi-Bold"/>
                <a:cs typeface="Poppins Semi-Bold"/>
                <a:sym typeface="Poppins Semi-Bold"/>
              </a:rPr>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028700" y="776764"/>
            <a:ext cx="918633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Entrada do usuário C#</a:t>
            </a:r>
          </a:p>
        </p:txBody>
      </p:sp>
      <p:sp>
        <p:nvSpPr>
          <p:cNvPr id="3" name="TextBox 3"/>
          <p:cNvSpPr txBox="1"/>
          <p:nvPr/>
        </p:nvSpPr>
        <p:spPr>
          <a:xfrm>
            <a:off x="164983" y="3940826"/>
            <a:ext cx="16602485" cy="3825069"/>
          </a:xfrm>
          <a:prstGeom prst="rect">
            <a:avLst/>
          </a:prstGeom>
        </p:spPr>
        <p:txBody>
          <a:bodyPr lIns="0" tIns="0" rIns="0" bIns="0" rtlCol="0" anchor="t">
            <a:spAutoFit/>
          </a:bodyPr>
          <a:lstStyle/>
          <a:p>
            <a:pPr algn="l">
              <a:lnSpc>
                <a:spcPts val="5850"/>
              </a:lnSpc>
            </a:pPr>
            <a:r>
              <a:rPr lang="en-US" sz="4899" b="1">
                <a:solidFill>
                  <a:srgbClr val="FFFFFF"/>
                </a:solidFill>
                <a:latin typeface="Poppins Semi-Bold"/>
                <a:ea typeface="Poppins Semi-Bold"/>
                <a:cs typeface="Poppins Semi-Bold"/>
                <a:sym typeface="Poppins Semi-Bold"/>
              </a:rPr>
              <a:t>Podemos um converter número para string basta colocar depois da variável o comando </a:t>
            </a:r>
            <a:r>
              <a:rPr lang="en-US" sz="4899" b="1">
                <a:solidFill>
                  <a:srgbClr val="FF5757"/>
                </a:solidFill>
                <a:latin typeface="Poppins Semi-Bold"/>
                <a:ea typeface="Poppins Semi-Bold"/>
                <a:cs typeface="Poppins Semi-Bold"/>
                <a:sym typeface="Poppins Semi-Bold"/>
              </a:rPr>
              <a:t>.ToString()</a:t>
            </a:r>
            <a:r>
              <a:rPr lang="en-US" sz="4899" b="1">
                <a:solidFill>
                  <a:srgbClr val="FFFFFF"/>
                </a:solidFill>
                <a:latin typeface="Poppins Semi-Bold"/>
                <a:ea typeface="Poppins Semi-Bold"/>
                <a:cs typeface="Poppins Semi-Bold"/>
                <a:sym typeface="Poppins Semi-Bold"/>
              </a:rPr>
              <a:t>. </a:t>
            </a:r>
            <a:r>
              <a:rPr lang="en-US" sz="4899" b="1">
                <a:solidFill>
                  <a:srgbClr val="7ED957"/>
                </a:solidFill>
                <a:latin typeface="Poppins Semi-Bold"/>
                <a:ea typeface="Poppins Semi-Bold"/>
                <a:cs typeface="Poppins Semi-Bold"/>
                <a:sym typeface="Poppins Semi-Bold"/>
              </a:rPr>
              <a:t>//exemplo de conversão para string </a:t>
            </a:r>
            <a:r>
              <a:rPr lang="en-US" sz="4899" b="1">
                <a:solidFill>
                  <a:srgbClr val="3C67BF"/>
                </a:solidFill>
                <a:latin typeface="Poppins Semi-Bold"/>
                <a:ea typeface="Poppins Semi-Bold"/>
                <a:cs typeface="Poppins Semi-Bold"/>
                <a:sym typeface="Poppins Semi-Bold"/>
              </a:rPr>
              <a:t>string </a:t>
            </a:r>
            <a:r>
              <a:rPr lang="en-US" sz="4899" b="1">
                <a:solidFill>
                  <a:srgbClr val="FFFFFF"/>
                </a:solidFill>
                <a:latin typeface="Poppins Semi-Bold"/>
                <a:ea typeface="Poppins Semi-Bold"/>
                <a:cs typeface="Poppins Semi-Bold"/>
                <a:sym typeface="Poppins Semi-Bold"/>
              </a:rPr>
              <a:t>variavel = nomeVariavel.</a:t>
            </a:r>
            <a:r>
              <a:rPr lang="en-US" sz="4899" b="1">
                <a:solidFill>
                  <a:srgbClr val="FFCB85"/>
                </a:solidFill>
                <a:latin typeface="Poppins Semi-Bold"/>
                <a:ea typeface="Poppins Semi-Bold"/>
                <a:cs typeface="Poppins Semi-Bold"/>
                <a:sym typeface="Poppins Semi-Bold"/>
              </a:rPr>
              <a:t>ToString()</a:t>
            </a:r>
            <a:r>
              <a:rPr lang="en-US" sz="4899" b="1">
                <a:solidFill>
                  <a:srgbClr val="3C67BF"/>
                </a:solidFill>
                <a:latin typeface="Poppins Semi-Bold"/>
                <a:ea typeface="Poppins Semi-Bold"/>
                <a:cs typeface="Poppins Semi-Bold"/>
                <a:sym typeface="Poppins Semi-Bold"/>
              </a:rPr>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850622" y="294884"/>
            <a:ext cx="14343297" cy="857081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#2 </a:t>
            </a:r>
            <a:r>
              <a:rPr lang="en-US" sz="4684" b="1">
                <a:solidFill>
                  <a:srgbClr val="FFFFFF"/>
                </a:solidFill>
                <a:latin typeface="Poppins Semi-Bold"/>
                <a:ea typeface="Poppins Semi-Bold"/>
                <a:cs typeface="Poppins Semi-Bold"/>
                <a:sym typeface="Poppins Semi-Bold"/>
              </a:rPr>
              <a:t>Refaça a atividade anterior, só que agora informando as entradas que serão utilizadas em cada operação: </a:t>
            </a:r>
            <a:r>
              <a:rPr lang="en-US" sz="4684" b="1">
                <a:solidFill>
                  <a:srgbClr val="FFFFFF"/>
                </a:solidFill>
                <a:latin typeface="Poppins Medium"/>
                <a:ea typeface="Poppins Medium"/>
                <a:cs typeface="Poppins Medium"/>
                <a:sym typeface="Poppins Medium"/>
              </a:rPr>
              <a:t>Crie uma variável para cada operação abaixo e exiba o valor final de cada variável. </a:t>
            </a:r>
            <a:r>
              <a:rPr lang="en-US" sz="4684" b="1">
                <a:solidFill>
                  <a:srgbClr val="FFFFFF"/>
                </a:solidFill>
                <a:latin typeface="Poppins Semi-Bold"/>
                <a:ea typeface="Poppins Semi-Bold"/>
                <a:cs typeface="Poppins Semi-Bold"/>
                <a:sym typeface="Poppins Semi-Bold"/>
              </a:rPr>
              <a:t>+ soma - Subtração * multiplicação / divisãoEscreva </a:t>
            </a:r>
          </a:p>
        </p:txBody>
      </p:sp>
      <p:sp>
        <p:nvSpPr>
          <p:cNvPr id="4" name="TextBox 4"/>
          <p:cNvSpPr txBox="1"/>
          <p:nvPr/>
        </p:nvSpPr>
        <p:spPr>
          <a:xfrm>
            <a:off x="1366980" y="8976274"/>
            <a:ext cx="15870431" cy="1232202"/>
          </a:xfrm>
          <a:prstGeom prst="rect">
            <a:avLst/>
          </a:prstGeom>
        </p:spPr>
        <p:txBody>
          <a:bodyPr lIns="0" tIns="0" rIns="0" bIns="0" rtlCol="0" anchor="t">
            <a:spAutoFit/>
          </a:bodyPr>
          <a:lstStyle/>
          <a:p>
            <a:pPr algn="ctr">
              <a:lnSpc>
                <a:spcPts val="4498"/>
              </a:lnSpc>
            </a:pPr>
            <a:r>
              <a:rPr lang="en-US" sz="3799" b="1">
                <a:solidFill>
                  <a:srgbClr val="FFCB85"/>
                </a:solidFill>
                <a:latin typeface="Poppins Semi-Bold"/>
                <a:ea typeface="Poppins Semi-Bold"/>
                <a:cs typeface="Poppins Semi-Bold"/>
                <a:sym typeface="Poppins Semi-Bold"/>
              </a:rPr>
              <a:t>Paraexibiroresultadodecadaoperação,vocêpodeutilizar o Console.WriteLine(nomeVariavel);</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028700" y="438626"/>
            <a:ext cx="12297299" cy="1954378"/>
          </a:xfrm>
          <a:prstGeom prst="rect">
            <a:avLst/>
          </a:prstGeom>
        </p:spPr>
        <p:txBody>
          <a:bodyPr lIns="0" tIns="0" rIns="0" bIns="0" rtlCol="0" anchor="t">
            <a:spAutoFit/>
          </a:bodyPr>
          <a:lstStyle/>
          <a:p>
            <a:pPr algn="l">
              <a:lnSpc>
                <a:spcPts val="7127"/>
              </a:lnSpc>
            </a:pPr>
            <a:r>
              <a:rPr lang="en-US" sz="5964" b="1">
                <a:solidFill>
                  <a:srgbClr val="FFFFFF"/>
                </a:solidFill>
                <a:latin typeface="Poppins Semi-Bold"/>
                <a:ea typeface="Poppins Semi-Bold"/>
                <a:cs typeface="Poppins Semi-Bold"/>
                <a:sym typeface="Poppins Semi-Bold"/>
              </a:rPr>
              <a:t>Formas de escrever valores de variáveis no terminal.</a:t>
            </a:r>
          </a:p>
        </p:txBody>
      </p:sp>
      <p:sp>
        <p:nvSpPr>
          <p:cNvPr id="3" name="TextBox 3"/>
          <p:cNvSpPr txBox="1"/>
          <p:nvPr/>
        </p:nvSpPr>
        <p:spPr>
          <a:xfrm>
            <a:off x="594179" y="2107482"/>
            <a:ext cx="167097" cy="1277322"/>
          </a:xfrm>
          <a:prstGeom prst="rect">
            <a:avLst/>
          </a:prstGeom>
        </p:spPr>
        <p:txBody>
          <a:bodyPr lIns="0" tIns="0" rIns="0" bIns="0" rtlCol="0" anchor="t">
            <a:spAutoFit/>
          </a:bodyPr>
          <a:lstStyle/>
          <a:p>
            <a:pPr algn="l">
              <a:lnSpc>
                <a:spcPts val="10749"/>
              </a:lnSpc>
            </a:pPr>
            <a:r>
              <a:rPr lang="en-US" sz="4299" b="1">
                <a:solidFill>
                  <a:srgbClr val="FFFFFF"/>
                </a:solidFill>
                <a:latin typeface="Poppins Semi-Bold"/>
                <a:ea typeface="Poppins Semi-Bold"/>
                <a:cs typeface="Poppins Semi-Bold"/>
                <a:sym typeface="Poppins Semi-Bold"/>
              </a:rPr>
              <a:t> </a:t>
            </a:r>
          </a:p>
        </p:txBody>
      </p:sp>
      <p:sp>
        <p:nvSpPr>
          <p:cNvPr id="4" name="TextBox 4"/>
          <p:cNvSpPr txBox="1"/>
          <p:nvPr/>
        </p:nvSpPr>
        <p:spPr>
          <a:xfrm>
            <a:off x="164983" y="2650407"/>
            <a:ext cx="17862804" cy="734397"/>
          </a:xfrm>
          <a:prstGeom prst="rect">
            <a:avLst/>
          </a:prstGeom>
        </p:spPr>
        <p:txBody>
          <a:bodyPr lIns="0" tIns="0" rIns="0" bIns="0" rtlCol="0" anchor="t">
            <a:spAutoFit/>
          </a:bodyPr>
          <a:lstStyle/>
          <a:p>
            <a:pPr algn="l">
              <a:lnSpc>
                <a:spcPts val="5099"/>
              </a:lnSpc>
            </a:pPr>
            <a:r>
              <a:rPr lang="en-US" sz="4299" b="1">
                <a:solidFill>
                  <a:srgbClr val="FFFFFF"/>
                </a:solidFill>
                <a:latin typeface="Poppins Semi-Bold"/>
                <a:ea typeface="Poppins Semi-Bold"/>
                <a:cs typeface="Poppins Semi-Bold"/>
                <a:sym typeface="Poppins Semi-Bold"/>
              </a:rPr>
              <a:t>O</a:t>
            </a:r>
            <a:r>
              <a:rPr lang="en-US" sz="4299" b="1">
                <a:solidFill>
                  <a:srgbClr val="7ED957"/>
                </a:solidFill>
                <a:latin typeface="Poppins Semi-Bold"/>
                <a:ea typeface="Poppins Semi-Bold"/>
                <a:cs typeface="Poppins Semi-Bold"/>
                <a:sym typeface="Poppins Semi-Bold"/>
              </a:rPr>
              <a:t>Console</a:t>
            </a:r>
            <a:r>
              <a:rPr lang="en-US" sz="4299" b="1">
                <a:solidFill>
                  <a:srgbClr val="FFFFFF"/>
                </a:solidFill>
                <a:latin typeface="Poppins Semi-Bold"/>
                <a:ea typeface="Poppins Semi-Bold"/>
                <a:cs typeface="Poppins Semi-Bold"/>
                <a:sym typeface="Poppins Semi-Bold"/>
              </a:rPr>
              <a:t>.</a:t>
            </a:r>
            <a:r>
              <a:rPr lang="en-US" sz="4299" b="1">
                <a:solidFill>
                  <a:srgbClr val="FFCB85"/>
                </a:solidFill>
                <a:latin typeface="Poppins Semi-Bold"/>
                <a:ea typeface="Poppins Semi-Bold"/>
                <a:cs typeface="Poppins Semi-Bold"/>
                <a:sym typeface="Poppins Semi-Bold"/>
              </a:rPr>
              <a:t>WriteLine()</a:t>
            </a:r>
            <a:r>
              <a:rPr lang="en-US" sz="4299" b="1">
                <a:solidFill>
                  <a:srgbClr val="FFFFFF"/>
                </a:solidFill>
                <a:latin typeface="Poppins Semi-Bold"/>
                <a:ea typeface="Poppins Semi-Bold"/>
                <a:cs typeface="Poppins Semi-Bold"/>
                <a:sym typeface="Poppins Semi-Bold"/>
              </a:rPr>
              <a:t>escreve no terminal os dados que você</a:t>
            </a:r>
          </a:p>
        </p:txBody>
      </p:sp>
      <p:sp>
        <p:nvSpPr>
          <p:cNvPr id="5" name="TextBox 5"/>
          <p:cNvSpPr txBox="1"/>
          <p:nvPr/>
        </p:nvSpPr>
        <p:spPr>
          <a:xfrm>
            <a:off x="164983" y="3298107"/>
            <a:ext cx="18079326" cy="6563697"/>
          </a:xfrm>
          <a:prstGeom prst="rect">
            <a:avLst/>
          </a:prstGeom>
        </p:spPr>
        <p:txBody>
          <a:bodyPr lIns="0" tIns="0" rIns="0" bIns="0" rtlCol="0" anchor="t">
            <a:spAutoFit/>
          </a:bodyPr>
          <a:lstStyle/>
          <a:p>
            <a:pPr algn="l">
              <a:lnSpc>
                <a:spcPts val="5099"/>
              </a:lnSpc>
            </a:pPr>
            <a:r>
              <a:rPr lang="en-US" sz="4299" b="1">
                <a:solidFill>
                  <a:srgbClr val="FFFFFF"/>
                </a:solidFill>
                <a:latin typeface="Poppins Semi-Bold"/>
                <a:ea typeface="Poppins Semi-Bold"/>
                <a:cs typeface="Poppins Semi-Bold"/>
                <a:sym typeface="Poppins Semi-Bold"/>
              </a:rPr>
              <a:t>colocar entre parênteses, mas vamos supor que você queira escrever um texto junto com um número. Você pode fazer assim: </a:t>
            </a:r>
            <a:r>
              <a:rPr lang="en-US" sz="4299" b="1">
                <a:solidFill>
                  <a:srgbClr val="7ED957"/>
                </a:solidFill>
                <a:latin typeface="Poppins Semi-Bold"/>
                <a:ea typeface="Poppins Semi-Bold"/>
                <a:cs typeface="Poppins Semi-Bold"/>
                <a:sym typeface="Poppins Semi-Bold"/>
              </a:rPr>
              <a:t>Console</a:t>
            </a:r>
            <a:r>
              <a:rPr lang="en-US" sz="4299" b="1">
                <a:solidFill>
                  <a:srgbClr val="FFFFFF"/>
                </a:solidFill>
                <a:latin typeface="Poppins Semi-Bold"/>
                <a:ea typeface="Poppins Semi-Bold"/>
                <a:cs typeface="Poppins Semi-Bold"/>
                <a:sym typeface="Poppins Semi-Bold"/>
              </a:rPr>
              <a:t>.</a:t>
            </a:r>
            <a:r>
              <a:rPr lang="en-US" sz="4299" b="1">
                <a:solidFill>
                  <a:srgbClr val="FFCB85"/>
                </a:solidFill>
                <a:latin typeface="Poppins Semi-Bold"/>
                <a:ea typeface="Poppins Semi-Bold"/>
                <a:cs typeface="Poppins Semi-Bold"/>
                <a:sym typeface="Poppins Semi-Bold"/>
              </a:rPr>
              <a:t>WriteLine</a:t>
            </a:r>
            <a:r>
              <a:rPr lang="en-US" sz="4299" b="1">
                <a:solidFill>
                  <a:srgbClr val="FFFFFF"/>
                </a:solidFill>
                <a:latin typeface="Poppins Semi-Bold"/>
                <a:ea typeface="Poppins Semi-Bold"/>
                <a:cs typeface="Poppins Semi-Bold"/>
                <a:sym typeface="Poppins Semi-Bold"/>
              </a:rPr>
              <a:t>($</a:t>
            </a:r>
            <a:r>
              <a:rPr lang="en-US" sz="4299" b="1">
                <a:solidFill>
                  <a:srgbClr val="FF5757"/>
                </a:solidFill>
                <a:latin typeface="Poppins Semi-Bold"/>
                <a:ea typeface="Poppins Semi-Bold"/>
                <a:cs typeface="Poppins Semi-Bold"/>
                <a:sym typeface="Poppins Semi-Bold"/>
              </a:rPr>
              <a:t>”Sua idade é </a:t>
            </a:r>
            <a:r>
              <a:rPr lang="en-US" sz="4299" b="1">
                <a:solidFill>
                  <a:srgbClr val="FFFFFF"/>
                </a:solidFill>
                <a:latin typeface="Poppins Semi-Bold"/>
                <a:ea typeface="Poppins Semi-Bold"/>
                <a:cs typeface="Poppins Semi-Bold"/>
                <a:sym typeface="Poppins Semi-Bold"/>
              </a:rPr>
              <a:t>{29}</a:t>
            </a:r>
            <a:r>
              <a:rPr lang="en-US" sz="4299" b="1">
                <a:solidFill>
                  <a:srgbClr val="FF5757"/>
                </a:solidFill>
                <a:latin typeface="Poppins Semi-Bold"/>
                <a:ea typeface="Poppins Semi-Bold"/>
                <a:cs typeface="Poppins Semi-Bold"/>
                <a:sym typeface="Poppins Semi-Bold"/>
              </a:rPr>
              <a:t>”</a:t>
            </a:r>
            <a:r>
              <a:rPr lang="en-US" sz="4299" b="1">
                <a:solidFill>
                  <a:srgbClr val="FFFFFF"/>
                </a:solidFill>
                <a:latin typeface="Poppins Semi-Bold"/>
                <a:ea typeface="Poppins Semi-Bold"/>
                <a:cs typeface="Poppins Semi-Bold"/>
                <a:sym typeface="Poppins Semi-Bold"/>
              </a:rPr>
              <a:t>); Agora substitua o 29 por uma variável e você verá que o valor da variável será exibida. </a:t>
            </a:r>
            <a:r>
              <a:rPr lang="en-US" sz="4299" b="1">
                <a:solidFill>
                  <a:srgbClr val="7ED957"/>
                </a:solidFill>
                <a:latin typeface="Poppins Semi-Bold"/>
                <a:ea typeface="Poppins Semi-Bold"/>
                <a:cs typeface="Poppins Semi-Bold"/>
                <a:sym typeface="Poppins Semi-Bold"/>
              </a:rPr>
              <a:t>Console</a:t>
            </a:r>
            <a:r>
              <a:rPr lang="en-US" sz="4299" b="1">
                <a:solidFill>
                  <a:srgbClr val="FFFFFF"/>
                </a:solidFill>
                <a:latin typeface="Poppins Semi-Bold"/>
                <a:ea typeface="Poppins Semi-Bold"/>
                <a:cs typeface="Poppins Semi-Bold"/>
                <a:sym typeface="Poppins Semi-Bold"/>
              </a:rPr>
              <a:t>.</a:t>
            </a:r>
            <a:r>
              <a:rPr lang="en-US" sz="4299" b="1">
                <a:solidFill>
                  <a:srgbClr val="FFCB85"/>
                </a:solidFill>
                <a:latin typeface="Poppins Semi-Bold"/>
                <a:ea typeface="Poppins Semi-Bold"/>
                <a:cs typeface="Poppins Semi-Bold"/>
                <a:sym typeface="Poppins Semi-Bold"/>
              </a:rPr>
              <a:t>WriteLine</a:t>
            </a:r>
            <a:r>
              <a:rPr lang="en-US" sz="4299" b="1">
                <a:solidFill>
                  <a:srgbClr val="FFFFFF"/>
                </a:solidFill>
                <a:latin typeface="Poppins Semi-Bold"/>
                <a:ea typeface="Poppins Semi-Bold"/>
                <a:cs typeface="Poppins Semi-Bold"/>
                <a:sym typeface="Poppins Semi-Bold"/>
              </a:rPr>
              <a:t>($”</a:t>
            </a:r>
            <a:r>
              <a:rPr lang="en-US" sz="4299" b="1">
                <a:solidFill>
                  <a:srgbClr val="FF5757"/>
                </a:solidFill>
                <a:latin typeface="Poppins Semi-Bold"/>
                <a:ea typeface="Poppins Semi-Bold"/>
                <a:cs typeface="Poppins Semi-Bold"/>
                <a:sym typeface="Poppins Semi-Bold"/>
              </a:rPr>
              <a:t>Sua idade é </a:t>
            </a:r>
            <a:r>
              <a:rPr lang="en-US" sz="4299" b="1">
                <a:solidFill>
                  <a:srgbClr val="FFFFFF"/>
                </a:solidFill>
                <a:latin typeface="Poppins Semi-Bold"/>
                <a:ea typeface="Poppins Semi-Bold"/>
                <a:cs typeface="Poppins Semi-Bold"/>
                <a:sym typeface="Poppins Semi-Bold"/>
              </a:rPr>
              <a:t>{idade}”);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967978" y="324326"/>
            <a:ext cx="16679123"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Exemplo de leitura e escrita no programa</a:t>
            </a:r>
          </a:p>
        </p:txBody>
      </p:sp>
      <p:sp>
        <p:nvSpPr>
          <p:cNvPr id="3" name="TextBox 3"/>
          <p:cNvSpPr txBox="1"/>
          <p:nvPr/>
        </p:nvSpPr>
        <p:spPr>
          <a:xfrm>
            <a:off x="164983" y="2326557"/>
            <a:ext cx="17263929" cy="7211397"/>
          </a:xfrm>
          <a:prstGeom prst="rect">
            <a:avLst/>
          </a:prstGeom>
        </p:spPr>
        <p:txBody>
          <a:bodyPr lIns="0" tIns="0" rIns="0" bIns="0" rtlCol="0" anchor="t">
            <a:spAutoFit/>
          </a:bodyPr>
          <a:lstStyle/>
          <a:p>
            <a:pPr algn="l">
              <a:lnSpc>
                <a:spcPts val="5099"/>
              </a:lnSpc>
            </a:pPr>
            <a:r>
              <a:rPr lang="en-US" sz="4299" b="1">
                <a:solidFill>
                  <a:srgbClr val="FFFFFF"/>
                </a:solidFill>
                <a:latin typeface="Poppins Semi-Bold"/>
                <a:ea typeface="Poppins Semi-Bold"/>
                <a:cs typeface="Poppins Semi-Bold"/>
                <a:sym typeface="Poppins Semi-Bold"/>
              </a:rPr>
              <a:t>Olhe o exemplo abaixo, o programa está informando ao usuário para que ele informe sua idade, após a leitura, o programa escreve a idade informada junto com um texto complementar. Fica claro para o usuário o que o programa está fazendo. </a:t>
            </a:r>
            <a:r>
              <a:rPr lang="en-US" sz="4299" b="1">
                <a:solidFill>
                  <a:srgbClr val="7ED957"/>
                </a:solidFill>
                <a:latin typeface="Poppins Semi-Bold"/>
                <a:ea typeface="Poppins Semi-Bold"/>
                <a:cs typeface="Poppins Semi-Bold"/>
                <a:sym typeface="Poppins Semi-Bold"/>
              </a:rPr>
              <a:t>Console</a:t>
            </a:r>
            <a:r>
              <a:rPr lang="en-US" sz="4299" b="1">
                <a:solidFill>
                  <a:srgbClr val="FFFFFF"/>
                </a:solidFill>
                <a:latin typeface="Poppins Semi-Bold"/>
                <a:ea typeface="Poppins Semi-Bold"/>
                <a:cs typeface="Poppins Semi-Bold"/>
                <a:sym typeface="Poppins Semi-Bold"/>
              </a:rPr>
              <a:t>.</a:t>
            </a:r>
            <a:r>
              <a:rPr lang="en-US" sz="4299" b="1">
                <a:solidFill>
                  <a:srgbClr val="FFCB85"/>
                </a:solidFill>
                <a:latin typeface="Poppins Semi-Bold"/>
                <a:ea typeface="Poppins Semi-Bold"/>
                <a:cs typeface="Poppins Semi-Bold"/>
                <a:sym typeface="Poppins Semi-Bold"/>
              </a:rPr>
              <a:t>WriteLine</a:t>
            </a:r>
            <a:r>
              <a:rPr lang="en-US" sz="4299" b="1">
                <a:solidFill>
                  <a:srgbClr val="FFFFFF"/>
                </a:solidFill>
                <a:latin typeface="Poppins Semi-Bold"/>
                <a:ea typeface="Poppins Semi-Bold"/>
                <a:cs typeface="Poppins Semi-Bold"/>
                <a:sym typeface="Poppins Semi-Bold"/>
              </a:rPr>
              <a:t>(</a:t>
            </a:r>
            <a:r>
              <a:rPr lang="en-US" sz="4299" b="1">
                <a:solidFill>
                  <a:srgbClr val="FF5757"/>
                </a:solidFill>
                <a:latin typeface="Poppins Semi-Bold"/>
                <a:ea typeface="Poppins Semi-Bold"/>
                <a:cs typeface="Poppins Semi-Bold"/>
                <a:sym typeface="Poppins Semi-Bold"/>
              </a:rPr>
              <a:t>"Informe sua idade: "</a:t>
            </a:r>
            <a:r>
              <a:rPr lang="en-US" sz="4299" b="1">
                <a:solidFill>
                  <a:srgbClr val="FFFFFF"/>
                </a:solidFill>
                <a:latin typeface="Poppins Semi-Bold"/>
                <a:ea typeface="Poppins Semi-Bold"/>
                <a:cs typeface="Poppins Semi-Bold"/>
                <a:sym typeface="Poppins Semi-Bold"/>
              </a:rPr>
              <a:t>); </a:t>
            </a:r>
            <a:r>
              <a:rPr lang="en-US" sz="4299" b="1">
                <a:solidFill>
                  <a:srgbClr val="3C67BF"/>
                </a:solidFill>
                <a:latin typeface="Poppins Semi-Bold"/>
                <a:ea typeface="Poppins Semi-Bold"/>
                <a:cs typeface="Poppins Semi-Bold"/>
                <a:sym typeface="Poppins Semi-Bold"/>
              </a:rPr>
              <a:t>int </a:t>
            </a:r>
            <a:r>
              <a:rPr lang="en-US" sz="4299" b="1">
                <a:solidFill>
                  <a:srgbClr val="FFFFFF"/>
                </a:solidFill>
                <a:latin typeface="Poppins Semi-Bold"/>
                <a:ea typeface="Poppins Semi-Bold"/>
                <a:cs typeface="Poppins Semi-Bold"/>
                <a:sym typeface="Poppins Semi-Bold"/>
              </a:rPr>
              <a:t>idade =</a:t>
            </a:r>
            <a:r>
              <a:rPr lang="en-US" sz="4299" b="1">
                <a:solidFill>
                  <a:srgbClr val="7ED957"/>
                </a:solidFill>
                <a:latin typeface="Poppins Semi-Bold"/>
                <a:ea typeface="Poppins Semi-Bold"/>
                <a:cs typeface="Poppins Semi-Bold"/>
                <a:sym typeface="Poppins Semi-Bold"/>
              </a:rPr>
              <a:t> </a:t>
            </a:r>
            <a:r>
              <a:rPr lang="en-US" sz="4299" b="1">
                <a:solidFill>
                  <a:srgbClr val="3C67BF"/>
                </a:solidFill>
                <a:latin typeface="Poppins Semi-Bold"/>
                <a:ea typeface="Poppins Semi-Bold"/>
                <a:cs typeface="Poppins Semi-Bold"/>
                <a:sym typeface="Poppins Semi-Bold"/>
              </a:rPr>
              <a:t>int</a:t>
            </a:r>
            <a:r>
              <a:rPr lang="en-US" sz="4299" b="1">
                <a:solidFill>
                  <a:srgbClr val="FFFFFF"/>
                </a:solidFill>
                <a:latin typeface="Poppins Semi-Bold"/>
                <a:ea typeface="Poppins Semi-Bold"/>
                <a:cs typeface="Poppins Semi-Bold"/>
                <a:sym typeface="Poppins Semi-Bold"/>
              </a:rPr>
              <a:t>.Parse(</a:t>
            </a:r>
            <a:r>
              <a:rPr lang="en-US" sz="4299" b="1">
                <a:solidFill>
                  <a:srgbClr val="7ED957"/>
                </a:solidFill>
                <a:latin typeface="Poppins Semi-Bold"/>
                <a:ea typeface="Poppins Semi-Bold"/>
                <a:cs typeface="Poppins Semi-Bold"/>
                <a:sym typeface="Poppins Semi-Bold"/>
              </a:rPr>
              <a:t>Console</a:t>
            </a:r>
            <a:r>
              <a:rPr lang="en-US" sz="4299" b="1">
                <a:solidFill>
                  <a:srgbClr val="FFFFFF"/>
                </a:solidFill>
                <a:latin typeface="Poppins Semi-Bold"/>
                <a:ea typeface="Poppins Semi-Bold"/>
                <a:cs typeface="Poppins Semi-Bold"/>
                <a:sym typeface="Poppins Semi-Bold"/>
              </a:rPr>
              <a:t>.</a:t>
            </a:r>
            <a:r>
              <a:rPr lang="en-US" sz="4299" b="1">
                <a:solidFill>
                  <a:srgbClr val="FFCB85"/>
                </a:solidFill>
                <a:latin typeface="Poppins Semi-Bold"/>
                <a:ea typeface="Poppins Semi-Bold"/>
                <a:cs typeface="Poppins Semi-Bold"/>
                <a:sym typeface="Poppins Semi-Bold"/>
              </a:rPr>
              <a:t>ReadLine()</a:t>
            </a:r>
            <a:r>
              <a:rPr lang="en-US" sz="4299" b="1">
                <a:solidFill>
                  <a:srgbClr val="FFFFFF"/>
                </a:solidFill>
                <a:latin typeface="Poppins Semi-Bold"/>
                <a:ea typeface="Poppins Semi-Bold"/>
                <a:cs typeface="Poppins Semi-Bold"/>
                <a:sym typeface="Poppins Semi-Bold"/>
              </a:rPr>
              <a:t>); </a:t>
            </a:r>
            <a:r>
              <a:rPr lang="en-US" sz="4299" b="1">
                <a:solidFill>
                  <a:srgbClr val="7ED957"/>
                </a:solidFill>
                <a:latin typeface="Poppins Semi-Bold"/>
                <a:ea typeface="Poppins Semi-Bold"/>
                <a:cs typeface="Poppins Semi-Bold"/>
                <a:sym typeface="Poppins Semi-Bold"/>
              </a:rPr>
              <a:t>Console</a:t>
            </a:r>
            <a:r>
              <a:rPr lang="en-US" sz="4299" b="1">
                <a:solidFill>
                  <a:srgbClr val="FFFFFF"/>
                </a:solidFill>
                <a:latin typeface="Poppins Semi-Bold"/>
                <a:ea typeface="Poppins Semi-Bold"/>
                <a:cs typeface="Poppins Semi-Bold"/>
                <a:sym typeface="Poppins Semi-Bold"/>
              </a:rPr>
              <a:t>.</a:t>
            </a:r>
            <a:r>
              <a:rPr lang="en-US" sz="4299" b="1">
                <a:solidFill>
                  <a:srgbClr val="FFCB85"/>
                </a:solidFill>
                <a:latin typeface="Poppins Semi-Bold"/>
                <a:ea typeface="Poppins Semi-Bold"/>
                <a:cs typeface="Poppins Semi-Bold"/>
                <a:sym typeface="Poppins Semi-Bold"/>
              </a:rPr>
              <a:t>WriteLine</a:t>
            </a:r>
            <a:r>
              <a:rPr lang="en-US" sz="4299" b="1">
                <a:solidFill>
                  <a:srgbClr val="FFFFFF"/>
                </a:solidFill>
                <a:latin typeface="Poppins Semi-Bold"/>
                <a:ea typeface="Poppins Semi-Bold"/>
                <a:cs typeface="Poppins Semi-Bold"/>
                <a:sym typeface="Poppins Semi-Bold"/>
              </a:rPr>
              <a:t>($</a:t>
            </a:r>
            <a:r>
              <a:rPr lang="en-US" sz="4299" b="1">
                <a:solidFill>
                  <a:srgbClr val="FF5757"/>
                </a:solidFill>
                <a:latin typeface="Poppins Semi-Bold"/>
                <a:ea typeface="Poppins Semi-Bold"/>
                <a:cs typeface="Poppins Semi-Bold"/>
                <a:sym typeface="Poppins Semi-Bold"/>
              </a:rPr>
              <a:t>"Você tem </a:t>
            </a:r>
            <a:r>
              <a:rPr lang="en-US" sz="4299" b="1">
                <a:solidFill>
                  <a:srgbClr val="FFFFFF"/>
                </a:solidFill>
                <a:latin typeface="Poppins Semi-Bold"/>
                <a:ea typeface="Poppins Semi-Bold"/>
                <a:cs typeface="Poppins Semi-Bold"/>
                <a:sym typeface="Poppins Semi-Bold"/>
              </a:rPr>
              <a:t>{idade}</a:t>
            </a:r>
            <a:r>
              <a:rPr lang="en-US" sz="4299" b="1">
                <a:solidFill>
                  <a:srgbClr val="FF5757"/>
                </a:solidFill>
                <a:latin typeface="Poppins Semi-Bold"/>
                <a:ea typeface="Poppins Semi-Bold"/>
                <a:cs typeface="Poppins Semi-Bold"/>
                <a:sym typeface="Poppins Semi-Bold"/>
              </a:rPr>
              <a:t> anos"</a:t>
            </a:r>
            <a:r>
              <a:rPr lang="en-US" sz="4299" b="1">
                <a:solidFill>
                  <a:srgbClr val="FFFFFF"/>
                </a:solidFill>
                <a:latin typeface="Poppins Semi-Bold"/>
                <a:ea typeface="Poppins Semi-Bold"/>
                <a:cs typeface="Poppins Semi-Bold"/>
                <a:sym typeface="Poppins Semi-Bold"/>
              </a:rPr>
              <a: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2593267"/>
            <a:ext cx="18288000" cy="7639050"/>
          </a:xfrm>
          <a:custGeom>
            <a:avLst/>
            <a:gdLst/>
            <a:ahLst/>
            <a:cxnLst/>
            <a:rect l="l" t="t" r="r" b="b"/>
            <a:pathLst>
              <a:path w="18288000" h="7639050">
                <a:moveTo>
                  <a:pt x="0" y="0"/>
                </a:moveTo>
                <a:lnTo>
                  <a:pt x="18288000" y="0"/>
                </a:lnTo>
                <a:lnTo>
                  <a:pt x="18288000" y="7639050"/>
                </a:lnTo>
                <a:lnTo>
                  <a:pt x="0" y="7639050"/>
                </a:lnTo>
                <a:lnTo>
                  <a:pt x="0" y="0"/>
                </a:lnTo>
                <a:close/>
              </a:path>
            </a:pathLst>
          </a:custGeom>
          <a:blipFill>
            <a:blip r:embed="rId2"/>
            <a:stretch>
              <a:fillRect/>
            </a:stretch>
          </a:blipFill>
        </p:spPr>
      </p:sp>
      <p:sp>
        <p:nvSpPr>
          <p:cNvPr id="3" name="TextBox 3"/>
          <p:cNvSpPr txBox="1"/>
          <p:nvPr/>
        </p:nvSpPr>
        <p:spPr>
          <a:xfrm>
            <a:off x="613915" y="324326"/>
            <a:ext cx="17401423"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Boas Práticas para desenvolver programas</a:t>
            </a:r>
          </a:p>
        </p:txBody>
      </p:sp>
      <p:sp>
        <p:nvSpPr>
          <p:cNvPr id="4" name="TextBox 4"/>
          <p:cNvSpPr txBox="1"/>
          <p:nvPr/>
        </p:nvSpPr>
        <p:spPr>
          <a:xfrm>
            <a:off x="2360333" y="1625594"/>
            <a:ext cx="13544560" cy="965121"/>
          </a:xfrm>
          <a:prstGeom prst="rect">
            <a:avLst/>
          </a:prstGeom>
        </p:spPr>
        <p:txBody>
          <a:bodyPr lIns="0" tIns="0" rIns="0" bIns="0" rtlCol="0" anchor="t">
            <a:spAutoFit/>
          </a:bodyPr>
          <a:lstStyle/>
          <a:p>
            <a:pPr algn="l">
              <a:lnSpc>
                <a:spcPts val="6999"/>
              </a:lnSpc>
            </a:pPr>
            <a:r>
              <a:rPr lang="en-US" sz="4999" b="1">
                <a:solidFill>
                  <a:srgbClr val="FFFFFF"/>
                </a:solidFill>
                <a:latin typeface="Poppins Semi-Bold"/>
                <a:ea typeface="Poppins Semi-Bold"/>
                <a:cs typeface="Poppins Semi-Bold"/>
                <a:sym typeface="Poppins Semi-Bold"/>
              </a:rPr>
              <a:t>Deixe o código indentado corretamente.</a:t>
            </a:r>
          </a:p>
        </p:txBody>
      </p:sp>
      <p:sp>
        <p:nvSpPr>
          <p:cNvPr id="5" name="TextBox 5"/>
          <p:cNvSpPr txBox="1"/>
          <p:nvPr/>
        </p:nvSpPr>
        <p:spPr>
          <a:xfrm>
            <a:off x="4764719" y="2728703"/>
            <a:ext cx="3768795" cy="1751667"/>
          </a:xfrm>
          <a:prstGeom prst="rect">
            <a:avLst/>
          </a:prstGeom>
        </p:spPr>
        <p:txBody>
          <a:bodyPr lIns="0" tIns="0" rIns="0" bIns="0" rtlCol="0" anchor="t">
            <a:spAutoFit/>
          </a:bodyPr>
          <a:lstStyle/>
          <a:p>
            <a:pPr algn="ctr">
              <a:lnSpc>
                <a:spcPts val="3300"/>
              </a:lnSpc>
            </a:pPr>
            <a:r>
              <a:rPr lang="en-US" sz="2799" b="1">
                <a:solidFill>
                  <a:srgbClr val="FFCB85"/>
                </a:solidFill>
                <a:latin typeface="Poppins Semi-Bold"/>
                <a:ea typeface="Poppins Semi-Bold"/>
                <a:cs typeface="Poppins Semi-Bold"/>
                <a:sym typeface="Poppins Semi-Bold"/>
              </a:rPr>
              <a:t>intentação é o espaço entre a margem do código e o inicio do código.</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613915" y="324326"/>
            <a:ext cx="17401423"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Boas Práticas para desenvolver programas</a:t>
            </a:r>
          </a:p>
        </p:txBody>
      </p:sp>
      <p:sp>
        <p:nvSpPr>
          <p:cNvPr id="3" name="TextBox 3"/>
          <p:cNvSpPr txBox="1"/>
          <p:nvPr/>
        </p:nvSpPr>
        <p:spPr>
          <a:xfrm>
            <a:off x="1987372" y="1625594"/>
            <a:ext cx="14305502" cy="965121"/>
          </a:xfrm>
          <a:prstGeom prst="rect">
            <a:avLst/>
          </a:prstGeom>
        </p:spPr>
        <p:txBody>
          <a:bodyPr lIns="0" tIns="0" rIns="0" bIns="0" rtlCol="0" anchor="t">
            <a:spAutoFit/>
          </a:bodyPr>
          <a:lstStyle/>
          <a:p>
            <a:pPr algn="l">
              <a:lnSpc>
                <a:spcPts val="6999"/>
              </a:lnSpc>
            </a:pPr>
            <a:r>
              <a:rPr lang="en-US" sz="4999" b="1">
                <a:solidFill>
                  <a:srgbClr val="FFFFFF"/>
                </a:solidFill>
                <a:latin typeface="Poppins Semi-Bold"/>
                <a:ea typeface="Poppins Semi-Bold"/>
                <a:cs typeface="Poppins Semi-Bold"/>
                <a:sym typeface="Poppins Semi-Bold"/>
              </a:rPr>
              <a:t>Nomeie as variáveis com nomes intuitivos</a:t>
            </a:r>
          </a:p>
        </p:txBody>
      </p:sp>
      <p:sp>
        <p:nvSpPr>
          <p:cNvPr id="4" name="TextBox 4"/>
          <p:cNvSpPr txBox="1"/>
          <p:nvPr/>
        </p:nvSpPr>
        <p:spPr>
          <a:xfrm>
            <a:off x="164983" y="3197876"/>
            <a:ext cx="17627403" cy="5310969"/>
          </a:xfrm>
          <a:prstGeom prst="rect">
            <a:avLst/>
          </a:prstGeom>
        </p:spPr>
        <p:txBody>
          <a:bodyPr lIns="0" tIns="0" rIns="0" bIns="0" rtlCol="0" anchor="t">
            <a:spAutoFit/>
          </a:bodyPr>
          <a:lstStyle/>
          <a:p>
            <a:pPr algn="l">
              <a:lnSpc>
                <a:spcPts val="5850"/>
              </a:lnSpc>
            </a:pPr>
            <a:r>
              <a:rPr lang="en-US" sz="4899" b="1">
                <a:solidFill>
                  <a:srgbClr val="7ED957"/>
                </a:solidFill>
                <a:latin typeface="Poppins Semi-Bold"/>
                <a:ea typeface="Poppins Semi-Bold"/>
                <a:cs typeface="Poppins Semi-Bold"/>
                <a:sym typeface="Poppins Semi-Bold"/>
              </a:rPr>
              <a:t>/*Você precisa ler um valor de um peso, logo o nome da sua variável pode ser peso*/ </a:t>
            </a:r>
            <a:r>
              <a:rPr lang="en-US" sz="4899" b="1">
                <a:solidFill>
                  <a:srgbClr val="3C67BF"/>
                </a:solidFill>
                <a:latin typeface="Poppins Semi-Bold"/>
                <a:ea typeface="Poppins Semi-Bold"/>
                <a:cs typeface="Poppins Semi-Bold"/>
                <a:sym typeface="Poppins Semi-Bold"/>
              </a:rPr>
              <a:t>float </a:t>
            </a:r>
            <a:r>
              <a:rPr lang="en-US" sz="4899" b="1">
                <a:solidFill>
                  <a:srgbClr val="FFFFFF"/>
                </a:solidFill>
                <a:latin typeface="Poppins Semi-Bold"/>
                <a:ea typeface="Poppins Semi-Bold"/>
                <a:cs typeface="Poppins Semi-Bold"/>
                <a:sym typeface="Poppins Semi-Bold"/>
              </a:rPr>
              <a:t>peso; </a:t>
            </a:r>
            <a:r>
              <a:rPr lang="en-US" sz="4899" b="1">
                <a:solidFill>
                  <a:srgbClr val="7ED957"/>
                </a:solidFill>
                <a:latin typeface="Poppins Semi-Bold"/>
                <a:ea typeface="Poppins Semi-Bold"/>
                <a:cs typeface="Poppins Semi-Bold"/>
                <a:sym typeface="Poppins Semi-Bold"/>
              </a:rPr>
              <a:t>/*Se você coloca outro nome, vai ficar ruim de identificar para que serve aquela variável.*/ </a:t>
            </a:r>
            <a:r>
              <a:rPr lang="en-US" sz="4899" b="1">
                <a:solidFill>
                  <a:srgbClr val="3C67BF"/>
                </a:solidFill>
                <a:latin typeface="Poppins Semi-Bold"/>
                <a:ea typeface="Poppins Semi-Bold"/>
                <a:cs typeface="Poppins Semi-Bold"/>
                <a:sym typeface="Poppins Semi-Bold"/>
              </a:rPr>
              <a:t>float </a:t>
            </a:r>
            <a:r>
              <a:rPr lang="en-US" sz="4899" b="1">
                <a:solidFill>
                  <a:srgbClr val="FFFFFF"/>
                </a:solidFill>
                <a:latin typeface="Poppins Semi-Bold"/>
                <a:ea typeface="Poppins Semi-Bold"/>
                <a:cs typeface="Poppins Semi-Bold"/>
                <a:sym typeface="Poppins Semi-Bold"/>
              </a:rPr>
              <a:t>x;</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613915" y="324326"/>
            <a:ext cx="17401423"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Boas Práticas para desenvolver programas</a:t>
            </a:r>
          </a:p>
        </p:txBody>
      </p:sp>
      <p:sp>
        <p:nvSpPr>
          <p:cNvPr id="3" name="TextBox 3"/>
          <p:cNvSpPr txBox="1"/>
          <p:nvPr/>
        </p:nvSpPr>
        <p:spPr>
          <a:xfrm>
            <a:off x="164983" y="3940826"/>
            <a:ext cx="15146379" cy="3082119"/>
          </a:xfrm>
          <a:prstGeom prst="rect">
            <a:avLst/>
          </a:prstGeom>
        </p:spPr>
        <p:txBody>
          <a:bodyPr lIns="0" tIns="0" rIns="0" bIns="0" rtlCol="0" anchor="t">
            <a:spAutoFit/>
          </a:bodyPr>
          <a:lstStyle/>
          <a:p>
            <a:pPr algn="l">
              <a:lnSpc>
                <a:spcPts val="5850"/>
              </a:lnSpc>
            </a:pPr>
            <a:r>
              <a:rPr lang="en-US" sz="4899" b="1">
                <a:solidFill>
                  <a:srgbClr val="FFFFFF"/>
                </a:solidFill>
                <a:latin typeface="Poppins Semi-Bold"/>
                <a:ea typeface="Poppins Semi-Bold"/>
                <a:cs typeface="Poppins Semi-Bold"/>
                <a:sym typeface="Poppins Semi-Bold"/>
              </a:rPr>
              <a:t>Alguns outros cuidados que devemos ter são: • Nomear funções de maneira intuitiva; • Comentar o código quando necessário;</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3151308" y="4201916"/>
            <a:ext cx="12224833" cy="1556985"/>
          </a:xfrm>
          <a:prstGeom prst="rect">
            <a:avLst/>
          </a:prstGeom>
        </p:spPr>
        <p:txBody>
          <a:bodyPr lIns="0" tIns="0" rIns="0" bIns="0" rtlCol="0" anchor="t">
            <a:spAutoFit/>
          </a:bodyPr>
          <a:lstStyle/>
          <a:p>
            <a:pPr algn="l">
              <a:lnSpc>
                <a:spcPts val="11178"/>
              </a:lnSpc>
            </a:pPr>
            <a:r>
              <a:rPr lang="en-US" sz="7984" b="1">
                <a:solidFill>
                  <a:srgbClr val="FFFFFF"/>
                </a:solidFill>
                <a:latin typeface="Poppins Semi-Bold"/>
                <a:ea typeface="Poppins Semi-Bold"/>
                <a:cs typeface="Poppins Semi-Bold"/>
                <a:sym typeface="Poppins Semi-Bold"/>
              </a:rPr>
              <a:t>Hora de por na prática</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691659" y="2568397"/>
            <a:ext cx="14064796" cy="434171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#3 </a:t>
            </a:r>
            <a:r>
              <a:rPr lang="en-US" sz="4684" b="1">
                <a:solidFill>
                  <a:srgbClr val="FFFFFF"/>
                </a:solidFill>
                <a:latin typeface="Poppins Semi-Bold"/>
                <a:ea typeface="Poppins Semi-Bold"/>
                <a:cs typeface="Poppins Semi-Bold"/>
                <a:sym typeface="Poppins Semi-Bold"/>
              </a:rPr>
              <a:t>Faça um programa que leia a idade de uma pessoa e escreva essa idade em dias. Dica: 1 ano equivale a 365 dias.</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691659" y="3092272"/>
            <a:ext cx="13996816" cy="2760564"/>
          </a:xfrm>
          <a:prstGeom prst="rect">
            <a:avLst/>
          </a:prstGeom>
        </p:spPr>
        <p:txBody>
          <a:bodyPr lIns="0" tIns="0" rIns="0" bIns="0" rtlCol="0" anchor="t">
            <a:spAutoFit/>
          </a:bodyPr>
          <a:lstStyle/>
          <a:p>
            <a:pPr algn="l">
              <a:lnSpc>
                <a:spcPts val="11102"/>
              </a:lnSpc>
            </a:pPr>
            <a:r>
              <a:rPr lang="en-US" sz="4684" b="1">
                <a:solidFill>
                  <a:srgbClr val="FF5757"/>
                </a:solidFill>
                <a:latin typeface="Poppins Semi-Bold"/>
                <a:ea typeface="Poppins Semi-Bold"/>
                <a:cs typeface="Poppins Semi-Bold"/>
                <a:sym typeface="Poppins Semi-Bold"/>
              </a:rPr>
              <a:t>Atividade #4 </a:t>
            </a:r>
            <a:r>
              <a:rPr lang="en-US" sz="4684" b="1">
                <a:solidFill>
                  <a:srgbClr val="FFFFFF"/>
                </a:solidFill>
                <a:latin typeface="Poppins Semi-Bold"/>
                <a:ea typeface="Poppins Semi-Bold"/>
                <a:cs typeface="Poppins Semi-Bold"/>
                <a:sym typeface="Poppins Semi-Bold"/>
              </a:rPr>
              <a:t>Leia 4 números e calcule e exiba sua média.</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691659" y="2215972"/>
            <a:ext cx="14242580" cy="434171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#5 </a:t>
            </a:r>
            <a:r>
              <a:rPr lang="en-US" sz="4684" b="1">
                <a:solidFill>
                  <a:srgbClr val="FFFFFF"/>
                </a:solidFill>
                <a:latin typeface="Poppins Semi-Bold"/>
                <a:ea typeface="Poppins Semi-Bold"/>
                <a:cs typeface="Poppins Semi-Bold"/>
                <a:sym typeface="Poppins Semi-Bold"/>
              </a:rPr>
              <a:t>Faça um programa que leia o dia, mês e ano inserido por um usuário e imprima esses dados no formato convencional brasileiro de data “dia/mês/ano”.</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691659" y="1511122"/>
            <a:ext cx="14393027" cy="645626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#6 </a:t>
            </a:r>
            <a:r>
              <a:rPr lang="en-US" sz="4684" b="1">
                <a:solidFill>
                  <a:srgbClr val="FFFFFF"/>
                </a:solidFill>
                <a:latin typeface="Poppins Semi-Bold"/>
                <a:ea typeface="Poppins Semi-Bold"/>
                <a:cs typeface="Poppins Semi-Bold"/>
                <a:sym typeface="Poppins Semi-Bold"/>
              </a:rPr>
              <a:t>Faça um programa que leia os dados necessários para calcular o IMC de uma pessoa. Exiba o valor do IMC ao terminar o programa. Dica da fórmula do IMC: IMC = peso (kg) / altura (m)^2</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691659" y="1863547"/>
            <a:ext cx="12624978" cy="575141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#7 </a:t>
            </a:r>
            <a:r>
              <a:rPr lang="en-US" sz="4684" b="1">
                <a:solidFill>
                  <a:srgbClr val="FFFFFF"/>
                </a:solidFill>
                <a:latin typeface="Poppins Semi-Bold"/>
                <a:ea typeface="Poppins Semi-Bold"/>
                <a:cs typeface="Poppins Semi-Bold"/>
                <a:sym typeface="Poppins Semi-Bold"/>
              </a:rPr>
              <a:t>Faça um programa que leia os dados necessários para calcular a área de um círculo. Formula da área do círculo: (A = π r²) Considere π igual á 3,14159</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691659" y="2920822"/>
            <a:ext cx="14834778" cy="363686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#8 </a:t>
            </a:r>
            <a:r>
              <a:rPr lang="en-US" sz="4684" b="1">
                <a:solidFill>
                  <a:srgbClr val="FFFFFF"/>
                </a:solidFill>
                <a:latin typeface="Poppins Semi-Bold"/>
                <a:ea typeface="Poppins Semi-Bold"/>
                <a:cs typeface="Poppins Semi-Bold"/>
                <a:sym typeface="Poppins Semi-Bold"/>
              </a:rPr>
              <a:t>Faça um programa que leia o valor de compra de um produto e exiba um valor de venda com acréscimo de 12% no preço da compra.</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691659" y="2920822"/>
            <a:ext cx="14376673" cy="363686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#9 </a:t>
            </a:r>
            <a:r>
              <a:rPr lang="en-US" sz="4684" b="1">
                <a:solidFill>
                  <a:srgbClr val="FFFFFF"/>
                </a:solidFill>
                <a:latin typeface="Poppins Semi-Bold"/>
                <a:ea typeface="Poppins Semi-Bold"/>
                <a:cs typeface="Poppins Semi-Bold"/>
                <a:sym typeface="Poppins Semi-Bold"/>
              </a:rPr>
              <a:t>Faça um programa que leia uma quantidade de horas e converta em minutos. Exiba o resultado no final do programa.</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044778" y="2215972"/>
            <a:ext cx="15308637" cy="504656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#10 </a:t>
            </a:r>
            <a:r>
              <a:rPr lang="en-US" sz="4684" b="1">
                <a:solidFill>
                  <a:srgbClr val="FFFFFF"/>
                </a:solidFill>
                <a:latin typeface="Poppins Semi-Bold"/>
                <a:ea typeface="Poppins Semi-Bold"/>
                <a:cs typeface="Poppins Semi-Bold"/>
                <a:sym typeface="Poppins Semi-Bold"/>
              </a:rPr>
              <a:t>Ler uma temperatura em graus Celsius e convertê-la para Fahrenheit. Exiba a temperatura equivalente em Fahrenheit. Fahrenheit = Celsius * 9/5 + 32</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691659" y="2568397"/>
            <a:ext cx="13542378" cy="434171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#11 </a:t>
            </a:r>
            <a:r>
              <a:rPr lang="en-US" sz="4684" b="1">
                <a:solidFill>
                  <a:srgbClr val="FFFFFF"/>
                </a:solidFill>
                <a:latin typeface="Poppins Semi-Bold"/>
                <a:ea typeface="Poppins Semi-Bold"/>
                <a:cs typeface="Poppins Semi-Bold"/>
                <a:sym typeface="Poppins Semi-Bold"/>
              </a:rPr>
              <a:t>Ler a quantidade de horas trabalhadas e o valor pago por hora, e calcular o salário semanal. Calcule o salário semanal e exiba o valor.</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5407371" y="448151"/>
            <a:ext cx="7622743" cy="1039978"/>
          </a:xfrm>
          <a:prstGeom prst="rect">
            <a:avLst/>
          </a:prstGeom>
        </p:spPr>
        <p:txBody>
          <a:bodyPr lIns="0" tIns="0" rIns="0" bIns="0" rtlCol="0" anchor="t">
            <a:spAutoFit/>
          </a:bodyPr>
          <a:lstStyle/>
          <a:p>
            <a:pPr algn="l">
              <a:lnSpc>
                <a:spcPts val="7062"/>
              </a:lnSpc>
            </a:pPr>
            <a:r>
              <a:rPr lang="en-US" sz="5964" b="1">
                <a:solidFill>
                  <a:srgbClr val="FFFFFF"/>
                </a:solidFill>
                <a:latin typeface="Poppins Semi-Bold"/>
                <a:ea typeface="Poppins Semi-Bold"/>
                <a:cs typeface="Poppins Semi-Bold"/>
                <a:sym typeface="Poppins Semi-Bold"/>
              </a:rPr>
              <a:t>Comando Random</a:t>
            </a:r>
          </a:p>
        </p:txBody>
      </p:sp>
      <p:sp>
        <p:nvSpPr>
          <p:cNvPr id="3" name="TextBox 3"/>
          <p:cNvSpPr txBox="1"/>
          <p:nvPr/>
        </p:nvSpPr>
        <p:spPr>
          <a:xfrm>
            <a:off x="8427225" y="1340501"/>
            <a:ext cx="190414" cy="853269"/>
          </a:xfrm>
          <a:prstGeom prst="rect">
            <a:avLst/>
          </a:prstGeom>
        </p:spPr>
        <p:txBody>
          <a:bodyPr lIns="0" tIns="0" rIns="0" bIns="0" rtlCol="0" anchor="t">
            <a:spAutoFit/>
          </a:bodyPr>
          <a:lstStyle/>
          <a:p>
            <a:pPr algn="l">
              <a:lnSpc>
                <a:spcPts val="5801"/>
              </a:lnSpc>
            </a:pPr>
            <a:r>
              <a:rPr lang="en-US" sz="4899" b="1">
                <a:solidFill>
                  <a:srgbClr val="FFFFFF"/>
                </a:solidFill>
                <a:latin typeface="Poppins Semi-Bold"/>
                <a:ea typeface="Poppins Semi-Bold"/>
                <a:cs typeface="Poppins Semi-Bold"/>
                <a:sym typeface="Poppins Semi-Bold"/>
              </a:rPr>
              <a:t> </a:t>
            </a:r>
          </a:p>
        </p:txBody>
      </p:sp>
      <p:sp>
        <p:nvSpPr>
          <p:cNvPr id="4" name="TextBox 4"/>
          <p:cNvSpPr txBox="1"/>
          <p:nvPr/>
        </p:nvSpPr>
        <p:spPr>
          <a:xfrm>
            <a:off x="164983" y="1340501"/>
            <a:ext cx="18234308" cy="9002078"/>
          </a:xfrm>
          <a:prstGeom prst="rect">
            <a:avLst/>
          </a:prstGeom>
        </p:spPr>
        <p:txBody>
          <a:bodyPr lIns="0" tIns="0" rIns="0" bIns="0" rtlCol="0" anchor="t">
            <a:spAutoFit/>
          </a:bodyPr>
          <a:lstStyle/>
          <a:p>
            <a:pPr algn="l">
              <a:lnSpc>
                <a:spcPts val="5850"/>
              </a:lnSpc>
            </a:pPr>
            <a:r>
              <a:rPr lang="en-US" sz="4899" b="1">
                <a:solidFill>
                  <a:srgbClr val="FFFFFF"/>
                </a:solidFill>
                <a:latin typeface="Poppins Semi-Bold"/>
                <a:ea typeface="Poppins Semi-Bold"/>
                <a:cs typeface="Poppins Semi-Bold"/>
                <a:sym typeface="Poppins Semi-Bold"/>
              </a:rPr>
              <a:t>O comando Random, trazdiversasfunções que podemos utilizar para gerar números aleatórios. Por exemplo: </a:t>
            </a:r>
            <a:r>
              <a:rPr lang="en-US" sz="4899" b="1">
                <a:solidFill>
                  <a:srgbClr val="7ED957"/>
                </a:solidFill>
                <a:latin typeface="Poppins Semi-Bold"/>
                <a:ea typeface="Poppins Semi-Bold"/>
                <a:cs typeface="Poppins Semi-Bold"/>
                <a:sym typeface="Poppins Semi-Bold"/>
              </a:rPr>
              <a:t>Random </a:t>
            </a:r>
            <a:r>
              <a:rPr lang="en-US" sz="4899" b="1">
                <a:solidFill>
                  <a:srgbClr val="FFFFFF"/>
                </a:solidFill>
                <a:latin typeface="Poppins Semi-Bold"/>
                <a:ea typeface="Poppins Semi-Bold"/>
                <a:cs typeface="Poppins Semi-Bold"/>
                <a:sym typeface="Poppins Semi-Bold"/>
              </a:rPr>
              <a:t>random = </a:t>
            </a:r>
            <a:r>
              <a:rPr lang="en-US" sz="4899" b="1">
                <a:solidFill>
                  <a:srgbClr val="3C67BF"/>
                </a:solidFill>
                <a:latin typeface="Poppins Semi-Bold"/>
                <a:ea typeface="Poppins Semi-Bold"/>
                <a:cs typeface="Poppins Semi-Bold"/>
                <a:sym typeface="Poppins Semi-Bold"/>
              </a:rPr>
              <a:t>new </a:t>
            </a:r>
            <a:r>
              <a:rPr lang="en-US" sz="4899" b="1">
                <a:solidFill>
                  <a:srgbClr val="7ED957"/>
                </a:solidFill>
                <a:latin typeface="Poppins Semi-Bold"/>
                <a:ea typeface="Poppins Semi-Bold"/>
                <a:cs typeface="Poppins Semi-Bold"/>
                <a:sym typeface="Poppins Semi-Bold"/>
              </a:rPr>
              <a:t>Random</a:t>
            </a:r>
            <a:r>
              <a:rPr lang="en-US" sz="4899" b="1">
                <a:solidFill>
                  <a:srgbClr val="FFFFFF"/>
                </a:solidFill>
                <a:latin typeface="Poppins Semi-Bold"/>
                <a:ea typeface="Poppins Semi-Bold"/>
                <a:cs typeface="Poppins Semi-Bold"/>
                <a:sym typeface="Poppins Semi-Bold"/>
              </a:rPr>
              <a:t>(); </a:t>
            </a:r>
            <a:r>
              <a:rPr lang="en-US" sz="4899" b="1">
                <a:solidFill>
                  <a:srgbClr val="3C67BF"/>
                </a:solidFill>
                <a:latin typeface="Poppins Semi-Bold"/>
                <a:ea typeface="Poppins Semi-Bold"/>
                <a:cs typeface="Poppins Semi-Bold"/>
                <a:sym typeface="Poppins Semi-Bold"/>
              </a:rPr>
              <a:t>int </a:t>
            </a:r>
            <a:r>
              <a:rPr lang="en-US" sz="4899" b="1">
                <a:solidFill>
                  <a:srgbClr val="FFFFFF"/>
                </a:solidFill>
                <a:latin typeface="Poppins Semi-Bold"/>
                <a:ea typeface="Poppins Semi-Bold"/>
                <a:cs typeface="Poppins Semi-Bold"/>
                <a:sym typeface="Poppins Semi-Bold"/>
              </a:rPr>
              <a:t>numeroGerado = random.</a:t>
            </a:r>
            <a:r>
              <a:rPr lang="en-US" sz="4899" b="1">
                <a:solidFill>
                  <a:srgbClr val="FFCB85"/>
                </a:solidFill>
                <a:latin typeface="Poppins Semi-Bold"/>
                <a:ea typeface="Poppins Semi-Bold"/>
                <a:cs typeface="Poppins Semi-Bold"/>
                <a:sym typeface="Poppins Semi-Bold"/>
              </a:rPr>
              <a:t>Next</a:t>
            </a:r>
            <a:r>
              <a:rPr lang="en-US" sz="4899" b="1">
                <a:solidFill>
                  <a:srgbClr val="FFFFFF"/>
                </a:solidFill>
                <a:latin typeface="Poppins Semi-Bold"/>
                <a:ea typeface="Poppins Semi-Bold"/>
                <a:cs typeface="Poppins Semi-Bold"/>
                <a:sym typeface="Poppins Semi-Bold"/>
              </a:rPr>
              <a:t>(); </a:t>
            </a:r>
            <a:r>
              <a:rPr lang="en-US" sz="4899" b="1">
                <a:solidFill>
                  <a:srgbClr val="FFFFFF"/>
                </a:solidFill>
                <a:latin typeface="Poppins Medium"/>
                <a:ea typeface="Poppins Medium"/>
                <a:cs typeface="Poppins Medium"/>
                <a:sym typeface="Poppins Medium"/>
              </a:rPr>
              <a:t>Nesse exemplo eu preciso armazenar o comando </a:t>
            </a:r>
            <a:r>
              <a:rPr lang="en-US" sz="4899" b="1">
                <a:solidFill>
                  <a:srgbClr val="7ED957"/>
                </a:solidFill>
                <a:latin typeface="Poppins Medium"/>
                <a:ea typeface="Poppins Medium"/>
                <a:cs typeface="Poppins Medium"/>
                <a:sym typeface="Poppins Medium"/>
              </a:rPr>
              <a:t>Random </a:t>
            </a:r>
            <a:r>
              <a:rPr lang="en-US" sz="4899" b="1">
                <a:solidFill>
                  <a:srgbClr val="FFFFFF"/>
                </a:solidFill>
                <a:latin typeface="Poppins Medium"/>
                <a:ea typeface="Poppins Medium"/>
                <a:cs typeface="Poppins Medium"/>
                <a:sym typeface="Poppins Medium"/>
              </a:rPr>
              <a:t>dentro da variável e depois utilizar uma função para poder gerar os números aleatórios. Essa função é a </a:t>
            </a:r>
            <a:r>
              <a:rPr lang="en-US" sz="4899" b="1">
                <a:solidFill>
                  <a:srgbClr val="FFCB85"/>
                </a:solidFill>
                <a:latin typeface="Poppins Medium"/>
                <a:ea typeface="Poppins Medium"/>
                <a:cs typeface="Poppins Medium"/>
                <a:sym typeface="Poppins Medium"/>
              </a:rPr>
              <a:t>Next</a:t>
            </a:r>
            <a:r>
              <a:rPr lang="en-US" sz="4899" b="1">
                <a:solidFill>
                  <a:srgbClr val="FFFFFF"/>
                </a:solidFill>
                <a:latin typeface="Poppins Medium"/>
                <a:ea typeface="Poppins Medium"/>
                <a:cs typeface="Poppins Medium"/>
                <a:sym typeface="Poppins Medium"/>
              </a:rPr>
              <a: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5407371" y="324326"/>
            <a:ext cx="7622743"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Comando Random</a:t>
            </a:r>
          </a:p>
        </p:txBody>
      </p:sp>
      <p:sp>
        <p:nvSpPr>
          <p:cNvPr id="3" name="TextBox 3"/>
          <p:cNvSpPr txBox="1"/>
          <p:nvPr/>
        </p:nvSpPr>
        <p:spPr>
          <a:xfrm>
            <a:off x="164983" y="3940826"/>
            <a:ext cx="17935223" cy="3801428"/>
          </a:xfrm>
          <a:prstGeom prst="rect">
            <a:avLst/>
          </a:prstGeom>
        </p:spPr>
        <p:txBody>
          <a:bodyPr lIns="0" tIns="0" rIns="0" bIns="0" rtlCol="0" anchor="t">
            <a:spAutoFit/>
          </a:bodyPr>
          <a:lstStyle/>
          <a:p>
            <a:pPr algn="l">
              <a:lnSpc>
                <a:spcPts val="5850"/>
              </a:lnSpc>
            </a:pPr>
            <a:r>
              <a:rPr lang="en-US" sz="4899" b="1">
                <a:solidFill>
                  <a:srgbClr val="7ED957"/>
                </a:solidFill>
                <a:latin typeface="Poppins Semi-Bold"/>
                <a:ea typeface="Poppins Semi-Bold"/>
                <a:cs typeface="Poppins Semi-Bold"/>
                <a:sym typeface="Poppins Semi-Bold"/>
              </a:rPr>
              <a:t>Random </a:t>
            </a:r>
            <a:r>
              <a:rPr lang="en-US" sz="4899" b="1">
                <a:solidFill>
                  <a:srgbClr val="FFFFFF"/>
                </a:solidFill>
                <a:latin typeface="Poppins Semi-Bold"/>
                <a:ea typeface="Poppins Semi-Bold"/>
                <a:cs typeface="Poppins Semi-Bold"/>
                <a:sym typeface="Poppins Semi-Bold"/>
              </a:rPr>
              <a:t>random = </a:t>
            </a:r>
            <a:r>
              <a:rPr lang="en-US" sz="4899" b="1">
                <a:solidFill>
                  <a:srgbClr val="3C67BF"/>
                </a:solidFill>
                <a:latin typeface="Poppins Semi-Bold"/>
                <a:ea typeface="Poppins Semi-Bold"/>
                <a:cs typeface="Poppins Semi-Bold"/>
                <a:sym typeface="Poppins Semi-Bold"/>
              </a:rPr>
              <a:t>new </a:t>
            </a:r>
            <a:r>
              <a:rPr lang="en-US" sz="4899" b="1">
                <a:solidFill>
                  <a:srgbClr val="7ED957"/>
                </a:solidFill>
                <a:latin typeface="Poppins Semi-Bold"/>
                <a:ea typeface="Poppins Semi-Bold"/>
                <a:cs typeface="Poppins Semi-Bold"/>
                <a:sym typeface="Poppins Semi-Bold"/>
              </a:rPr>
              <a:t>Random</a:t>
            </a:r>
            <a:r>
              <a:rPr lang="en-US" sz="4899" b="1">
                <a:solidFill>
                  <a:srgbClr val="FFFFFF"/>
                </a:solidFill>
                <a:latin typeface="Poppins Semi-Bold"/>
                <a:ea typeface="Poppins Semi-Bold"/>
                <a:cs typeface="Poppins Semi-Bold"/>
                <a:sym typeface="Poppins Semi-Bold"/>
              </a:rPr>
              <a:t>(); </a:t>
            </a:r>
            <a:r>
              <a:rPr lang="en-US" sz="4899" b="1">
                <a:solidFill>
                  <a:srgbClr val="3C67BF"/>
                </a:solidFill>
                <a:latin typeface="Poppins Semi-Bold"/>
                <a:ea typeface="Poppins Semi-Bold"/>
                <a:cs typeface="Poppins Semi-Bold"/>
                <a:sym typeface="Poppins Semi-Bold"/>
              </a:rPr>
              <a:t>int </a:t>
            </a:r>
            <a:r>
              <a:rPr lang="en-US" sz="4899" b="1">
                <a:solidFill>
                  <a:srgbClr val="FFFFFF"/>
                </a:solidFill>
                <a:latin typeface="Poppins Semi-Bold"/>
                <a:ea typeface="Poppins Semi-Bold"/>
                <a:cs typeface="Poppins Semi-Bold"/>
                <a:sym typeface="Poppins Semi-Bold"/>
              </a:rPr>
              <a:t>numeroGerado = random.</a:t>
            </a:r>
            <a:r>
              <a:rPr lang="en-US" sz="4899" b="1">
                <a:solidFill>
                  <a:srgbClr val="FFCB85"/>
                </a:solidFill>
                <a:latin typeface="Poppins Semi-Bold"/>
                <a:ea typeface="Poppins Semi-Bold"/>
                <a:cs typeface="Poppins Semi-Bold"/>
                <a:sym typeface="Poppins Semi-Bold"/>
              </a:rPr>
              <a:t>Next</a:t>
            </a:r>
            <a:r>
              <a:rPr lang="en-US" sz="4899" b="1">
                <a:solidFill>
                  <a:srgbClr val="FFFFFF"/>
                </a:solidFill>
                <a:latin typeface="Poppins Semi-Bold"/>
                <a:ea typeface="Poppins Semi-Bold"/>
                <a:cs typeface="Poppins Semi-Bold"/>
                <a:sym typeface="Poppins Semi-Bold"/>
              </a:rPr>
              <a:t>(); </a:t>
            </a:r>
            <a:r>
              <a:rPr lang="en-US" sz="4899" b="1">
                <a:solidFill>
                  <a:srgbClr val="FFFFFF"/>
                </a:solidFill>
                <a:latin typeface="Poppins Medium"/>
                <a:ea typeface="Poppins Medium"/>
                <a:cs typeface="Poppins Medium"/>
                <a:sym typeface="Poppins Medium"/>
              </a:rPr>
              <a:t>Será gerado um número inteiro positivo qualquer pelo computador, armazenando na variável numeroGerado.</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5407371" y="324326"/>
            <a:ext cx="7622743"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Comando Random</a:t>
            </a:r>
          </a:p>
        </p:txBody>
      </p:sp>
      <p:sp>
        <p:nvSpPr>
          <p:cNvPr id="3" name="TextBox 3"/>
          <p:cNvSpPr txBox="1"/>
          <p:nvPr/>
        </p:nvSpPr>
        <p:spPr>
          <a:xfrm>
            <a:off x="164983" y="2454926"/>
            <a:ext cx="18067887" cy="6773228"/>
          </a:xfrm>
          <a:prstGeom prst="rect">
            <a:avLst/>
          </a:prstGeom>
        </p:spPr>
        <p:txBody>
          <a:bodyPr lIns="0" tIns="0" rIns="0" bIns="0" rtlCol="0" anchor="t">
            <a:spAutoFit/>
          </a:bodyPr>
          <a:lstStyle/>
          <a:p>
            <a:pPr algn="l">
              <a:lnSpc>
                <a:spcPts val="5850"/>
              </a:lnSpc>
            </a:pPr>
            <a:r>
              <a:rPr lang="en-US" sz="4899" b="1">
                <a:solidFill>
                  <a:srgbClr val="FFFFFF"/>
                </a:solidFill>
                <a:latin typeface="Poppins Semi-Bold"/>
                <a:ea typeface="Poppins Semi-Bold"/>
                <a:cs typeface="Poppins Semi-Bold"/>
                <a:sym typeface="Poppins Semi-Bold"/>
              </a:rPr>
              <a:t>Agora olhe esse outro exemplo: </a:t>
            </a:r>
            <a:r>
              <a:rPr lang="en-US" sz="4899" b="1">
                <a:solidFill>
                  <a:srgbClr val="7ED957"/>
                </a:solidFill>
                <a:latin typeface="Poppins Semi-Bold"/>
                <a:ea typeface="Poppins Semi-Bold"/>
                <a:cs typeface="Poppins Semi-Bold"/>
                <a:sym typeface="Poppins Semi-Bold"/>
              </a:rPr>
              <a:t>Random </a:t>
            </a:r>
            <a:r>
              <a:rPr lang="en-US" sz="4899" b="1">
                <a:solidFill>
                  <a:srgbClr val="FFFFFF"/>
                </a:solidFill>
                <a:latin typeface="Poppins Semi-Bold"/>
                <a:ea typeface="Poppins Semi-Bold"/>
                <a:cs typeface="Poppins Semi-Bold"/>
                <a:sym typeface="Poppins Semi-Bold"/>
              </a:rPr>
              <a:t>random = </a:t>
            </a:r>
            <a:r>
              <a:rPr lang="en-US" sz="4899" b="1">
                <a:solidFill>
                  <a:srgbClr val="3C67BF"/>
                </a:solidFill>
                <a:latin typeface="Poppins Semi-Bold"/>
                <a:ea typeface="Poppins Semi-Bold"/>
                <a:cs typeface="Poppins Semi-Bold"/>
                <a:sym typeface="Poppins Semi-Bold"/>
              </a:rPr>
              <a:t>new </a:t>
            </a:r>
            <a:r>
              <a:rPr lang="en-US" sz="4899" b="1">
                <a:solidFill>
                  <a:srgbClr val="7ED957"/>
                </a:solidFill>
                <a:latin typeface="Poppins Semi-Bold"/>
                <a:ea typeface="Poppins Semi-Bold"/>
                <a:cs typeface="Poppins Semi-Bold"/>
                <a:sym typeface="Poppins Semi-Bold"/>
              </a:rPr>
              <a:t>Random</a:t>
            </a:r>
            <a:r>
              <a:rPr lang="en-US" sz="4899" b="1">
                <a:solidFill>
                  <a:srgbClr val="FFFFFF"/>
                </a:solidFill>
                <a:latin typeface="Poppins Semi-Bold"/>
                <a:ea typeface="Poppins Semi-Bold"/>
                <a:cs typeface="Poppins Semi-Bold"/>
                <a:sym typeface="Poppins Semi-Bold"/>
              </a:rPr>
              <a:t>(); </a:t>
            </a:r>
            <a:r>
              <a:rPr lang="en-US" sz="4899" b="1">
                <a:solidFill>
                  <a:srgbClr val="3C67BF"/>
                </a:solidFill>
                <a:latin typeface="Poppins Semi-Bold"/>
                <a:ea typeface="Poppins Semi-Bold"/>
                <a:cs typeface="Poppins Semi-Bold"/>
                <a:sym typeface="Poppins Semi-Bold"/>
              </a:rPr>
              <a:t>int </a:t>
            </a:r>
            <a:r>
              <a:rPr lang="en-US" sz="4899" b="1">
                <a:solidFill>
                  <a:srgbClr val="FFFFFF"/>
                </a:solidFill>
                <a:latin typeface="Poppins Semi-Bold"/>
                <a:ea typeface="Poppins Semi-Bold"/>
                <a:cs typeface="Poppins Semi-Bold"/>
                <a:sym typeface="Poppins Semi-Bold"/>
              </a:rPr>
              <a:t>numeroGerado = random.</a:t>
            </a:r>
            <a:r>
              <a:rPr lang="en-US" sz="4899" b="1">
                <a:solidFill>
                  <a:srgbClr val="FFCB85"/>
                </a:solidFill>
                <a:latin typeface="Poppins Semi-Bold"/>
                <a:ea typeface="Poppins Semi-Bold"/>
                <a:cs typeface="Poppins Semi-Bold"/>
                <a:sym typeface="Poppins Semi-Bold"/>
              </a:rPr>
              <a:t>Next</a:t>
            </a:r>
            <a:r>
              <a:rPr lang="en-US" sz="4899" b="1">
                <a:solidFill>
                  <a:srgbClr val="FFFFFF"/>
                </a:solidFill>
                <a:latin typeface="Poppins Semi-Bold"/>
                <a:ea typeface="Poppins Semi-Bold"/>
                <a:cs typeface="Poppins Semi-Bold"/>
                <a:sym typeface="Poppins Semi-Bold"/>
              </a:rPr>
              <a:t>(</a:t>
            </a:r>
            <a:r>
              <a:rPr lang="en-US" sz="4899" b="1">
                <a:solidFill>
                  <a:srgbClr val="FFCB85"/>
                </a:solidFill>
                <a:latin typeface="Poppins Semi-Bold"/>
                <a:ea typeface="Poppins Semi-Bold"/>
                <a:cs typeface="Poppins Semi-Bold"/>
                <a:sym typeface="Poppins Semi-Bold"/>
              </a:rPr>
              <a:t>100</a:t>
            </a:r>
            <a:r>
              <a:rPr lang="en-US" sz="4899" b="1">
                <a:solidFill>
                  <a:srgbClr val="FFFFFF"/>
                </a:solidFill>
                <a:latin typeface="Poppins Semi-Bold"/>
                <a:ea typeface="Poppins Semi-Bold"/>
                <a:cs typeface="Poppins Semi-Bold"/>
                <a:sym typeface="Poppins Semi-Bold"/>
              </a:rPr>
              <a:t>); </a:t>
            </a:r>
            <a:r>
              <a:rPr lang="en-US" sz="4899" b="1">
                <a:solidFill>
                  <a:srgbClr val="FFFFFF"/>
                </a:solidFill>
                <a:latin typeface="Poppins Medium"/>
                <a:ea typeface="Poppins Medium"/>
                <a:cs typeface="Poppins Medium"/>
                <a:sym typeface="Poppins Medium"/>
              </a:rPr>
              <a:t>Será gerado um número inteiro positivo de </a:t>
            </a:r>
            <a:r>
              <a:rPr lang="en-US" sz="4899" b="1">
                <a:solidFill>
                  <a:srgbClr val="FFCB85"/>
                </a:solidFill>
                <a:latin typeface="Poppins Medium"/>
                <a:ea typeface="Poppins Medium"/>
                <a:cs typeface="Poppins Medium"/>
                <a:sym typeface="Poppins Medium"/>
              </a:rPr>
              <a:t>0</a:t>
            </a:r>
            <a:r>
              <a:rPr lang="en-US" sz="4899" b="1">
                <a:solidFill>
                  <a:srgbClr val="FFFFFF"/>
                </a:solidFill>
                <a:latin typeface="Poppins Medium"/>
                <a:ea typeface="Poppins Medium"/>
                <a:cs typeface="Poppins Medium"/>
                <a:sym typeface="Poppins Medium"/>
              </a:rPr>
              <a:t> a </a:t>
            </a:r>
            <a:r>
              <a:rPr lang="en-US" sz="4899" b="1">
                <a:solidFill>
                  <a:srgbClr val="FFCB85"/>
                </a:solidFill>
                <a:latin typeface="Poppins Medium"/>
                <a:ea typeface="Poppins Medium"/>
                <a:cs typeface="Poppins Medium"/>
                <a:sym typeface="Poppins Medium"/>
              </a:rPr>
              <a:t>99</a:t>
            </a:r>
            <a:r>
              <a:rPr lang="en-US" sz="4899" b="1">
                <a:solidFill>
                  <a:srgbClr val="FFFFFF"/>
                </a:solidFill>
                <a:latin typeface="Poppins Medium"/>
                <a:ea typeface="Poppins Medium"/>
                <a:cs typeface="Poppins Medium"/>
                <a:sym typeface="Poppins Medium"/>
              </a:rPr>
              <a:t>. Aquele número dentro do ( ) simboliza o número máximo que pode ser gerado, mas esse número não se inclui na possibilidade de geração.</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5407371" y="324326"/>
            <a:ext cx="7622743"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Comando Random</a:t>
            </a:r>
          </a:p>
        </p:txBody>
      </p:sp>
      <p:sp>
        <p:nvSpPr>
          <p:cNvPr id="3" name="TextBox 3"/>
          <p:cNvSpPr txBox="1"/>
          <p:nvPr/>
        </p:nvSpPr>
        <p:spPr>
          <a:xfrm>
            <a:off x="164983" y="2826401"/>
            <a:ext cx="18255110" cy="6030278"/>
          </a:xfrm>
          <a:prstGeom prst="rect">
            <a:avLst/>
          </a:prstGeom>
        </p:spPr>
        <p:txBody>
          <a:bodyPr lIns="0" tIns="0" rIns="0" bIns="0" rtlCol="0" anchor="t">
            <a:spAutoFit/>
          </a:bodyPr>
          <a:lstStyle/>
          <a:p>
            <a:pPr algn="l">
              <a:lnSpc>
                <a:spcPts val="5850"/>
              </a:lnSpc>
            </a:pPr>
            <a:r>
              <a:rPr lang="en-US" sz="4899" b="1">
                <a:solidFill>
                  <a:srgbClr val="FFFFFF"/>
                </a:solidFill>
                <a:latin typeface="Poppins Semi-Bold"/>
                <a:ea typeface="Poppins Semi-Bold"/>
                <a:cs typeface="Poppins Semi-Bold"/>
                <a:sym typeface="Poppins Semi-Bold"/>
              </a:rPr>
              <a:t>Agora olhe esse outro exemplo: </a:t>
            </a:r>
            <a:r>
              <a:rPr lang="en-US" sz="4899" b="1">
                <a:solidFill>
                  <a:srgbClr val="7ED957"/>
                </a:solidFill>
                <a:latin typeface="Poppins Semi-Bold"/>
                <a:ea typeface="Poppins Semi-Bold"/>
                <a:cs typeface="Poppins Semi-Bold"/>
                <a:sym typeface="Poppins Semi-Bold"/>
              </a:rPr>
              <a:t>Random </a:t>
            </a:r>
            <a:r>
              <a:rPr lang="en-US" sz="4899" b="1">
                <a:solidFill>
                  <a:srgbClr val="FFFFFF"/>
                </a:solidFill>
                <a:latin typeface="Poppins Semi-Bold"/>
                <a:ea typeface="Poppins Semi-Bold"/>
                <a:cs typeface="Poppins Semi-Bold"/>
                <a:sym typeface="Poppins Semi-Bold"/>
              </a:rPr>
              <a:t>random = </a:t>
            </a:r>
            <a:r>
              <a:rPr lang="en-US" sz="4899" b="1">
                <a:solidFill>
                  <a:srgbClr val="3C67BF"/>
                </a:solidFill>
                <a:latin typeface="Poppins Semi-Bold"/>
                <a:ea typeface="Poppins Semi-Bold"/>
                <a:cs typeface="Poppins Semi-Bold"/>
                <a:sym typeface="Poppins Semi-Bold"/>
              </a:rPr>
              <a:t>new </a:t>
            </a:r>
            <a:r>
              <a:rPr lang="en-US" sz="4899" b="1">
                <a:solidFill>
                  <a:srgbClr val="7ED957"/>
                </a:solidFill>
                <a:latin typeface="Poppins Semi-Bold"/>
                <a:ea typeface="Poppins Semi-Bold"/>
                <a:cs typeface="Poppins Semi-Bold"/>
                <a:sym typeface="Poppins Semi-Bold"/>
              </a:rPr>
              <a:t>Random</a:t>
            </a:r>
            <a:r>
              <a:rPr lang="en-US" sz="4899" b="1">
                <a:solidFill>
                  <a:srgbClr val="FFFFFF"/>
                </a:solidFill>
                <a:latin typeface="Poppins Semi-Bold"/>
                <a:ea typeface="Poppins Semi-Bold"/>
                <a:cs typeface="Poppins Semi-Bold"/>
                <a:sym typeface="Poppins Semi-Bold"/>
              </a:rPr>
              <a:t>(); </a:t>
            </a:r>
            <a:r>
              <a:rPr lang="en-US" sz="4899" b="1">
                <a:solidFill>
                  <a:srgbClr val="3C67BF"/>
                </a:solidFill>
                <a:latin typeface="Poppins Semi-Bold"/>
                <a:ea typeface="Poppins Semi-Bold"/>
                <a:cs typeface="Poppins Semi-Bold"/>
                <a:sym typeface="Poppins Semi-Bold"/>
              </a:rPr>
              <a:t>int </a:t>
            </a:r>
            <a:r>
              <a:rPr lang="en-US" sz="4899" b="1">
                <a:solidFill>
                  <a:srgbClr val="FFFFFF"/>
                </a:solidFill>
                <a:latin typeface="Poppins Semi-Bold"/>
                <a:ea typeface="Poppins Semi-Bold"/>
                <a:cs typeface="Poppins Semi-Bold"/>
                <a:sym typeface="Poppins Semi-Bold"/>
              </a:rPr>
              <a:t>numeroGerado = random.</a:t>
            </a:r>
            <a:r>
              <a:rPr lang="en-US" sz="4899" b="1">
                <a:solidFill>
                  <a:srgbClr val="FFCB85"/>
                </a:solidFill>
                <a:latin typeface="Poppins Semi-Bold"/>
                <a:ea typeface="Poppins Semi-Bold"/>
                <a:cs typeface="Poppins Semi-Bold"/>
                <a:sym typeface="Poppins Semi-Bold"/>
              </a:rPr>
              <a:t>Next</a:t>
            </a:r>
            <a:r>
              <a:rPr lang="en-US" sz="4899" b="1">
                <a:solidFill>
                  <a:srgbClr val="FFFFFF"/>
                </a:solidFill>
                <a:latin typeface="Poppins Semi-Bold"/>
                <a:ea typeface="Poppins Semi-Bold"/>
                <a:cs typeface="Poppins Semi-Bold"/>
                <a:sym typeface="Poppins Semi-Bold"/>
              </a:rPr>
              <a:t>(</a:t>
            </a:r>
            <a:r>
              <a:rPr lang="en-US" sz="4899" b="1">
                <a:solidFill>
                  <a:srgbClr val="FFCB85"/>
                </a:solidFill>
                <a:latin typeface="Poppins Semi-Bold"/>
                <a:ea typeface="Poppins Semi-Bold"/>
                <a:cs typeface="Poppins Semi-Bold"/>
                <a:sym typeface="Poppins Semi-Bold"/>
              </a:rPr>
              <a:t>10</a:t>
            </a:r>
            <a:r>
              <a:rPr lang="en-US" sz="4899" b="1">
                <a:solidFill>
                  <a:srgbClr val="FFFFFF"/>
                </a:solidFill>
                <a:latin typeface="Poppins Semi-Bold"/>
                <a:ea typeface="Poppins Semi-Bold"/>
                <a:cs typeface="Poppins Semi-Bold"/>
                <a:sym typeface="Poppins Semi-Bold"/>
              </a:rPr>
              <a:t>,</a:t>
            </a:r>
            <a:r>
              <a:rPr lang="en-US" sz="4899" b="1">
                <a:solidFill>
                  <a:srgbClr val="FFCB85"/>
                </a:solidFill>
                <a:latin typeface="Poppins Semi-Bold"/>
                <a:ea typeface="Poppins Semi-Bold"/>
                <a:cs typeface="Poppins Semi-Bold"/>
                <a:sym typeface="Poppins Semi-Bold"/>
              </a:rPr>
              <a:t>100</a:t>
            </a:r>
            <a:r>
              <a:rPr lang="en-US" sz="4899" b="1">
                <a:solidFill>
                  <a:srgbClr val="FFFFFF"/>
                </a:solidFill>
                <a:latin typeface="Poppins Semi-Bold"/>
                <a:ea typeface="Poppins Semi-Bold"/>
                <a:cs typeface="Poppins Semi-Bold"/>
                <a:sym typeface="Poppins Semi-Bold"/>
              </a:rPr>
              <a:t>); </a:t>
            </a:r>
            <a:r>
              <a:rPr lang="en-US" sz="4899" b="1">
                <a:solidFill>
                  <a:srgbClr val="FFFFFF"/>
                </a:solidFill>
                <a:latin typeface="Poppins Medium"/>
                <a:ea typeface="Poppins Medium"/>
                <a:cs typeface="Poppins Medium"/>
                <a:sym typeface="Poppins Medium"/>
              </a:rPr>
              <a:t>Será gerado um número inteiro positivo entre </a:t>
            </a:r>
            <a:r>
              <a:rPr lang="en-US" sz="4899" b="1">
                <a:solidFill>
                  <a:srgbClr val="FFCB85"/>
                </a:solidFill>
                <a:latin typeface="Poppins Medium"/>
                <a:ea typeface="Poppins Medium"/>
                <a:cs typeface="Poppins Medium"/>
                <a:sym typeface="Poppins Medium"/>
              </a:rPr>
              <a:t>10</a:t>
            </a:r>
            <a:r>
              <a:rPr lang="en-US" sz="4899" b="1">
                <a:solidFill>
                  <a:srgbClr val="FFFFFF"/>
                </a:solidFill>
                <a:latin typeface="Poppins Medium"/>
                <a:ea typeface="Poppins Medium"/>
                <a:cs typeface="Poppins Medium"/>
                <a:sym typeface="Poppins Medium"/>
              </a:rPr>
              <a:t> a </a:t>
            </a:r>
            <a:r>
              <a:rPr lang="en-US" sz="4899" b="1">
                <a:solidFill>
                  <a:srgbClr val="FFCB85"/>
                </a:solidFill>
                <a:latin typeface="Poppins Medium"/>
                <a:ea typeface="Poppins Medium"/>
                <a:cs typeface="Poppins Medium"/>
                <a:sym typeface="Poppins Medium"/>
              </a:rPr>
              <a:t>99</a:t>
            </a:r>
            <a:r>
              <a:rPr lang="en-US" sz="4899" b="1">
                <a:solidFill>
                  <a:srgbClr val="FFFFFF"/>
                </a:solidFill>
                <a:latin typeface="Poppins Medium"/>
                <a:ea typeface="Poppins Medium"/>
                <a:cs typeface="Poppins Medium"/>
                <a:sym typeface="Poppins Medium"/>
              </a:rPr>
              <a:t>. Também aplica a regra de que o número máximo informado não inclui na geração de números aleatórios.</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691659" y="2920822"/>
            <a:ext cx="14236494" cy="363686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#12 </a:t>
            </a:r>
            <a:r>
              <a:rPr lang="en-US" sz="4684" b="1">
                <a:solidFill>
                  <a:srgbClr val="FFFFFF"/>
                </a:solidFill>
                <a:latin typeface="Poppins Semi-Bold"/>
                <a:ea typeface="Poppins Semi-Bold"/>
                <a:cs typeface="Poppins Semi-Bold"/>
                <a:sym typeface="Poppins Semi-Bold"/>
              </a:rPr>
              <a:t>Faça um programa que gere um numero aleatório entre 0 e 100, ao gerar exiba o valor sorteado pelo programa.</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691659" y="806272"/>
            <a:ext cx="14562953" cy="786596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#13 </a:t>
            </a:r>
            <a:r>
              <a:rPr lang="en-US" sz="4684" b="1">
                <a:solidFill>
                  <a:srgbClr val="FFFFFF"/>
                </a:solidFill>
                <a:latin typeface="Poppins Semi-Bold"/>
                <a:ea typeface="Poppins Semi-Bold"/>
                <a:cs typeface="Poppins Semi-Bold"/>
                <a:sym typeface="Poppins Semi-Bold"/>
              </a:rPr>
              <a:t>Faça um programa que leie dois números, e o programa gere um número aleatório entre o intervalo desses dois números. Exiba o resultado no terminal com o número gerado. Ao informar os números ao programa, se atente a informar o primeiro número menor que o segundo número para que o programa não de erro.</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4521251" y="324326"/>
            <a:ext cx="9430417"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Operador de Atribuição</a:t>
            </a:r>
          </a:p>
        </p:txBody>
      </p:sp>
      <p:sp>
        <p:nvSpPr>
          <p:cNvPr id="3" name="TextBox 3"/>
          <p:cNvSpPr txBox="1"/>
          <p:nvPr/>
        </p:nvSpPr>
        <p:spPr>
          <a:xfrm>
            <a:off x="164983" y="2454926"/>
            <a:ext cx="18221049" cy="6773228"/>
          </a:xfrm>
          <a:prstGeom prst="rect">
            <a:avLst/>
          </a:prstGeom>
        </p:spPr>
        <p:txBody>
          <a:bodyPr lIns="0" tIns="0" rIns="0" bIns="0" rtlCol="0" anchor="t">
            <a:spAutoFit/>
          </a:bodyPr>
          <a:lstStyle/>
          <a:p>
            <a:pPr algn="l">
              <a:lnSpc>
                <a:spcPts val="5850"/>
              </a:lnSpc>
            </a:pPr>
            <a:r>
              <a:rPr lang="en-US" sz="4899" b="1">
                <a:solidFill>
                  <a:srgbClr val="FFFFFF"/>
                </a:solidFill>
                <a:latin typeface="Poppins Semi-Bold"/>
                <a:ea typeface="Poppins Semi-Bold"/>
                <a:cs typeface="Poppins Semi-Bold"/>
                <a:sym typeface="Poppins Semi-Bold"/>
              </a:rPr>
              <a:t>Operadores de atribuição são usados para atribuir valores a variáveis. </a:t>
            </a:r>
            <a:r>
              <a:rPr lang="en-US" sz="4899" b="1">
                <a:solidFill>
                  <a:srgbClr val="3C67BF"/>
                </a:solidFill>
                <a:latin typeface="Poppins Medium"/>
                <a:ea typeface="Poppins Medium"/>
                <a:cs typeface="Poppins Medium"/>
                <a:sym typeface="Poppins Medium"/>
              </a:rPr>
              <a:t>int </a:t>
            </a:r>
            <a:r>
              <a:rPr lang="en-US" sz="4899" b="1">
                <a:solidFill>
                  <a:srgbClr val="FFFFFF"/>
                </a:solidFill>
                <a:latin typeface="Poppins Medium"/>
                <a:ea typeface="Poppins Medium"/>
                <a:cs typeface="Poppins Medium"/>
                <a:sym typeface="Poppins Medium"/>
              </a:rPr>
              <a:t>x = </a:t>
            </a:r>
            <a:r>
              <a:rPr lang="en-US" sz="4899" b="1">
                <a:solidFill>
                  <a:srgbClr val="FFCB85"/>
                </a:solidFill>
                <a:latin typeface="Poppins Medium"/>
                <a:ea typeface="Poppins Medium"/>
                <a:cs typeface="Poppins Medium"/>
                <a:sym typeface="Poppins Medium"/>
              </a:rPr>
              <a:t>10</a:t>
            </a:r>
            <a:r>
              <a:rPr lang="en-US" sz="4899" b="1">
                <a:solidFill>
                  <a:srgbClr val="FFFFFF"/>
                </a:solidFill>
                <a:latin typeface="Poppins Medium"/>
                <a:ea typeface="Poppins Medium"/>
                <a:cs typeface="Poppins Medium"/>
                <a:sym typeface="Poppins Medium"/>
              </a:rPr>
              <a:t>; No exemplo acima, estou colocando o número </a:t>
            </a:r>
            <a:r>
              <a:rPr lang="en-US" sz="4899" b="1">
                <a:solidFill>
                  <a:srgbClr val="FFCB85"/>
                </a:solidFill>
                <a:latin typeface="Poppins Medium"/>
                <a:ea typeface="Poppins Medium"/>
                <a:cs typeface="Poppins Medium"/>
                <a:sym typeface="Poppins Medium"/>
              </a:rPr>
              <a:t>10</a:t>
            </a:r>
            <a:r>
              <a:rPr lang="en-US" sz="4899" b="1">
                <a:solidFill>
                  <a:srgbClr val="FFFFFF"/>
                </a:solidFill>
                <a:latin typeface="Poppins Medium"/>
                <a:ea typeface="Poppins Medium"/>
                <a:cs typeface="Poppins Medium"/>
                <a:sym typeface="Poppins Medium"/>
              </a:rPr>
              <a:t> dentro da variável </a:t>
            </a:r>
            <a:r>
              <a:rPr lang="en-US" sz="4899" b="1">
                <a:solidFill>
                  <a:srgbClr val="FF5757"/>
                </a:solidFill>
                <a:latin typeface="Poppins Medium"/>
                <a:ea typeface="Poppins Medium"/>
                <a:cs typeface="Poppins Medium"/>
                <a:sym typeface="Poppins Medium"/>
              </a:rPr>
              <a:t>x</a:t>
            </a:r>
            <a:r>
              <a:rPr lang="en-US" sz="4899" b="1">
                <a:solidFill>
                  <a:srgbClr val="FFFFFF"/>
                </a:solidFill>
                <a:latin typeface="Poppins Medium"/>
                <a:ea typeface="Poppins Medium"/>
                <a:cs typeface="Poppins Medium"/>
                <a:sym typeface="Poppins Medium"/>
              </a:rPr>
              <a:t>. Um </a:t>
            </a:r>
            <a:r>
              <a:rPr lang="en-US" sz="4899" b="1">
                <a:solidFill>
                  <a:srgbClr val="FF5757"/>
                </a:solidFill>
                <a:latin typeface="Poppins Medium"/>
                <a:ea typeface="Poppins Medium"/>
                <a:cs typeface="Poppins Medium"/>
                <a:sym typeface="Poppins Medium"/>
              </a:rPr>
              <a:t>=</a:t>
            </a:r>
            <a:r>
              <a:rPr lang="en-US" sz="4899" b="1">
                <a:solidFill>
                  <a:srgbClr val="FFFFFF"/>
                </a:solidFill>
                <a:latin typeface="Poppins Medium"/>
                <a:ea typeface="Poppins Medium"/>
                <a:cs typeface="Poppins Medium"/>
                <a:sym typeface="Poppins Medium"/>
              </a:rPr>
              <a:t> apenas significa o perador de atribução</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414758" y="448151"/>
            <a:ext cx="15767523" cy="1039978"/>
          </a:xfrm>
          <a:prstGeom prst="rect">
            <a:avLst/>
          </a:prstGeom>
        </p:spPr>
        <p:txBody>
          <a:bodyPr lIns="0" tIns="0" rIns="0" bIns="0" rtlCol="0" anchor="t">
            <a:spAutoFit/>
          </a:bodyPr>
          <a:lstStyle/>
          <a:p>
            <a:pPr algn="l">
              <a:lnSpc>
                <a:spcPts val="7062"/>
              </a:lnSpc>
            </a:pPr>
            <a:r>
              <a:rPr lang="en-US" sz="5964" b="1">
                <a:solidFill>
                  <a:srgbClr val="FFFFFF"/>
                </a:solidFill>
                <a:latin typeface="Poppins Semi-Bold"/>
                <a:ea typeface="Poppins Semi-Bold"/>
                <a:cs typeface="Poppins Semi-Bold"/>
                <a:sym typeface="Poppins Semi-Bold"/>
              </a:rPr>
              <a:t>Operador de Incremento e Decremento</a:t>
            </a:r>
          </a:p>
        </p:txBody>
      </p:sp>
      <p:sp>
        <p:nvSpPr>
          <p:cNvPr id="3" name="TextBox 3"/>
          <p:cNvSpPr txBox="1"/>
          <p:nvPr/>
        </p:nvSpPr>
        <p:spPr>
          <a:xfrm>
            <a:off x="3954485" y="1340501"/>
            <a:ext cx="190414" cy="853269"/>
          </a:xfrm>
          <a:prstGeom prst="rect">
            <a:avLst/>
          </a:prstGeom>
        </p:spPr>
        <p:txBody>
          <a:bodyPr lIns="0" tIns="0" rIns="0" bIns="0" rtlCol="0" anchor="t">
            <a:spAutoFit/>
          </a:bodyPr>
          <a:lstStyle/>
          <a:p>
            <a:pPr algn="l">
              <a:lnSpc>
                <a:spcPts val="5801"/>
              </a:lnSpc>
            </a:pPr>
            <a:r>
              <a:rPr lang="en-US" sz="4899" b="1">
                <a:solidFill>
                  <a:srgbClr val="FFFFFF"/>
                </a:solidFill>
                <a:latin typeface="Poppins Semi-Bold"/>
                <a:ea typeface="Poppins Semi-Bold"/>
                <a:cs typeface="Poppins Semi-Bold"/>
                <a:sym typeface="Poppins Semi-Bold"/>
              </a:rPr>
              <a:t> </a:t>
            </a:r>
          </a:p>
        </p:txBody>
      </p:sp>
      <p:sp>
        <p:nvSpPr>
          <p:cNvPr id="4" name="TextBox 4"/>
          <p:cNvSpPr txBox="1"/>
          <p:nvPr/>
        </p:nvSpPr>
        <p:spPr>
          <a:xfrm>
            <a:off x="164983" y="1340501"/>
            <a:ext cx="17365275" cy="9002078"/>
          </a:xfrm>
          <a:prstGeom prst="rect">
            <a:avLst/>
          </a:prstGeom>
        </p:spPr>
        <p:txBody>
          <a:bodyPr lIns="0" tIns="0" rIns="0" bIns="0" rtlCol="0" anchor="t">
            <a:spAutoFit/>
          </a:bodyPr>
          <a:lstStyle/>
          <a:p>
            <a:pPr algn="l">
              <a:lnSpc>
                <a:spcPts val="5850"/>
              </a:lnSpc>
            </a:pPr>
            <a:r>
              <a:rPr lang="en-US" sz="4899" b="1">
                <a:solidFill>
                  <a:srgbClr val="FFFFFF"/>
                </a:solidFill>
                <a:latin typeface="Poppins Semi-Bold"/>
                <a:ea typeface="Poppins Semi-Bold"/>
                <a:cs typeface="Poppins Semi-Bold"/>
                <a:sym typeface="Poppins Semi-Bold"/>
              </a:rPr>
              <a:t>Operadoresdeincremento/decrementosãousados para incrementar ou decrementar valores em variáveis. Veja o exemplo abaixo novamente. </a:t>
            </a:r>
            <a:r>
              <a:rPr lang="en-US" sz="4899" b="1">
                <a:solidFill>
                  <a:srgbClr val="3C67BF"/>
                </a:solidFill>
                <a:latin typeface="Poppins Medium"/>
                <a:ea typeface="Poppins Medium"/>
                <a:cs typeface="Poppins Medium"/>
                <a:sym typeface="Poppins Medium"/>
              </a:rPr>
              <a:t>int </a:t>
            </a:r>
            <a:r>
              <a:rPr lang="en-US" sz="4899" b="1">
                <a:solidFill>
                  <a:srgbClr val="FFFFFF"/>
                </a:solidFill>
                <a:latin typeface="Poppins Medium"/>
                <a:ea typeface="Poppins Medium"/>
                <a:cs typeface="Poppins Medium"/>
                <a:sym typeface="Poppins Medium"/>
              </a:rPr>
              <a:t>x = </a:t>
            </a:r>
            <a:r>
              <a:rPr lang="en-US" sz="4899" b="1">
                <a:solidFill>
                  <a:srgbClr val="FFCB85"/>
                </a:solidFill>
                <a:latin typeface="Poppins Medium"/>
                <a:ea typeface="Poppins Medium"/>
                <a:cs typeface="Poppins Medium"/>
                <a:sym typeface="Poppins Medium"/>
              </a:rPr>
              <a:t>10</a:t>
            </a:r>
            <a:r>
              <a:rPr lang="en-US" sz="4899" b="1">
                <a:solidFill>
                  <a:srgbClr val="FFFFFF"/>
                </a:solidFill>
                <a:latin typeface="Poppins Medium"/>
                <a:ea typeface="Poppins Medium"/>
                <a:cs typeface="Poppins Medium"/>
                <a:sym typeface="Poppins Medium"/>
              </a:rPr>
              <a:t>; x++; Se declararmos uma linha com o nome da variável e dois simbolos de +, estamos dizendo que iremos incrementar o valor de 1 na variável.</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414758" y="324326"/>
            <a:ext cx="15767523"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Operador de Incremento e Decremento</a:t>
            </a:r>
          </a:p>
        </p:txBody>
      </p:sp>
      <p:sp>
        <p:nvSpPr>
          <p:cNvPr id="3" name="TextBox 3"/>
          <p:cNvSpPr txBox="1"/>
          <p:nvPr/>
        </p:nvSpPr>
        <p:spPr>
          <a:xfrm>
            <a:off x="164983" y="2826572"/>
            <a:ext cx="18040769" cy="6053919"/>
          </a:xfrm>
          <a:prstGeom prst="rect">
            <a:avLst/>
          </a:prstGeom>
        </p:spPr>
        <p:txBody>
          <a:bodyPr lIns="0" tIns="0" rIns="0" bIns="0" rtlCol="0" anchor="t">
            <a:spAutoFit/>
          </a:bodyPr>
          <a:lstStyle/>
          <a:p>
            <a:pPr algn="l">
              <a:lnSpc>
                <a:spcPts val="5850"/>
              </a:lnSpc>
            </a:pPr>
            <a:r>
              <a:rPr lang="en-US" sz="4899" b="1">
                <a:solidFill>
                  <a:srgbClr val="3C67BF"/>
                </a:solidFill>
                <a:latin typeface="Poppins Medium"/>
                <a:ea typeface="Poppins Medium"/>
                <a:cs typeface="Poppins Medium"/>
                <a:sym typeface="Poppins Medium"/>
              </a:rPr>
              <a:t>int </a:t>
            </a:r>
            <a:r>
              <a:rPr lang="en-US" sz="4899" b="1">
                <a:solidFill>
                  <a:srgbClr val="FFFFFF"/>
                </a:solidFill>
                <a:latin typeface="Poppins Medium"/>
                <a:ea typeface="Poppins Medium"/>
                <a:cs typeface="Poppins Medium"/>
                <a:sym typeface="Poppins Medium"/>
              </a:rPr>
              <a:t>x = </a:t>
            </a:r>
            <a:r>
              <a:rPr lang="en-US" sz="4899" b="1">
                <a:solidFill>
                  <a:srgbClr val="FFCB85"/>
                </a:solidFill>
                <a:latin typeface="Poppins Medium"/>
                <a:ea typeface="Poppins Medium"/>
                <a:cs typeface="Poppins Medium"/>
                <a:sym typeface="Poppins Medium"/>
              </a:rPr>
              <a:t>10</a:t>
            </a:r>
            <a:r>
              <a:rPr lang="en-US" sz="4899" b="1">
                <a:solidFill>
                  <a:srgbClr val="FFFFFF"/>
                </a:solidFill>
                <a:latin typeface="Poppins Medium"/>
                <a:ea typeface="Poppins Medium"/>
                <a:cs typeface="Poppins Medium"/>
                <a:sym typeface="Poppins Medium"/>
              </a:rPr>
              <a:t>; x++; Qual o valor de </a:t>
            </a:r>
            <a:r>
              <a:rPr lang="en-US" sz="4899" b="1">
                <a:solidFill>
                  <a:srgbClr val="FF5757"/>
                </a:solidFill>
                <a:latin typeface="Poppins Medium"/>
                <a:ea typeface="Poppins Medium"/>
                <a:cs typeface="Poppins Medium"/>
                <a:sym typeface="Poppins Medium"/>
              </a:rPr>
              <a:t>x</a:t>
            </a:r>
            <a:r>
              <a:rPr lang="en-US" sz="4899" b="1">
                <a:solidFill>
                  <a:srgbClr val="FFFFFF"/>
                </a:solidFill>
                <a:latin typeface="Poppins Medium"/>
                <a:ea typeface="Poppins Medium"/>
                <a:cs typeface="Poppins Medium"/>
                <a:sym typeface="Poppins Medium"/>
              </a:rPr>
              <a:t> depois de executar a segunda linha? O valor de </a:t>
            </a:r>
            <a:r>
              <a:rPr lang="en-US" sz="4899" b="1">
                <a:solidFill>
                  <a:srgbClr val="FF5757"/>
                </a:solidFill>
                <a:latin typeface="Poppins Medium"/>
                <a:ea typeface="Poppins Medium"/>
                <a:cs typeface="Poppins Medium"/>
                <a:sym typeface="Poppins Medium"/>
              </a:rPr>
              <a:t>x</a:t>
            </a:r>
            <a:r>
              <a:rPr lang="en-US" sz="4899" b="1">
                <a:solidFill>
                  <a:srgbClr val="FFFFFF"/>
                </a:solidFill>
                <a:latin typeface="Poppins Medium"/>
                <a:ea typeface="Poppins Medium"/>
                <a:cs typeface="Poppins Medium"/>
                <a:sym typeface="Poppins Medium"/>
              </a:rPr>
              <a:t> será de </a:t>
            </a:r>
            <a:r>
              <a:rPr lang="en-US" sz="4899" b="1">
                <a:solidFill>
                  <a:srgbClr val="FFCB85"/>
                </a:solidFill>
                <a:latin typeface="Poppins Medium"/>
                <a:ea typeface="Poppins Medium"/>
                <a:cs typeface="Poppins Medium"/>
                <a:sym typeface="Poppins Medium"/>
              </a:rPr>
              <a:t>11</a:t>
            </a:r>
            <a:r>
              <a:rPr lang="en-US" sz="4899" b="1">
                <a:solidFill>
                  <a:srgbClr val="FFFFFF"/>
                </a:solidFill>
                <a:latin typeface="Poppins Medium"/>
                <a:ea typeface="Poppins Medium"/>
                <a:cs typeface="Poppins Medium"/>
                <a:sym typeface="Poppins Medium"/>
              </a:rPr>
              <a:t>, porque eu incrementei o número </a:t>
            </a:r>
            <a:r>
              <a:rPr lang="en-US" sz="4899" b="1">
                <a:solidFill>
                  <a:srgbClr val="FFCB85"/>
                </a:solidFill>
                <a:latin typeface="Poppins Medium"/>
                <a:ea typeface="Poppins Medium"/>
                <a:cs typeface="Poppins Medium"/>
                <a:sym typeface="Poppins Medium"/>
              </a:rPr>
              <a:t>1</a:t>
            </a:r>
            <a:r>
              <a:rPr lang="en-US" sz="4899" b="1">
                <a:solidFill>
                  <a:srgbClr val="FFFFFF"/>
                </a:solidFill>
                <a:latin typeface="Poppins Medium"/>
                <a:ea typeface="Poppins Medium"/>
                <a:cs typeface="Poppins Medium"/>
                <a:sym typeface="Poppins Medium"/>
              </a:rPr>
              <a:t> a variável, ou seja, eu peguei o valor de </a:t>
            </a:r>
            <a:r>
              <a:rPr lang="en-US" sz="4899" b="1">
                <a:solidFill>
                  <a:srgbClr val="FFCB85"/>
                </a:solidFill>
                <a:latin typeface="Poppins Medium"/>
                <a:ea typeface="Poppins Medium"/>
                <a:cs typeface="Poppins Medium"/>
                <a:sym typeface="Poppins Medium"/>
              </a:rPr>
              <a:t>10</a:t>
            </a:r>
            <a:r>
              <a:rPr lang="en-US" sz="4899" b="1">
                <a:solidFill>
                  <a:srgbClr val="FFFFFF"/>
                </a:solidFill>
                <a:latin typeface="Poppins Medium"/>
                <a:ea typeface="Poppins Medium"/>
                <a:cs typeface="Poppins Medium"/>
                <a:sym typeface="Poppins Medium"/>
              </a:rPr>
              <a:t> que estava lá somei com o numero 1, torando </a:t>
            </a:r>
            <a:r>
              <a:rPr lang="en-US" sz="4899" b="1">
                <a:solidFill>
                  <a:srgbClr val="FF5757"/>
                </a:solidFill>
                <a:latin typeface="Poppins Medium"/>
                <a:ea typeface="Poppins Medium"/>
                <a:cs typeface="Poppins Medium"/>
                <a:sym typeface="Poppins Medium"/>
              </a:rPr>
              <a:t>11</a:t>
            </a:r>
            <a:r>
              <a:rPr lang="en-US" sz="4899" b="1">
                <a:solidFill>
                  <a:srgbClr val="FFFFFF"/>
                </a:solidFill>
                <a:latin typeface="Poppins Medium"/>
                <a:ea typeface="Poppins Medium"/>
                <a:cs typeface="Poppins Medium"/>
                <a:sym typeface="Poppins Medium"/>
              </a:rPr>
              <a:t>.</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414758" y="324326"/>
            <a:ext cx="15767523"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Operador de Incremento e Decremento</a:t>
            </a:r>
          </a:p>
        </p:txBody>
      </p:sp>
      <p:sp>
        <p:nvSpPr>
          <p:cNvPr id="3" name="TextBox 3"/>
          <p:cNvSpPr txBox="1"/>
          <p:nvPr/>
        </p:nvSpPr>
        <p:spPr>
          <a:xfrm>
            <a:off x="164983" y="3198047"/>
            <a:ext cx="9553689" cy="5310969"/>
          </a:xfrm>
          <a:prstGeom prst="rect">
            <a:avLst/>
          </a:prstGeom>
        </p:spPr>
        <p:txBody>
          <a:bodyPr lIns="0" tIns="0" rIns="0" bIns="0" rtlCol="0" anchor="t">
            <a:spAutoFit/>
          </a:bodyPr>
          <a:lstStyle/>
          <a:p>
            <a:pPr algn="just">
              <a:lnSpc>
                <a:spcPts val="5850"/>
              </a:lnSpc>
            </a:pPr>
            <a:r>
              <a:rPr lang="en-US" sz="4899" b="1">
                <a:solidFill>
                  <a:srgbClr val="3C67BF"/>
                </a:solidFill>
                <a:latin typeface="Poppins Medium"/>
                <a:ea typeface="Poppins Medium"/>
                <a:cs typeface="Poppins Medium"/>
                <a:sym typeface="Poppins Medium"/>
              </a:rPr>
              <a:t>int </a:t>
            </a:r>
            <a:r>
              <a:rPr lang="en-US" sz="4899" b="1">
                <a:solidFill>
                  <a:srgbClr val="FFFFFF"/>
                </a:solidFill>
                <a:latin typeface="Poppins Medium"/>
                <a:ea typeface="Poppins Medium"/>
                <a:cs typeface="Poppins Medium"/>
                <a:sym typeface="Poppins Medium"/>
              </a:rPr>
              <a:t>x = </a:t>
            </a:r>
            <a:r>
              <a:rPr lang="en-US" sz="4899" b="1">
                <a:solidFill>
                  <a:srgbClr val="FFCB85"/>
                </a:solidFill>
                <a:latin typeface="Poppins Medium"/>
                <a:ea typeface="Poppins Medium"/>
                <a:cs typeface="Poppins Medium"/>
                <a:sym typeface="Poppins Medium"/>
              </a:rPr>
              <a:t>10</a:t>
            </a:r>
            <a:r>
              <a:rPr lang="en-US" sz="4899" b="1">
                <a:solidFill>
                  <a:srgbClr val="FFFFFF"/>
                </a:solidFill>
                <a:latin typeface="Poppins Medium"/>
                <a:ea typeface="Poppins Medium"/>
                <a:cs typeface="Poppins Medium"/>
                <a:sym typeface="Poppins Medium"/>
              </a:rPr>
              <a:t>; x++; x++; x++; x++; Qual será o valor de </a:t>
            </a:r>
            <a:r>
              <a:rPr lang="en-US" sz="4899" b="1">
                <a:solidFill>
                  <a:srgbClr val="FF5757"/>
                </a:solidFill>
                <a:latin typeface="Poppins Medium"/>
                <a:ea typeface="Poppins Medium"/>
                <a:cs typeface="Poppins Medium"/>
                <a:sym typeface="Poppins Medium"/>
              </a:rPr>
              <a:t>x</a:t>
            </a:r>
            <a:r>
              <a:rPr lang="en-US" sz="4899" b="1">
                <a:solidFill>
                  <a:srgbClr val="FFFFFF"/>
                </a:solidFill>
                <a:latin typeface="Poppins Medium"/>
                <a:ea typeface="Poppins Medium"/>
                <a:cs typeface="Poppins Medium"/>
                <a:sym typeface="Poppins Medium"/>
              </a:rPr>
              <a:t> agora?</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414758" y="324326"/>
            <a:ext cx="15767523"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Operador de Incremento e Decremento</a:t>
            </a:r>
          </a:p>
        </p:txBody>
      </p:sp>
      <p:sp>
        <p:nvSpPr>
          <p:cNvPr id="3" name="TextBox 3"/>
          <p:cNvSpPr txBox="1"/>
          <p:nvPr/>
        </p:nvSpPr>
        <p:spPr>
          <a:xfrm>
            <a:off x="164983" y="2083622"/>
            <a:ext cx="17976685" cy="7539819"/>
          </a:xfrm>
          <a:prstGeom prst="rect">
            <a:avLst/>
          </a:prstGeom>
        </p:spPr>
        <p:txBody>
          <a:bodyPr lIns="0" tIns="0" rIns="0" bIns="0" rtlCol="0" anchor="t">
            <a:spAutoFit/>
          </a:bodyPr>
          <a:lstStyle/>
          <a:p>
            <a:pPr algn="just">
              <a:lnSpc>
                <a:spcPts val="5850"/>
              </a:lnSpc>
            </a:pPr>
            <a:r>
              <a:rPr lang="en-US" sz="4899" b="1">
                <a:solidFill>
                  <a:srgbClr val="3C67BF"/>
                </a:solidFill>
                <a:latin typeface="Poppins Medium"/>
                <a:ea typeface="Poppins Medium"/>
                <a:cs typeface="Poppins Medium"/>
                <a:sym typeface="Poppins Medium"/>
              </a:rPr>
              <a:t>int </a:t>
            </a:r>
            <a:r>
              <a:rPr lang="en-US" sz="4899" b="1">
                <a:solidFill>
                  <a:srgbClr val="FFFFFF"/>
                </a:solidFill>
                <a:latin typeface="Poppins Medium"/>
                <a:ea typeface="Poppins Medium"/>
                <a:cs typeface="Poppins Medium"/>
                <a:sym typeface="Poppins Medium"/>
              </a:rPr>
              <a:t>x = </a:t>
            </a:r>
            <a:r>
              <a:rPr lang="en-US" sz="4899" b="1">
                <a:solidFill>
                  <a:srgbClr val="FFCB85"/>
                </a:solidFill>
                <a:latin typeface="Poppins Medium"/>
                <a:ea typeface="Poppins Medium"/>
                <a:cs typeface="Poppins Medium"/>
                <a:sym typeface="Poppins Medium"/>
              </a:rPr>
              <a:t>10</a:t>
            </a:r>
            <a:r>
              <a:rPr lang="en-US" sz="4899" b="1">
                <a:solidFill>
                  <a:srgbClr val="FFFFFF"/>
                </a:solidFill>
                <a:latin typeface="Poppins Medium"/>
                <a:ea typeface="Poppins Medium"/>
                <a:cs typeface="Poppins Medium"/>
                <a:sym typeface="Poppins Medium"/>
              </a:rPr>
              <a:t>; x++; x++; x++; x++; Qual será o valor de </a:t>
            </a:r>
            <a:r>
              <a:rPr lang="en-US" sz="4899" b="1">
                <a:solidFill>
                  <a:srgbClr val="FF5757"/>
                </a:solidFill>
                <a:latin typeface="Poppins Medium"/>
                <a:ea typeface="Poppins Medium"/>
                <a:cs typeface="Poppins Medium"/>
                <a:sym typeface="Poppins Medium"/>
              </a:rPr>
              <a:t>x</a:t>
            </a:r>
            <a:r>
              <a:rPr lang="en-US" sz="4899" b="1">
                <a:solidFill>
                  <a:srgbClr val="FFFFFF"/>
                </a:solidFill>
                <a:latin typeface="Poppins Medium"/>
                <a:ea typeface="Poppins Medium"/>
                <a:cs typeface="Poppins Medium"/>
                <a:sym typeface="Poppins Medium"/>
              </a:rPr>
              <a:t> agora? </a:t>
            </a:r>
            <a:r>
              <a:rPr lang="en-US" sz="4899" b="1">
                <a:solidFill>
                  <a:srgbClr val="FF5757"/>
                </a:solidFill>
                <a:latin typeface="Poppins Medium"/>
                <a:ea typeface="Poppins Medium"/>
                <a:cs typeface="Poppins Medium"/>
                <a:sym typeface="Poppins Medium"/>
              </a:rPr>
              <a:t>x</a:t>
            </a:r>
            <a:r>
              <a:rPr lang="en-US" sz="4899" b="1">
                <a:solidFill>
                  <a:srgbClr val="FFFFFF"/>
                </a:solidFill>
                <a:latin typeface="Poppins Medium"/>
                <a:ea typeface="Poppins Medium"/>
                <a:cs typeface="Poppins Medium"/>
                <a:sym typeface="Poppins Medium"/>
              </a:rPr>
              <a:t> será igual a </a:t>
            </a:r>
            <a:r>
              <a:rPr lang="en-US" sz="4899" b="1">
                <a:solidFill>
                  <a:srgbClr val="FFCB85"/>
                </a:solidFill>
                <a:latin typeface="Poppins Medium"/>
                <a:ea typeface="Poppins Medium"/>
                <a:cs typeface="Poppins Medium"/>
                <a:sym typeface="Poppins Medium"/>
              </a:rPr>
              <a:t>14</a:t>
            </a:r>
            <a:r>
              <a:rPr lang="en-US" sz="4899" b="1">
                <a:solidFill>
                  <a:srgbClr val="FFFFFF"/>
                </a:solidFill>
                <a:latin typeface="Poppins Medium"/>
                <a:ea typeface="Poppins Medium"/>
                <a:cs typeface="Poppins Medium"/>
                <a:sym typeface="Poppins Medium"/>
              </a:rPr>
              <a:t>, pois eu usei o operador de incremento </a:t>
            </a:r>
            <a:r>
              <a:rPr lang="en-US" sz="4899" b="1">
                <a:solidFill>
                  <a:srgbClr val="7ED957"/>
                </a:solidFill>
                <a:latin typeface="Poppins Medium"/>
                <a:ea typeface="Poppins Medium"/>
                <a:cs typeface="Poppins Medium"/>
                <a:sym typeface="Poppins Medium"/>
              </a:rPr>
              <a:t>4 vezes</a:t>
            </a:r>
            <a:r>
              <a:rPr lang="en-US" sz="4899" b="1">
                <a:solidFill>
                  <a:srgbClr val="FFFFFF"/>
                </a:solidFill>
                <a:latin typeface="Poppins Medium"/>
                <a:ea typeface="Poppins Medium"/>
                <a:cs typeface="Poppins Medium"/>
                <a:sym typeface="Poppins Medium"/>
              </a:rPr>
              <a: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414758" y="324326"/>
            <a:ext cx="15767523"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Operador de Incremento e Decremento</a:t>
            </a:r>
          </a:p>
        </p:txBody>
      </p:sp>
      <p:sp>
        <p:nvSpPr>
          <p:cNvPr id="3" name="TextBox 3"/>
          <p:cNvSpPr txBox="1"/>
          <p:nvPr/>
        </p:nvSpPr>
        <p:spPr>
          <a:xfrm>
            <a:off x="164983" y="2083451"/>
            <a:ext cx="18223382" cy="7516178"/>
          </a:xfrm>
          <a:prstGeom prst="rect">
            <a:avLst/>
          </a:prstGeom>
        </p:spPr>
        <p:txBody>
          <a:bodyPr lIns="0" tIns="0" rIns="0" bIns="0" rtlCol="0" anchor="t">
            <a:spAutoFit/>
          </a:bodyPr>
          <a:lstStyle/>
          <a:p>
            <a:pPr algn="l">
              <a:lnSpc>
                <a:spcPts val="5850"/>
              </a:lnSpc>
            </a:pPr>
            <a:r>
              <a:rPr lang="en-US" sz="4899" b="1">
                <a:solidFill>
                  <a:srgbClr val="FFFFFF"/>
                </a:solidFill>
                <a:latin typeface="Poppins Semi-Bold"/>
                <a:ea typeface="Poppins Semi-Bold"/>
                <a:cs typeface="Poppins Semi-Bold"/>
                <a:sym typeface="Poppins Semi-Bold"/>
              </a:rPr>
              <a:t>Como seria o decremento então? A mesma coisa, só que ao contrário, utilizando o símbolo de menos -. Veja o exemplo abaixo, só que agora com decremento. </a:t>
            </a:r>
            <a:r>
              <a:rPr lang="en-US" sz="4899" b="1">
                <a:solidFill>
                  <a:srgbClr val="3C67BF"/>
                </a:solidFill>
                <a:latin typeface="Poppins Medium"/>
                <a:ea typeface="Poppins Medium"/>
                <a:cs typeface="Poppins Medium"/>
                <a:sym typeface="Poppins Medium"/>
              </a:rPr>
              <a:t>int </a:t>
            </a:r>
            <a:r>
              <a:rPr lang="en-US" sz="4899" b="1">
                <a:solidFill>
                  <a:srgbClr val="FFFFFF"/>
                </a:solidFill>
                <a:latin typeface="Poppins Medium"/>
                <a:ea typeface="Poppins Medium"/>
                <a:cs typeface="Poppins Medium"/>
                <a:sym typeface="Poppins Medium"/>
              </a:rPr>
              <a:t>x = </a:t>
            </a:r>
            <a:r>
              <a:rPr lang="en-US" sz="4899" b="1">
                <a:solidFill>
                  <a:srgbClr val="FFCB85"/>
                </a:solidFill>
                <a:latin typeface="Poppins Medium"/>
                <a:ea typeface="Poppins Medium"/>
                <a:cs typeface="Poppins Medium"/>
                <a:sym typeface="Poppins Medium"/>
              </a:rPr>
              <a:t>10</a:t>
            </a:r>
            <a:r>
              <a:rPr lang="en-US" sz="4899" b="1">
                <a:solidFill>
                  <a:srgbClr val="FFFFFF"/>
                </a:solidFill>
                <a:latin typeface="Poppins Medium"/>
                <a:ea typeface="Poppins Medium"/>
                <a:cs typeface="Poppins Medium"/>
                <a:sym typeface="Poppins Medium"/>
              </a:rPr>
              <a:t>; x--; Qual o valor de </a:t>
            </a:r>
            <a:r>
              <a:rPr lang="en-US" sz="4899" b="1">
                <a:solidFill>
                  <a:srgbClr val="FF5757"/>
                </a:solidFill>
                <a:latin typeface="Poppins Medium"/>
                <a:ea typeface="Poppins Medium"/>
                <a:cs typeface="Poppins Medium"/>
                <a:sym typeface="Poppins Medium"/>
              </a:rPr>
              <a:t>x</a:t>
            </a:r>
            <a:r>
              <a:rPr lang="en-US" sz="4899" b="1">
                <a:solidFill>
                  <a:srgbClr val="FFFFFF"/>
                </a:solidFill>
                <a:latin typeface="Poppins Medium"/>
                <a:ea typeface="Poppins Medium"/>
                <a:cs typeface="Poppins Medium"/>
                <a:sym typeface="Poppins Medium"/>
              </a:rPr>
              <a:t>? Se no incremento somava com </a:t>
            </a:r>
            <a:r>
              <a:rPr lang="en-US" sz="4899" b="1">
                <a:solidFill>
                  <a:srgbClr val="FFCB85"/>
                </a:solidFill>
                <a:latin typeface="Poppins Medium"/>
                <a:ea typeface="Poppins Medium"/>
                <a:cs typeface="Poppins Medium"/>
                <a:sym typeface="Poppins Medium"/>
              </a:rPr>
              <a:t>1</a:t>
            </a:r>
            <a:r>
              <a:rPr lang="en-US" sz="4899" b="1">
                <a:solidFill>
                  <a:srgbClr val="FFFFFF"/>
                </a:solidFill>
                <a:latin typeface="Poppins Medium"/>
                <a:ea typeface="Poppins Medium"/>
                <a:cs typeface="Poppins Medium"/>
                <a:sym typeface="Poppins Medium"/>
              </a:rPr>
              <a:t>, no decremento você vai remover </a:t>
            </a:r>
            <a:r>
              <a:rPr lang="en-US" sz="4899" b="1">
                <a:solidFill>
                  <a:srgbClr val="FFCB85"/>
                </a:solidFill>
                <a:latin typeface="Poppins Medium"/>
                <a:ea typeface="Poppins Medium"/>
                <a:cs typeface="Poppins Medium"/>
                <a:sym typeface="Poppins Medium"/>
              </a:rPr>
              <a:t>1</a:t>
            </a:r>
            <a:r>
              <a:rPr lang="en-US" sz="4899" b="1">
                <a:solidFill>
                  <a:srgbClr val="FFFFFF"/>
                </a:solidFill>
                <a:latin typeface="Poppins Medium"/>
                <a:ea typeface="Poppins Medium"/>
                <a:cs typeface="Poppins Medium"/>
                <a:sym typeface="Poppins Medium"/>
              </a:rPr>
              <a:t> do valor da variável.</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414758" y="324326"/>
            <a:ext cx="15767523"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Operador de Incremento e Decremento</a:t>
            </a:r>
          </a:p>
        </p:txBody>
      </p:sp>
      <p:sp>
        <p:nvSpPr>
          <p:cNvPr id="3" name="TextBox 3"/>
          <p:cNvSpPr txBox="1"/>
          <p:nvPr/>
        </p:nvSpPr>
        <p:spPr>
          <a:xfrm>
            <a:off x="164983" y="4288660"/>
            <a:ext cx="7057939" cy="3082119"/>
          </a:xfrm>
          <a:prstGeom prst="rect">
            <a:avLst/>
          </a:prstGeom>
        </p:spPr>
        <p:txBody>
          <a:bodyPr lIns="0" tIns="0" rIns="0" bIns="0" rtlCol="0" anchor="t">
            <a:spAutoFit/>
          </a:bodyPr>
          <a:lstStyle/>
          <a:p>
            <a:pPr algn="l">
              <a:lnSpc>
                <a:spcPts val="5850"/>
              </a:lnSpc>
            </a:pPr>
            <a:r>
              <a:rPr lang="en-US" sz="4899" b="1">
                <a:solidFill>
                  <a:srgbClr val="3C67BF"/>
                </a:solidFill>
                <a:latin typeface="Poppins Medium"/>
                <a:ea typeface="Poppins Medium"/>
                <a:cs typeface="Poppins Medium"/>
                <a:sym typeface="Poppins Medium"/>
              </a:rPr>
              <a:t>int </a:t>
            </a:r>
            <a:r>
              <a:rPr lang="en-US" sz="4899" b="1">
                <a:solidFill>
                  <a:srgbClr val="FFFFFF"/>
                </a:solidFill>
                <a:latin typeface="Poppins Medium"/>
                <a:ea typeface="Poppins Medium"/>
                <a:cs typeface="Poppins Medium"/>
                <a:sym typeface="Poppins Medium"/>
              </a:rPr>
              <a:t>x = </a:t>
            </a:r>
            <a:r>
              <a:rPr lang="en-US" sz="4899" b="1">
                <a:solidFill>
                  <a:srgbClr val="FFCB85"/>
                </a:solidFill>
                <a:latin typeface="Poppins Medium"/>
                <a:ea typeface="Poppins Medium"/>
                <a:cs typeface="Poppins Medium"/>
                <a:sym typeface="Poppins Medium"/>
              </a:rPr>
              <a:t>10</a:t>
            </a:r>
            <a:r>
              <a:rPr lang="en-US" sz="4899" b="1">
                <a:solidFill>
                  <a:srgbClr val="FFFFFF"/>
                </a:solidFill>
                <a:latin typeface="Poppins Medium"/>
                <a:ea typeface="Poppins Medium"/>
                <a:cs typeface="Poppins Medium"/>
                <a:sym typeface="Poppins Medium"/>
              </a:rPr>
              <a:t>; x--; Então o valor de x é </a:t>
            </a:r>
            <a:r>
              <a:rPr lang="en-US" sz="4899" b="1">
                <a:solidFill>
                  <a:srgbClr val="FF5757"/>
                </a:solidFill>
                <a:latin typeface="Poppins Medium"/>
                <a:ea typeface="Poppins Medium"/>
                <a:cs typeface="Poppins Medium"/>
                <a:sym typeface="Poppins Medium"/>
              </a:rPr>
              <a:t>9</a:t>
            </a:r>
            <a:r>
              <a:rPr lang="en-US" sz="4899" b="1">
                <a:solidFill>
                  <a:srgbClr val="FFFFFF"/>
                </a:solidFill>
                <a:latin typeface="Poppins Medium"/>
                <a:ea typeface="Poppins Medium"/>
                <a:cs typeface="Poppins Medium"/>
                <a:sym typeface="Poppins Medium"/>
              </a:rPr>
              <a: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414758" y="324326"/>
            <a:ext cx="15767523"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Operador de Incremento e Decremento</a:t>
            </a:r>
          </a:p>
        </p:txBody>
      </p:sp>
      <p:sp>
        <p:nvSpPr>
          <p:cNvPr id="3" name="TextBox 3"/>
          <p:cNvSpPr txBox="1"/>
          <p:nvPr/>
        </p:nvSpPr>
        <p:spPr>
          <a:xfrm>
            <a:off x="164983" y="2802760"/>
            <a:ext cx="7958461" cy="6053919"/>
          </a:xfrm>
          <a:prstGeom prst="rect">
            <a:avLst/>
          </a:prstGeom>
        </p:spPr>
        <p:txBody>
          <a:bodyPr lIns="0" tIns="0" rIns="0" bIns="0" rtlCol="0" anchor="t">
            <a:spAutoFit/>
          </a:bodyPr>
          <a:lstStyle/>
          <a:p>
            <a:pPr algn="just">
              <a:lnSpc>
                <a:spcPts val="5850"/>
              </a:lnSpc>
            </a:pPr>
            <a:r>
              <a:rPr lang="en-US" sz="4899" b="1">
                <a:solidFill>
                  <a:srgbClr val="3C67BF"/>
                </a:solidFill>
                <a:latin typeface="Poppins Medium"/>
                <a:ea typeface="Poppins Medium"/>
                <a:cs typeface="Poppins Medium"/>
                <a:sym typeface="Poppins Medium"/>
              </a:rPr>
              <a:t>int </a:t>
            </a:r>
            <a:r>
              <a:rPr lang="en-US" sz="4899" b="1">
                <a:solidFill>
                  <a:srgbClr val="FFFFFF"/>
                </a:solidFill>
                <a:latin typeface="Poppins Medium"/>
                <a:ea typeface="Poppins Medium"/>
                <a:cs typeface="Poppins Medium"/>
                <a:sym typeface="Poppins Medium"/>
              </a:rPr>
              <a:t>x = </a:t>
            </a:r>
            <a:r>
              <a:rPr lang="en-US" sz="4899" b="1">
                <a:solidFill>
                  <a:srgbClr val="FFCB85"/>
                </a:solidFill>
                <a:latin typeface="Poppins Medium"/>
                <a:ea typeface="Poppins Medium"/>
                <a:cs typeface="Poppins Medium"/>
                <a:sym typeface="Poppins Medium"/>
              </a:rPr>
              <a:t>10</a:t>
            </a:r>
            <a:r>
              <a:rPr lang="en-US" sz="4899" b="1">
                <a:solidFill>
                  <a:srgbClr val="FFFFFF"/>
                </a:solidFill>
                <a:latin typeface="Poppins Medium"/>
                <a:ea typeface="Poppins Medium"/>
                <a:cs typeface="Poppins Medium"/>
                <a:sym typeface="Poppins Medium"/>
              </a:rPr>
              <a:t>; x--; x--; x--; x--; x--; Qual o valor de x agora?</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414758" y="324326"/>
            <a:ext cx="15767523"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Operador de Incremento e Decremento</a:t>
            </a:r>
          </a:p>
        </p:txBody>
      </p:sp>
      <p:sp>
        <p:nvSpPr>
          <p:cNvPr id="3" name="TextBox 3"/>
          <p:cNvSpPr txBox="1"/>
          <p:nvPr/>
        </p:nvSpPr>
        <p:spPr>
          <a:xfrm>
            <a:off x="164983" y="2431285"/>
            <a:ext cx="7958461" cy="6796869"/>
          </a:xfrm>
          <a:prstGeom prst="rect">
            <a:avLst/>
          </a:prstGeom>
        </p:spPr>
        <p:txBody>
          <a:bodyPr lIns="0" tIns="0" rIns="0" bIns="0" rtlCol="0" anchor="t">
            <a:spAutoFit/>
          </a:bodyPr>
          <a:lstStyle/>
          <a:p>
            <a:pPr algn="just">
              <a:lnSpc>
                <a:spcPts val="5850"/>
              </a:lnSpc>
            </a:pPr>
            <a:r>
              <a:rPr lang="en-US" sz="4899" b="1">
                <a:solidFill>
                  <a:srgbClr val="3C67BF"/>
                </a:solidFill>
                <a:latin typeface="Poppins Medium"/>
                <a:ea typeface="Poppins Medium"/>
                <a:cs typeface="Poppins Medium"/>
                <a:sym typeface="Poppins Medium"/>
              </a:rPr>
              <a:t>int </a:t>
            </a:r>
            <a:r>
              <a:rPr lang="en-US" sz="4899" b="1">
                <a:solidFill>
                  <a:srgbClr val="FFFFFF"/>
                </a:solidFill>
                <a:latin typeface="Poppins Medium"/>
                <a:ea typeface="Poppins Medium"/>
                <a:cs typeface="Poppins Medium"/>
                <a:sym typeface="Poppins Medium"/>
              </a:rPr>
              <a:t>x = </a:t>
            </a:r>
            <a:r>
              <a:rPr lang="en-US" sz="4899" b="1">
                <a:solidFill>
                  <a:srgbClr val="FFCB85"/>
                </a:solidFill>
                <a:latin typeface="Poppins Medium"/>
                <a:ea typeface="Poppins Medium"/>
                <a:cs typeface="Poppins Medium"/>
                <a:sym typeface="Poppins Medium"/>
              </a:rPr>
              <a:t>10</a:t>
            </a:r>
            <a:r>
              <a:rPr lang="en-US" sz="4899" b="1">
                <a:solidFill>
                  <a:srgbClr val="FFFFFF"/>
                </a:solidFill>
                <a:latin typeface="Poppins Medium"/>
                <a:ea typeface="Poppins Medium"/>
                <a:cs typeface="Poppins Medium"/>
                <a:sym typeface="Poppins Medium"/>
              </a:rPr>
              <a:t>; x--; x--; x--; x--; x--; Qual o valor de x agora? </a:t>
            </a:r>
            <a:r>
              <a:rPr lang="en-US" sz="4899" b="1">
                <a:solidFill>
                  <a:srgbClr val="FF5757"/>
                </a:solidFill>
                <a:latin typeface="Poppins Medium"/>
                <a:ea typeface="Poppins Medium"/>
                <a:cs typeface="Poppins Medium"/>
                <a:sym typeface="Poppins Medium"/>
              </a:rPr>
              <a:t>5</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414758" y="324326"/>
            <a:ext cx="15767523"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Operador de Incremento e Decremento</a:t>
            </a:r>
          </a:p>
        </p:txBody>
      </p:sp>
      <p:sp>
        <p:nvSpPr>
          <p:cNvPr id="3" name="TextBox 3"/>
          <p:cNvSpPr txBox="1"/>
          <p:nvPr/>
        </p:nvSpPr>
        <p:spPr>
          <a:xfrm>
            <a:off x="164983" y="2431285"/>
            <a:ext cx="10824991" cy="6796869"/>
          </a:xfrm>
          <a:prstGeom prst="rect">
            <a:avLst/>
          </a:prstGeom>
        </p:spPr>
        <p:txBody>
          <a:bodyPr lIns="0" tIns="0" rIns="0" bIns="0" rtlCol="0" anchor="t">
            <a:spAutoFit/>
          </a:bodyPr>
          <a:lstStyle/>
          <a:p>
            <a:pPr algn="just">
              <a:lnSpc>
                <a:spcPts val="5850"/>
              </a:lnSpc>
            </a:pPr>
            <a:r>
              <a:rPr lang="en-US" sz="4899" b="1">
                <a:solidFill>
                  <a:srgbClr val="3C67BF"/>
                </a:solidFill>
                <a:latin typeface="Poppins Medium"/>
                <a:ea typeface="Poppins Medium"/>
                <a:cs typeface="Poppins Medium"/>
                <a:sym typeface="Poppins Medium"/>
              </a:rPr>
              <a:t>int </a:t>
            </a:r>
            <a:r>
              <a:rPr lang="en-US" sz="4899" b="1">
                <a:solidFill>
                  <a:srgbClr val="FFFFFF"/>
                </a:solidFill>
                <a:latin typeface="Poppins Medium"/>
                <a:ea typeface="Poppins Medium"/>
                <a:cs typeface="Poppins Medium"/>
                <a:sym typeface="Poppins Medium"/>
              </a:rPr>
              <a:t>x = </a:t>
            </a:r>
            <a:r>
              <a:rPr lang="en-US" sz="4899" b="1">
                <a:solidFill>
                  <a:srgbClr val="FFCB85"/>
                </a:solidFill>
                <a:latin typeface="Poppins Medium"/>
                <a:ea typeface="Poppins Medium"/>
                <a:cs typeface="Poppins Medium"/>
                <a:sym typeface="Poppins Medium"/>
              </a:rPr>
              <a:t>10</a:t>
            </a:r>
            <a:r>
              <a:rPr lang="en-US" sz="4899" b="1">
                <a:solidFill>
                  <a:srgbClr val="FFFFFF"/>
                </a:solidFill>
                <a:latin typeface="Poppins Medium"/>
                <a:ea typeface="Poppins Medium"/>
                <a:cs typeface="Poppins Medium"/>
                <a:sym typeface="Poppins Medium"/>
              </a:rPr>
              <a:t>; x++; x--; x--; x++; x++; x++; Outro exemplo, qual o valor de </a:t>
            </a:r>
            <a:r>
              <a:rPr lang="en-US" sz="4899" b="1">
                <a:solidFill>
                  <a:srgbClr val="FF5757"/>
                </a:solidFill>
                <a:latin typeface="Poppins Medium"/>
                <a:ea typeface="Poppins Medium"/>
                <a:cs typeface="Poppins Medium"/>
                <a:sym typeface="Poppins Medium"/>
              </a:rPr>
              <a:t>x</a:t>
            </a:r>
            <a:r>
              <a:rPr lang="en-US" sz="4899" b="1">
                <a:solidFill>
                  <a:srgbClr val="FFFFFF"/>
                </a:solidFill>
                <a:latin typeface="Poppins Medium"/>
                <a:ea typeface="Poppins Medium"/>
                <a:cs typeface="Poppins Medium"/>
                <a:sym typeface="Poppins Medium"/>
              </a:rPr>
              <a:t>?</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691659" y="3092272"/>
            <a:ext cx="12587307" cy="2760564"/>
          </a:xfrm>
          <a:prstGeom prst="rect">
            <a:avLst/>
          </a:prstGeom>
        </p:spPr>
        <p:txBody>
          <a:bodyPr lIns="0" tIns="0" rIns="0" bIns="0" rtlCol="0" anchor="t">
            <a:spAutoFit/>
          </a:bodyPr>
          <a:lstStyle/>
          <a:p>
            <a:pPr algn="l">
              <a:lnSpc>
                <a:spcPts val="11102"/>
              </a:lnSpc>
            </a:pPr>
            <a:r>
              <a:rPr lang="en-US" sz="4684" b="1">
                <a:solidFill>
                  <a:srgbClr val="FF5757"/>
                </a:solidFill>
                <a:latin typeface="Poppins Semi-Bold"/>
                <a:ea typeface="Poppins Semi-Bold"/>
                <a:cs typeface="Poppins Semi-Bold"/>
                <a:sym typeface="Poppins Semi-Bold"/>
              </a:rPr>
              <a:t>Atividade #14 </a:t>
            </a:r>
            <a:r>
              <a:rPr lang="en-US" sz="4684" b="1">
                <a:solidFill>
                  <a:srgbClr val="FFFFFF"/>
                </a:solidFill>
                <a:latin typeface="Poppins Semi-Bold"/>
                <a:ea typeface="Poppins Semi-Bold"/>
                <a:cs typeface="Poppins Semi-Bold"/>
                <a:sym typeface="Poppins Semi-Bold"/>
              </a:rPr>
              <a:t>Faça um programa que conte de 0 a 10.</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791148" y="200501"/>
            <a:ext cx="14999627" cy="2342436"/>
          </a:xfrm>
          <a:prstGeom prst="rect">
            <a:avLst/>
          </a:prstGeom>
        </p:spPr>
        <p:txBody>
          <a:bodyPr lIns="0" tIns="0" rIns="0" bIns="0" rtlCol="0" anchor="t">
            <a:spAutoFit/>
          </a:bodyPr>
          <a:lstStyle/>
          <a:p>
            <a:pPr algn="ctr">
              <a:lnSpc>
                <a:spcPts val="9692"/>
              </a:lnSpc>
            </a:pPr>
            <a:r>
              <a:rPr lang="en-US" sz="5964" b="1">
                <a:solidFill>
                  <a:srgbClr val="FFFFFF"/>
                </a:solidFill>
                <a:latin typeface="Poppins Semi-Bold"/>
                <a:ea typeface="Poppins Semi-Bold"/>
                <a:cs typeface="Poppins Semi-Bold"/>
                <a:sym typeface="Poppins Semi-Bold"/>
              </a:rPr>
              <a:t>Operador de Atribuição e Incremento</a:t>
            </a:r>
          </a:p>
          <a:p>
            <a:pPr algn="ctr">
              <a:lnSpc>
                <a:spcPts val="8995"/>
              </a:lnSpc>
            </a:pPr>
            <a:r>
              <a:rPr lang="en-US" sz="4899" b="1">
                <a:solidFill>
                  <a:srgbClr val="FFFFFF"/>
                </a:solidFill>
                <a:latin typeface="Poppins Semi-Bold"/>
                <a:ea typeface="Poppins Semi-Bold"/>
                <a:cs typeface="Poppins Semi-Bold"/>
                <a:sym typeface="Poppins Semi-Bold"/>
              </a:rPr>
              <a:t> </a:t>
            </a:r>
          </a:p>
        </p:txBody>
      </p:sp>
      <p:sp>
        <p:nvSpPr>
          <p:cNvPr id="3" name="TextBox 3"/>
          <p:cNvSpPr txBox="1"/>
          <p:nvPr/>
        </p:nvSpPr>
        <p:spPr>
          <a:xfrm>
            <a:off x="164983" y="1711976"/>
            <a:ext cx="18211962" cy="853269"/>
          </a:xfrm>
          <a:prstGeom prst="rect">
            <a:avLst/>
          </a:prstGeom>
        </p:spPr>
        <p:txBody>
          <a:bodyPr lIns="0" tIns="0" rIns="0" bIns="0" rtlCol="0" anchor="t">
            <a:spAutoFit/>
          </a:bodyPr>
          <a:lstStyle/>
          <a:p>
            <a:pPr algn="l">
              <a:lnSpc>
                <a:spcPts val="5850"/>
              </a:lnSpc>
            </a:pPr>
            <a:r>
              <a:rPr lang="en-US" sz="4899" b="1">
                <a:solidFill>
                  <a:srgbClr val="FFFFFF"/>
                </a:solidFill>
                <a:latin typeface="Poppins Semi-Bold"/>
                <a:ea typeface="Poppins Semi-Bold"/>
                <a:cs typeface="Poppins Semi-Bold"/>
                <a:sym typeface="Poppins Semi-Bold"/>
              </a:rPr>
              <a:t>Operadores de atribuição eincrementossão o simbolo</a:t>
            </a:r>
          </a:p>
        </p:txBody>
      </p:sp>
      <p:sp>
        <p:nvSpPr>
          <p:cNvPr id="4" name="TextBox 4"/>
          <p:cNvSpPr txBox="1"/>
          <p:nvPr/>
        </p:nvSpPr>
        <p:spPr>
          <a:xfrm>
            <a:off x="164983" y="2454926"/>
            <a:ext cx="16293903" cy="7516178"/>
          </a:xfrm>
          <a:prstGeom prst="rect">
            <a:avLst/>
          </a:prstGeom>
        </p:spPr>
        <p:txBody>
          <a:bodyPr lIns="0" tIns="0" rIns="0" bIns="0" rtlCol="0" anchor="t">
            <a:spAutoFit/>
          </a:bodyPr>
          <a:lstStyle/>
          <a:p>
            <a:pPr algn="l">
              <a:lnSpc>
                <a:spcPts val="5850"/>
              </a:lnSpc>
            </a:pPr>
            <a:r>
              <a:rPr lang="en-US" sz="4899" b="1">
                <a:solidFill>
                  <a:srgbClr val="FFFFFF"/>
                </a:solidFill>
                <a:latin typeface="Poppins Semi-Bold"/>
                <a:ea typeface="Poppins Semi-Bold"/>
                <a:cs typeface="Poppins Semi-Bold"/>
                <a:sym typeface="Poppins Semi-Bold"/>
              </a:rPr>
              <a:t>da igualdade com outro operador aritmético, por exemplo o código abaixo. </a:t>
            </a:r>
            <a:r>
              <a:rPr lang="en-US" sz="4899" b="1">
                <a:solidFill>
                  <a:srgbClr val="FFFFFF"/>
                </a:solidFill>
                <a:latin typeface="Poppins Medium"/>
                <a:ea typeface="Poppins Medium"/>
                <a:cs typeface="Poppins Medium"/>
                <a:sym typeface="Poppins Medium"/>
              </a:rPr>
              <a:t>x += </a:t>
            </a:r>
            <a:r>
              <a:rPr lang="en-US" sz="4899" b="1">
                <a:solidFill>
                  <a:srgbClr val="FFCB85"/>
                </a:solidFill>
                <a:latin typeface="Poppins Medium"/>
                <a:ea typeface="Poppins Medium"/>
                <a:cs typeface="Poppins Medium"/>
                <a:sym typeface="Poppins Medium"/>
              </a:rPr>
              <a:t>10</a:t>
            </a:r>
            <a:r>
              <a:rPr lang="en-US" sz="4899" b="1">
                <a:solidFill>
                  <a:srgbClr val="FFFFFF"/>
                </a:solidFill>
                <a:latin typeface="Poppins Medium"/>
                <a:ea typeface="Poppins Medium"/>
                <a:cs typeface="Poppins Medium"/>
                <a:sym typeface="Poppins Medium"/>
              </a:rPr>
              <a:t>; x -= </a:t>
            </a:r>
            <a:r>
              <a:rPr lang="en-US" sz="4899" b="1">
                <a:solidFill>
                  <a:srgbClr val="FFCB85"/>
                </a:solidFill>
                <a:latin typeface="Poppins Medium"/>
                <a:ea typeface="Poppins Medium"/>
                <a:cs typeface="Poppins Medium"/>
                <a:sym typeface="Poppins Medium"/>
              </a:rPr>
              <a:t>10</a:t>
            </a:r>
            <a:r>
              <a:rPr lang="en-US" sz="4899" b="1">
                <a:solidFill>
                  <a:srgbClr val="FFFFFF"/>
                </a:solidFill>
                <a:latin typeface="Poppins Medium"/>
                <a:ea typeface="Poppins Medium"/>
                <a:cs typeface="Poppins Medium"/>
                <a:sym typeface="Poppins Medium"/>
              </a:rPr>
              <a:t>; x *= </a:t>
            </a:r>
            <a:r>
              <a:rPr lang="en-US" sz="4899" b="1">
                <a:solidFill>
                  <a:srgbClr val="FFCB85"/>
                </a:solidFill>
                <a:latin typeface="Poppins Medium"/>
                <a:ea typeface="Poppins Medium"/>
                <a:cs typeface="Poppins Medium"/>
                <a:sym typeface="Poppins Medium"/>
              </a:rPr>
              <a:t>10</a:t>
            </a:r>
            <a:r>
              <a:rPr lang="en-US" sz="4899" b="1">
                <a:solidFill>
                  <a:srgbClr val="FFFFFF"/>
                </a:solidFill>
                <a:latin typeface="Poppins Medium"/>
                <a:ea typeface="Poppins Medium"/>
                <a:cs typeface="Poppins Medium"/>
                <a:sym typeface="Poppins Medium"/>
              </a:rPr>
              <a:t>; x /= </a:t>
            </a:r>
            <a:r>
              <a:rPr lang="en-US" sz="4899" b="1">
                <a:solidFill>
                  <a:srgbClr val="FFCB85"/>
                </a:solidFill>
                <a:latin typeface="Poppins Medium"/>
                <a:ea typeface="Poppins Medium"/>
                <a:cs typeface="Poppins Medium"/>
                <a:sym typeface="Poppins Medium"/>
              </a:rPr>
              <a:t>10</a:t>
            </a:r>
            <a:r>
              <a:rPr lang="en-US" sz="4899" b="1">
                <a:solidFill>
                  <a:srgbClr val="FFFFFF"/>
                </a:solidFill>
                <a:latin typeface="Poppins Medium"/>
                <a:ea typeface="Poppins Medium"/>
                <a:cs typeface="Poppins Medium"/>
                <a:sym typeface="Poppins Medium"/>
              </a:rPr>
              <a:t>; x %= </a:t>
            </a:r>
            <a:r>
              <a:rPr lang="en-US" sz="4899" b="1">
                <a:solidFill>
                  <a:srgbClr val="FFCB85"/>
                </a:solidFill>
                <a:latin typeface="Poppins Medium"/>
                <a:ea typeface="Poppins Medium"/>
                <a:cs typeface="Poppins Medium"/>
                <a:sym typeface="Poppins Medium"/>
              </a:rPr>
              <a:t>10</a:t>
            </a:r>
            <a:r>
              <a:rPr lang="en-US" sz="4899" b="1">
                <a:solidFill>
                  <a:srgbClr val="FFFFFF"/>
                </a:solidFill>
                <a:latin typeface="Poppins Medium"/>
                <a:ea typeface="Poppins Medium"/>
                <a:cs typeface="Poppins Medium"/>
                <a:sym typeface="Poppins Medium"/>
              </a:rPr>
              <a:t>; Como funciona de fato?</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791148" y="324326"/>
            <a:ext cx="14999627"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Operador de Atribuição e Incremento</a:t>
            </a:r>
          </a:p>
        </p:txBody>
      </p:sp>
      <p:sp>
        <p:nvSpPr>
          <p:cNvPr id="3" name="TextBox 3"/>
          <p:cNvSpPr txBox="1"/>
          <p:nvPr/>
        </p:nvSpPr>
        <p:spPr>
          <a:xfrm>
            <a:off x="164983" y="2454926"/>
            <a:ext cx="17787985" cy="6796869"/>
          </a:xfrm>
          <a:prstGeom prst="rect">
            <a:avLst/>
          </a:prstGeom>
        </p:spPr>
        <p:txBody>
          <a:bodyPr lIns="0" tIns="0" rIns="0" bIns="0" rtlCol="0" anchor="t">
            <a:spAutoFit/>
          </a:bodyPr>
          <a:lstStyle/>
          <a:p>
            <a:pPr algn="l">
              <a:lnSpc>
                <a:spcPts val="5850"/>
              </a:lnSpc>
            </a:pPr>
            <a:r>
              <a:rPr lang="en-US" sz="4899" b="1">
                <a:solidFill>
                  <a:srgbClr val="FFFFFF"/>
                </a:solidFill>
                <a:latin typeface="Poppins Semi-Bold"/>
                <a:ea typeface="Poppins Semi-Bold"/>
                <a:cs typeface="Poppins Semi-Bold"/>
                <a:sym typeface="Poppins Semi-Bold"/>
              </a:rPr>
              <a:t>Quando colocamos um sinal aritmético junto com a igualdade estamos dizendo que o valor que estava anteriormente foi incrementado com o valor que está depois da igualdade. Por exemplo: </a:t>
            </a:r>
            <a:r>
              <a:rPr lang="en-US" sz="4899" b="1">
                <a:solidFill>
                  <a:srgbClr val="3C67BF"/>
                </a:solidFill>
                <a:latin typeface="Poppins Semi-Bold"/>
                <a:ea typeface="Poppins Semi-Bold"/>
                <a:cs typeface="Poppins Semi-Bold"/>
                <a:sym typeface="Poppins Semi-Bold"/>
              </a:rPr>
              <a:t>int </a:t>
            </a:r>
            <a:r>
              <a:rPr lang="en-US" sz="4899" b="1">
                <a:solidFill>
                  <a:srgbClr val="FFFFFF"/>
                </a:solidFill>
                <a:latin typeface="Poppins Semi-Bold"/>
                <a:ea typeface="Poppins Semi-Bold"/>
                <a:cs typeface="Poppins Semi-Bold"/>
                <a:sym typeface="Poppins Semi-Bold"/>
              </a:rPr>
              <a:t>x = </a:t>
            </a:r>
            <a:r>
              <a:rPr lang="en-US" sz="4899" b="1">
                <a:solidFill>
                  <a:srgbClr val="FFCB85"/>
                </a:solidFill>
                <a:latin typeface="Poppins Semi-Bold"/>
                <a:ea typeface="Poppins Semi-Bold"/>
                <a:cs typeface="Poppins Semi-Bold"/>
                <a:sym typeface="Poppins Semi-Bold"/>
              </a:rPr>
              <a:t>3</a:t>
            </a:r>
            <a:r>
              <a:rPr lang="en-US" sz="4899" b="1">
                <a:solidFill>
                  <a:srgbClr val="FFFFFF"/>
                </a:solidFill>
                <a:latin typeface="Poppins Semi-Bold"/>
                <a:ea typeface="Poppins Semi-Bold"/>
                <a:cs typeface="Poppins Semi-Bold"/>
                <a:sym typeface="Poppins Semi-Bold"/>
              </a:rPr>
              <a:t>; x += </a:t>
            </a:r>
            <a:r>
              <a:rPr lang="en-US" sz="4899" b="1">
                <a:solidFill>
                  <a:srgbClr val="FFCB85"/>
                </a:solidFill>
                <a:latin typeface="Poppins Semi-Bold"/>
                <a:ea typeface="Poppins Semi-Bold"/>
                <a:cs typeface="Poppins Semi-Bold"/>
                <a:sym typeface="Poppins Semi-Bold"/>
              </a:rPr>
              <a:t>10</a:t>
            </a:r>
            <a:r>
              <a:rPr lang="en-US" sz="4899" b="1">
                <a:solidFill>
                  <a:srgbClr val="FFFFFF"/>
                </a:solidFill>
                <a:latin typeface="Poppins Semi-Bold"/>
                <a:ea typeface="Poppins Semi-Bold"/>
                <a:cs typeface="Poppins Semi-Bold"/>
                <a:sym typeface="Poppins Semi-Bold"/>
              </a:rPr>
              <a:t>; Qual é o valor de x?</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791148" y="381476"/>
            <a:ext cx="14999627" cy="1106653"/>
          </a:xfrm>
          <a:prstGeom prst="rect">
            <a:avLst/>
          </a:prstGeom>
        </p:spPr>
        <p:txBody>
          <a:bodyPr lIns="0" tIns="0" rIns="0" bIns="0" rtlCol="0" anchor="t">
            <a:spAutoFit/>
          </a:bodyPr>
          <a:lstStyle/>
          <a:p>
            <a:pPr algn="l">
              <a:lnSpc>
                <a:spcPts val="7789"/>
              </a:lnSpc>
            </a:pPr>
            <a:r>
              <a:rPr lang="en-US" sz="5964" b="1">
                <a:solidFill>
                  <a:srgbClr val="FFFFFF"/>
                </a:solidFill>
                <a:latin typeface="Poppins Semi-Bold"/>
                <a:ea typeface="Poppins Semi-Bold"/>
                <a:cs typeface="Poppins Semi-Bold"/>
                <a:sym typeface="Poppins Semi-Bold"/>
              </a:rPr>
              <a:t>Operador de Atribuição e Incremento</a:t>
            </a:r>
          </a:p>
        </p:txBody>
      </p:sp>
      <p:sp>
        <p:nvSpPr>
          <p:cNvPr id="3" name="TextBox 3"/>
          <p:cNvSpPr txBox="1"/>
          <p:nvPr/>
        </p:nvSpPr>
        <p:spPr>
          <a:xfrm>
            <a:off x="922582" y="1337300"/>
            <a:ext cx="170974" cy="912924"/>
          </a:xfrm>
          <a:prstGeom prst="rect">
            <a:avLst/>
          </a:prstGeom>
        </p:spPr>
        <p:txBody>
          <a:bodyPr lIns="0" tIns="0" rIns="0" bIns="0" rtlCol="0" anchor="t">
            <a:spAutoFit/>
          </a:bodyPr>
          <a:lstStyle/>
          <a:p>
            <a:pPr algn="l">
              <a:lnSpc>
                <a:spcPts val="6753"/>
              </a:lnSpc>
            </a:pPr>
            <a:r>
              <a:rPr lang="en-US" sz="4399" b="1">
                <a:solidFill>
                  <a:srgbClr val="3C67BF"/>
                </a:solidFill>
                <a:latin typeface="Poppins Semi-Bold"/>
                <a:ea typeface="Poppins Semi-Bold"/>
                <a:cs typeface="Poppins Semi-Bold"/>
                <a:sym typeface="Poppins Semi-Bold"/>
              </a:rPr>
              <a:t> </a:t>
            </a:r>
          </a:p>
        </p:txBody>
      </p:sp>
      <p:sp>
        <p:nvSpPr>
          <p:cNvPr id="4" name="TextBox 4"/>
          <p:cNvSpPr txBox="1"/>
          <p:nvPr/>
        </p:nvSpPr>
        <p:spPr>
          <a:xfrm>
            <a:off x="164983" y="1480175"/>
            <a:ext cx="2558882" cy="770049"/>
          </a:xfrm>
          <a:prstGeom prst="rect">
            <a:avLst/>
          </a:prstGeom>
        </p:spPr>
        <p:txBody>
          <a:bodyPr lIns="0" tIns="0" rIns="0" bIns="0" rtlCol="0" anchor="t">
            <a:spAutoFit/>
          </a:bodyPr>
          <a:lstStyle/>
          <a:p>
            <a:pPr algn="l">
              <a:lnSpc>
                <a:spcPts val="5248"/>
              </a:lnSpc>
            </a:pPr>
            <a:r>
              <a:rPr lang="en-US" sz="4399" b="1">
                <a:solidFill>
                  <a:srgbClr val="3C67BF"/>
                </a:solidFill>
                <a:latin typeface="Poppins Semi-Bold"/>
                <a:ea typeface="Poppins Semi-Bold"/>
                <a:cs typeface="Poppins Semi-Bold"/>
                <a:sym typeface="Poppins Semi-Bold"/>
              </a:rPr>
              <a:t>int</a:t>
            </a:r>
            <a:r>
              <a:rPr lang="en-US" sz="4399" b="1">
                <a:solidFill>
                  <a:srgbClr val="FFFFFF"/>
                </a:solidFill>
                <a:latin typeface="Poppins Semi-Bold"/>
                <a:ea typeface="Poppins Semi-Bold"/>
                <a:cs typeface="Poppins Semi-Bold"/>
                <a:sym typeface="Poppins Semi-Bold"/>
              </a:rPr>
              <a:t>x =</a:t>
            </a:r>
            <a:r>
              <a:rPr lang="en-US" sz="4399" b="1">
                <a:solidFill>
                  <a:srgbClr val="FFCB85"/>
                </a:solidFill>
                <a:latin typeface="Poppins Semi-Bold"/>
                <a:ea typeface="Poppins Semi-Bold"/>
                <a:cs typeface="Poppins Semi-Bold"/>
                <a:sym typeface="Poppins Semi-Bold"/>
              </a:rPr>
              <a:t>3</a:t>
            </a:r>
            <a:r>
              <a:rPr lang="en-US" sz="4399" b="1">
                <a:solidFill>
                  <a:srgbClr val="FFFFFF"/>
                </a:solidFill>
                <a:latin typeface="Poppins Semi-Bold"/>
                <a:ea typeface="Poppins Semi-Bold"/>
                <a:cs typeface="Poppins Semi-Bold"/>
                <a:sym typeface="Poppins Semi-Bold"/>
              </a:rPr>
              <a:t>;</a:t>
            </a:r>
          </a:p>
        </p:txBody>
      </p:sp>
      <p:sp>
        <p:nvSpPr>
          <p:cNvPr id="5" name="TextBox 5"/>
          <p:cNvSpPr txBox="1"/>
          <p:nvPr/>
        </p:nvSpPr>
        <p:spPr>
          <a:xfrm>
            <a:off x="164983" y="2146925"/>
            <a:ext cx="17142685" cy="8104299"/>
          </a:xfrm>
          <a:prstGeom prst="rect">
            <a:avLst/>
          </a:prstGeom>
        </p:spPr>
        <p:txBody>
          <a:bodyPr lIns="0" tIns="0" rIns="0" bIns="0" rtlCol="0" anchor="t">
            <a:spAutoFit/>
          </a:bodyPr>
          <a:lstStyle/>
          <a:p>
            <a:pPr algn="l">
              <a:lnSpc>
                <a:spcPts val="5248"/>
              </a:lnSpc>
            </a:pPr>
            <a:r>
              <a:rPr lang="en-US" sz="4399" b="1">
                <a:solidFill>
                  <a:srgbClr val="FFFFFF"/>
                </a:solidFill>
                <a:latin typeface="Poppins Semi-Bold"/>
                <a:ea typeface="Poppins Semi-Bold"/>
                <a:cs typeface="Poppins Semi-Bold"/>
                <a:sym typeface="Poppins Semi-Bold"/>
              </a:rPr>
              <a:t>x += </a:t>
            </a:r>
            <a:r>
              <a:rPr lang="en-US" sz="4399" b="1">
                <a:solidFill>
                  <a:srgbClr val="FFCB85"/>
                </a:solidFill>
                <a:latin typeface="Poppins Semi-Bold"/>
                <a:ea typeface="Poppins Semi-Bold"/>
                <a:cs typeface="Poppins Semi-Bold"/>
                <a:sym typeface="Poppins Semi-Bold"/>
              </a:rPr>
              <a:t>10</a:t>
            </a:r>
            <a:r>
              <a:rPr lang="en-US" sz="4399" b="1">
                <a:solidFill>
                  <a:srgbClr val="FFFFFF"/>
                </a:solidFill>
                <a:latin typeface="Poppins Semi-Bold"/>
                <a:ea typeface="Poppins Semi-Bold"/>
                <a:cs typeface="Poppins Semi-Bold"/>
                <a:sym typeface="Poppins Semi-Bold"/>
              </a:rPr>
              <a:t>; Qual é o valor de x? </a:t>
            </a:r>
            <a:r>
              <a:rPr lang="en-US" sz="4399" b="1">
                <a:solidFill>
                  <a:srgbClr val="FF5757"/>
                </a:solidFill>
                <a:latin typeface="Poppins Semi-Bold"/>
                <a:ea typeface="Poppins Semi-Bold"/>
                <a:cs typeface="Poppins Semi-Bold"/>
                <a:sym typeface="Poppins Semi-Bold"/>
              </a:rPr>
              <a:t>x </a:t>
            </a:r>
            <a:r>
              <a:rPr lang="en-US" sz="4399" b="1">
                <a:solidFill>
                  <a:srgbClr val="FFFFFF"/>
                </a:solidFill>
                <a:latin typeface="Poppins Semi-Bold"/>
                <a:ea typeface="Poppins Semi-Bold"/>
                <a:cs typeface="Poppins Semi-Bold"/>
                <a:sym typeface="Poppins Semi-Bold"/>
              </a:rPr>
              <a:t>é igual a </a:t>
            </a:r>
            <a:r>
              <a:rPr lang="en-US" sz="4399" b="1">
                <a:solidFill>
                  <a:srgbClr val="FFCB85"/>
                </a:solidFill>
                <a:latin typeface="Poppins Semi-Bold"/>
                <a:ea typeface="Poppins Semi-Bold"/>
                <a:cs typeface="Poppins Semi-Bold"/>
                <a:sym typeface="Poppins Semi-Bold"/>
              </a:rPr>
              <a:t>3</a:t>
            </a:r>
            <a:r>
              <a:rPr lang="en-US" sz="4399" b="1">
                <a:solidFill>
                  <a:srgbClr val="FFFFFF"/>
                </a:solidFill>
                <a:latin typeface="Poppins Semi-Bold"/>
                <a:ea typeface="Poppins Semi-Bold"/>
                <a:cs typeface="Poppins Semi-Bold"/>
                <a:sym typeface="Poppins Semi-Bold"/>
              </a:rPr>
              <a:t> que estava anteriormente mais o valor de </a:t>
            </a:r>
            <a:r>
              <a:rPr lang="en-US" sz="4399" b="1">
                <a:solidFill>
                  <a:srgbClr val="FFCB85"/>
                </a:solidFill>
                <a:latin typeface="Poppins Semi-Bold"/>
                <a:ea typeface="Poppins Semi-Bold"/>
                <a:cs typeface="Poppins Semi-Bold"/>
                <a:sym typeface="Poppins Semi-Bold"/>
              </a:rPr>
              <a:t>10</a:t>
            </a:r>
            <a:r>
              <a:rPr lang="en-US" sz="4399" b="1">
                <a:solidFill>
                  <a:srgbClr val="FFFFFF"/>
                </a:solidFill>
                <a:latin typeface="Poppins Semi-Bold"/>
                <a:ea typeface="Poppins Semi-Bold"/>
                <a:cs typeface="Poppins Semi-Bold"/>
                <a:sym typeface="Poppins Semi-Bold"/>
              </a:rPr>
              <a:t>, então </a:t>
            </a:r>
            <a:r>
              <a:rPr lang="en-US" sz="4399" b="1">
                <a:solidFill>
                  <a:srgbClr val="FF5757"/>
                </a:solidFill>
                <a:latin typeface="Poppins Semi-Bold"/>
                <a:ea typeface="Poppins Semi-Bold"/>
                <a:cs typeface="Poppins Semi-Bold"/>
                <a:sym typeface="Poppins Semi-Bold"/>
              </a:rPr>
              <a:t>x</a:t>
            </a:r>
            <a:r>
              <a:rPr lang="en-US" sz="4399" b="1">
                <a:solidFill>
                  <a:srgbClr val="FFFFFF"/>
                </a:solidFill>
                <a:latin typeface="Poppins Semi-Bold"/>
                <a:ea typeface="Poppins Semi-Bold"/>
                <a:cs typeface="Poppins Semi-Bold"/>
                <a:sym typeface="Poppins Semi-Bold"/>
              </a:rPr>
              <a:t> é igual a </a:t>
            </a:r>
            <a:r>
              <a:rPr lang="en-US" sz="4399" b="1">
                <a:solidFill>
                  <a:srgbClr val="7ED957"/>
                </a:solidFill>
                <a:latin typeface="Poppins Semi-Bold"/>
                <a:ea typeface="Poppins Semi-Bold"/>
                <a:cs typeface="Poppins Semi-Bold"/>
                <a:sym typeface="Poppins Semi-Bold"/>
              </a:rPr>
              <a:t>13</a:t>
            </a:r>
            <a:r>
              <a:rPr lang="en-US" sz="4399" b="1">
                <a:solidFill>
                  <a:srgbClr val="FFFFFF"/>
                </a:solidFill>
                <a:latin typeface="Poppins Semi-Bold"/>
                <a:ea typeface="Poppins Semi-Bold"/>
                <a:cs typeface="Poppins Semi-Bold"/>
                <a:sym typeface="Poppins Semi-Bold"/>
              </a:rPr>
              <a:t>. É como se eu fizesse assim a atribuição do valor: x = x + </a:t>
            </a:r>
            <a:r>
              <a:rPr lang="en-US" sz="4399" b="1">
                <a:solidFill>
                  <a:srgbClr val="FFCB85"/>
                </a:solidFill>
                <a:latin typeface="Poppins Semi-Bold"/>
                <a:ea typeface="Poppins Semi-Bold"/>
                <a:cs typeface="Poppins Semi-Bold"/>
                <a:sym typeface="Poppins Semi-Bold"/>
              </a:rPr>
              <a:t>10</a:t>
            </a:r>
            <a:r>
              <a:rPr lang="en-US" sz="4399" b="1">
                <a:solidFill>
                  <a:srgbClr val="FFFFFF"/>
                </a:solidFill>
                <a:latin typeface="Poppins Semi-Bold"/>
                <a:ea typeface="Poppins Semi-Bold"/>
                <a:cs typeface="Poppins Semi-Bold"/>
                <a:sym typeface="Poppins Semi-Bold"/>
              </a:rPr>
              <a:t>; É a mesma coisa do exemplo anterior.</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791148" y="324326"/>
            <a:ext cx="14999627"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Operador de Atribuição e Incremento</a:t>
            </a:r>
          </a:p>
        </p:txBody>
      </p:sp>
      <p:sp>
        <p:nvSpPr>
          <p:cNvPr id="3" name="TextBox 3"/>
          <p:cNvSpPr txBox="1"/>
          <p:nvPr/>
        </p:nvSpPr>
        <p:spPr>
          <a:xfrm>
            <a:off x="164983" y="3480425"/>
            <a:ext cx="5924436" cy="4770549"/>
          </a:xfrm>
          <a:prstGeom prst="rect">
            <a:avLst/>
          </a:prstGeom>
        </p:spPr>
        <p:txBody>
          <a:bodyPr lIns="0" tIns="0" rIns="0" bIns="0" rtlCol="0" anchor="t">
            <a:spAutoFit/>
          </a:bodyPr>
          <a:lstStyle/>
          <a:p>
            <a:pPr algn="l">
              <a:lnSpc>
                <a:spcPts val="5248"/>
              </a:lnSpc>
            </a:pPr>
            <a:r>
              <a:rPr lang="en-US" sz="4399" b="1">
                <a:solidFill>
                  <a:srgbClr val="FFFFFF"/>
                </a:solidFill>
                <a:latin typeface="Poppins Semi-Bold"/>
                <a:ea typeface="Poppins Semi-Bold"/>
                <a:cs typeface="Poppins Semi-Bold"/>
                <a:sym typeface="Poppins Semi-Bold"/>
              </a:rPr>
              <a:t>Outro exemplo: </a:t>
            </a:r>
            <a:r>
              <a:rPr lang="en-US" sz="4399" b="1">
                <a:solidFill>
                  <a:srgbClr val="3C67BF"/>
                </a:solidFill>
                <a:latin typeface="Poppins Semi-Bold"/>
                <a:ea typeface="Poppins Semi-Bold"/>
                <a:cs typeface="Poppins Semi-Bold"/>
                <a:sym typeface="Poppins Semi-Bold"/>
              </a:rPr>
              <a:t>int </a:t>
            </a:r>
            <a:r>
              <a:rPr lang="en-US" sz="4399" b="1">
                <a:solidFill>
                  <a:srgbClr val="FFFFFF"/>
                </a:solidFill>
                <a:latin typeface="Poppins Semi-Bold"/>
                <a:ea typeface="Poppins Semi-Bold"/>
                <a:cs typeface="Poppins Semi-Bold"/>
                <a:sym typeface="Poppins Semi-Bold"/>
              </a:rPr>
              <a:t>y = </a:t>
            </a:r>
            <a:r>
              <a:rPr lang="en-US" sz="4399" b="1">
                <a:solidFill>
                  <a:srgbClr val="FFCB85"/>
                </a:solidFill>
                <a:latin typeface="Poppins Semi-Bold"/>
                <a:ea typeface="Poppins Semi-Bold"/>
                <a:cs typeface="Poppins Semi-Bold"/>
                <a:sym typeface="Poppins Semi-Bold"/>
              </a:rPr>
              <a:t>3</a:t>
            </a:r>
            <a:r>
              <a:rPr lang="en-US" sz="4399" b="1">
                <a:solidFill>
                  <a:srgbClr val="FFFFFF"/>
                </a:solidFill>
                <a:latin typeface="Poppins Semi-Bold"/>
                <a:ea typeface="Poppins Semi-Bold"/>
                <a:cs typeface="Poppins Semi-Bold"/>
                <a:sym typeface="Poppins Semi-Bold"/>
              </a:rPr>
              <a:t>; y += </a:t>
            </a:r>
            <a:r>
              <a:rPr lang="en-US" sz="4399" b="1">
                <a:solidFill>
                  <a:srgbClr val="FFCB85"/>
                </a:solidFill>
                <a:latin typeface="Poppins Semi-Bold"/>
                <a:ea typeface="Poppins Semi-Bold"/>
                <a:cs typeface="Poppins Semi-Bold"/>
                <a:sym typeface="Poppins Semi-Bold"/>
              </a:rPr>
              <a:t>5</a:t>
            </a:r>
            <a:r>
              <a:rPr lang="en-US" sz="4399" b="1">
                <a:solidFill>
                  <a:srgbClr val="FFFFFF"/>
                </a:solidFill>
                <a:latin typeface="Poppins Semi-Bold"/>
                <a:ea typeface="Poppins Semi-Bold"/>
                <a:cs typeface="Poppins Semi-Bold"/>
                <a:sym typeface="Poppins Semi-Bold"/>
              </a:rPr>
              <a:t>; y -= </a:t>
            </a:r>
            <a:r>
              <a:rPr lang="en-US" sz="4399" b="1">
                <a:solidFill>
                  <a:srgbClr val="FFCB85"/>
                </a:solidFill>
                <a:latin typeface="Poppins Semi-Bold"/>
                <a:ea typeface="Poppins Semi-Bold"/>
                <a:cs typeface="Poppins Semi-Bold"/>
                <a:sym typeface="Poppins Semi-Bold"/>
              </a:rPr>
              <a:t>1</a:t>
            </a:r>
            <a:r>
              <a:rPr lang="en-US" sz="4399" b="1">
                <a:solidFill>
                  <a:srgbClr val="FFFFFF"/>
                </a:solidFill>
                <a:latin typeface="Poppins Semi-Bold"/>
                <a:ea typeface="Poppins Semi-Bold"/>
                <a:cs typeface="Poppins Semi-Bold"/>
                <a:sym typeface="Poppins Semi-Bold"/>
              </a:rPr>
              <a:t>; Qual é o valor de y?</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6068616" y="324326"/>
            <a:ext cx="6273851" cy="1163803"/>
          </a:xfrm>
          <a:prstGeom prst="rect">
            <a:avLst/>
          </a:prstGeom>
        </p:spPr>
        <p:txBody>
          <a:bodyPr lIns="0" tIns="0" rIns="0" bIns="0" rtlCol="0" anchor="t">
            <a:spAutoFit/>
          </a:bodyPr>
          <a:lstStyle/>
          <a:p>
            <a:pPr algn="l">
              <a:lnSpc>
                <a:spcPts val="8362"/>
              </a:lnSpc>
            </a:pPr>
            <a:r>
              <a:rPr lang="en-US" sz="5964" b="1">
                <a:solidFill>
                  <a:srgbClr val="FFFFFF"/>
                </a:solidFill>
                <a:latin typeface="Poppins Semi-Bold"/>
                <a:ea typeface="Poppins Semi-Bold"/>
                <a:cs typeface="Poppins Semi-Bold"/>
                <a:sym typeface="Poppins Semi-Bold"/>
              </a:rPr>
              <a:t>Biblioteca Math</a:t>
            </a:r>
          </a:p>
        </p:txBody>
      </p:sp>
      <p:sp>
        <p:nvSpPr>
          <p:cNvPr id="3" name="TextBox 3"/>
          <p:cNvSpPr txBox="1"/>
          <p:nvPr/>
        </p:nvSpPr>
        <p:spPr>
          <a:xfrm>
            <a:off x="6501841" y="1311812"/>
            <a:ext cx="155438" cy="1008336"/>
          </a:xfrm>
          <a:prstGeom prst="rect">
            <a:avLst/>
          </a:prstGeom>
        </p:spPr>
        <p:txBody>
          <a:bodyPr lIns="0" tIns="0" rIns="0" bIns="0" rtlCol="0" anchor="t">
            <a:spAutoFit/>
          </a:bodyPr>
          <a:lstStyle/>
          <a:p>
            <a:pPr algn="l">
              <a:lnSpc>
                <a:spcPts val="7927"/>
              </a:lnSpc>
            </a:pPr>
            <a:r>
              <a:rPr lang="en-US" sz="3999" b="1">
                <a:solidFill>
                  <a:srgbClr val="FFFFFF"/>
                </a:solidFill>
                <a:latin typeface="Poppins Semi-Bold"/>
                <a:ea typeface="Poppins Semi-Bold"/>
                <a:cs typeface="Poppins Semi-Bold"/>
                <a:sym typeface="Poppins Semi-Bold"/>
              </a:rPr>
              <a:t> </a:t>
            </a:r>
          </a:p>
        </p:txBody>
      </p:sp>
      <p:sp>
        <p:nvSpPr>
          <p:cNvPr id="4" name="TextBox 4"/>
          <p:cNvSpPr txBox="1"/>
          <p:nvPr/>
        </p:nvSpPr>
        <p:spPr>
          <a:xfrm>
            <a:off x="164983" y="1616612"/>
            <a:ext cx="18280961" cy="8504511"/>
          </a:xfrm>
          <a:prstGeom prst="rect">
            <a:avLst/>
          </a:prstGeom>
        </p:spPr>
        <p:txBody>
          <a:bodyPr lIns="0" tIns="0" rIns="0" bIns="0" rtlCol="0" anchor="t">
            <a:spAutoFit/>
          </a:bodyPr>
          <a:lstStyle/>
          <a:p>
            <a:pPr algn="l">
              <a:lnSpc>
                <a:spcPts val="4723"/>
              </a:lnSpc>
            </a:pPr>
            <a:r>
              <a:rPr lang="en-US" sz="3999" b="1">
                <a:solidFill>
                  <a:srgbClr val="7ED957"/>
                </a:solidFill>
                <a:latin typeface="Poppins Semi-Bold"/>
                <a:ea typeface="Poppins Semi-Bold"/>
                <a:cs typeface="Poppins Semi-Bold"/>
                <a:sym typeface="Poppins Semi-Bold"/>
              </a:rPr>
              <a:t>Math</a:t>
            </a:r>
            <a:r>
              <a:rPr lang="en-US" sz="3999" b="1">
                <a:solidFill>
                  <a:srgbClr val="FFFFFF"/>
                </a:solidFill>
                <a:latin typeface="Poppins Semi-Bold"/>
                <a:ea typeface="Poppins Semi-Bold"/>
                <a:cs typeface="Poppins Semi-Bold"/>
                <a:sym typeface="Poppins Semi-Bold"/>
              </a:rPr>
              <a:t>.</a:t>
            </a:r>
            <a:r>
              <a:rPr lang="en-US" sz="3999" b="1">
                <a:solidFill>
                  <a:srgbClr val="FFCB85"/>
                </a:solidFill>
                <a:latin typeface="Poppins Semi-Bold"/>
                <a:ea typeface="Poppins Semi-Bold"/>
                <a:cs typeface="Poppins Semi-Bold"/>
                <a:sym typeface="Poppins Semi-Bold"/>
              </a:rPr>
              <a:t>Sqrt</a:t>
            </a:r>
            <a:r>
              <a:rPr lang="en-US" sz="3999" b="1">
                <a:solidFill>
                  <a:srgbClr val="FFFFFF"/>
                </a:solidFill>
                <a:latin typeface="Poppins Semi-Bold"/>
                <a:ea typeface="Poppins Semi-Bold"/>
                <a:cs typeface="Poppins Semi-Bold"/>
                <a:sym typeface="Poppins Semi-Bold"/>
              </a:rPr>
              <a:t>(x); -&gt; Funçãopara pegararaizquadrada de x Como a própria definição já diz, o comando realiza a raiz quadrada do valor. Esse comando retorna um valor do tipo double, então a variável que irá armazenar deve ser desse tipo. Veja o exemplo a seguir: </a:t>
            </a:r>
            <a:r>
              <a:rPr lang="en-US" sz="3999" b="1">
                <a:solidFill>
                  <a:srgbClr val="3C67BF"/>
                </a:solidFill>
                <a:latin typeface="Poppins Semi-Bold"/>
                <a:ea typeface="Poppins Semi-Bold"/>
                <a:cs typeface="Poppins Semi-Bold"/>
                <a:sym typeface="Poppins Semi-Bold"/>
              </a:rPr>
              <a:t>double </a:t>
            </a:r>
            <a:r>
              <a:rPr lang="en-US" sz="3999" b="1">
                <a:solidFill>
                  <a:srgbClr val="FFFFFF"/>
                </a:solidFill>
                <a:latin typeface="Poppins Semi-Bold"/>
                <a:ea typeface="Poppins Semi-Bold"/>
                <a:cs typeface="Poppins Semi-Bold"/>
                <a:sym typeface="Poppins Semi-Bold"/>
              </a:rPr>
              <a:t>raiz = </a:t>
            </a:r>
            <a:r>
              <a:rPr lang="en-US" sz="3999" b="1">
                <a:solidFill>
                  <a:srgbClr val="7ED957"/>
                </a:solidFill>
                <a:latin typeface="Poppins Semi-Bold"/>
                <a:ea typeface="Poppins Semi-Bold"/>
                <a:cs typeface="Poppins Semi-Bold"/>
                <a:sym typeface="Poppins Semi-Bold"/>
              </a:rPr>
              <a:t>Math</a:t>
            </a:r>
            <a:r>
              <a:rPr lang="en-US" sz="3999" b="1">
                <a:solidFill>
                  <a:srgbClr val="FFFFFF"/>
                </a:solidFill>
                <a:latin typeface="Poppins Semi-Bold"/>
                <a:ea typeface="Poppins Semi-Bold"/>
                <a:cs typeface="Poppins Semi-Bold"/>
                <a:sym typeface="Poppins Semi-Bold"/>
              </a:rPr>
              <a:t>.</a:t>
            </a:r>
            <a:r>
              <a:rPr lang="en-US" sz="3999" b="1">
                <a:solidFill>
                  <a:srgbClr val="FFCB85"/>
                </a:solidFill>
                <a:latin typeface="Poppins Semi-Bold"/>
                <a:ea typeface="Poppins Semi-Bold"/>
                <a:cs typeface="Poppins Semi-Bold"/>
                <a:sym typeface="Poppins Semi-Bold"/>
              </a:rPr>
              <a:t>Sqrt</a:t>
            </a:r>
            <a:r>
              <a:rPr lang="en-US" sz="3999" b="1">
                <a:solidFill>
                  <a:srgbClr val="FFFFFF"/>
                </a:solidFill>
                <a:latin typeface="Poppins Semi-Bold"/>
                <a:ea typeface="Poppins Semi-Bold"/>
                <a:cs typeface="Poppins Semi-Bold"/>
                <a:sym typeface="Poppins Semi-Bold"/>
              </a:rPr>
              <a:t>(</a:t>
            </a:r>
            <a:r>
              <a:rPr lang="en-US" sz="3999" b="1">
                <a:solidFill>
                  <a:srgbClr val="FFCB85"/>
                </a:solidFill>
                <a:latin typeface="Poppins Semi-Bold"/>
                <a:ea typeface="Poppins Semi-Bold"/>
                <a:cs typeface="Poppins Semi-Bold"/>
                <a:sym typeface="Poppins Semi-Bold"/>
              </a:rPr>
              <a:t>16</a:t>
            </a:r>
            <a:r>
              <a:rPr lang="en-US" sz="3999" b="1">
                <a:solidFill>
                  <a:srgbClr val="FFFFFF"/>
                </a:solidFill>
                <a:latin typeface="Poppins Semi-Bold"/>
                <a:ea typeface="Poppins Semi-Bold"/>
                <a:cs typeface="Poppins Semi-Bold"/>
                <a:sym typeface="Poppins Semi-Bold"/>
              </a:rPr>
              <a:t>); </a:t>
            </a:r>
            <a:r>
              <a:rPr lang="en-US" sz="3999" b="1">
                <a:solidFill>
                  <a:srgbClr val="7ED957"/>
                </a:solidFill>
                <a:latin typeface="Poppins Semi-Bold"/>
                <a:ea typeface="Poppins Semi-Bold"/>
                <a:cs typeface="Poppins Semi-Bold"/>
                <a:sym typeface="Poppins Semi-Bold"/>
              </a:rPr>
              <a:t>Console</a:t>
            </a:r>
            <a:r>
              <a:rPr lang="en-US" sz="3999" b="1">
                <a:solidFill>
                  <a:srgbClr val="FFFFFF"/>
                </a:solidFill>
                <a:latin typeface="Poppins Semi-Bold"/>
                <a:ea typeface="Poppins Semi-Bold"/>
                <a:cs typeface="Poppins Semi-Bold"/>
                <a:sym typeface="Poppins Semi-Bold"/>
              </a:rPr>
              <a:t>.</a:t>
            </a:r>
            <a:r>
              <a:rPr lang="en-US" sz="3999" b="1">
                <a:solidFill>
                  <a:srgbClr val="FFCB85"/>
                </a:solidFill>
                <a:latin typeface="Poppins Semi-Bold"/>
                <a:ea typeface="Poppins Semi-Bold"/>
                <a:cs typeface="Poppins Semi-Bold"/>
                <a:sym typeface="Poppins Semi-Bold"/>
              </a:rPr>
              <a:t>WriteLine</a:t>
            </a:r>
            <a:r>
              <a:rPr lang="en-US" sz="3999" b="1">
                <a:solidFill>
                  <a:srgbClr val="FFFFFF"/>
                </a:solidFill>
                <a:latin typeface="Poppins Semi-Bold"/>
                <a:ea typeface="Poppins Semi-Bold"/>
                <a:cs typeface="Poppins Semi-Bold"/>
                <a:sym typeface="Poppins Semi-Bold"/>
              </a:rPr>
              <a:t>(raiz); O terminal irá imprimir o valor de </a:t>
            </a:r>
            <a:r>
              <a:rPr lang="en-US" sz="3999" b="1">
                <a:solidFill>
                  <a:srgbClr val="FF5757"/>
                </a:solidFill>
                <a:latin typeface="Poppins Semi-Bold"/>
                <a:ea typeface="Poppins Semi-Bold"/>
                <a:cs typeface="Poppins Semi-Bold"/>
                <a:sym typeface="Poppins Semi-Bold"/>
              </a:rPr>
              <a:t>4</a:t>
            </a:r>
            <a:r>
              <a:rPr lang="en-US" sz="3999" b="1">
                <a:solidFill>
                  <a:srgbClr val="FFFFFF"/>
                </a:solidFill>
                <a:latin typeface="Poppins Semi-Bold"/>
                <a:ea typeface="Poppins Semi-Bold"/>
                <a:cs typeface="Poppins Semi-Bold"/>
                <a:sym typeface="Poppins Semi-Bold"/>
              </a:rPr>
              <a:t>.</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Freeform 3"/>
          <p:cNvSpPr/>
          <p:nvPr/>
        </p:nvSpPr>
        <p:spPr>
          <a:xfrm>
            <a:off x="4975784" y="6055243"/>
            <a:ext cx="8334375" cy="3200400"/>
          </a:xfrm>
          <a:custGeom>
            <a:avLst/>
            <a:gdLst/>
            <a:ahLst/>
            <a:cxnLst/>
            <a:rect l="l" t="t" r="r" b="b"/>
            <a:pathLst>
              <a:path w="8334375" h="3200400">
                <a:moveTo>
                  <a:pt x="0" y="0"/>
                </a:moveTo>
                <a:lnTo>
                  <a:pt x="8334375" y="0"/>
                </a:lnTo>
                <a:lnTo>
                  <a:pt x="8334375" y="3200400"/>
                </a:lnTo>
                <a:lnTo>
                  <a:pt x="0" y="3200400"/>
                </a:lnTo>
                <a:lnTo>
                  <a:pt x="0" y="0"/>
                </a:lnTo>
                <a:close/>
              </a:path>
            </a:pathLst>
          </a:custGeom>
          <a:blipFill>
            <a:blip r:embed="rId3"/>
            <a:stretch>
              <a:fillRect t="-50524" b="-33701"/>
            </a:stretch>
          </a:blipFill>
        </p:spPr>
      </p:sp>
      <p:sp>
        <p:nvSpPr>
          <p:cNvPr id="4" name="TextBox 4"/>
          <p:cNvSpPr txBox="1"/>
          <p:nvPr/>
        </p:nvSpPr>
        <p:spPr>
          <a:xfrm>
            <a:off x="1691659" y="2568397"/>
            <a:ext cx="13984100" cy="293201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#15 </a:t>
            </a:r>
            <a:r>
              <a:rPr lang="en-US" sz="4684" b="1">
                <a:solidFill>
                  <a:srgbClr val="FFFFFF"/>
                </a:solidFill>
                <a:latin typeface="Poppins Semi-Bold"/>
                <a:ea typeface="Poppins Semi-Bold"/>
                <a:cs typeface="Poppins Semi-Bold"/>
                <a:sym typeface="Poppins Semi-Bold"/>
              </a:rPr>
              <a:t>Crie um programa que resolva a fórmula de bhaskara.</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6068616" y="324326"/>
            <a:ext cx="6273851"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Biblioteca Math</a:t>
            </a:r>
          </a:p>
        </p:txBody>
      </p:sp>
      <p:sp>
        <p:nvSpPr>
          <p:cNvPr id="3" name="TextBox 3"/>
          <p:cNvSpPr txBox="1"/>
          <p:nvPr/>
        </p:nvSpPr>
        <p:spPr>
          <a:xfrm>
            <a:off x="164983" y="1916649"/>
            <a:ext cx="18297677" cy="7904436"/>
          </a:xfrm>
          <a:prstGeom prst="rect">
            <a:avLst/>
          </a:prstGeom>
        </p:spPr>
        <p:txBody>
          <a:bodyPr lIns="0" tIns="0" rIns="0" bIns="0" rtlCol="0" anchor="t">
            <a:spAutoFit/>
          </a:bodyPr>
          <a:lstStyle/>
          <a:p>
            <a:pPr algn="l">
              <a:lnSpc>
                <a:spcPts val="4723"/>
              </a:lnSpc>
            </a:pPr>
            <a:r>
              <a:rPr lang="en-US" sz="3999" b="1">
                <a:solidFill>
                  <a:srgbClr val="7ED957"/>
                </a:solidFill>
                <a:latin typeface="Poppins Semi-Bold"/>
                <a:ea typeface="Poppins Semi-Bold"/>
                <a:cs typeface="Poppins Semi-Bold"/>
                <a:sym typeface="Poppins Semi-Bold"/>
              </a:rPr>
              <a:t>Math</a:t>
            </a:r>
            <a:r>
              <a:rPr lang="en-US" sz="3999" b="1">
                <a:solidFill>
                  <a:srgbClr val="FFFFFF"/>
                </a:solidFill>
                <a:latin typeface="Poppins Semi-Bold"/>
                <a:ea typeface="Poppins Semi-Bold"/>
                <a:cs typeface="Poppins Semi-Bold"/>
                <a:sym typeface="Poppins Semi-Bold"/>
              </a:rPr>
              <a:t>.</a:t>
            </a:r>
            <a:r>
              <a:rPr lang="en-US" sz="3999" b="1">
                <a:solidFill>
                  <a:srgbClr val="FFCB85"/>
                </a:solidFill>
                <a:latin typeface="Poppins Semi-Bold"/>
                <a:ea typeface="Poppins Semi-Bold"/>
                <a:cs typeface="Poppins Semi-Bold"/>
                <a:sym typeface="Poppins Semi-Bold"/>
              </a:rPr>
              <a:t>Abs</a:t>
            </a:r>
            <a:r>
              <a:rPr lang="en-US" sz="3999" b="1">
                <a:solidFill>
                  <a:srgbClr val="FFFFFF"/>
                </a:solidFill>
                <a:latin typeface="Poppins Semi-Bold"/>
                <a:ea typeface="Poppins Semi-Bold"/>
                <a:cs typeface="Poppins Semi-Bold"/>
                <a:sym typeface="Poppins Semi-Bold"/>
              </a:rPr>
              <a:t>(x); -&gt; Função para pegar o valor absoluto de x Na prática, o comando retorna o valor positivo ou 0 do valor informado. Por exemplo: </a:t>
            </a:r>
            <a:r>
              <a:rPr lang="en-US" sz="3999" b="1">
                <a:solidFill>
                  <a:srgbClr val="3C67BF"/>
                </a:solidFill>
                <a:latin typeface="Poppins Semi-Bold"/>
                <a:ea typeface="Poppins Semi-Bold"/>
                <a:cs typeface="Poppins Semi-Bold"/>
                <a:sym typeface="Poppins Semi-Bold"/>
              </a:rPr>
              <a:t>int </a:t>
            </a:r>
            <a:r>
              <a:rPr lang="en-US" sz="3999" b="1">
                <a:solidFill>
                  <a:srgbClr val="FFFFFF"/>
                </a:solidFill>
                <a:latin typeface="Poppins Semi-Bold"/>
                <a:ea typeface="Poppins Semi-Bold"/>
                <a:cs typeface="Poppins Semi-Bold"/>
                <a:sym typeface="Poppins Semi-Bold"/>
              </a:rPr>
              <a:t>x = </a:t>
            </a:r>
            <a:r>
              <a:rPr lang="en-US" sz="3999" b="1">
                <a:solidFill>
                  <a:srgbClr val="FFCB85"/>
                </a:solidFill>
                <a:latin typeface="Poppins Semi-Bold"/>
                <a:ea typeface="Poppins Semi-Bold"/>
                <a:cs typeface="Poppins Semi-Bold"/>
                <a:sym typeface="Poppins Semi-Bold"/>
              </a:rPr>
              <a:t>-10</a:t>
            </a:r>
            <a:r>
              <a:rPr lang="en-US" sz="3999" b="1">
                <a:solidFill>
                  <a:srgbClr val="FFFFFF"/>
                </a:solidFill>
                <a:latin typeface="Poppins Semi-Bold"/>
                <a:ea typeface="Poppins Semi-Bold"/>
                <a:cs typeface="Poppins Semi-Bold"/>
                <a:sym typeface="Poppins Semi-Bold"/>
              </a:rPr>
              <a:t>; </a:t>
            </a:r>
            <a:r>
              <a:rPr lang="en-US" sz="3999" b="1">
                <a:solidFill>
                  <a:srgbClr val="3C67BF"/>
                </a:solidFill>
                <a:latin typeface="Poppins Semi-Bold"/>
                <a:ea typeface="Poppins Semi-Bold"/>
                <a:cs typeface="Poppins Semi-Bold"/>
                <a:sym typeface="Poppins Semi-Bold"/>
              </a:rPr>
              <a:t>int </a:t>
            </a:r>
            <a:r>
              <a:rPr lang="en-US" sz="3999" b="1">
                <a:solidFill>
                  <a:srgbClr val="FFFFFF"/>
                </a:solidFill>
                <a:latin typeface="Poppins Semi-Bold"/>
                <a:ea typeface="Poppins Semi-Bold"/>
                <a:cs typeface="Poppins Semi-Bold"/>
                <a:sym typeface="Poppins Semi-Bold"/>
              </a:rPr>
              <a:t>valorAbsoluto = </a:t>
            </a:r>
            <a:r>
              <a:rPr lang="en-US" sz="3999" b="1">
                <a:solidFill>
                  <a:srgbClr val="7ED957"/>
                </a:solidFill>
                <a:latin typeface="Poppins Semi-Bold"/>
                <a:ea typeface="Poppins Semi-Bold"/>
                <a:cs typeface="Poppins Semi-Bold"/>
                <a:sym typeface="Poppins Semi-Bold"/>
              </a:rPr>
              <a:t>Math</a:t>
            </a:r>
            <a:r>
              <a:rPr lang="en-US" sz="3999" b="1">
                <a:solidFill>
                  <a:srgbClr val="FFFFFF"/>
                </a:solidFill>
                <a:latin typeface="Poppins Semi-Bold"/>
                <a:ea typeface="Poppins Semi-Bold"/>
                <a:cs typeface="Poppins Semi-Bold"/>
                <a:sym typeface="Poppins Semi-Bold"/>
              </a:rPr>
              <a:t>.</a:t>
            </a:r>
            <a:r>
              <a:rPr lang="en-US" sz="3999" b="1">
                <a:solidFill>
                  <a:srgbClr val="FFCB85"/>
                </a:solidFill>
                <a:latin typeface="Poppins Semi-Bold"/>
                <a:ea typeface="Poppins Semi-Bold"/>
                <a:cs typeface="Poppins Semi-Bold"/>
                <a:sym typeface="Poppins Semi-Bold"/>
              </a:rPr>
              <a:t>Abs</a:t>
            </a:r>
            <a:r>
              <a:rPr lang="en-US" sz="3999" b="1">
                <a:solidFill>
                  <a:srgbClr val="FFFFFF"/>
                </a:solidFill>
                <a:latin typeface="Poppins Semi-Bold"/>
                <a:ea typeface="Poppins Semi-Bold"/>
                <a:cs typeface="Poppins Semi-Bold"/>
                <a:sym typeface="Poppins Semi-Bold"/>
              </a:rPr>
              <a:t>(x); </a:t>
            </a:r>
            <a:r>
              <a:rPr lang="en-US" sz="3999" b="1">
                <a:solidFill>
                  <a:srgbClr val="7ED957"/>
                </a:solidFill>
                <a:latin typeface="Poppins Semi-Bold"/>
                <a:ea typeface="Poppins Semi-Bold"/>
                <a:cs typeface="Poppins Semi-Bold"/>
                <a:sym typeface="Poppins Semi-Bold"/>
              </a:rPr>
              <a:t>Console</a:t>
            </a:r>
            <a:r>
              <a:rPr lang="en-US" sz="3999" b="1">
                <a:solidFill>
                  <a:srgbClr val="FFFFFF"/>
                </a:solidFill>
                <a:latin typeface="Poppins Semi-Bold"/>
                <a:ea typeface="Poppins Semi-Bold"/>
                <a:cs typeface="Poppins Semi-Bold"/>
                <a:sym typeface="Poppins Semi-Bold"/>
              </a:rPr>
              <a:t>.</a:t>
            </a:r>
            <a:r>
              <a:rPr lang="en-US" sz="3999" b="1">
                <a:solidFill>
                  <a:srgbClr val="FFCB85"/>
                </a:solidFill>
                <a:latin typeface="Poppins Semi-Bold"/>
                <a:ea typeface="Poppins Semi-Bold"/>
                <a:cs typeface="Poppins Semi-Bold"/>
                <a:sym typeface="Poppins Semi-Bold"/>
              </a:rPr>
              <a:t>WriteLine</a:t>
            </a:r>
            <a:r>
              <a:rPr lang="en-US" sz="3999" b="1">
                <a:solidFill>
                  <a:srgbClr val="FFFFFF"/>
                </a:solidFill>
                <a:latin typeface="Poppins Semi-Bold"/>
                <a:ea typeface="Poppins Semi-Bold"/>
                <a:cs typeface="Poppins Semi-Bold"/>
                <a:sym typeface="Poppins Semi-Bold"/>
              </a:rPr>
              <a:t>(valorAbsoluto); A variável valorAbsoluto irá armazenar o valor de </a:t>
            </a:r>
            <a:r>
              <a:rPr lang="en-US" sz="3999" b="1">
                <a:solidFill>
                  <a:srgbClr val="FF5757"/>
                </a:solidFill>
                <a:latin typeface="Poppins Semi-Bold"/>
                <a:ea typeface="Poppins Semi-Bold"/>
                <a:cs typeface="Poppins Semi-Bold"/>
                <a:sym typeface="Poppins Semi-Bold"/>
              </a:rPr>
              <a:t>x</a:t>
            </a:r>
            <a:r>
              <a:rPr lang="en-US" sz="3999" b="1">
                <a:solidFill>
                  <a:srgbClr val="FFFFFF"/>
                </a:solidFill>
                <a:latin typeface="Poppins Semi-Bold"/>
                <a:ea typeface="Poppins Semi-Bold"/>
                <a:cs typeface="Poppins Semi-Bold"/>
                <a:sym typeface="Poppins Semi-Bold"/>
              </a:rPr>
              <a:t> convertido para positivo, logo o valor impresso no terminal será </a:t>
            </a:r>
            <a:r>
              <a:rPr lang="en-US" sz="3999" b="1">
                <a:solidFill>
                  <a:srgbClr val="FFCB85"/>
                </a:solidFill>
                <a:latin typeface="Poppins Semi-Bold"/>
                <a:ea typeface="Poppins Semi-Bold"/>
                <a:cs typeface="Poppins Semi-Bold"/>
                <a:sym typeface="Poppins Semi-Bold"/>
              </a:rPr>
              <a:t>10</a:t>
            </a:r>
            <a:r>
              <a:rPr lang="en-US" sz="3999" b="1">
                <a:solidFill>
                  <a:srgbClr val="FFFFFF"/>
                </a:solidFill>
                <a:latin typeface="Poppins Semi-Bold"/>
                <a:ea typeface="Poppins Semi-Bold"/>
                <a:cs typeface="Poppins Semi-Bold"/>
                <a:sym typeface="Poppins Semi-Bold"/>
              </a:rPr>
              <a:t>.</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691659" y="2215972"/>
            <a:ext cx="14717668" cy="504656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#16 </a:t>
            </a:r>
            <a:r>
              <a:rPr lang="en-US" sz="4684" b="1">
                <a:solidFill>
                  <a:srgbClr val="FFFFFF"/>
                </a:solidFill>
                <a:latin typeface="Poppins Semi-Bold"/>
                <a:ea typeface="Poppins Semi-Bold"/>
                <a:cs typeface="Poppins Semi-Bold"/>
                <a:sym typeface="Poppins Semi-Bold"/>
              </a:rPr>
              <a:t>Crie um programa que solicite ao usuário dois números inteiros. O programa deve calcular a diferença entre os dois números e, em seguida, mostrar o valor absoluto dessa diferença.</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6068616" y="324326"/>
            <a:ext cx="6273851"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Biblioteca Math</a:t>
            </a:r>
          </a:p>
        </p:txBody>
      </p:sp>
      <p:sp>
        <p:nvSpPr>
          <p:cNvPr id="3" name="TextBox 3"/>
          <p:cNvSpPr txBox="1"/>
          <p:nvPr/>
        </p:nvSpPr>
        <p:spPr>
          <a:xfrm>
            <a:off x="164983" y="1916649"/>
            <a:ext cx="18099767" cy="7304361"/>
          </a:xfrm>
          <a:prstGeom prst="rect">
            <a:avLst/>
          </a:prstGeom>
        </p:spPr>
        <p:txBody>
          <a:bodyPr lIns="0" tIns="0" rIns="0" bIns="0" rtlCol="0" anchor="t">
            <a:spAutoFit/>
          </a:bodyPr>
          <a:lstStyle/>
          <a:p>
            <a:pPr algn="just">
              <a:lnSpc>
                <a:spcPts val="4723"/>
              </a:lnSpc>
            </a:pPr>
            <a:r>
              <a:rPr lang="en-US" sz="3999" b="1">
                <a:solidFill>
                  <a:srgbClr val="7ED957"/>
                </a:solidFill>
                <a:latin typeface="Poppins Semi-Bold"/>
                <a:ea typeface="Poppins Semi-Bold"/>
                <a:cs typeface="Poppins Semi-Bold"/>
                <a:sym typeface="Poppins Semi-Bold"/>
              </a:rPr>
              <a:t>Math</a:t>
            </a:r>
            <a:r>
              <a:rPr lang="en-US" sz="3999" b="1">
                <a:solidFill>
                  <a:srgbClr val="FFFFFF"/>
                </a:solidFill>
                <a:latin typeface="Poppins Semi-Bold"/>
                <a:ea typeface="Poppins Semi-Bold"/>
                <a:cs typeface="Poppins Semi-Bold"/>
                <a:sym typeface="Poppins Semi-Bold"/>
              </a:rPr>
              <a:t>.</a:t>
            </a:r>
            <a:r>
              <a:rPr lang="en-US" sz="3999" b="1">
                <a:solidFill>
                  <a:srgbClr val="FFCB85"/>
                </a:solidFill>
                <a:latin typeface="Poppins Semi-Bold"/>
                <a:ea typeface="Poppins Semi-Bold"/>
                <a:cs typeface="Poppins Semi-Bold"/>
                <a:sym typeface="Poppins Semi-Bold"/>
              </a:rPr>
              <a:t>Round</a:t>
            </a:r>
            <a:r>
              <a:rPr lang="en-US" sz="3999" b="1">
                <a:solidFill>
                  <a:srgbClr val="FFFFFF"/>
                </a:solidFill>
                <a:latin typeface="Poppins Semi-Bold"/>
                <a:ea typeface="Poppins Semi-Bold"/>
                <a:cs typeface="Poppins Semi-Bold"/>
                <a:sym typeface="Poppins Semi-Bold"/>
              </a:rPr>
              <a:t>(); -&gt; Função para arredondar um número para inteiro mais próximo. Ao utilizar números decimais, você pode arredondar utilizando o </a:t>
            </a:r>
            <a:r>
              <a:rPr lang="en-US" sz="3999" b="1">
                <a:solidFill>
                  <a:srgbClr val="FF5757"/>
                </a:solidFill>
                <a:latin typeface="Poppins Semi-Bold"/>
                <a:ea typeface="Poppins Semi-Bold"/>
                <a:cs typeface="Poppins Semi-Bold"/>
                <a:sym typeface="Poppins Semi-Bold"/>
              </a:rPr>
              <a:t>Round</a:t>
            </a:r>
            <a:r>
              <a:rPr lang="en-US" sz="3999" b="1">
                <a:solidFill>
                  <a:srgbClr val="FFFFFF"/>
                </a:solidFill>
                <a:latin typeface="Poppins Semi-Bold"/>
                <a:ea typeface="Poppins Semi-Bold"/>
                <a:cs typeface="Poppins Semi-Bold"/>
                <a:sym typeface="Poppins Semi-Bold"/>
              </a:rPr>
              <a:t>. Nele você pode dizer qual número você quer arrendondar e quantas casas decimais fique após a vírgula. </a:t>
            </a:r>
            <a:r>
              <a:rPr lang="en-US" sz="3999" b="1">
                <a:solidFill>
                  <a:srgbClr val="3C67BF"/>
                </a:solidFill>
                <a:latin typeface="Poppins Semi-Bold"/>
                <a:ea typeface="Poppins Semi-Bold"/>
                <a:cs typeface="Poppins Semi-Bold"/>
                <a:sym typeface="Poppins Semi-Bold"/>
              </a:rPr>
              <a:t>double </a:t>
            </a:r>
            <a:r>
              <a:rPr lang="en-US" sz="3999" b="1">
                <a:solidFill>
                  <a:srgbClr val="FFFFFF"/>
                </a:solidFill>
                <a:latin typeface="Poppins Semi-Bold"/>
                <a:ea typeface="Poppins Semi-Bold"/>
                <a:cs typeface="Poppins Semi-Bold"/>
                <a:sym typeface="Poppins Semi-Bold"/>
              </a:rPr>
              <a:t>valor = </a:t>
            </a:r>
            <a:r>
              <a:rPr lang="en-US" sz="3999" b="1">
                <a:solidFill>
                  <a:srgbClr val="FFCB85"/>
                </a:solidFill>
                <a:latin typeface="Poppins Semi-Bold"/>
                <a:ea typeface="Poppins Semi-Bold"/>
                <a:cs typeface="Poppins Semi-Bold"/>
                <a:sym typeface="Poppins Semi-Bold"/>
              </a:rPr>
              <a:t>15.6587</a:t>
            </a:r>
            <a:r>
              <a:rPr lang="en-US" sz="3999" b="1">
                <a:solidFill>
                  <a:srgbClr val="FFFFFF"/>
                </a:solidFill>
                <a:latin typeface="Poppins Semi-Bold"/>
                <a:ea typeface="Poppins Semi-Bold"/>
                <a:cs typeface="Poppins Semi-Bold"/>
                <a:sym typeface="Poppins Semi-Bold"/>
              </a:rPr>
              <a:t>; </a:t>
            </a:r>
            <a:r>
              <a:rPr lang="en-US" sz="3999" b="1">
                <a:solidFill>
                  <a:srgbClr val="3C67BF"/>
                </a:solidFill>
                <a:latin typeface="Poppins Semi-Bold"/>
                <a:ea typeface="Poppins Semi-Bold"/>
                <a:cs typeface="Poppins Semi-Bold"/>
                <a:sym typeface="Poppins Semi-Bold"/>
              </a:rPr>
              <a:t>double </a:t>
            </a:r>
            <a:r>
              <a:rPr lang="en-US" sz="3999" b="1">
                <a:solidFill>
                  <a:srgbClr val="FFFFFF"/>
                </a:solidFill>
                <a:latin typeface="Poppins Semi-Bold"/>
                <a:ea typeface="Poppins Semi-Bold"/>
                <a:cs typeface="Poppins Semi-Bold"/>
                <a:sym typeface="Poppins Semi-Bold"/>
              </a:rPr>
              <a:t>valorArredondado = </a:t>
            </a:r>
            <a:r>
              <a:rPr lang="en-US" sz="3999" b="1">
                <a:solidFill>
                  <a:srgbClr val="7ED957"/>
                </a:solidFill>
                <a:latin typeface="Poppins Semi-Bold"/>
                <a:ea typeface="Poppins Semi-Bold"/>
                <a:cs typeface="Poppins Semi-Bold"/>
                <a:sym typeface="Poppins Semi-Bold"/>
              </a:rPr>
              <a:t>Math</a:t>
            </a:r>
            <a:r>
              <a:rPr lang="en-US" sz="3999" b="1">
                <a:solidFill>
                  <a:srgbClr val="FFFFFF"/>
                </a:solidFill>
                <a:latin typeface="Poppins Semi-Bold"/>
                <a:ea typeface="Poppins Semi-Bold"/>
                <a:cs typeface="Poppins Semi-Bold"/>
                <a:sym typeface="Poppins Semi-Bold"/>
              </a:rPr>
              <a:t>.</a:t>
            </a:r>
            <a:r>
              <a:rPr lang="en-US" sz="3999" b="1">
                <a:solidFill>
                  <a:srgbClr val="FFCB85"/>
                </a:solidFill>
                <a:latin typeface="Poppins Semi-Bold"/>
                <a:ea typeface="Poppins Semi-Bold"/>
                <a:cs typeface="Poppins Semi-Bold"/>
                <a:sym typeface="Poppins Semi-Bold"/>
              </a:rPr>
              <a:t>Round</a:t>
            </a:r>
            <a:r>
              <a:rPr lang="en-US" sz="3999" b="1">
                <a:solidFill>
                  <a:srgbClr val="FFFFFF"/>
                </a:solidFill>
                <a:latin typeface="Poppins Semi-Bold"/>
                <a:ea typeface="Poppins Semi-Bold"/>
                <a:cs typeface="Poppins Semi-Bold"/>
                <a:sym typeface="Poppins Semi-Bold"/>
              </a:rPr>
              <a:t>(valor,</a:t>
            </a:r>
            <a:r>
              <a:rPr lang="en-US" sz="3999" b="1">
                <a:solidFill>
                  <a:srgbClr val="7ED957"/>
                </a:solidFill>
                <a:latin typeface="Poppins Semi-Bold"/>
                <a:ea typeface="Poppins Semi-Bold"/>
                <a:cs typeface="Poppins Semi-Bold"/>
                <a:sym typeface="Poppins Semi-Bold"/>
              </a:rPr>
              <a:t>2</a:t>
            </a:r>
            <a:r>
              <a:rPr lang="en-US" sz="3999" b="1">
                <a:solidFill>
                  <a:srgbClr val="FFFFFF"/>
                </a:solidFill>
                <a:latin typeface="Poppins Semi-Bold"/>
                <a:ea typeface="Poppins Semi-Bold"/>
                <a:cs typeface="Poppins Semi-Bold"/>
                <a:sym typeface="Poppins Semi-Bold"/>
              </a:rPr>
              <a:t>); </a:t>
            </a:r>
            <a:r>
              <a:rPr lang="en-US" sz="3999" b="1">
                <a:solidFill>
                  <a:srgbClr val="7ED957"/>
                </a:solidFill>
                <a:latin typeface="Poppins Semi-Bold"/>
                <a:ea typeface="Poppins Semi-Bold"/>
                <a:cs typeface="Poppins Semi-Bold"/>
                <a:sym typeface="Poppins Semi-Bold"/>
              </a:rPr>
              <a:t>Console</a:t>
            </a:r>
            <a:r>
              <a:rPr lang="en-US" sz="3999" b="1">
                <a:solidFill>
                  <a:srgbClr val="FFFFFF"/>
                </a:solidFill>
                <a:latin typeface="Poppins Semi-Bold"/>
                <a:ea typeface="Poppins Semi-Bold"/>
                <a:cs typeface="Poppins Semi-Bold"/>
                <a:sym typeface="Poppins Semi-Bold"/>
              </a:rPr>
              <a:t>.</a:t>
            </a:r>
            <a:r>
              <a:rPr lang="en-US" sz="3999" b="1">
                <a:solidFill>
                  <a:srgbClr val="FFCB85"/>
                </a:solidFill>
                <a:latin typeface="Poppins Semi-Bold"/>
                <a:ea typeface="Poppins Semi-Bold"/>
                <a:cs typeface="Poppins Semi-Bold"/>
                <a:sym typeface="Poppins Semi-Bold"/>
              </a:rPr>
              <a:t>WriteLine</a:t>
            </a:r>
            <a:r>
              <a:rPr lang="en-US" sz="3999" b="1">
                <a:solidFill>
                  <a:srgbClr val="FFFFFF"/>
                </a:solidFill>
                <a:latin typeface="Poppins Semi-Bold"/>
                <a:ea typeface="Poppins Semi-Bold"/>
                <a:cs typeface="Poppins Semi-Bold"/>
                <a:sym typeface="Poppins Semi-Bold"/>
              </a:rPr>
              <a:t>(valorArredondado); Qual valor será impresso no terminal?</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6068616" y="438626"/>
            <a:ext cx="6273851" cy="1049503"/>
          </a:xfrm>
          <a:prstGeom prst="rect">
            <a:avLst/>
          </a:prstGeom>
        </p:spPr>
        <p:txBody>
          <a:bodyPr lIns="0" tIns="0" rIns="0" bIns="0" rtlCol="0" anchor="t">
            <a:spAutoFit/>
          </a:bodyPr>
          <a:lstStyle/>
          <a:p>
            <a:pPr algn="l">
              <a:lnSpc>
                <a:spcPts val="7133"/>
              </a:lnSpc>
            </a:pPr>
            <a:r>
              <a:rPr lang="en-US" sz="5964" b="1">
                <a:solidFill>
                  <a:srgbClr val="FFFFFF"/>
                </a:solidFill>
                <a:latin typeface="Poppins Semi-Bold"/>
                <a:ea typeface="Poppins Semi-Bold"/>
                <a:cs typeface="Poppins Semi-Bold"/>
                <a:sym typeface="Poppins Semi-Bold"/>
              </a:rPr>
              <a:t>Biblioteca Math</a:t>
            </a:r>
          </a:p>
        </p:txBody>
      </p:sp>
      <p:sp>
        <p:nvSpPr>
          <p:cNvPr id="3" name="TextBox 3"/>
          <p:cNvSpPr txBox="1"/>
          <p:nvPr/>
        </p:nvSpPr>
        <p:spPr>
          <a:xfrm>
            <a:off x="8503282" y="1267377"/>
            <a:ext cx="139875" cy="846458"/>
          </a:xfrm>
          <a:prstGeom prst="rect">
            <a:avLst/>
          </a:prstGeom>
        </p:spPr>
        <p:txBody>
          <a:bodyPr lIns="0" tIns="0" rIns="0" bIns="0" rtlCol="0" anchor="t">
            <a:spAutoFit/>
          </a:bodyPr>
          <a:lstStyle/>
          <a:p>
            <a:pPr algn="l">
              <a:lnSpc>
                <a:spcPts val="6554"/>
              </a:lnSpc>
            </a:pPr>
            <a:r>
              <a:rPr lang="en-US" sz="3599" b="1">
                <a:solidFill>
                  <a:srgbClr val="FFFFFF"/>
                </a:solidFill>
                <a:latin typeface="Poppins Semi-Bold"/>
                <a:ea typeface="Poppins Semi-Bold"/>
                <a:cs typeface="Poppins Semi-Bold"/>
                <a:sym typeface="Poppins Semi-Bold"/>
              </a:rPr>
              <a:t> </a:t>
            </a:r>
          </a:p>
        </p:txBody>
      </p:sp>
      <p:sp>
        <p:nvSpPr>
          <p:cNvPr id="4" name="TextBox 4"/>
          <p:cNvSpPr txBox="1"/>
          <p:nvPr/>
        </p:nvSpPr>
        <p:spPr>
          <a:xfrm>
            <a:off x="164983" y="1486452"/>
            <a:ext cx="17282246" cy="8771258"/>
          </a:xfrm>
          <a:prstGeom prst="rect">
            <a:avLst/>
          </a:prstGeom>
        </p:spPr>
        <p:txBody>
          <a:bodyPr lIns="0" tIns="0" rIns="0" bIns="0" rtlCol="0" anchor="t">
            <a:spAutoFit/>
          </a:bodyPr>
          <a:lstStyle/>
          <a:p>
            <a:pPr algn="l">
              <a:lnSpc>
                <a:spcPts val="4275"/>
              </a:lnSpc>
            </a:pPr>
            <a:r>
              <a:rPr lang="en-US" sz="3599" b="1">
                <a:solidFill>
                  <a:srgbClr val="7ED957"/>
                </a:solidFill>
                <a:latin typeface="Poppins Semi-Bold"/>
                <a:ea typeface="Poppins Semi-Bold"/>
                <a:cs typeface="Poppins Semi-Bold"/>
                <a:sym typeface="Poppins Semi-Bold"/>
              </a:rPr>
              <a:t>Math</a:t>
            </a:r>
            <a:r>
              <a:rPr lang="en-US" sz="3599" b="1">
                <a:solidFill>
                  <a:srgbClr val="FFFFFF"/>
                </a:solidFill>
                <a:latin typeface="Poppins Semi-Bold"/>
                <a:ea typeface="Poppins Semi-Bold"/>
                <a:cs typeface="Poppins Semi-Bold"/>
                <a:sym typeface="Poppins Semi-Bold"/>
              </a:rPr>
              <a:t>.</a:t>
            </a:r>
            <a:r>
              <a:rPr lang="en-US" sz="3599" b="1">
                <a:solidFill>
                  <a:srgbClr val="FFCB85"/>
                </a:solidFill>
                <a:latin typeface="Poppins Semi-Bold"/>
                <a:ea typeface="Poppins Semi-Bold"/>
                <a:cs typeface="Poppins Semi-Bold"/>
                <a:sym typeface="Poppins Semi-Bold"/>
              </a:rPr>
              <a:t>Pow</a:t>
            </a:r>
            <a:r>
              <a:rPr lang="en-US" sz="3599" b="1">
                <a:solidFill>
                  <a:srgbClr val="FFFFFF"/>
                </a:solidFill>
                <a:latin typeface="Poppins Semi-Bold"/>
                <a:ea typeface="Poppins Semi-Bold"/>
                <a:cs typeface="Poppins Semi-Bold"/>
                <a:sym typeface="Poppins Semi-Bold"/>
              </a:rPr>
              <a:t>(); -&gt; Função para elevarum número apotência. Você viu que o Sqrt faz a raiz quadrada de um valor, agora você verá o comando que eleva um número ao quadrado entre outros valores. Você deve informar o valor que deseja elevar e o valor da potência. O comando retorna um valor do tipo double. Exemplo: </a:t>
            </a:r>
            <a:r>
              <a:rPr lang="en-US" sz="3599" b="1">
                <a:solidFill>
                  <a:srgbClr val="3C67BF"/>
                </a:solidFill>
                <a:latin typeface="Poppins Semi-Bold"/>
                <a:ea typeface="Poppins Semi-Bold"/>
                <a:cs typeface="Poppins Semi-Bold"/>
                <a:sym typeface="Poppins Semi-Bold"/>
              </a:rPr>
              <a:t>double </a:t>
            </a:r>
            <a:r>
              <a:rPr lang="en-US" sz="3599" b="1">
                <a:solidFill>
                  <a:srgbClr val="FFFFFF"/>
                </a:solidFill>
                <a:latin typeface="Poppins Semi-Bold"/>
                <a:ea typeface="Poppins Semi-Bold"/>
                <a:cs typeface="Poppins Semi-Bold"/>
                <a:sym typeface="Poppins Semi-Bold"/>
              </a:rPr>
              <a:t>valor = </a:t>
            </a:r>
            <a:r>
              <a:rPr lang="en-US" sz="3599" b="1">
                <a:solidFill>
                  <a:srgbClr val="FFCB85"/>
                </a:solidFill>
                <a:latin typeface="Poppins Semi-Bold"/>
                <a:ea typeface="Poppins Semi-Bold"/>
                <a:cs typeface="Poppins Semi-Bold"/>
                <a:sym typeface="Poppins Semi-Bold"/>
              </a:rPr>
              <a:t>4</a:t>
            </a:r>
            <a:r>
              <a:rPr lang="en-US" sz="3599" b="1">
                <a:solidFill>
                  <a:srgbClr val="FFFFFF"/>
                </a:solidFill>
                <a:latin typeface="Poppins Semi-Bold"/>
                <a:ea typeface="Poppins Semi-Bold"/>
                <a:cs typeface="Poppins Semi-Bold"/>
                <a:sym typeface="Poppins Semi-Bold"/>
              </a:rPr>
              <a:t>; </a:t>
            </a:r>
            <a:r>
              <a:rPr lang="en-US" sz="3599" b="1">
                <a:solidFill>
                  <a:srgbClr val="3C67BF"/>
                </a:solidFill>
                <a:latin typeface="Poppins Semi-Bold"/>
                <a:ea typeface="Poppins Semi-Bold"/>
                <a:cs typeface="Poppins Semi-Bold"/>
                <a:sym typeface="Poppins Semi-Bold"/>
              </a:rPr>
              <a:t>double </a:t>
            </a:r>
            <a:r>
              <a:rPr lang="en-US" sz="3599" b="1">
                <a:solidFill>
                  <a:srgbClr val="FFFFFF"/>
                </a:solidFill>
                <a:latin typeface="Poppins Semi-Bold"/>
                <a:ea typeface="Poppins Semi-Bold"/>
                <a:cs typeface="Poppins Semi-Bold"/>
                <a:sym typeface="Poppins Semi-Bold"/>
              </a:rPr>
              <a:t>potencia = </a:t>
            </a:r>
            <a:r>
              <a:rPr lang="en-US" sz="3599" b="1">
                <a:solidFill>
                  <a:srgbClr val="7ED957"/>
                </a:solidFill>
                <a:latin typeface="Poppins Semi-Bold"/>
                <a:ea typeface="Poppins Semi-Bold"/>
                <a:cs typeface="Poppins Semi-Bold"/>
                <a:sym typeface="Poppins Semi-Bold"/>
              </a:rPr>
              <a:t>Math</a:t>
            </a:r>
            <a:r>
              <a:rPr lang="en-US" sz="3599" b="1">
                <a:solidFill>
                  <a:srgbClr val="FFFFFF"/>
                </a:solidFill>
                <a:latin typeface="Poppins Semi-Bold"/>
                <a:ea typeface="Poppins Semi-Bold"/>
                <a:cs typeface="Poppins Semi-Bold"/>
                <a:sym typeface="Poppins Semi-Bold"/>
              </a:rPr>
              <a:t>.</a:t>
            </a:r>
            <a:r>
              <a:rPr lang="en-US" sz="3599" b="1">
                <a:solidFill>
                  <a:srgbClr val="FFCB85"/>
                </a:solidFill>
                <a:latin typeface="Poppins Semi-Bold"/>
                <a:ea typeface="Poppins Semi-Bold"/>
                <a:cs typeface="Poppins Semi-Bold"/>
                <a:sym typeface="Poppins Semi-Bold"/>
              </a:rPr>
              <a:t>Pow</a:t>
            </a:r>
            <a:r>
              <a:rPr lang="en-US" sz="3599" b="1">
                <a:solidFill>
                  <a:srgbClr val="FFFFFF"/>
                </a:solidFill>
                <a:latin typeface="Poppins Semi-Bold"/>
                <a:ea typeface="Poppins Semi-Bold"/>
                <a:cs typeface="Poppins Semi-Bold"/>
                <a:sym typeface="Poppins Semi-Bold"/>
              </a:rPr>
              <a:t>(valor,</a:t>
            </a:r>
            <a:r>
              <a:rPr lang="en-US" sz="3599" b="1">
                <a:solidFill>
                  <a:srgbClr val="FFCB85"/>
                </a:solidFill>
                <a:latin typeface="Poppins Semi-Bold"/>
                <a:ea typeface="Poppins Semi-Bold"/>
                <a:cs typeface="Poppins Semi-Bold"/>
                <a:sym typeface="Poppins Semi-Bold"/>
              </a:rPr>
              <a:t>2</a:t>
            </a:r>
            <a:r>
              <a:rPr lang="en-US" sz="3599" b="1">
                <a:solidFill>
                  <a:srgbClr val="FFFFFF"/>
                </a:solidFill>
                <a:latin typeface="Poppins Semi-Bold"/>
                <a:ea typeface="Poppins Semi-Bold"/>
                <a:cs typeface="Poppins Semi-Bold"/>
                <a:sym typeface="Poppins Semi-Bold"/>
              </a:rPr>
              <a:t>); </a:t>
            </a:r>
            <a:r>
              <a:rPr lang="en-US" sz="3599" b="1">
                <a:solidFill>
                  <a:srgbClr val="7ED957"/>
                </a:solidFill>
                <a:latin typeface="Poppins Semi-Bold"/>
                <a:ea typeface="Poppins Semi-Bold"/>
                <a:cs typeface="Poppins Semi-Bold"/>
                <a:sym typeface="Poppins Semi-Bold"/>
              </a:rPr>
              <a:t>Console</a:t>
            </a:r>
            <a:r>
              <a:rPr lang="en-US" sz="3599" b="1">
                <a:solidFill>
                  <a:srgbClr val="FFFFFF"/>
                </a:solidFill>
                <a:latin typeface="Poppins Semi-Bold"/>
                <a:ea typeface="Poppins Semi-Bold"/>
                <a:cs typeface="Poppins Semi-Bold"/>
                <a:sym typeface="Poppins Semi-Bold"/>
              </a:rPr>
              <a:t>.</a:t>
            </a:r>
            <a:r>
              <a:rPr lang="en-US" sz="3599" b="1">
                <a:solidFill>
                  <a:srgbClr val="FFCB85"/>
                </a:solidFill>
                <a:latin typeface="Poppins Semi-Bold"/>
                <a:ea typeface="Poppins Semi-Bold"/>
                <a:cs typeface="Poppins Semi-Bold"/>
                <a:sym typeface="Poppins Semi-Bold"/>
              </a:rPr>
              <a:t>WriteLine</a:t>
            </a:r>
            <a:r>
              <a:rPr lang="en-US" sz="3599" b="1">
                <a:solidFill>
                  <a:srgbClr val="FFFFFF"/>
                </a:solidFill>
                <a:latin typeface="Poppins Semi-Bold"/>
                <a:ea typeface="Poppins Semi-Bold"/>
                <a:cs typeface="Poppins Semi-Bold"/>
                <a:sym typeface="Poppins Semi-Bold"/>
              </a:rPr>
              <a:t>(potencia); Qual o valor será impresso no terminal?</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Freeform 3"/>
          <p:cNvSpPr/>
          <p:nvPr/>
        </p:nvSpPr>
        <p:spPr>
          <a:xfrm>
            <a:off x="10228316" y="6556820"/>
            <a:ext cx="7029450" cy="2705100"/>
          </a:xfrm>
          <a:custGeom>
            <a:avLst/>
            <a:gdLst/>
            <a:ahLst/>
            <a:cxnLst/>
            <a:rect l="l" t="t" r="r" b="b"/>
            <a:pathLst>
              <a:path w="7029450" h="2705100">
                <a:moveTo>
                  <a:pt x="0" y="0"/>
                </a:moveTo>
                <a:lnTo>
                  <a:pt x="7029450" y="0"/>
                </a:lnTo>
                <a:lnTo>
                  <a:pt x="7029450" y="2705100"/>
                </a:lnTo>
                <a:lnTo>
                  <a:pt x="0" y="2705100"/>
                </a:lnTo>
                <a:lnTo>
                  <a:pt x="0" y="0"/>
                </a:lnTo>
                <a:close/>
              </a:path>
            </a:pathLst>
          </a:custGeom>
          <a:blipFill>
            <a:blip r:embed="rId3"/>
            <a:stretch>
              <a:fillRect t="-50414" b="-33388"/>
            </a:stretch>
          </a:blipFill>
        </p:spPr>
      </p:sp>
      <p:sp>
        <p:nvSpPr>
          <p:cNvPr id="4" name="TextBox 4"/>
          <p:cNvSpPr txBox="1"/>
          <p:nvPr/>
        </p:nvSpPr>
        <p:spPr>
          <a:xfrm>
            <a:off x="1691659" y="2215972"/>
            <a:ext cx="14579327" cy="363686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#17 </a:t>
            </a:r>
            <a:r>
              <a:rPr lang="en-US" sz="4684" b="1">
                <a:solidFill>
                  <a:srgbClr val="FFFFFF"/>
                </a:solidFill>
                <a:latin typeface="Poppins Semi-Bold"/>
                <a:ea typeface="Poppins Semi-Bold"/>
                <a:cs typeface="Poppins Semi-Bold"/>
                <a:sym typeface="Poppins Semi-Bold"/>
              </a:rPr>
              <a:t>Refaça a atividade da fómula de Bhaskara, só que agora utilizando o comando Pow para elevar b ao quadrado.</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691659" y="1863547"/>
            <a:ext cx="14294177" cy="575141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#18 </a:t>
            </a:r>
            <a:r>
              <a:rPr lang="en-US" sz="4684" b="1">
                <a:solidFill>
                  <a:srgbClr val="FFFFFF"/>
                </a:solidFill>
                <a:latin typeface="Poppins Semi-Bold"/>
                <a:ea typeface="Poppins Semi-Bold"/>
                <a:cs typeface="Poppins Semi-Bold"/>
                <a:sym typeface="Poppins Semi-Bold"/>
              </a:rPr>
              <a:t>Refaça a atividade que calcula a área de um círculo, só que agora utilize o comando Pow para elevar ao quadrado. Formula da área do círculo: (A = π r²) Considere π igual á 3,14159</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2220668" y="324326"/>
            <a:ext cx="14123556" cy="1163803"/>
          </a:xfrm>
          <a:prstGeom prst="rect">
            <a:avLst/>
          </a:prstGeom>
        </p:spPr>
        <p:txBody>
          <a:bodyPr lIns="0" tIns="0" rIns="0" bIns="0" rtlCol="0" anchor="t">
            <a:spAutoFit/>
          </a:bodyPr>
          <a:lstStyle/>
          <a:p>
            <a:pPr algn="l">
              <a:lnSpc>
                <a:spcPts val="8362"/>
              </a:lnSpc>
            </a:pPr>
            <a:r>
              <a:rPr lang="en-US" sz="5964" b="1">
                <a:solidFill>
                  <a:srgbClr val="FFFFFF"/>
                </a:solidFill>
                <a:latin typeface="Poppins Semi-Bold"/>
                <a:ea typeface="Poppins Semi-Bold"/>
                <a:cs typeface="Poppins Semi-Bold"/>
                <a:sym typeface="Poppins Semi-Bold"/>
              </a:rPr>
              <a:t>Condicionais e Operadores Lógicos</a:t>
            </a:r>
          </a:p>
        </p:txBody>
      </p:sp>
      <p:sp>
        <p:nvSpPr>
          <p:cNvPr id="3" name="TextBox 3"/>
          <p:cNvSpPr txBox="1"/>
          <p:nvPr/>
        </p:nvSpPr>
        <p:spPr>
          <a:xfrm>
            <a:off x="9949110" y="1311812"/>
            <a:ext cx="155438" cy="1008336"/>
          </a:xfrm>
          <a:prstGeom prst="rect">
            <a:avLst/>
          </a:prstGeom>
        </p:spPr>
        <p:txBody>
          <a:bodyPr lIns="0" tIns="0" rIns="0" bIns="0" rtlCol="0" anchor="t">
            <a:spAutoFit/>
          </a:bodyPr>
          <a:lstStyle/>
          <a:p>
            <a:pPr algn="l">
              <a:lnSpc>
                <a:spcPts val="7927"/>
              </a:lnSpc>
            </a:pPr>
            <a:r>
              <a:rPr lang="en-US" sz="3999" b="1">
                <a:solidFill>
                  <a:srgbClr val="FFFFFF"/>
                </a:solidFill>
                <a:latin typeface="Poppins Semi-Bold"/>
                <a:ea typeface="Poppins Semi-Bold"/>
                <a:cs typeface="Poppins Semi-Bold"/>
                <a:sym typeface="Poppins Semi-Bold"/>
              </a:rPr>
              <a:t> </a:t>
            </a:r>
          </a:p>
        </p:txBody>
      </p:sp>
      <p:sp>
        <p:nvSpPr>
          <p:cNvPr id="4" name="TextBox 4"/>
          <p:cNvSpPr txBox="1"/>
          <p:nvPr/>
        </p:nvSpPr>
        <p:spPr>
          <a:xfrm>
            <a:off x="164983" y="1616612"/>
            <a:ext cx="18114635" cy="8504511"/>
          </a:xfrm>
          <a:prstGeom prst="rect">
            <a:avLst/>
          </a:prstGeom>
        </p:spPr>
        <p:txBody>
          <a:bodyPr lIns="0" tIns="0" rIns="0" bIns="0" rtlCol="0" anchor="t">
            <a:spAutoFit/>
          </a:bodyPr>
          <a:lstStyle/>
          <a:p>
            <a:pPr algn="l">
              <a:lnSpc>
                <a:spcPts val="4723"/>
              </a:lnSpc>
            </a:pPr>
            <a:r>
              <a:rPr lang="en-US" sz="3999" b="1">
                <a:solidFill>
                  <a:srgbClr val="FFFFFF"/>
                </a:solidFill>
                <a:latin typeface="Poppins Semi-Bold"/>
                <a:ea typeface="Poppins Semi-Bold"/>
                <a:cs typeface="Poppins Semi-Bold"/>
                <a:sym typeface="Poppins Semi-Bold"/>
              </a:rPr>
              <a:t>Nos slides anteriores nós praticamosbastantenúmeros inteiros e decimais. Puderam perceber que existe diversos tipos de variáveis, agora vamos praticar um pouco sobre o tipo Booleano. </a:t>
            </a:r>
            <a:r>
              <a:rPr lang="en-US" sz="3999" b="1">
                <a:solidFill>
                  <a:srgbClr val="FF5757"/>
                </a:solidFill>
                <a:latin typeface="Poppins Semi-Bold"/>
                <a:ea typeface="Poppins Semi-Bold"/>
                <a:cs typeface="Poppins Semi-Bold"/>
                <a:sym typeface="Poppins Semi-Bold"/>
              </a:rPr>
              <a:t>Booleano </a:t>
            </a:r>
            <a:r>
              <a:rPr lang="en-US" sz="3999" b="1">
                <a:solidFill>
                  <a:srgbClr val="FFFFFF"/>
                </a:solidFill>
                <a:latin typeface="Poppins Semi-Bold"/>
                <a:ea typeface="Poppins Semi-Bold"/>
                <a:cs typeface="Poppins Semi-Bold"/>
                <a:sym typeface="Poppins Semi-Bold"/>
              </a:rPr>
              <a:t>é um tipo de dado lógico que pode ter apenas dois valores: </a:t>
            </a:r>
            <a:r>
              <a:rPr lang="en-US" sz="3999" b="1">
                <a:solidFill>
                  <a:srgbClr val="3C67BF"/>
                </a:solidFill>
                <a:latin typeface="Poppins Semi-Bold"/>
                <a:ea typeface="Poppins Semi-Bold"/>
                <a:cs typeface="Poppins Semi-Bold"/>
                <a:sym typeface="Poppins Semi-Bold"/>
              </a:rPr>
              <a:t>verdadeiro </a:t>
            </a:r>
            <a:r>
              <a:rPr lang="en-US" sz="3999" b="1">
                <a:solidFill>
                  <a:srgbClr val="FFFFFF"/>
                </a:solidFill>
                <a:latin typeface="Poppins Semi-Bold"/>
                <a:ea typeface="Poppins Semi-Bold"/>
                <a:cs typeface="Poppins Semi-Bold"/>
                <a:sym typeface="Poppins Semi-Bold"/>
              </a:rPr>
              <a:t>ou </a:t>
            </a:r>
            <a:r>
              <a:rPr lang="en-US" sz="3999" b="1">
                <a:solidFill>
                  <a:srgbClr val="3C67BF"/>
                </a:solidFill>
                <a:latin typeface="Poppins Semi-Bold"/>
                <a:ea typeface="Poppins Semi-Bold"/>
                <a:cs typeface="Poppins Semi-Bold"/>
                <a:sym typeface="Poppins Semi-Bold"/>
              </a:rPr>
              <a:t>falso</a:t>
            </a:r>
            <a:r>
              <a:rPr lang="en-US" sz="3999" b="1">
                <a:solidFill>
                  <a:srgbClr val="FFFFFF"/>
                </a:solidFill>
                <a:latin typeface="Poppins Semi-Bold"/>
                <a:ea typeface="Poppins Semi-Bold"/>
                <a:cs typeface="Poppins Semi-Bold"/>
                <a:sym typeface="Poppins Semi-Bold"/>
              </a:rPr>
              <a:t>. O programa irá entender esse tipo como </a:t>
            </a:r>
            <a:r>
              <a:rPr lang="en-US" sz="3999" b="1">
                <a:solidFill>
                  <a:srgbClr val="3C67BF"/>
                </a:solidFill>
                <a:latin typeface="Poppins Semi-Bold"/>
                <a:ea typeface="Poppins Semi-Bold"/>
                <a:cs typeface="Poppins Semi-Bold"/>
                <a:sym typeface="Poppins Semi-Bold"/>
              </a:rPr>
              <a:t>true </a:t>
            </a:r>
            <a:r>
              <a:rPr lang="en-US" sz="3999" b="1">
                <a:solidFill>
                  <a:srgbClr val="FFFFFF"/>
                </a:solidFill>
                <a:latin typeface="Poppins Semi-Bold"/>
                <a:ea typeface="Poppins Semi-Bold"/>
                <a:cs typeface="Poppins Semi-Bold"/>
                <a:sym typeface="Poppins Semi-Bold"/>
              </a:rPr>
              <a:t>ou </a:t>
            </a:r>
            <a:r>
              <a:rPr lang="en-US" sz="3999" b="1">
                <a:solidFill>
                  <a:srgbClr val="3C67BF"/>
                </a:solidFill>
                <a:latin typeface="Poppins Semi-Bold"/>
                <a:ea typeface="Poppins Semi-Bold"/>
                <a:cs typeface="Poppins Semi-Bold"/>
                <a:sym typeface="Poppins Semi-Bold"/>
              </a:rPr>
              <a:t>false</a:t>
            </a:r>
            <a:r>
              <a:rPr lang="en-US" sz="3999" b="1">
                <a:solidFill>
                  <a:srgbClr val="FFFFFF"/>
                </a:solidFill>
                <a:latin typeface="Poppins Semi-Bold"/>
                <a:ea typeface="Poppins Semi-Bold"/>
                <a:cs typeface="Poppins Semi-Bold"/>
                <a:sym typeface="Poppins Semi-Bold"/>
              </a:rPr>
              <a:t>. Exemplo: </a:t>
            </a:r>
            <a:r>
              <a:rPr lang="en-US" sz="3999" b="1">
                <a:solidFill>
                  <a:srgbClr val="3C67BF"/>
                </a:solidFill>
                <a:latin typeface="Poppins Semi-Bold"/>
                <a:ea typeface="Poppins Semi-Bold"/>
                <a:cs typeface="Poppins Semi-Bold"/>
                <a:sym typeface="Poppins Semi-Bold"/>
              </a:rPr>
              <a:t>bool </a:t>
            </a:r>
            <a:r>
              <a:rPr lang="en-US" sz="3999" b="1">
                <a:solidFill>
                  <a:srgbClr val="FFFFFF"/>
                </a:solidFill>
                <a:latin typeface="Poppins Semi-Bold"/>
                <a:ea typeface="Poppins Semi-Bold"/>
                <a:cs typeface="Poppins Semi-Bold"/>
                <a:sym typeface="Poppins Semi-Bold"/>
              </a:rPr>
              <a:t>variavel = </a:t>
            </a:r>
            <a:r>
              <a:rPr lang="en-US" sz="3999" b="1">
                <a:solidFill>
                  <a:srgbClr val="3C67BF"/>
                </a:solidFill>
                <a:latin typeface="Poppins Semi-Bold"/>
                <a:ea typeface="Poppins Semi-Bold"/>
                <a:cs typeface="Poppins Semi-Bold"/>
                <a:sym typeface="Poppins Semi-Bold"/>
              </a:rPr>
              <a:t>true</a:t>
            </a:r>
            <a:r>
              <a:rPr lang="en-US" sz="3999" b="1">
                <a:solidFill>
                  <a:srgbClr val="FFFFFF"/>
                </a:solidFill>
                <a:latin typeface="Poppins Semi-Bold"/>
                <a:ea typeface="Poppins Semi-Bold"/>
                <a:cs typeface="Poppins Semi-Bold"/>
                <a:sym typeface="Poppins Semi-Bold"/>
              </a:rPr>
              <a:t>; Nesse exemplo, estou armazenando o valor verdadeiro.</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64983" y="324326"/>
            <a:ext cx="18280952" cy="8855516"/>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Condicionais e Operadores Lógicos</a:t>
            </a:r>
          </a:p>
          <a:p>
            <a:pPr algn="l">
              <a:lnSpc>
                <a:spcPts val="4723"/>
              </a:lnSpc>
            </a:pPr>
            <a:r>
              <a:rPr lang="en-US" sz="3999" b="1">
                <a:solidFill>
                  <a:srgbClr val="FFFFFF"/>
                </a:solidFill>
                <a:latin typeface="Poppins Semi-Bold"/>
                <a:ea typeface="Poppins Semi-Bold"/>
                <a:cs typeface="Poppins Semi-Bold"/>
                <a:sym typeface="Poppins Semi-Bold"/>
              </a:rPr>
              <a:t>É comum no desenvolvimento de jogos nós utilizarmos as variáveis booleanas como se fossem um interruptor, por exemplo: Imagine que no seu jogo deva existir uma chave para abrir uma porta. Quando você começa a jogar a fase, você não tem a chave, então em algum lugar do código do jogo estará programado assim: </a:t>
            </a:r>
            <a:r>
              <a:rPr lang="en-US" sz="3999" b="1">
                <a:solidFill>
                  <a:srgbClr val="3C67BF"/>
                </a:solidFill>
                <a:latin typeface="Poppins Semi-Bold"/>
                <a:ea typeface="Poppins Semi-Bold"/>
                <a:cs typeface="Poppins Semi-Bold"/>
                <a:sym typeface="Poppins Semi-Bold"/>
              </a:rPr>
              <a:t>bool </a:t>
            </a:r>
            <a:r>
              <a:rPr lang="en-US" sz="3999" b="1">
                <a:solidFill>
                  <a:srgbClr val="FFFFFF"/>
                </a:solidFill>
                <a:latin typeface="Poppins Semi-Bold"/>
                <a:ea typeface="Poppins Semi-Bold"/>
                <a:cs typeface="Poppins Semi-Bold"/>
                <a:sym typeface="Poppins Semi-Bold"/>
              </a:rPr>
              <a:t>tenhoChave = </a:t>
            </a:r>
            <a:r>
              <a:rPr lang="en-US" sz="3999" b="1">
                <a:solidFill>
                  <a:srgbClr val="3C67BF"/>
                </a:solidFill>
                <a:latin typeface="Poppins Semi-Bold"/>
                <a:ea typeface="Poppins Semi-Bold"/>
                <a:cs typeface="Poppins Semi-Bold"/>
                <a:sym typeface="Poppins Semi-Bold"/>
              </a:rPr>
              <a:t>false</a:t>
            </a:r>
            <a:r>
              <a:rPr lang="en-US" sz="3999" b="1">
                <a:solidFill>
                  <a:srgbClr val="FFFFFF"/>
                </a:solidFill>
                <a:latin typeface="Poppins Semi-Bold"/>
                <a:ea typeface="Poppins Semi-Bold"/>
                <a:cs typeface="Poppins Semi-Bold"/>
                <a:sym typeface="Poppins Semi-Bold"/>
              </a:rPr>
              <a:t>; Declaramos essa variável no inicio do jogo.</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2220668" y="324326"/>
            <a:ext cx="1412355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Condicionais e Operadores Lógicos</a:t>
            </a:r>
          </a:p>
        </p:txBody>
      </p:sp>
      <p:sp>
        <p:nvSpPr>
          <p:cNvPr id="3" name="TextBox 3"/>
          <p:cNvSpPr txBox="1"/>
          <p:nvPr/>
        </p:nvSpPr>
        <p:spPr>
          <a:xfrm>
            <a:off x="164983" y="2816762"/>
            <a:ext cx="17656121" cy="6104211"/>
          </a:xfrm>
          <a:prstGeom prst="rect">
            <a:avLst/>
          </a:prstGeom>
        </p:spPr>
        <p:txBody>
          <a:bodyPr lIns="0" tIns="0" rIns="0" bIns="0" rtlCol="0" anchor="t">
            <a:spAutoFit/>
          </a:bodyPr>
          <a:lstStyle/>
          <a:p>
            <a:pPr algn="l">
              <a:lnSpc>
                <a:spcPts val="4723"/>
              </a:lnSpc>
            </a:pPr>
            <a:r>
              <a:rPr lang="en-US" sz="3999" b="1">
                <a:solidFill>
                  <a:srgbClr val="FFFFFF"/>
                </a:solidFill>
                <a:latin typeface="Poppins Semi-Bold"/>
                <a:ea typeface="Poppins Semi-Bold"/>
                <a:cs typeface="Poppins Semi-Bold"/>
                <a:sym typeface="Poppins Semi-Bold"/>
              </a:rPr>
              <a:t>Em algum momento você encontra a chave e a coleta, então aquela variável que antes estava em estado de </a:t>
            </a:r>
            <a:r>
              <a:rPr lang="en-US" sz="3999" b="1">
                <a:solidFill>
                  <a:srgbClr val="FF5757"/>
                </a:solidFill>
                <a:latin typeface="Poppins Semi-Bold"/>
                <a:ea typeface="Poppins Semi-Bold"/>
                <a:cs typeface="Poppins Semi-Bold"/>
                <a:sym typeface="Poppins Semi-Bold"/>
              </a:rPr>
              <a:t>false </a:t>
            </a:r>
            <a:r>
              <a:rPr lang="en-US" sz="3999" b="1">
                <a:solidFill>
                  <a:srgbClr val="FFFFFF"/>
                </a:solidFill>
                <a:latin typeface="Poppins Semi-Bold"/>
                <a:ea typeface="Poppins Semi-Bold"/>
                <a:cs typeface="Poppins Semi-Bold"/>
                <a:sym typeface="Poppins Semi-Bold"/>
              </a:rPr>
              <a:t>se tornará </a:t>
            </a:r>
            <a:r>
              <a:rPr lang="en-US" sz="3999" b="1">
                <a:solidFill>
                  <a:srgbClr val="FF5757"/>
                </a:solidFill>
                <a:latin typeface="Poppins Semi-Bold"/>
                <a:ea typeface="Poppins Semi-Bold"/>
                <a:cs typeface="Poppins Semi-Bold"/>
                <a:sym typeface="Poppins Semi-Bold"/>
              </a:rPr>
              <a:t>true</a:t>
            </a:r>
            <a:r>
              <a:rPr lang="en-US" sz="3999" b="1">
                <a:solidFill>
                  <a:srgbClr val="FFFFFF"/>
                </a:solidFill>
                <a:latin typeface="Poppins Semi-Bold"/>
                <a:ea typeface="Poppins Semi-Bold"/>
                <a:cs typeface="Poppins Semi-Bold"/>
                <a:sym typeface="Poppins Semi-Bold"/>
              </a:rPr>
              <a:t>. Exemplo: tenhoChave = </a:t>
            </a:r>
            <a:r>
              <a:rPr lang="en-US" sz="3999" b="1">
                <a:solidFill>
                  <a:srgbClr val="3C67BF"/>
                </a:solidFill>
                <a:latin typeface="Poppins Semi-Bold"/>
                <a:ea typeface="Poppins Semi-Bold"/>
                <a:cs typeface="Poppins Semi-Bold"/>
                <a:sym typeface="Poppins Semi-Bold"/>
              </a:rPr>
              <a:t>true</a:t>
            </a:r>
            <a:r>
              <a:rPr lang="en-US" sz="3999" b="1">
                <a:solidFill>
                  <a:srgbClr val="FFFFFF"/>
                </a:solidFill>
                <a:latin typeface="Poppins Semi-Bold"/>
                <a:ea typeface="Poppins Semi-Bold"/>
                <a:cs typeface="Poppins Semi-Bold"/>
                <a:sym typeface="Poppins Semi-Bold"/>
              </a:rPr>
              <a:t>; Com isso, ao interagir com a porta, você conseguirá abrir pois no seu código está dizendo que tem a chave.</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2220668" y="324326"/>
            <a:ext cx="1412355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Condicionais e Operadores Lógicos</a:t>
            </a:r>
          </a:p>
        </p:txBody>
      </p:sp>
      <p:sp>
        <p:nvSpPr>
          <p:cNvPr id="3" name="TextBox 3"/>
          <p:cNvSpPr txBox="1"/>
          <p:nvPr/>
        </p:nvSpPr>
        <p:spPr>
          <a:xfrm>
            <a:off x="164983" y="3116799"/>
            <a:ext cx="18307898" cy="5504136"/>
          </a:xfrm>
          <a:prstGeom prst="rect">
            <a:avLst/>
          </a:prstGeom>
        </p:spPr>
        <p:txBody>
          <a:bodyPr lIns="0" tIns="0" rIns="0" bIns="0" rtlCol="0" anchor="t">
            <a:spAutoFit/>
          </a:bodyPr>
          <a:lstStyle/>
          <a:p>
            <a:pPr algn="l">
              <a:lnSpc>
                <a:spcPts val="4723"/>
              </a:lnSpc>
            </a:pPr>
            <a:r>
              <a:rPr lang="en-US" sz="3999" b="1">
                <a:solidFill>
                  <a:srgbClr val="FFFFFF"/>
                </a:solidFill>
                <a:latin typeface="Poppins Semi-Bold"/>
                <a:ea typeface="Poppins Semi-Bold"/>
                <a:cs typeface="Poppins Semi-Bold"/>
                <a:sym typeface="Poppins Semi-Bold"/>
              </a:rPr>
              <a:t>Não precisamos escrever literalmente o valor de </a:t>
            </a:r>
            <a:r>
              <a:rPr lang="en-US" sz="3999" b="1">
                <a:solidFill>
                  <a:srgbClr val="3C67BF"/>
                </a:solidFill>
                <a:latin typeface="Poppins Semi-Bold"/>
                <a:ea typeface="Poppins Semi-Bold"/>
                <a:cs typeface="Poppins Semi-Bold"/>
                <a:sym typeface="Poppins Semi-Bold"/>
              </a:rPr>
              <a:t>true </a:t>
            </a:r>
            <a:r>
              <a:rPr lang="en-US" sz="3999" b="1">
                <a:solidFill>
                  <a:srgbClr val="FFFFFF"/>
                </a:solidFill>
                <a:latin typeface="Poppins Semi-Bold"/>
                <a:ea typeface="Poppins Semi-Bold"/>
                <a:cs typeface="Poppins Semi-Bold"/>
                <a:sym typeface="Poppins Semi-Bold"/>
              </a:rPr>
              <a:t>ou </a:t>
            </a:r>
            <a:r>
              <a:rPr lang="en-US" sz="3999" b="1">
                <a:solidFill>
                  <a:srgbClr val="3C67BF"/>
                </a:solidFill>
                <a:latin typeface="Poppins Semi-Bold"/>
                <a:ea typeface="Poppins Semi-Bold"/>
                <a:cs typeface="Poppins Semi-Bold"/>
                <a:sym typeface="Poppins Semi-Bold"/>
              </a:rPr>
              <a:t>false </a:t>
            </a:r>
            <a:r>
              <a:rPr lang="en-US" sz="3999" b="1">
                <a:solidFill>
                  <a:srgbClr val="FFFFFF"/>
                </a:solidFill>
                <a:latin typeface="Poppins Semi-Bold"/>
                <a:ea typeface="Poppins Semi-Bold"/>
                <a:cs typeface="Poppins Semi-Bold"/>
                <a:sym typeface="Poppins Semi-Bold"/>
              </a:rPr>
              <a:t>dentro de variáveis, podemos também deixar que o programa decida quando será um ou quando será o outro. Podemos fazer isso através das condicionais, que são simbolos que fazem uma comparação entre um dado e outro. Por exemplo, se eu disser que </a:t>
            </a:r>
            <a:r>
              <a:rPr lang="en-US" sz="3999" b="1">
                <a:solidFill>
                  <a:srgbClr val="FFCB85"/>
                </a:solidFill>
                <a:latin typeface="Poppins Semi-Bold"/>
                <a:ea typeface="Poppins Semi-Bold"/>
                <a:cs typeface="Poppins Semi-Bold"/>
                <a:sym typeface="Poppins Semi-Bold"/>
              </a:rPr>
              <a:t>10</a:t>
            </a:r>
            <a:r>
              <a:rPr lang="en-US" sz="3999" b="1">
                <a:solidFill>
                  <a:srgbClr val="FFFFFF"/>
                </a:solidFill>
                <a:latin typeface="Poppins Semi-Bold"/>
                <a:ea typeface="Poppins Semi-Bold"/>
                <a:cs typeface="Poppins Semi-Bold"/>
                <a:sym typeface="Poppins Semi-Bold"/>
              </a:rPr>
              <a:t> é maior que </a:t>
            </a:r>
            <a:r>
              <a:rPr lang="en-US" sz="3999" b="1">
                <a:solidFill>
                  <a:srgbClr val="FFCB85"/>
                </a:solidFill>
                <a:latin typeface="Poppins Semi-Bold"/>
                <a:ea typeface="Poppins Semi-Bold"/>
                <a:cs typeface="Poppins Semi-Bold"/>
                <a:sym typeface="Poppins Semi-Bold"/>
              </a:rPr>
              <a:t>5</a:t>
            </a:r>
            <a:r>
              <a:rPr lang="en-US" sz="3999" b="1">
                <a:solidFill>
                  <a:srgbClr val="FFFFFF"/>
                </a:solidFill>
                <a:latin typeface="Poppins Semi-Bold"/>
                <a:ea typeface="Poppins Semi-Bold"/>
                <a:cs typeface="Poppins Semi-Bold"/>
                <a:sym typeface="Poppins Semi-Bold"/>
              </a:rPr>
              <a:t>, eu estou dizendo a verdade ou estou mentindo?</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2220668" y="324326"/>
            <a:ext cx="1412355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Condicionais e Operadores Lógicos</a:t>
            </a:r>
          </a:p>
        </p:txBody>
      </p:sp>
      <p:sp>
        <p:nvSpPr>
          <p:cNvPr id="3" name="TextBox 3"/>
          <p:cNvSpPr txBox="1"/>
          <p:nvPr/>
        </p:nvSpPr>
        <p:spPr>
          <a:xfrm>
            <a:off x="164983" y="3716874"/>
            <a:ext cx="17615411" cy="4303986"/>
          </a:xfrm>
          <a:prstGeom prst="rect">
            <a:avLst/>
          </a:prstGeom>
        </p:spPr>
        <p:txBody>
          <a:bodyPr lIns="0" tIns="0" rIns="0" bIns="0" rtlCol="0" anchor="t">
            <a:spAutoFit/>
          </a:bodyPr>
          <a:lstStyle/>
          <a:p>
            <a:pPr algn="l">
              <a:lnSpc>
                <a:spcPts val="4723"/>
              </a:lnSpc>
            </a:pPr>
            <a:r>
              <a:rPr lang="en-US" sz="3999" b="1">
                <a:solidFill>
                  <a:srgbClr val="FFFFFF"/>
                </a:solidFill>
                <a:latin typeface="Poppins Semi-Bold"/>
                <a:ea typeface="Poppins Semi-Bold"/>
                <a:cs typeface="Poppins Semi-Bold"/>
                <a:sym typeface="Poppins Semi-Bold"/>
              </a:rPr>
              <a:t>Se eu disser que </a:t>
            </a:r>
            <a:r>
              <a:rPr lang="en-US" sz="3999" b="1">
                <a:solidFill>
                  <a:srgbClr val="FFCB85"/>
                </a:solidFill>
                <a:latin typeface="Poppins Semi-Bold"/>
                <a:ea typeface="Poppins Semi-Bold"/>
                <a:cs typeface="Poppins Semi-Bold"/>
                <a:sym typeface="Poppins Semi-Bold"/>
              </a:rPr>
              <a:t>10</a:t>
            </a:r>
            <a:r>
              <a:rPr lang="en-US" sz="3999" b="1">
                <a:solidFill>
                  <a:srgbClr val="FFFFFF"/>
                </a:solidFill>
                <a:latin typeface="Poppins Semi-Bold"/>
                <a:ea typeface="Poppins Semi-Bold"/>
                <a:cs typeface="Poppins Semi-Bold"/>
                <a:sym typeface="Poppins Semi-Bold"/>
              </a:rPr>
              <a:t> é maior que </a:t>
            </a:r>
            <a:r>
              <a:rPr lang="en-US" sz="3999" b="1">
                <a:solidFill>
                  <a:srgbClr val="FFCB85"/>
                </a:solidFill>
                <a:latin typeface="Poppins Semi-Bold"/>
                <a:ea typeface="Poppins Semi-Bold"/>
                <a:cs typeface="Poppins Semi-Bold"/>
                <a:sym typeface="Poppins Semi-Bold"/>
              </a:rPr>
              <a:t>5</a:t>
            </a:r>
            <a:r>
              <a:rPr lang="en-US" sz="3999" b="1">
                <a:solidFill>
                  <a:srgbClr val="FFFFFF"/>
                </a:solidFill>
                <a:latin typeface="Poppins Semi-Bold"/>
                <a:ea typeface="Poppins Semi-Bold"/>
                <a:cs typeface="Poppins Semi-Bold"/>
                <a:sym typeface="Poppins Semi-Bold"/>
              </a:rPr>
              <a:t>, eu estou dizendo a verdade ou estou mentindo? Nesse caso estou dizendo a verdade, então meu programa vai entender como </a:t>
            </a:r>
            <a:r>
              <a:rPr lang="en-US" sz="3999" b="1">
                <a:solidFill>
                  <a:srgbClr val="3C67BF"/>
                </a:solidFill>
                <a:latin typeface="Poppins Semi-Bold"/>
                <a:ea typeface="Poppins Semi-Bold"/>
                <a:cs typeface="Poppins Semi-Bold"/>
                <a:sym typeface="Poppins Semi-Bold"/>
              </a:rPr>
              <a:t>true</a:t>
            </a:r>
            <a:r>
              <a:rPr lang="en-US" sz="3999" b="1">
                <a:solidFill>
                  <a:srgbClr val="FFFFFF"/>
                </a:solidFill>
                <a:latin typeface="Poppins Semi-Bold"/>
                <a:ea typeface="Poppins Semi-Bold"/>
                <a:cs typeface="Poppins Semi-Bold"/>
                <a:sym typeface="Poppins Semi-Bold"/>
              </a:rPr>
              <a:t>. E se eu disser agora que </a:t>
            </a:r>
            <a:r>
              <a:rPr lang="en-US" sz="3999" b="1">
                <a:solidFill>
                  <a:srgbClr val="FFCB85"/>
                </a:solidFill>
                <a:latin typeface="Poppins Semi-Bold"/>
                <a:ea typeface="Poppins Semi-Bold"/>
                <a:cs typeface="Poppins Semi-Bold"/>
                <a:sym typeface="Poppins Semi-Bold"/>
              </a:rPr>
              <a:t>10</a:t>
            </a:r>
            <a:r>
              <a:rPr lang="en-US" sz="3999" b="1">
                <a:solidFill>
                  <a:srgbClr val="FFFFFF"/>
                </a:solidFill>
                <a:latin typeface="Poppins Semi-Bold"/>
                <a:ea typeface="Poppins Semi-Bold"/>
                <a:cs typeface="Poppins Semi-Bold"/>
                <a:sym typeface="Poppins Semi-Bold"/>
              </a:rPr>
              <a:t> é maior que </a:t>
            </a:r>
            <a:r>
              <a:rPr lang="en-US" sz="3999" b="1">
                <a:solidFill>
                  <a:srgbClr val="FFCB85"/>
                </a:solidFill>
                <a:latin typeface="Poppins Semi-Bold"/>
                <a:ea typeface="Poppins Semi-Bold"/>
                <a:cs typeface="Poppins Semi-Bold"/>
                <a:sym typeface="Poppins Semi-Bold"/>
              </a:rPr>
              <a:t>100</a:t>
            </a:r>
            <a:r>
              <a:rPr lang="en-US" sz="3999" b="1">
                <a:solidFill>
                  <a:srgbClr val="FFFFFF"/>
                </a:solidFill>
                <a:latin typeface="Poppins Semi-Bold"/>
                <a:ea typeface="Poppins Semi-Bold"/>
                <a:cs typeface="Poppins Semi-Bold"/>
                <a:sym typeface="Poppins Semi-Bold"/>
              </a:rPr>
              <a: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2220668" y="324326"/>
            <a:ext cx="1412355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Condicionais e Operadores Lógicos</a:t>
            </a:r>
          </a:p>
        </p:txBody>
      </p:sp>
      <p:sp>
        <p:nvSpPr>
          <p:cNvPr id="3" name="TextBox 3"/>
          <p:cNvSpPr txBox="1"/>
          <p:nvPr/>
        </p:nvSpPr>
        <p:spPr>
          <a:xfrm>
            <a:off x="164983" y="2516724"/>
            <a:ext cx="17921183" cy="6704286"/>
          </a:xfrm>
          <a:prstGeom prst="rect">
            <a:avLst/>
          </a:prstGeom>
        </p:spPr>
        <p:txBody>
          <a:bodyPr lIns="0" tIns="0" rIns="0" bIns="0" rtlCol="0" anchor="t">
            <a:spAutoFit/>
          </a:bodyPr>
          <a:lstStyle/>
          <a:p>
            <a:pPr algn="l">
              <a:lnSpc>
                <a:spcPts val="4723"/>
              </a:lnSpc>
            </a:pPr>
            <a:r>
              <a:rPr lang="en-US" sz="3999" b="1">
                <a:solidFill>
                  <a:srgbClr val="FFFFFF"/>
                </a:solidFill>
                <a:latin typeface="Poppins Semi-Bold"/>
                <a:ea typeface="Poppins Semi-Bold"/>
                <a:cs typeface="Poppins Semi-Bold"/>
                <a:sym typeface="Poppins Semi-Bold"/>
              </a:rPr>
              <a:t>E se eu disser agora que </a:t>
            </a:r>
            <a:r>
              <a:rPr lang="en-US" sz="3999" b="1">
                <a:solidFill>
                  <a:srgbClr val="FFCB85"/>
                </a:solidFill>
                <a:latin typeface="Poppins Semi-Bold"/>
                <a:ea typeface="Poppins Semi-Bold"/>
                <a:cs typeface="Poppins Semi-Bold"/>
                <a:sym typeface="Poppins Semi-Bold"/>
              </a:rPr>
              <a:t>10</a:t>
            </a:r>
            <a:r>
              <a:rPr lang="en-US" sz="3999" b="1">
                <a:solidFill>
                  <a:srgbClr val="FFFFFF"/>
                </a:solidFill>
                <a:latin typeface="Poppins Semi-Bold"/>
                <a:ea typeface="Poppins Semi-Bold"/>
                <a:cs typeface="Poppins Semi-Bold"/>
                <a:sym typeface="Poppins Semi-Bold"/>
              </a:rPr>
              <a:t> é maior que </a:t>
            </a:r>
            <a:r>
              <a:rPr lang="en-US" sz="3999" b="1">
                <a:solidFill>
                  <a:srgbClr val="FFCB85"/>
                </a:solidFill>
                <a:latin typeface="Poppins Semi-Bold"/>
                <a:ea typeface="Poppins Semi-Bold"/>
                <a:cs typeface="Poppins Semi-Bold"/>
                <a:sym typeface="Poppins Semi-Bold"/>
              </a:rPr>
              <a:t>100</a:t>
            </a:r>
            <a:r>
              <a:rPr lang="en-US" sz="3999" b="1">
                <a:solidFill>
                  <a:srgbClr val="FFFFFF"/>
                </a:solidFill>
                <a:latin typeface="Poppins Semi-Bold"/>
                <a:ea typeface="Poppins Semi-Bold"/>
                <a:cs typeface="Poppins Semi-Bold"/>
                <a:sym typeface="Poppins Semi-Bold"/>
              </a:rPr>
              <a:t>? Nesse segundo caso não estou dizendo a verdade, logo se tornou uma informação </a:t>
            </a:r>
            <a:r>
              <a:rPr lang="en-US" sz="3999" b="1">
                <a:solidFill>
                  <a:srgbClr val="7ED957"/>
                </a:solidFill>
                <a:latin typeface="Poppins Semi-Bold"/>
                <a:ea typeface="Poppins Semi-Bold"/>
                <a:cs typeface="Poppins Semi-Bold"/>
                <a:sym typeface="Poppins Semi-Bold"/>
              </a:rPr>
              <a:t>falsa</a:t>
            </a:r>
            <a:r>
              <a:rPr lang="en-US" sz="3999" b="1">
                <a:solidFill>
                  <a:srgbClr val="FFFFFF"/>
                </a:solidFill>
                <a:latin typeface="Poppins Semi-Bold"/>
                <a:ea typeface="Poppins Semi-Bold"/>
                <a:cs typeface="Poppins Semi-Bold"/>
                <a:sym typeface="Poppins Semi-Bold"/>
              </a:rPr>
              <a:t>, então o programa irá entender como </a:t>
            </a:r>
            <a:r>
              <a:rPr lang="en-US" sz="3999" b="1">
                <a:solidFill>
                  <a:srgbClr val="5284FF"/>
                </a:solidFill>
                <a:latin typeface="Poppins Semi-Bold"/>
                <a:ea typeface="Poppins Semi-Bold"/>
                <a:cs typeface="Poppins Semi-Bold"/>
                <a:sym typeface="Poppins Semi-Bold"/>
              </a:rPr>
              <a:t>false</a:t>
            </a:r>
            <a:r>
              <a:rPr lang="en-US" sz="3999" b="1">
                <a:solidFill>
                  <a:srgbClr val="FFFFFF"/>
                </a:solidFill>
                <a:latin typeface="Poppins Semi-Bold"/>
                <a:ea typeface="Poppins Semi-Bold"/>
                <a:cs typeface="Poppins Semi-Bold"/>
                <a:sym typeface="Poppins Semi-Bold"/>
              </a:rPr>
              <a:t>. O código desses dois exemplos ficariam assim no programa: </a:t>
            </a:r>
            <a:r>
              <a:rPr lang="en-US" sz="3999" b="1">
                <a:solidFill>
                  <a:srgbClr val="3C67BF"/>
                </a:solidFill>
                <a:latin typeface="Poppins Semi-Bold"/>
                <a:ea typeface="Poppins Semi-Bold"/>
                <a:cs typeface="Poppins Semi-Bold"/>
                <a:sym typeface="Poppins Semi-Bold"/>
              </a:rPr>
              <a:t>bool </a:t>
            </a:r>
            <a:r>
              <a:rPr lang="en-US" sz="3999" b="1">
                <a:solidFill>
                  <a:srgbClr val="FFFFFF"/>
                </a:solidFill>
                <a:latin typeface="Poppins Semi-Bold"/>
                <a:ea typeface="Poppins Semi-Bold"/>
                <a:cs typeface="Poppins Semi-Bold"/>
                <a:sym typeface="Poppins Semi-Bold"/>
              </a:rPr>
              <a:t>resultado1 = </a:t>
            </a:r>
            <a:r>
              <a:rPr lang="en-US" sz="3999" b="1">
                <a:solidFill>
                  <a:srgbClr val="FFCB85"/>
                </a:solidFill>
                <a:latin typeface="Poppins Semi-Bold"/>
                <a:ea typeface="Poppins Semi-Bold"/>
                <a:cs typeface="Poppins Semi-Bold"/>
                <a:sym typeface="Poppins Semi-Bold"/>
              </a:rPr>
              <a:t>10</a:t>
            </a:r>
            <a:r>
              <a:rPr lang="en-US" sz="3999" b="1">
                <a:solidFill>
                  <a:srgbClr val="FFFFFF"/>
                </a:solidFill>
                <a:latin typeface="Poppins Semi-Bold"/>
                <a:ea typeface="Poppins Semi-Bold"/>
                <a:cs typeface="Poppins Semi-Bold"/>
                <a:sym typeface="Poppins Semi-Bold"/>
              </a:rPr>
              <a:t> &gt; </a:t>
            </a:r>
            <a:r>
              <a:rPr lang="en-US" sz="3999" b="1">
                <a:solidFill>
                  <a:srgbClr val="FFCB85"/>
                </a:solidFill>
                <a:latin typeface="Poppins Semi-Bold"/>
                <a:ea typeface="Poppins Semi-Bold"/>
                <a:cs typeface="Poppins Semi-Bold"/>
                <a:sym typeface="Poppins Semi-Bold"/>
              </a:rPr>
              <a:t>5</a:t>
            </a:r>
            <a:r>
              <a:rPr lang="en-US" sz="3999" b="1">
                <a:solidFill>
                  <a:srgbClr val="FFFFFF"/>
                </a:solidFill>
                <a:latin typeface="Poppins Semi-Bold"/>
                <a:ea typeface="Poppins Semi-Bold"/>
                <a:cs typeface="Poppins Semi-Bold"/>
                <a:sym typeface="Poppins Semi-Bold"/>
              </a:rPr>
              <a:t>; </a:t>
            </a:r>
            <a:r>
              <a:rPr lang="en-US" sz="3999" b="1">
                <a:solidFill>
                  <a:srgbClr val="7ED957"/>
                </a:solidFill>
                <a:latin typeface="Poppins Semi-Bold"/>
                <a:ea typeface="Poppins Semi-Bold"/>
                <a:cs typeface="Poppins Semi-Bold"/>
                <a:sym typeface="Poppins Semi-Bold"/>
              </a:rPr>
              <a:t>Console</a:t>
            </a:r>
            <a:r>
              <a:rPr lang="en-US" sz="3999" b="1">
                <a:solidFill>
                  <a:srgbClr val="FFFFFF"/>
                </a:solidFill>
                <a:latin typeface="Poppins Semi-Bold"/>
                <a:ea typeface="Poppins Semi-Bold"/>
                <a:cs typeface="Poppins Semi-Bold"/>
                <a:sym typeface="Poppins Semi-Bold"/>
              </a:rPr>
              <a:t>.</a:t>
            </a:r>
            <a:r>
              <a:rPr lang="en-US" sz="3999" b="1">
                <a:solidFill>
                  <a:srgbClr val="FFCB85"/>
                </a:solidFill>
                <a:latin typeface="Poppins Semi-Bold"/>
                <a:ea typeface="Poppins Semi-Bold"/>
                <a:cs typeface="Poppins Semi-Bold"/>
                <a:sym typeface="Poppins Semi-Bold"/>
              </a:rPr>
              <a:t>WriteLine</a:t>
            </a:r>
            <a:r>
              <a:rPr lang="en-US" sz="3999" b="1">
                <a:solidFill>
                  <a:srgbClr val="FFFFFF"/>
                </a:solidFill>
                <a:latin typeface="Poppins Semi-Bold"/>
                <a:ea typeface="Poppins Semi-Bold"/>
                <a:cs typeface="Poppins Semi-Bold"/>
                <a:sym typeface="Poppins Semi-Bold"/>
              </a:rPr>
              <a:t>(resultado1); </a:t>
            </a:r>
            <a:r>
              <a:rPr lang="en-US" sz="3999" b="1">
                <a:solidFill>
                  <a:srgbClr val="3C67BF"/>
                </a:solidFill>
                <a:latin typeface="Poppins Semi-Bold"/>
                <a:ea typeface="Poppins Semi-Bold"/>
                <a:cs typeface="Poppins Semi-Bold"/>
                <a:sym typeface="Poppins Semi-Bold"/>
              </a:rPr>
              <a:t>bool </a:t>
            </a:r>
            <a:r>
              <a:rPr lang="en-US" sz="3999" b="1">
                <a:solidFill>
                  <a:srgbClr val="FFFFFF"/>
                </a:solidFill>
                <a:latin typeface="Poppins Semi-Bold"/>
                <a:ea typeface="Poppins Semi-Bold"/>
                <a:cs typeface="Poppins Semi-Bold"/>
                <a:sym typeface="Poppins Semi-Bold"/>
              </a:rPr>
              <a:t>resultado2 = </a:t>
            </a:r>
            <a:r>
              <a:rPr lang="en-US" sz="3999" b="1">
                <a:solidFill>
                  <a:srgbClr val="FFCB85"/>
                </a:solidFill>
                <a:latin typeface="Poppins Semi-Bold"/>
                <a:ea typeface="Poppins Semi-Bold"/>
                <a:cs typeface="Poppins Semi-Bold"/>
                <a:sym typeface="Poppins Semi-Bold"/>
              </a:rPr>
              <a:t>10</a:t>
            </a:r>
            <a:r>
              <a:rPr lang="en-US" sz="3999" b="1">
                <a:solidFill>
                  <a:srgbClr val="FFFFFF"/>
                </a:solidFill>
                <a:latin typeface="Poppins Semi-Bold"/>
                <a:ea typeface="Poppins Semi-Bold"/>
                <a:cs typeface="Poppins Semi-Bold"/>
                <a:sym typeface="Poppins Semi-Bold"/>
              </a:rPr>
              <a:t> &gt; </a:t>
            </a:r>
            <a:r>
              <a:rPr lang="en-US" sz="3999" b="1">
                <a:solidFill>
                  <a:srgbClr val="FFCB85"/>
                </a:solidFill>
                <a:latin typeface="Poppins Semi-Bold"/>
                <a:ea typeface="Poppins Semi-Bold"/>
                <a:cs typeface="Poppins Semi-Bold"/>
                <a:sym typeface="Poppins Semi-Bold"/>
              </a:rPr>
              <a:t>100</a:t>
            </a:r>
            <a:r>
              <a:rPr lang="en-US" sz="3999" b="1">
                <a:solidFill>
                  <a:srgbClr val="FFFFFF"/>
                </a:solidFill>
                <a:latin typeface="Poppins Semi-Bold"/>
                <a:ea typeface="Poppins Semi-Bold"/>
                <a:cs typeface="Poppins Semi-Bold"/>
                <a:sym typeface="Poppins Semi-Bold"/>
              </a:rPr>
              <a:t>; </a:t>
            </a:r>
            <a:r>
              <a:rPr lang="en-US" sz="3999" b="1">
                <a:solidFill>
                  <a:srgbClr val="7ED957"/>
                </a:solidFill>
                <a:latin typeface="Poppins Semi-Bold"/>
                <a:ea typeface="Poppins Semi-Bold"/>
                <a:cs typeface="Poppins Semi-Bold"/>
                <a:sym typeface="Poppins Semi-Bold"/>
              </a:rPr>
              <a:t>Console</a:t>
            </a:r>
            <a:r>
              <a:rPr lang="en-US" sz="3999" b="1">
                <a:solidFill>
                  <a:srgbClr val="FFFFFF"/>
                </a:solidFill>
                <a:latin typeface="Poppins Semi-Bold"/>
                <a:ea typeface="Poppins Semi-Bold"/>
                <a:cs typeface="Poppins Semi-Bold"/>
                <a:sym typeface="Poppins Semi-Bold"/>
              </a:rPr>
              <a:t>.</a:t>
            </a:r>
            <a:r>
              <a:rPr lang="en-US" sz="3999" b="1">
                <a:solidFill>
                  <a:srgbClr val="FFCB85"/>
                </a:solidFill>
                <a:latin typeface="Poppins Semi-Bold"/>
                <a:ea typeface="Poppins Semi-Bold"/>
                <a:cs typeface="Poppins Semi-Bold"/>
                <a:sym typeface="Poppins Semi-Bold"/>
              </a:rPr>
              <a:t>WriteLine</a:t>
            </a:r>
            <a:r>
              <a:rPr lang="en-US" sz="3999" b="1">
                <a:solidFill>
                  <a:srgbClr val="FFFFFF"/>
                </a:solidFill>
                <a:latin typeface="Poppins Semi-Bold"/>
                <a:ea typeface="Poppins Semi-Bold"/>
                <a:cs typeface="Poppins Semi-Bold"/>
                <a:sym typeface="Poppins Semi-Bold"/>
              </a:rPr>
              <a:t>(resultado2);</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2220668" y="324326"/>
            <a:ext cx="1412355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Condicionais e Operadores Lógicos</a:t>
            </a:r>
          </a:p>
        </p:txBody>
      </p:sp>
      <p:sp>
        <p:nvSpPr>
          <p:cNvPr id="3" name="TextBox 3"/>
          <p:cNvSpPr txBox="1"/>
          <p:nvPr/>
        </p:nvSpPr>
        <p:spPr>
          <a:xfrm>
            <a:off x="164983" y="3116799"/>
            <a:ext cx="17946253" cy="1303611"/>
          </a:xfrm>
          <a:prstGeom prst="rect">
            <a:avLst/>
          </a:prstGeom>
        </p:spPr>
        <p:txBody>
          <a:bodyPr lIns="0" tIns="0" rIns="0" bIns="0" rtlCol="0" anchor="t">
            <a:spAutoFit/>
          </a:bodyPr>
          <a:lstStyle/>
          <a:p>
            <a:pPr algn="l">
              <a:lnSpc>
                <a:spcPts val="4723"/>
              </a:lnSpc>
            </a:pPr>
            <a:r>
              <a:rPr lang="en-US" sz="3999" b="1">
                <a:solidFill>
                  <a:srgbClr val="FFFFFF"/>
                </a:solidFill>
                <a:latin typeface="Poppins Semi-Bold"/>
                <a:ea typeface="Poppins Semi-Bold"/>
                <a:cs typeface="Poppins Semi-Bold"/>
                <a:sym typeface="Poppins Semi-Bold"/>
              </a:rPr>
              <a:t>Então aqui estão as condicionais que podemos utilizar para poder fazer essa comparação de valores:</a:t>
            </a:r>
          </a:p>
        </p:txBody>
      </p:sp>
      <p:sp>
        <p:nvSpPr>
          <p:cNvPr id="4" name="TextBox 4"/>
          <p:cNvSpPr txBox="1"/>
          <p:nvPr/>
        </p:nvSpPr>
        <p:spPr>
          <a:xfrm>
            <a:off x="164983" y="4917024"/>
            <a:ext cx="4332075" cy="3703911"/>
          </a:xfrm>
          <a:prstGeom prst="rect">
            <a:avLst/>
          </a:prstGeom>
        </p:spPr>
        <p:txBody>
          <a:bodyPr lIns="0" tIns="0" rIns="0" bIns="0" rtlCol="0" anchor="t">
            <a:spAutoFit/>
          </a:bodyPr>
          <a:lstStyle/>
          <a:p>
            <a:pPr algn="l">
              <a:lnSpc>
                <a:spcPts val="4723"/>
              </a:lnSpc>
            </a:pPr>
            <a:r>
              <a:rPr lang="en-US" sz="3999" b="1">
                <a:solidFill>
                  <a:srgbClr val="FFFFFF"/>
                </a:solidFill>
                <a:latin typeface="Poppins Semi-Bold"/>
                <a:ea typeface="Poppins Semi-Bold"/>
                <a:cs typeface="Poppins Semi-Bold"/>
                <a:sym typeface="Poppins Semi-Bold"/>
              </a:rPr>
              <a:t>valor1 </a:t>
            </a:r>
            <a:r>
              <a:rPr lang="en-US" sz="3999" b="1">
                <a:solidFill>
                  <a:srgbClr val="7ED957"/>
                </a:solidFill>
                <a:latin typeface="Poppins Semi-Bold"/>
                <a:ea typeface="Poppins Semi-Bold"/>
                <a:cs typeface="Poppins Semi-Bold"/>
                <a:sym typeface="Poppins Semi-Bold"/>
              </a:rPr>
              <a:t>&lt; </a:t>
            </a:r>
            <a:r>
              <a:rPr lang="en-US" sz="3999" b="1">
                <a:solidFill>
                  <a:srgbClr val="FFFFFF"/>
                </a:solidFill>
                <a:latin typeface="Poppins Semi-Bold"/>
                <a:ea typeface="Poppins Semi-Bold"/>
                <a:cs typeface="Poppins Semi-Bold"/>
                <a:sym typeface="Poppins Semi-Bold"/>
              </a:rPr>
              <a:t>valor2 valor1 </a:t>
            </a:r>
            <a:r>
              <a:rPr lang="en-US" sz="3999" b="1">
                <a:solidFill>
                  <a:srgbClr val="7ED957"/>
                </a:solidFill>
                <a:latin typeface="Poppins Semi-Bold"/>
                <a:ea typeface="Poppins Semi-Bold"/>
                <a:cs typeface="Poppins Semi-Bold"/>
                <a:sym typeface="Poppins Semi-Bold"/>
              </a:rPr>
              <a:t>&gt;</a:t>
            </a:r>
            <a:r>
              <a:rPr lang="en-US" sz="3999" b="1">
                <a:solidFill>
                  <a:srgbClr val="FFFFFF"/>
                </a:solidFill>
                <a:latin typeface="Poppins Semi-Bold"/>
                <a:ea typeface="Poppins Semi-Bold"/>
                <a:cs typeface="Poppins Semi-Bold"/>
                <a:sym typeface="Poppins Semi-Bold"/>
              </a:rPr>
              <a:t> valor2 valor1 </a:t>
            </a:r>
            <a:r>
              <a:rPr lang="en-US" sz="3999" b="1">
                <a:solidFill>
                  <a:srgbClr val="7ED957"/>
                </a:solidFill>
                <a:latin typeface="Poppins Semi-Bold"/>
                <a:ea typeface="Poppins Semi-Bold"/>
                <a:cs typeface="Poppins Semi-Bold"/>
                <a:sym typeface="Poppins Semi-Bold"/>
              </a:rPr>
              <a:t>&lt;=</a:t>
            </a:r>
            <a:r>
              <a:rPr lang="en-US" sz="3999" b="1">
                <a:solidFill>
                  <a:srgbClr val="FFFFFF"/>
                </a:solidFill>
                <a:latin typeface="Poppins Semi-Bold"/>
                <a:ea typeface="Poppins Semi-Bold"/>
                <a:cs typeface="Poppins Semi-Bold"/>
                <a:sym typeface="Poppins Semi-Bold"/>
              </a:rPr>
              <a:t> valor2 valor1 </a:t>
            </a:r>
            <a:r>
              <a:rPr lang="en-US" sz="3999" b="1">
                <a:solidFill>
                  <a:srgbClr val="7ED957"/>
                </a:solidFill>
                <a:latin typeface="Poppins Semi-Bold"/>
                <a:ea typeface="Poppins Semi-Bold"/>
                <a:cs typeface="Poppins Semi-Bold"/>
                <a:sym typeface="Poppins Semi-Bold"/>
              </a:rPr>
              <a:t>&gt;=</a:t>
            </a:r>
            <a:r>
              <a:rPr lang="en-US" sz="3999" b="1">
                <a:solidFill>
                  <a:srgbClr val="FFFFFF"/>
                </a:solidFill>
                <a:latin typeface="Poppins Semi-Bold"/>
                <a:ea typeface="Poppins Semi-Bold"/>
                <a:cs typeface="Poppins Semi-Bold"/>
                <a:sym typeface="Poppins Semi-Bold"/>
              </a:rPr>
              <a:t> valor2 valor1 </a:t>
            </a:r>
            <a:r>
              <a:rPr lang="en-US" sz="3999" b="1">
                <a:solidFill>
                  <a:srgbClr val="7ED957"/>
                </a:solidFill>
                <a:latin typeface="Poppins Semi-Bold"/>
                <a:ea typeface="Poppins Semi-Bold"/>
                <a:cs typeface="Poppins Semi-Bold"/>
                <a:sym typeface="Poppins Semi-Bold"/>
              </a:rPr>
              <a:t>==</a:t>
            </a:r>
            <a:r>
              <a:rPr lang="en-US" sz="3999" b="1">
                <a:solidFill>
                  <a:srgbClr val="FFFFFF"/>
                </a:solidFill>
                <a:latin typeface="Poppins Semi-Bold"/>
                <a:ea typeface="Poppins Semi-Bold"/>
                <a:cs typeface="Poppins Semi-Bold"/>
                <a:sym typeface="Poppins Semi-Bold"/>
              </a:rPr>
              <a:t> valor2 valor1 </a:t>
            </a:r>
            <a:r>
              <a:rPr lang="en-US" sz="3999" b="1">
                <a:solidFill>
                  <a:srgbClr val="7ED957"/>
                </a:solidFill>
                <a:latin typeface="Poppins Semi-Bold"/>
                <a:ea typeface="Poppins Semi-Bold"/>
                <a:cs typeface="Poppins Semi-Bold"/>
                <a:sym typeface="Poppins Semi-Bold"/>
              </a:rPr>
              <a:t>!=</a:t>
            </a:r>
            <a:r>
              <a:rPr lang="en-US" sz="3999" b="1">
                <a:solidFill>
                  <a:srgbClr val="FFFFFF"/>
                </a:solidFill>
                <a:latin typeface="Poppins Semi-Bold"/>
                <a:ea typeface="Poppins Semi-Bold"/>
                <a:cs typeface="Poppins Semi-Bold"/>
                <a:sym typeface="Poppins Semi-Bold"/>
              </a:rPr>
              <a:t> valor2</a:t>
            </a:r>
          </a:p>
        </p:txBody>
      </p:sp>
      <p:sp>
        <p:nvSpPr>
          <p:cNvPr id="5" name="TextBox 5"/>
          <p:cNvSpPr txBox="1"/>
          <p:nvPr/>
        </p:nvSpPr>
        <p:spPr>
          <a:xfrm>
            <a:off x="4921929" y="4917024"/>
            <a:ext cx="9598781" cy="3703911"/>
          </a:xfrm>
          <a:prstGeom prst="rect">
            <a:avLst/>
          </a:prstGeom>
        </p:spPr>
        <p:txBody>
          <a:bodyPr lIns="0" tIns="0" rIns="0" bIns="0" rtlCol="0" anchor="t">
            <a:spAutoFit/>
          </a:bodyPr>
          <a:lstStyle/>
          <a:p>
            <a:pPr algn="l">
              <a:lnSpc>
                <a:spcPts val="4723"/>
              </a:lnSpc>
            </a:pPr>
            <a:r>
              <a:rPr lang="en-US" sz="3999" b="1">
                <a:solidFill>
                  <a:srgbClr val="FF5757"/>
                </a:solidFill>
                <a:latin typeface="Poppins Semi-Bold"/>
                <a:ea typeface="Poppins Semi-Bold"/>
                <a:cs typeface="Poppins Semi-Bold"/>
                <a:sym typeface="Poppins Semi-Bold"/>
              </a:rPr>
              <a:t>- </a:t>
            </a:r>
            <a:r>
              <a:rPr lang="en-US" sz="3999" b="1">
                <a:solidFill>
                  <a:srgbClr val="FFFFFF"/>
                </a:solidFill>
                <a:latin typeface="Poppins Semi-Bold"/>
                <a:ea typeface="Poppins Semi-Bold"/>
                <a:cs typeface="Poppins Semi-Bold"/>
                <a:sym typeface="Poppins Semi-Bold"/>
              </a:rPr>
              <a:t>valor1 </a:t>
            </a:r>
            <a:r>
              <a:rPr lang="en-US" sz="3999" b="1">
                <a:solidFill>
                  <a:srgbClr val="7ED957"/>
                </a:solidFill>
                <a:latin typeface="Poppins Semi-Bold"/>
                <a:ea typeface="Poppins Semi-Bold"/>
                <a:cs typeface="Poppins Semi-Bold"/>
                <a:sym typeface="Poppins Semi-Bold"/>
              </a:rPr>
              <a:t>menor que</a:t>
            </a:r>
            <a:r>
              <a:rPr lang="en-US" sz="3999" b="1">
                <a:solidFill>
                  <a:srgbClr val="FFFFFF"/>
                </a:solidFill>
                <a:latin typeface="Poppins Semi-Bold"/>
                <a:ea typeface="Poppins Semi-Bold"/>
                <a:cs typeface="Poppins Semi-Bold"/>
                <a:sym typeface="Poppins Semi-Bold"/>
              </a:rPr>
              <a:t> valor2 </a:t>
            </a:r>
            <a:r>
              <a:rPr lang="en-US" sz="3999" b="1">
                <a:solidFill>
                  <a:srgbClr val="FF5757"/>
                </a:solidFill>
                <a:latin typeface="Poppins Semi-Bold"/>
                <a:ea typeface="Poppins Semi-Bold"/>
                <a:cs typeface="Poppins Semi-Bold"/>
                <a:sym typeface="Poppins Semi-Bold"/>
              </a:rPr>
              <a:t>- </a:t>
            </a:r>
            <a:r>
              <a:rPr lang="en-US" sz="3999" b="1">
                <a:solidFill>
                  <a:srgbClr val="FFFFFF"/>
                </a:solidFill>
                <a:latin typeface="Poppins Semi-Bold"/>
                <a:ea typeface="Poppins Semi-Bold"/>
                <a:cs typeface="Poppins Semi-Bold"/>
                <a:sym typeface="Poppins Semi-Bold"/>
              </a:rPr>
              <a:t>valor1 </a:t>
            </a:r>
            <a:r>
              <a:rPr lang="en-US" sz="3999" b="1">
                <a:solidFill>
                  <a:srgbClr val="7ED957"/>
                </a:solidFill>
                <a:latin typeface="Poppins Semi-Bold"/>
                <a:ea typeface="Poppins Semi-Bold"/>
                <a:cs typeface="Poppins Semi-Bold"/>
                <a:sym typeface="Poppins Semi-Bold"/>
              </a:rPr>
              <a:t>maior que</a:t>
            </a:r>
            <a:r>
              <a:rPr lang="en-US" sz="3999" b="1">
                <a:solidFill>
                  <a:srgbClr val="FFFFFF"/>
                </a:solidFill>
                <a:latin typeface="Poppins Semi-Bold"/>
                <a:ea typeface="Poppins Semi-Bold"/>
                <a:cs typeface="Poppins Semi-Bold"/>
                <a:sym typeface="Poppins Semi-Bold"/>
              </a:rPr>
              <a:t> valor2 </a:t>
            </a:r>
            <a:r>
              <a:rPr lang="en-US" sz="3999" b="1">
                <a:solidFill>
                  <a:srgbClr val="FF5757"/>
                </a:solidFill>
                <a:latin typeface="Poppins Semi-Bold"/>
                <a:ea typeface="Poppins Semi-Bold"/>
                <a:cs typeface="Poppins Semi-Bold"/>
                <a:sym typeface="Poppins Semi-Bold"/>
              </a:rPr>
              <a:t>- </a:t>
            </a:r>
            <a:r>
              <a:rPr lang="en-US" sz="3999" b="1">
                <a:solidFill>
                  <a:srgbClr val="FFFFFF"/>
                </a:solidFill>
                <a:latin typeface="Poppins Semi-Bold"/>
                <a:ea typeface="Poppins Semi-Bold"/>
                <a:cs typeface="Poppins Semi-Bold"/>
                <a:sym typeface="Poppins Semi-Bold"/>
              </a:rPr>
              <a:t>valor1 </a:t>
            </a:r>
            <a:r>
              <a:rPr lang="en-US" sz="3999" b="1">
                <a:solidFill>
                  <a:srgbClr val="7ED957"/>
                </a:solidFill>
                <a:latin typeface="Poppins Semi-Bold"/>
                <a:ea typeface="Poppins Semi-Bold"/>
                <a:cs typeface="Poppins Semi-Bold"/>
                <a:sym typeface="Poppins Semi-Bold"/>
              </a:rPr>
              <a:t>menor ou igual que</a:t>
            </a:r>
            <a:r>
              <a:rPr lang="en-US" sz="3999" b="1">
                <a:solidFill>
                  <a:srgbClr val="FFFFFF"/>
                </a:solidFill>
                <a:latin typeface="Poppins Semi-Bold"/>
                <a:ea typeface="Poppins Semi-Bold"/>
                <a:cs typeface="Poppins Semi-Bold"/>
                <a:sym typeface="Poppins Semi-Bold"/>
              </a:rPr>
              <a:t> valor2 </a:t>
            </a:r>
            <a:r>
              <a:rPr lang="en-US" sz="3999" b="1">
                <a:solidFill>
                  <a:srgbClr val="FF5757"/>
                </a:solidFill>
                <a:latin typeface="Poppins Semi-Bold"/>
                <a:ea typeface="Poppins Semi-Bold"/>
                <a:cs typeface="Poppins Semi-Bold"/>
                <a:sym typeface="Poppins Semi-Bold"/>
              </a:rPr>
              <a:t>- </a:t>
            </a:r>
            <a:r>
              <a:rPr lang="en-US" sz="3999" b="1">
                <a:solidFill>
                  <a:srgbClr val="FFFFFF"/>
                </a:solidFill>
                <a:latin typeface="Poppins Semi-Bold"/>
                <a:ea typeface="Poppins Semi-Bold"/>
                <a:cs typeface="Poppins Semi-Bold"/>
                <a:sym typeface="Poppins Semi-Bold"/>
              </a:rPr>
              <a:t>valor1 </a:t>
            </a:r>
            <a:r>
              <a:rPr lang="en-US" sz="3999" b="1">
                <a:solidFill>
                  <a:srgbClr val="7ED957"/>
                </a:solidFill>
                <a:latin typeface="Poppins Semi-Bold"/>
                <a:ea typeface="Poppins Semi-Bold"/>
                <a:cs typeface="Poppins Semi-Bold"/>
                <a:sym typeface="Poppins Semi-Bold"/>
              </a:rPr>
              <a:t>maior ou igual que</a:t>
            </a:r>
            <a:r>
              <a:rPr lang="en-US" sz="3999" b="1">
                <a:solidFill>
                  <a:srgbClr val="FFFFFF"/>
                </a:solidFill>
                <a:latin typeface="Poppins Semi-Bold"/>
                <a:ea typeface="Poppins Semi-Bold"/>
                <a:cs typeface="Poppins Semi-Bold"/>
                <a:sym typeface="Poppins Semi-Bold"/>
              </a:rPr>
              <a:t> valor2 </a:t>
            </a:r>
            <a:r>
              <a:rPr lang="en-US" sz="3999" b="1">
                <a:solidFill>
                  <a:srgbClr val="FF5757"/>
                </a:solidFill>
                <a:latin typeface="Poppins Semi-Bold"/>
                <a:ea typeface="Poppins Semi-Bold"/>
                <a:cs typeface="Poppins Semi-Bold"/>
                <a:sym typeface="Poppins Semi-Bold"/>
              </a:rPr>
              <a:t>- </a:t>
            </a:r>
            <a:r>
              <a:rPr lang="en-US" sz="3999" b="1">
                <a:solidFill>
                  <a:srgbClr val="FFFFFF"/>
                </a:solidFill>
                <a:latin typeface="Poppins Semi-Bold"/>
                <a:ea typeface="Poppins Semi-Bold"/>
                <a:cs typeface="Poppins Semi-Bold"/>
                <a:sym typeface="Poppins Semi-Bold"/>
              </a:rPr>
              <a:t>valor1 </a:t>
            </a:r>
            <a:r>
              <a:rPr lang="en-US" sz="3999" b="1">
                <a:solidFill>
                  <a:srgbClr val="7ED957"/>
                </a:solidFill>
                <a:latin typeface="Poppins Semi-Bold"/>
                <a:ea typeface="Poppins Semi-Bold"/>
                <a:cs typeface="Poppins Semi-Bold"/>
                <a:sym typeface="Poppins Semi-Bold"/>
              </a:rPr>
              <a:t>igual a</a:t>
            </a:r>
            <a:r>
              <a:rPr lang="en-US" sz="3999" b="1">
                <a:solidFill>
                  <a:srgbClr val="FFFFFF"/>
                </a:solidFill>
                <a:latin typeface="Poppins Semi-Bold"/>
                <a:ea typeface="Poppins Semi-Bold"/>
                <a:cs typeface="Poppins Semi-Bold"/>
                <a:sym typeface="Poppins Semi-Bold"/>
              </a:rPr>
              <a:t> valor2 </a:t>
            </a:r>
            <a:r>
              <a:rPr lang="en-US" sz="3999" b="1">
                <a:solidFill>
                  <a:srgbClr val="FF5757"/>
                </a:solidFill>
                <a:latin typeface="Poppins Semi-Bold"/>
                <a:ea typeface="Poppins Semi-Bold"/>
                <a:cs typeface="Poppins Semi-Bold"/>
                <a:sym typeface="Poppins Semi-Bold"/>
              </a:rPr>
              <a:t>- </a:t>
            </a:r>
            <a:r>
              <a:rPr lang="en-US" sz="3999" b="1">
                <a:solidFill>
                  <a:srgbClr val="FFFFFF"/>
                </a:solidFill>
                <a:latin typeface="Poppins Semi-Bold"/>
                <a:ea typeface="Poppins Semi-Bold"/>
                <a:cs typeface="Poppins Semi-Bold"/>
                <a:sym typeface="Poppins Semi-Bold"/>
              </a:rPr>
              <a:t>valor1 </a:t>
            </a:r>
            <a:r>
              <a:rPr lang="en-US" sz="3999" b="1">
                <a:solidFill>
                  <a:srgbClr val="7ED957"/>
                </a:solidFill>
                <a:latin typeface="Poppins Semi-Bold"/>
                <a:ea typeface="Poppins Semi-Bold"/>
                <a:cs typeface="Poppins Semi-Bold"/>
                <a:sym typeface="Poppins Semi-Bold"/>
              </a:rPr>
              <a:t>diferente de</a:t>
            </a:r>
            <a:r>
              <a:rPr lang="en-US" sz="3999" b="1">
                <a:solidFill>
                  <a:srgbClr val="FFFFFF"/>
                </a:solidFill>
                <a:latin typeface="Poppins Semi-Bold"/>
                <a:ea typeface="Poppins Semi-Bold"/>
                <a:cs typeface="Poppins Semi-Bold"/>
                <a:sym typeface="Poppins Semi-Bold"/>
              </a:rPr>
              <a:t> valor2</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2220668" y="324326"/>
            <a:ext cx="1412355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Condicionais e Operadores Lógicos</a:t>
            </a:r>
          </a:p>
        </p:txBody>
      </p:sp>
      <p:sp>
        <p:nvSpPr>
          <p:cNvPr id="3" name="TextBox 3"/>
          <p:cNvSpPr txBox="1"/>
          <p:nvPr/>
        </p:nvSpPr>
        <p:spPr>
          <a:xfrm>
            <a:off x="1058247" y="2885418"/>
            <a:ext cx="16494585" cy="5303187"/>
          </a:xfrm>
          <a:prstGeom prst="rect">
            <a:avLst/>
          </a:prstGeom>
        </p:spPr>
        <p:txBody>
          <a:bodyPr lIns="0" tIns="0" rIns="0" bIns="0" rtlCol="0" anchor="t">
            <a:spAutoFit/>
          </a:bodyPr>
          <a:lstStyle/>
          <a:p>
            <a:pPr algn="ctr">
              <a:lnSpc>
                <a:spcPts val="8098"/>
              </a:lnSpc>
            </a:pPr>
            <a:r>
              <a:rPr lang="en-US" sz="6799" b="1">
                <a:solidFill>
                  <a:srgbClr val="FFCB85"/>
                </a:solidFill>
                <a:latin typeface="Poppins Semi-Bold"/>
                <a:ea typeface="Poppins Semi-Bold"/>
                <a:cs typeface="Poppins Semi-Bold"/>
                <a:sym typeface="Poppins Semi-Bold"/>
              </a:rPr>
              <a:t>78</a:t>
            </a:r>
            <a:r>
              <a:rPr lang="en-US" sz="6799" b="1">
                <a:solidFill>
                  <a:srgbClr val="FFFFFF"/>
                </a:solidFill>
                <a:latin typeface="Poppins Semi-Bold"/>
                <a:ea typeface="Poppins Semi-Bold"/>
                <a:cs typeface="Poppins Semi-Bold"/>
                <a:sym typeface="Poppins Semi-Bold"/>
              </a:rPr>
              <a:t> </a:t>
            </a:r>
            <a:r>
              <a:rPr lang="en-US" sz="6799" b="1">
                <a:solidFill>
                  <a:srgbClr val="7ED957"/>
                </a:solidFill>
                <a:latin typeface="Poppins Semi-Bold"/>
                <a:ea typeface="Poppins Semi-Bold"/>
                <a:cs typeface="Poppins Semi-Bold"/>
                <a:sym typeface="Poppins Semi-Bold"/>
              </a:rPr>
              <a:t>==</a:t>
            </a:r>
            <a:r>
              <a:rPr lang="en-US" sz="6799" b="1">
                <a:solidFill>
                  <a:srgbClr val="FFFFFF"/>
                </a:solidFill>
                <a:latin typeface="Poppins Semi-Bold"/>
                <a:ea typeface="Poppins Semi-Bold"/>
                <a:cs typeface="Poppins Semi-Bold"/>
                <a:sym typeface="Poppins Semi-Bold"/>
              </a:rPr>
              <a:t> </a:t>
            </a:r>
            <a:r>
              <a:rPr lang="en-US" sz="6799" b="1">
                <a:solidFill>
                  <a:srgbClr val="FFCB85"/>
                </a:solidFill>
                <a:latin typeface="Poppins Semi-Bold"/>
                <a:ea typeface="Poppins Semi-Bold"/>
                <a:cs typeface="Poppins Semi-Bold"/>
                <a:sym typeface="Poppins Semi-Bold"/>
              </a:rPr>
              <a:t>42 78</a:t>
            </a:r>
            <a:r>
              <a:rPr lang="en-US" sz="6799" b="1">
                <a:solidFill>
                  <a:srgbClr val="FFFFFF"/>
                </a:solidFill>
                <a:latin typeface="Poppins Semi-Bold"/>
                <a:ea typeface="Poppins Semi-Bold"/>
                <a:cs typeface="Poppins Semi-Bold"/>
                <a:sym typeface="Poppins Semi-Bold"/>
              </a:rPr>
              <a:t> </a:t>
            </a:r>
            <a:r>
              <a:rPr lang="en-US" sz="6799" b="1">
                <a:solidFill>
                  <a:srgbClr val="7ED957"/>
                </a:solidFill>
                <a:latin typeface="Poppins Semi-Bold"/>
                <a:ea typeface="Poppins Semi-Bold"/>
                <a:cs typeface="Poppins Semi-Bold"/>
                <a:sym typeface="Poppins Semi-Bold"/>
              </a:rPr>
              <a:t>igual a</a:t>
            </a:r>
            <a:r>
              <a:rPr lang="en-US" sz="6799" b="1">
                <a:solidFill>
                  <a:srgbClr val="FFFFFF"/>
                </a:solidFill>
                <a:latin typeface="Poppins Semi-Bold"/>
                <a:ea typeface="Poppins Semi-Bold"/>
                <a:cs typeface="Poppins Semi-Bold"/>
                <a:sym typeface="Poppins Semi-Bold"/>
              </a:rPr>
              <a:t> </a:t>
            </a:r>
            <a:r>
              <a:rPr lang="en-US" sz="6799" b="1">
                <a:solidFill>
                  <a:srgbClr val="FFCB85"/>
                </a:solidFill>
                <a:latin typeface="Poppins Semi-Bold"/>
                <a:ea typeface="Poppins Semi-Bold"/>
                <a:cs typeface="Poppins Semi-Bold"/>
                <a:sym typeface="Poppins Semi-Bold"/>
              </a:rPr>
              <a:t>42 </a:t>
            </a:r>
            <a:r>
              <a:rPr lang="en-US" sz="6799" b="1">
                <a:solidFill>
                  <a:srgbClr val="FFFFFF"/>
                </a:solidFill>
                <a:latin typeface="Poppins Semi-Bold"/>
                <a:ea typeface="Poppins Semi-Bold"/>
                <a:cs typeface="Poppins Semi-Bold"/>
                <a:sym typeface="Poppins Semi-Bold"/>
              </a:rPr>
              <a:t>Essa condição o programa entende como </a:t>
            </a:r>
            <a:r>
              <a:rPr lang="en-US" sz="6799" b="1">
                <a:solidFill>
                  <a:srgbClr val="3C67BF"/>
                </a:solidFill>
                <a:latin typeface="Poppins Semi-Bold"/>
                <a:ea typeface="Poppins Semi-Bold"/>
                <a:cs typeface="Poppins Semi-Bold"/>
                <a:sym typeface="Poppins Semi-Bold"/>
              </a:rPr>
              <a:t>falso</a:t>
            </a:r>
            <a:r>
              <a:rPr lang="en-US" sz="6799" b="1">
                <a:solidFill>
                  <a:srgbClr val="FFFFFF"/>
                </a:solidFill>
                <a:latin typeface="Poppins Semi-Bold"/>
                <a:ea typeface="Poppins Semi-Bold"/>
                <a:cs typeface="Poppins Semi-Bold"/>
                <a:sym typeface="Poppins Semi-Bold"/>
              </a:rPr>
              <a:t>, pois o número </a:t>
            </a:r>
            <a:r>
              <a:rPr lang="en-US" sz="6799" b="1">
                <a:solidFill>
                  <a:srgbClr val="FFCB85"/>
                </a:solidFill>
                <a:latin typeface="Poppins Semi-Bold"/>
                <a:ea typeface="Poppins Semi-Bold"/>
                <a:cs typeface="Poppins Semi-Bold"/>
                <a:sym typeface="Poppins Semi-Bold"/>
              </a:rPr>
              <a:t>78</a:t>
            </a:r>
            <a:r>
              <a:rPr lang="en-US" sz="6799" b="1">
                <a:solidFill>
                  <a:srgbClr val="FFFFFF"/>
                </a:solidFill>
                <a:latin typeface="Poppins Semi-Bold"/>
                <a:ea typeface="Poppins Semi-Bold"/>
                <a:cs typeface="Poppins Semi-Bold"/>
                <a:sym typeface="Poppins Semi-Bold"/>
              </a:rPr>
              <a:t> </a:t>
            </a:r>
            <a:r>
              <a:rPr lang="en-US" sz="6799" b="1">
                <a:solidFill>
                  <a:srgbClr val="FF5757"/>
                </a:solidFill>
                <a:latin typeface="Poppins Semi-Bold"/>
                <a:ea typeface="Poppins Semi-Bold"/>
                <a:cs typeface="Poppins Semi-Bold"/>
                <a:sym typeface="Poppins Semi-Bold"/>
              </a:rPr>
              <a:t>NÃO</a:t>
            </a:r>
            <a:r>
              <a:rPr lang="en-US" sz="6799" b="1">
                <a:solidFill>
                  <a:srgbClr val="FFFFFF"/>
                </a:solidFill>
                <a:latin typeface="Poppins Semi-Bold"/>
                <a:ea typeface="Poppins Semi-Bold"/>
                <a:cs typeface="Poppins Semi-Bold"/>
                <a:sym typeface="Poppins Semi-Bold"/>
              </a:rPr>
              <a:t> </a:t>
            </a:r>
            <a:r>
              <a:rPr lang="en-US" sz="6799" b="1">
                <a:solidFill>
                  <a:srgbClr val="FF5757"/>
                </a:solidFill>
                <a:latin typeface="Poppins Semi-Bold"/>
                <a:ea typeface="Poppins Semi-Bold"/>
                <a:cs typeface="Poppins Semi-Bold"/>
                <a:sym typeface="Poppins Semi-Bold"/>
              </a:rPr>
              <a:t>é igual a</a:t>
            </a:r>
            <a:r>
              <a:rPr lang="en-US" sz="6799" b="1">
                <a:solidFill>
                  <a:srgbClr val="FFFFFF"/>
                </a:solidFill>
                <a:latin typeface="Poppins Semi-Bold"/>
                <a:ea typeface="Poppins Semi-Bold"/>
                <a:cs typeface="Poppins Semi-Bold"/>
                <a:sym typeface="Poppins Semi-Bold"/>
              </a:rPr>
              <a:t> </a:t>
            </a:r>
            <a:r>
              <a:rPr lang="en-US" sz="6799" b="1">
                <a:solidFill>
                  <a:srgbClr val="FFCB85"/>
                </a:solidFill>
                <a:latin typeface="Poppins Semi-Bold"/>
                <a:ea typeface="Poppins Semi-Bold"/>
                <a:cs typeface="Poppins Semi-Bold"/>
                <a:sym typeface="Poppins Semi-Bold"/>
              </a:rPr>
              <a:t>42</a:t>
            </a:r>
            <a:r>
              <a:rPr lang="en-US" sz="6799" b="1">
                <a:solidFill>
                  <a:srgbClr val="FFFFFF"/>
                </a:solidFill>
                <a:latin typeface="Poppins Semi-Bold"/>
                <a:ea typeface="Poppins Semi-Bold"/>
                <a:cs typeface="Poppins Semi-Bold"/>
                <a:sym typeface="Poppins Semi-Bold"/>
              </a:rPr>
              <a:t>. </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211560" y="324326"/>
            <a:ext cx="18221754" cy="8396116"/>
          </a:xfrm>
          <a:prstGeom prst="rect">
            <a:avLst/>
          </a:prstGeom>
        </p:spPr>
        <p:txBody>
          <a:bodyPr lIns="0" tIns="0" rIns="0" bIns="0" rtlCol="0" anchor="t">
            <a:spAutoFit/>
          </a:bodyPr>
          <a:lstStyle/>
          <a:p>
            <a:pPr algn="ctr">
              <a:lnSpc>
                <a:spcPts val="8350"/>
              </a:lnSpc>
            </a:pPr>
            <a:r>
              <a:rPr lang="en-US" sz="5964" b="1">
                <a:solidFill>
                  <a:srgbClr val="FFFFFF"/>
                </a:solidFill>
                <a:latin typeface="Poppins Semi-Bold"/>
                <a:ea typeface="Poppins Semi-Bold"/>
                <a:cs typeface="Poppins Semi-Bold"/>
                <a:sym typeface="Poppins Semi-Bold"/>
              </a:rPr>
              <a:t>Condicionais e Operadores Lógicos</a:t>
            </a:r>
          </a:p>
          <a:p>
            <a:pPr algn="ctr">
              <a:lnSpc>
                <a:spcPts val="8098"/>
              </a:lnSpc>
            </a:pPr>
            <a:r>
              <a:rPr lang="en-US" sz="6799" b="1">
                <a:solidFill>
                  <a:srgbClr val="FFCB85"/>
                </a:solidFill>
                <a:latin typeface="Poppins Semi-Bold"/>
                <a:ea typeface="Poppins Semi-Bold"/>
                <a:cs typeface="Poppins Semi-Bold"/>
                <a:sym typeface="Poppins Semi-Bold"/>
              </a:rPr>
              <a:t>23 </a:t>
            </a:r>
            <a:r>
              <a:rPr lang="en-US" sz="6799" b="1">
                <a:solidFill>
                  <a:srgbClr val="7ED957"/>
                </a:solidFill>
                <a:latin typeface="Poppins Semi-Bold"/>
                <a:ea typeface="Poppins Semi-Bold"/>
                <a:cs typeface="Poppins Semi-Bold"/>
                <a:sym typeface="Poppins Semi-Bold"/>
              </a:rPr>
              <a:t>&lt;=</a:t>
            </a:r>
            <a:r>
              <a:rPr lang="en-US" sz="6799" b="1">
                <a:solidFill>
                  <a:srgbClr val="FFCB85"/>
                </a:solidFill>
                <a:latin typeface="Poppins Semi-Bold"/>
                <a:ea typeface="Poppins Semi-Bold"/>
                <a:cs typeface="Poppins Semi-Bold"/>
                <a:sym typeface="Poppins Semi-Bold"/>
              </a:rPr>
              <a:t> 23 23 </a:t>
            </a:r>
            <a:r>
              <a:rPr lang="en-US" sz="6799" b="1">
                <a:solidFill>
                  <a:srgbClr val="7ED957"/>
                </a:solidFill>
                <a:latin typeface="Poppins Semi-Bold"/>
                <a:ea typeface="Poppins Semi-Bold"/>
                <a:cs typeface="Poppins Semi-Bold"/>
                <a:sym typeface="Poppins Semi-Bold"/>
              </a:rPr>
              <a:t>menor ou igual a</a:t>
            </a:r>
            <a:r>
              <a:rPr lang="en-US" sz="6799" b="1">
                <a:solidFill>
                  <a:srgbClr val="FFCB85"/>
                </a:solidFill>
                <a:latin typeface="Poppins Semi-Bold"/>
                <a:ea typeface="Poppins Semi-Bold"/>
                <a:cs typeface="Poppins Semi-Bold"/>
                <a:sym typeface="Poppins Semi-Bold"/>
              </a:rPr>
              <a:t> 23 </a:t>
            </a:r>
            <a:r>
              <a:rPr lang="en-US" sz="6799" b="1">
                <a:solidFill>
                  <a:srgbClr val="FFFFFF"/>
                </a:solidFill>
                <a:latin typeface="Poppins Semi-Bold"/>
                <a:ea typeface="Poppins Semi-Bold"/>
                <a:cs typeface="Poppins Semi-Bold"/>
                <a:sym typeface="Poppins Semi-Bold"/>
              </a:rPr>
              <a:t>Essa condição o programa entende como</a:t>
            </a:r>
            <a:r>
              <a:rPr lang="en-US" sz="6799" b="1">
                <a:solidFill>
                  <a:srgbClr val="FFCB85"/>
                </a:solidFill>
                <a:latin typeface="Poppins Semi-Bold"/>
                <a:ea typeface="Poppins Semi-Bold"/>
                <a:cs typeface="Poppins Semi-Bold"/>
                <a:sym typeface="Poppins Semi-Bold"/>
              </a:rPr>
              <a:t> </a:t>
            </a:r>
            <a:r>
              <a:rPr lang="en-US" sz="6799" b="1">
                <a:solidFill>
                  <a:srgbClr val="3C67BF"/>
                </a:solidFill>
                <a:latin typeface="Poppins Semi-Bold"/>
                <a:ea typeface="Poppins Semi-Bold"/>
                <a:cs typeface="Poppins Semi-Bold"/>
                <a:sym typeface="Poppins Semi-Bold"/>
              </a:rPr>
              <a:t>verdadeiro</a:t>
            </a:r>
            <a:r>
              <a:rPr lang="en-US" sz="6799" b="1">
                <a:solidFill>
                  <a:srgbClr val="FFFFFF"/>
                </a:solidFill>
                <a:latin typeface="Poppins Semi-Bold"/>
                <a:ea typeface="Poppins Semi-Bold"/>
                <a:cs typeface="Poppins Semi-Bold"/>
                <a:sym typeface="Poppins Semi-Bold"/>
              </a:rPr>
              <a:t>, pois o número </a:t>
            </a:r>
            <a:r>
              <a:rPr lang="en-US" sz="6799" b="1">
                <a:solidFill>
                  <a:srgbClr val="FFCB85"/>
                </a:solidFill>
                <a:latin typeface="Poppins Semi-Bold"/>
                <a:ea typeface="Poppins Semi-Bold"/>
                <a:cs typeface="Poppins Semi-Bold"/>
                <a:sym typeface="Poppins Semi-Bold"/>
              </a:rPr>
              <a:t>23 </a:t>
            </a:r>
            <a:r>
              <a:rPr lang="en-US" sz="6799" b="1">
                <a:solidFill>
                  <a:srgbClr val="FF5757"/>
                </a:solidFill>
                <a:latin typeface="Poppins Semi-Bold"/>
                <a:ea typeface="Poppins Semi-Bold"/>
                <a:cs typeface="Poppins Semi-Bold"/>
                <a:sym typeface="Poppins Semi-Bold"/>
              </a:rPr>
              <a:t>não é menor que ele mesmo, mas é igual a ele</a:t>
            </a:r>
            <a:r>
              <a:rPr lang="en-US" sz="6799" b="1">
                <a:solidFill>
                  <a:srgbClr val="FFFFFF"/>
                </a:solidFill>
                <a:latin typeface="Poppins Semi-Bold"/>
                <a:ea typeface="Poppins Semi-Bold"/>
                <a:cs typeface="Poppins Semi-Bold"/>
                <a:sym typeface="Poppins Semi-Bold"/>
              </a:rPr>
              <a:t>. </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2220668" y="324326"/>
            <a:ext cx="1412355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Condicionais e Operadores Lógicos</a:t>
            </a:r>
          </a:p>
        </p:txBody>
      </p:sp>
      <p:sp>
        <p:nvSpPr>
          <p:cNvPr id="3" name="TextBox 3"/>
          <p:cNvSpPr txBox="1"/>
          <p:nvPr/>
        </p:nvSpPr>
        <p:spPr>
          <a:xfrm>
            <a:off x="1134447" y="2885418"/>
            <a:ext cx="16339204" cy="5303187"/>
          </a:xfrm>
          <a:prstGeom prst="rect">
            <a:avLst/>
          </a:prstGeom>
        </p:spPr>
        <p:txBody>
          <a:bodyPr lIns="0" tIns="0" rIns="0" bIns="0" rtlCol="0" anchor="t">
            <a:spAutoFit/>
          </a:bodyPr>
          <a:lstStyle/>
          <a:p>
            <a:pPr algn="ctr">
              <a:lnSpc>
                <a:spcPts val="8098"/>
              </a:lnSpc>
            </a:pPr>
            <a:r>
              <a:rPr lang="en-US" sz="6799" b="1">
                <a:solidFill>
                  <a:srgbClr val="FFCB85"/>
                </a:solidFill>
                <a:latin typeface="Poppins Semi-Bold"/>
                <a:ea typeface="Poppins Semi-Bold"/>
                <a:cs typeface="Poppins Semi-Bold"/>
                <a:sym typeface="Poppins Semi-Bold"/>
              </a:rPr>
              <a:t>27 </a:t>
            </a:r>
            <a:r>
              <a:rPr lang="en-US" sz="6799" b="1">
                <a:solidFill>
                  <a:srgbClr val="7ED957"/>
                </a:solidFill>
                <a:latin typeface="Poppins Semi-Bold"/>
                <a:ea typeface="Poppins Semi-Bold"/>
                <a:cs typeface="Poppins Semi-Bold"/>
                <a:sym typeface="Poppins Semi-Bold"/>
              </a:rPr>
              <a:t>!=</a:t>
            </a:r>
            <a:r>
              <a:rPr lang="en-US" sz="6799" b="1">
                <a:solidFill>
                  <a:srgbClr val="FFCB85"/>
                </a:solidFill>
                <a:latin typeface="Poppins Semi-Bold"/>
                <a:ea typeface="Poppins Semi-Bold"/>
                <a:cs typeface="Poppins Semi-Bold"/>
                <a:sym typeface="Poppins Semi-Bold"/>
              </a:rPr>
              <a:t> 61 27 </a:t>
            </a:r>
            <a:r>
              <a:rPr lang="en-US" sz="6799" b="1">
                <a:solidFill>
                  <a:srgbClr val="7ED957"/>
                </a:solidFill>
                <a:latin typeface="Poppins Semi-Bold"/>
                <a:ea typeface="Poppins Semi-Bold"/>
                <a:cs typeface="Poppins Semi-Bold"/>
                <a:sym typeface="Poppins Semi-Bold"/>
              </a:rPr>
              <a:t>diferente de</a:t>
            </a:r>
            <a:r>
              <a:rPr lang="en-US" sz="6799" b="1">
                <a:solidFill>
                  <a:srgbClr val="FFCB85"/>
                </a:solidFill>
                <a:latin typeface="Poppins Semi-Bold"/>
                <a:ea typeface="Poppins Semi-Bold"/>
                <a:cs typeface="Poppins Semi-Bold"/>
                <a:sym typeface="Poppins Semi-Bold"/>
              </a:rPr>
              <a:t> 61 </a:t>
            </a:r>
            <a:r>
              <a:rPr lang="en-US" sz="6799" b="1">
                <a:solidFill>
                  <a:srgbClr val="FFFFFF"/>
                </a:solidFill>
                <a:latin typeface="Poppins Semi-Bold"/>
                <a:ea typeface="Poppins Semi-Bold"/>
                <a:cs typeface="Poppins Semi-Bold"/>
                <a:sym typeface="Poppins Semi-Bold"/>
              </a:rPr>
              <a:t>Essa condição o programa entende como</a:t>
            </a:r>
            <a:r>
              <a:rPr lang="en-US" sz="6799" b="1">
                <a:solidFill>
                  <a:srgbClr val="FFCB85"/>
                </a:solidFill>
                <a:latin typeface="Poppins Semi-Bold"/>
                <a:ea typeface="Poppins Semi-Bold"/>
                <a:cs typeface="Poppins Semi-Bold"/>
                <a:sym typeface="Poppins Semi-Bold"/>
              </a:rPr>
              <a:t> </a:t>
            </a:r>
            <a:r>
              <a:rPr lang="en-US" sz="6799" b="1">
                <a:solidFill>
                  <a:srgbClr val="3C67BF"/>
                </a:solidFill>
                <a:latin typeface="Poppins Semi-Bold"/>
                <a:ea typeface="Poppins Semi-Bold"/>
                <a:cs typeface="Poppins Semi-Bold"/>
                <a:sym typeface="Poppins Semi-Bold"/>
              </a:rPr>
              <a:t>verdadeiro</a:t>
            </a:r>
            <a:r>
              <a:rPr lang="en-US" sz="6799" b="1">
                <a:solidFill>
                  <a:srgbClr val="FFFFFF"/>
                </a:solidFill>
                <a:latin typeface="Poppins Semi-Bold"/>
                <a:ea typeface="Poppins Semi-Bold"/>
                <a:cs typeface="Poppins Semi-Bold"/>
                <a:sym typeface="Poppins Semi-Bold"/>
              </a:rPr>
              <a:t>, pois o número </a:t>
            </a:r>
            <a:r>
              <a:rPr lang="en-US" sz="6799" b="1">
                <a:solidFill>
                  <a:srgbClr val="FFCB85"/>
                </a:solidFill>
                <a:latin typeface="Poppins Semi-Bold"/>
                <a:ea typeface="Poppins Semi-Bold"/>
                <a:cs typeface="Poppins Semi-Bold"/>
                <a:sym typeface="Poppins Semi-Bold"/>
              </a:rPr>
              <a:t>27 </a:t>
            </a:r>
            <a:r>
              <a:rPr lang="en-US" sz="6799" b="1">
                <a:solidFill>
                  <a:srgbClr val="FF5757"/>
                </a:solidFill>
                <a:latin typeface="Poppins Semi-Bold"/>
                <a:ea typeface="Poppins Semi-Bold"/>
                <a:cs typeface="Poppins Semi-Bold"/>
                <a:sym typeface="Poppins Semi-Bold"/>
              </a:rPr>
              <a:t>realmente é diferente de </a:t>
            </a:r>
            <a:r>
              <a:rPr lang="en-US" sz="6799" b="1">
                <a:solidFill>
                  <a:srgbClr val="FFCB85"/>
                </a:solidFill>
                <a:latin typeface="Poppins Semi-Bold"/>
                <a:ea typeface="Poppins Semi-Bold"/>
                <a:cs typeface="Poppins Semi-Bold"/>
                <a:sym typeface="Poppins Semi-Bold"/>
              </a:rPr>
              <a:t>61</a:t>
            </a:r>
            <a:r>
              <a:rPr lang="en-US" sz="6799" b="1">
                <a:solidFill>
                  <a:srgbClr val="FFFFFF"/>
                </a:solidFill>
                <a:latin typeface="Poppins Semi-Bold"/>
                <a:ea typeface="Poppins Semi-Bold"/>
                <a:cs typeface="Poppins Semi-Bold"/>
                <a:sym typeface="Poppins Semi-Bold"/>
              </a:rPr>
              <a:t>. </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2220668" y="324326"/>
            <a:ext cx="1412355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Condicionais e Operadores Lógicos</a:t>
            </a:r>
          </a:p>
        </p:txBody>
      </p:sp>
      <p:sp>
        <p:nvSpPr>
          <p:cNvPr id="3" name="TextBox 3"/>
          <p:cNvSpPr txBox="1"/>
          <p:nvPr/>
        </p:nvSpPr>
        <p:spPr>
          <a:xfrm>
            <a:off x="164983" y="3716874"/>
            <a:ext cx="18299601" cy="1903686"/>
          </a:xfrm>
          <a:prstGeom prst="rect">
            <a:avLst/>
          </a:prstGeom>
        </p:spPr>
        <p:txBody>
          <a:bodyPr lIns="0" tIns="0" rIns="0" bIns="0" rtlCol="0" anchor="t">
            <a:spAutoFit/>
          </a:bodyPr>
          <a:lstStyle/>
          <a:p>
            <a:pPr algn="l">
              <a:lnSpc>
                <a:spcPts val="4723"/>
              </a:lnSpc>
            </a:pPr>
            <a:r>
              <a:rPr lang="en-US" sz="3999" b="1">
                <a:solidFill>
                  <a:srgbClr val="FFFFFF"/>
                </a:solidFill>
                <a:latin typeface="Poppins Semi-Bold"/>
                <a:ea typeface="Poppins Semi-Bold"/>
                <a:cs typeface="Poppins Semi-Bold"/>
                <a:sym typeface="Poppins Semi-Bold"/>
              </a:rPr>
              <a:t>Vale lembrar que e podemos usar condicionais em valores diferentes de números, por exemplo, se eu quisesse verificar se dois nomes são iguais:</a:t>
            </a:r>
          </a:p>
        </p:txBody>
      </p:sp>
      <p:sp>
        <p:nvSpPr>
          <p:cNvPr id="4" name="TextBox 4"/>
          <p:cNvSpPr txBox="1"/>
          <p:nvPr/>
        </p:nvSpPr>
        <p:spPr>
          <a:xfrm>
            <a:off x="451180" y="6117174"/>
            <a:ext cx="17732950" cy="1903686"/>
          </a:xfrm>
          <a:prstGeom prst="rect">
            <a:avLst/>
          </a:prstGeom>
        </p:spPr>
        <p:txBody>
          <a:bodyPr lIns="0" tIns="0" rIns="0" bIns="0" rtlCol="0" anchor="t">
            <a:spAutoFit/>
          </a:bodyPr>
          <a:lstStyle/>
          <a:p>
            <a:pPr algn="ctr">
              <a:lnSpc>
                <a:spcPts val="4723"/>
              </a:lnSpc>
            </a:pPr>
            <a:r>
              <a:rPr lang="en-US" sz="3999" b="1">
                <a:solidFill>
                  <a:srgbClr val="FFCB85"/>
                </a:solidFill>
                <a:latin typeface="Poppins Semi-Bold"/>
                <a:ea typeface="Poppins Semi-Bold"/>
                <a:cs typeface="Poppins Semi-Bold"/>
                <a:sym typeface="Poppins Semi-Bold"/>
              </a:rPr>
              <a:t>"Carro"</a:t>
            </a:r>
            <a:r>
              <a:rPr lang="en-US" sz="3999" b="1">
                <a:solidFill>
                  <a:srgbClr val="FFFFFF"/>
                </a:solidFill>
                <a:latin typeface="Poppins Semi-Bold"/>
                <a:ea typeface="Poppins Semi-Bold"/>
                <a:cs typeface="Poppins Semi-Bold"/>
                <a:sym typeface="Poppins Semi-Bold"/>
              </a:rPr>
              <a:t> </a:t>
            </a:r>
            <a:r>
              <a:rPr lang="en-US" sz="3999" b="1">
                <a:solidFill>
                  <a:srgbClr val="7ED957"/>
                </a:solidFill>
                <a:latin typeface="Poppins Semi-Bold"/>
                <a:ea typeface="Poppins Semi-Bold"/>
                <a:cs typeface="Poppins Semi-Bold"/>
                <a:sym typeface="Poppins Semi-Bold"/>
              </a:rPr>
              <a:t>==</a:t>
            </a:r>
            <a:r>
              <a:rPr lang="en-US" sz="3999" b="1">
                <a:solidFill>
                  <a:srgbClr val="FFFFFF"/>
                </a:solidFill>
                <a:latin typeface="Poppins Semi-Bold"/>
                <a:ea typeface="Poppins Semi-Bold"/>
                <a:cs typeface="Poppins Semi-Bold"/>
                <a:sym typeface="Poppins Semi-Bold"/>
              </a:rPr>
              <a:t> </a:t>
            </a:r>
            <a:r>
              <a:rPr lang="en-US" sz="3999" b="1">
                <a:solidFill>
                  <a:srgbClr val="FFCB85"/>
                </a:solidFill>
                <a:latin typeface="Poppins Semi-Bold"/>
                <a:ea typeface="Poppins Semi-Bold"/>
                <a:cs typeface="Poppins Semi-Bold"/>
                <a:sym typeface="Poppins Semi-Bold"/>
              </a:rPr>
              <a:t>"Carro" </a:t>
            </a:r>
            <a:r>
              <a:rPr lang="en-US" sz="3999" b="1">
                <a:solidFill>
                  <a:srgbClr val="FFFFFF"/>
                </a:solidFill>
                <a:latin typeface="Poppins Semi-Bold"/>
                <a:ea typeface="Poppins Semi-Bold"/>
                <a:cs typeface="Poppins Semi-Bold"/>
                <a:sym typeface="Poppins Semi-Bold"/>
              </a:rPr>
              <a:t>Palavra </a:t>
            </a:r>
            <a:r>
              <a:rPr lang="en-US" sz="3999" b="1">
                <a:solidFill>
                  <a:srgbClr val="FFCB85"/>
                </a:solidFill>
                <a:latin typeface="Poppins Semi-Bold"/>
                <a:ea typeface="Poppins Semi-Bold"/>
                <a:cs typeface="Poppins Semi-Bold"/>
                <a:sym typeface="Poppins Semi-Bold"/>
              </a:rPr>
              <a:t>Carro</a:t>
            </a:r>
            <a:r>
              <a:rPr lang="en-US" sz="3999" b="1">
                <a:solidFill>
                  <a:srgbClr val="FFFFFF"/>
                </a:solidFill>
                <a:latin typeface="Poppins Semi-Bold"/>
                <a:ea typeface="Poppins Semi-Bold"/>
                <a:cs typeface="Poppins Semi-Bold"/>
                <a:sym typeface="Poppins Semi-Bold"/>
              </a:rPr>
              <a:t> </a:t>
            </a:r>
            <a:r>
              <a:rPr lang="en-US" sz="3999" b="1">
                <a:solidFill>
                  <a:srgbClr val="7ED957"/>
                </a:solidFill>
                <a:latin typeface="Poppins Semi-Bold"/>
                <a:ea typeface="Poppins Semi-Bold"/>
                <a:cs typeface="Poppins Semi-Bold"/>
                <a:sym typeface="Poppins Semi-Bold"/>
              </a:rPr>
              <a:t>é igual a</a:t>
            </a:r>
            <a:r>
              <a:rPr lang="en-US" sz="3999" b="1">
                <a:solidFill>
                  <a:srgbClr val="FFFFFF"/>
                </a:solidFill>
                <a:latin typeface="Poppins Semi-Bold"/>
                <a:ea typeface="Poppins Semi-Bold"/>
                <a:cs typeface="Poppins Semi-Bold"/>
                <a:sym typeface="Poppins Semi-Bold"/>
              </a:rPr>
              <a:t> palavra </a:t>
            </a:r>
            <a:r>
              <a:rPr lang="en-US" sz="3999" b="1">
                <a:solidFill>
                  <a:srgbClr val="FFCB85"/>
                </a:solidFill>
                <a:latin typeface="Poppins Semi-Bold"/>
                <a:ea typeface="Poppins Semi-Bold"/>
                <a:cs typeface="Poppins Semi-Bold"/>
                <a:sym typeface="Poppins Semi-Bold"/>
              </a:rPr>
              <a:t>Carro</a:t>
            </a:r>
            <a:r>
              <a:rPr lang="en-US" sz="3999" b="1">
                <a:solidFill>
                  <a:srgbClr val="FFFFFF"/>
                </a:solidFill>
                <a:latin typeface="Poppins Semi-Bold"/>
                <a:ea typeface="Poppins Semi-Bold"/>
                <a:cs typeface="Poppins Semi-Bold"/>
                <a:sym typeface="Poppins Semi-Bold"/>
              </a:rPr>
              <a:t>? Nesse caso sim, então o programa irá entender como </a:t>
            </a:r>
            <a:r>
              <a:rPr lang="en-US" sz="3999" b="1">
                <a:solidFill>
                  <a:srgbClr val="3C67BF"/>
                </a:solidFill>
                <a:latin typeface="Poppins Semi-Bold"/>
                <a:ea typeface="Poppins Semi-Bold"/>
                <a:cs typeface="Poppins Semi-Bold"/>
                <a:sym typeface="Poppins Semi-Bold"/>
              </a:rPr>
              <a:t>verdadeiro</a:t>
            </a:r>
            <a:r>
              <a:rPr lang="en-US" sz="3999" b="1">
                <a:solidFill>
                  <a:srgbClr val="FFFFFF"/>
                </a:solidFill>
                <a:latin typeface="Poppins Semi-Bold"/>
                <a:ea typeface="Poppins Semi-Bold"/>
                <a:cs typeface="Poppins Semi-Bold"/>
                <a:sym typeface="Poppins Semi-Bold"/>
              </a:rPr>
              <a:t>.</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2220668" y="457676"/>
            <a:ext cx="14123556" cy="1030453"/>
          </a:xfrm>
          <a:prstGeom prst="rect">
            <a:avLst/>
          </a:prstGeom>
        </p:spPr>
        <p:txBody>
          <a:bodyPr lIns="0" tIns="0" rIns="0" bIns="0" rtlCol="0" anchor="t">
            <a:spAutoFit/>
          </a:bodyPr>
          <a:lstStyle/>
          <a:p>
            <a:pPr algn="l">
              <a:lnSpc>
                <a:spcPts val="6919"/>
              </a:lnSpc>
            </a:pPr>
            <a:r>
              <a:rPr lang="en-US" sz="5964" b="1">
                <a:solidFill>
                  <a:srgbClr val="FFFFFF"/>
                </a:solidFill>
                <a:latin typeface="Poppins Semi-Bold"/>
                <a:ea typeface="Poppins Semi-Bold"/>
                <a:cs typeface="Poppins Semi-Bold"/>
                <a:sym typeface="Poppins Semi-Bold"/>
              </a:rPr>
              <a:t>Condicionais e Operadores Lógicos</a:t>
            </a:r>
          </a:p>
        </p:txBody>
      </p:sp>
      <p:sp>
        <p:nvSpPr>
          <p:cNvPr id="3" name="TextBox 3"/>
          <p:cNvSpPr txBox="1"/>
          <p:nvPr/>
        </p:nvSpPr>
        <p:spPr>
          <a:xfrm>
            <a:off x="3742858" y="1313336"/>
            <a:ext cx="124339" cy="951405"/>
          </a:xfrm>
          <a:prstGeom prst="rect">
            <a:avLst/>
          </a:prstGeom>
        </p:spPr>
        <p:txBody>
          <a:bodyPr lIns="0" tIns="0" rIns="0" bIns="0" rtlCol="0" anchor="t">
            <a:spAutoFit/>
          </a:bodyPr>
          <a:lstStyle/>
          <a:p>
            <a:pPr algn="l">
              <a:lnSpc>
                <a:spcPts val="7998"/>
              </a:lnSpc>
            </a:pPr>
            <a:r>
              <a:rPr lang="en-US" sz="3199" b="1">
                <a:solidFill>
                  <a:srgbClr val="FFFFFF"/>
                </a:solidFill>
                <a:latin typeface="Poppins Semi-Bold"/>
                <a:ea typeface="Poppins Semi-Bold"/>
                <a:cs typeface="Poppins Semi-Bold"/>
                <a:sym typeface="Poppins Semi-Bold"/>
              </a:rPr>
              <a:t> </a:t>
            </a:r>
          </a:p>
        </p:txBody>
      </p:sp>
      <p:sp>
        <p:nvSpPr>
          <p:cNvPr id="4" name="TextBox 4"/>
          <p:cNvSpPr txBox="1"/>
          <p:nvPr/>
        </p:nvSpPr>
        <p:spPr>
          <a:xfrm>
            <a:off x="164983" y="1703861"/>
            <a:ext cx="15849743" cy="560880"/>
          </a:xfrm>
          <a:prstGeom prst="rect">
            <a:avLst/>
          </a:prstGeom>
        </p:spPr>
        <p:txBody>
          <a:bodyPr lIns="0" tIns="0" rIns="0" bIns="0" rtlCol="0" anchor="t">
            <a:spAutoFit/>
          </a:bodyPr>
          <a:lstStyle/>
          <a:p>
            <a:pPr algn="l">
              <a:lnSpc>
                <a:spcPts val="3823"/>
              </a:lnSpc>
            </a:pPr>
            <a:r>
              <a:rPr lang="en-US" sz="3199" b="1">
                <a:solidFill>
                  <a:srgbClr val="FFFFFF"/>
                </a:solidFill>
                <a:latin typeface="Poppins Semi-Bold"/>
                <a:ea typeface="Poppins Semi-Bold"/>
                <a:cs typeface="Poppins Semi-Bold"/>
                <a:sym typeface="Poppins Semi-Bold"/>
              </a:rPr>
              <a:t>Um exemplo quepodeacontecerdentro dejogoquevamosdesenvolver:</a:t>
            </a:r>
          </a:p>
        </p:txBody>
      </p:sp>
      <p:sp>
        <p:nvSpPr>
          <p:cNvPr id="5" name="TextBox 5"/>
          <p:cNvSpPr txBox="1"/>
          <p:nvPr/>
        </p:nvSpPr>
        <p:spPr>
          <a:xfrm>
            <a:off x="164983" y="2675411"/>
            <a:ext cx="17451095" cy="6390180"/>
          </a:xfrm>
          <a:prstGeom prst="rect">
            <a:avLst/>
          </a:prstGeom>
        </p:spPr>
        <p:txBody>
          <a:bodyPr lIns="0" tIns="0" rIns="0" bIns="0" rtlCol="0" anchor="t">
            <a:spAutoFit/>
          </a:bodyPr>
          <a:lstStyle/>
          <a:p>
            <a:pPr algn="l">
              <a:lnSpc>
                <a:spcPts val="3823"/>
              </a:lnSpc>
            </a:pPr>
            <a:r>
              <a:rPr lang="en-US" sz="3199" b="1">
                <a:solidFill>
                  <a:srgbClr val="FFFFFF"/>
                </a:solidFill>
                <a:latin typeface="Poppins Semi-Bold"/>
                <a:ea typeface="Poppins Semi-Bold"/>
                <a:cs typeface="Poppins Semi-Bold"/>
                <a:sym typeface="Poppins Semi-Bold"/>
              </a:rPr>
              <a:t>Imagine que o jogo tenha o jogador e um inimigo. O jogador morre ao encostar nesse inimigo. Como o inimigo sabe que foi o jogador que encostou nele e não um outro objeto qualquer? Em alguma parte do seu código terá algo parecido com isso: nomeDoObjetoColidido == </a:t>
            </a:r>
            <a:r>
              <a:rPr lang="en-US" sz="3199" b="1">
                <a:solidFill>
                  <a:srgbClr val="FFCB85"/>
                </a:solidFill>
                <a:latin typeface="Poppins Semi-Bold"/>
                <a:ea typeface="Poppins Semi-Bold"/>
                <a:cs typeface="Poppins Semi-Bold"/>
                <a:sym typeface="Poppins Semi-Bold"/>
              </a:rPr>
              <a:t>"Jogador" </a:t>
            </a:r>
            <a:r>
              <a:rPr lang="en-US" sz="3199" b="1">
                <a:solidFill>
                  <a:srgbClr val="FFFFFF"/>
                </a:solidFill>
                <a:latin typeface="Poppins Semi-Bold"/>
                <a:ea typeface="Poppins Semi-Bold"/>
                <a:cs typeface="Poppins Semi-Bold"/>
                <a:sym typeface="Poppins Semi-Bold"/>
              </a:rPr>
              <a:t>Se o programa entender que o nome dentro da variável seja exatamente igual a palavra </a:t>
            </a:r>
            <a:r>
              <a:rPr lang="en-US" sz="3199" b="1">
                <a:solidFill>
                  <a:srgbClr val="FFCB85"/>
                </a:solidFill>
                <a:latin typeface="Poppins Semi-Bold"/>
                <a:ea typeface="Poppins Semi-Bold"/>
                <a:cs typeface="Poppins Semi-Bold"/>
                <a:sym typeface="Poppins Semi-Bold"/>
              </a:rPr>
              <a:t>jogador</a:t>
            </a:r>
            <a:r>
              <a:rPr lang="en-US" sz="3199" b="1">
                <a:solidFill>
                  <a:srgbClr val="FFFFFF"/>
                </a:solidFill>
                <a:latin typeface="Poppins Semi-Bold"/>
                <a:ea typeface="Poppins Semi-Bold"/>
                <a:cs typeface="Poppins Semi-Bold"/>
                <a:sym typeface="Poppins Semi-Bold"/>
              </a:rPr>
              <a:t>, eu posso tomar uma decisão de matar o jogador por exemplo.</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2220668" y="324326"/>
            <a:ext cx="1412355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Condicionais e Operadores Lógicos</a:t>
            </a:r>
          </a:p>
        </p:txBody>
      </p:sp>
      <p:sp>
        <p:nvSpPr>
          <p:cNvPr id="3" name="TextBox 3"/>
          <p:cNvSpPr txBox="1"/>
          <p:nvPr/>
        </p:nvSpPr>
        <p:spPr>
          <a:xfrm>
            <a:off x="164983" y="2216687"/>
            <a:ext cx="15733414" cy="7304361"/>
          </a:xfrm>
          <a:prstGeom prst="rect">
            <a:avLst/>
          </a:prstGeom>
        </p:spPr>
        <p:txBody>
          <a:bodyPr lIns="0" tIns="0" rIns="0" bIns="0" rtlCol="0" anchor="t">
            <a:spAutoFit/>
          </a:bodyPr>
          <a:lstStyle/>
          <a:p>
            <a:pPr algn="just">
              <a:lnSpc>
                <a:spcPts val="4723"/>
              </a:lnSpc>
            </a:pPr>
            <a:r>
              <a:rPr lang="en-US" sz="3999" b="1">
                <a:solidFill>
                  <a:srgbClr val="FFFFFF"/>
                </a:solidFill>
                <a:latin typeface="Poppins Semi-Bold"/>
                <a:ea typeface="Poppins Semi-Bold"/>
                <a:cs typeface="Poppins Semi-Bold"/>
                <a:sym typeface="Poppins Semi-Bold"/>
              </a:rPr>
              <a:t>Tente agora descobrir quais das comparações abaixo são verdadeiras(</a:t>
            </a:r>
            <a:r>
              <a:rPr lang="en-US" sz="3999" b="1">
                <a:solidFill>
                  <a:srgbClr val="3C67BF"/>
                </a:solidFill>
                <a:latin typeface="Poppins Semi-Bold"/>
                <a:ea typeface="Poppins Semi-Bold"/>
                <a:cs typeface="Poppins Semi-Bold"/>
                <a:sym typeface="Poppins Semi-Bold"/>
              </a:rPr>
              <a:t>true</a:t>
            </a:r>
            <a:r>
              <a:rPr lang="en-US" sz="3999" b="1">
                <a:solidFill>
                  <a:srgbClr val="FFFFFF"/>
                </a:solidFill>
                <a:latin typeface="Poppins Semi-Bold"/>
                <a:ea typeface="Poppins Semi-Bold"/>
                <a:cs typeface="Poppins Semi-Bold"/>
                <a:sym typeface="Poppins Semi-Bold"/>
              </a:rPr>
              <a:t>) ou falsas(</a:t>
            </a:r>
            <a:r>
              <a:rPr lang="en-US" sz="3999" b="1">
                <a:solidFill>
                  <a:srgbClr val="3C67BF"/>
                </a:solidFill>
                <a:latin typeface="Poppins Semi-Bold"/>
                <a:ea typeface="Poppins Semi-Bold"/>
                <a:cs typeface="Poppins Semi-Bold"/>
                <a:sym typeface="Poppins Semi-Bold"/>
              </a:rPr>
              <a:t>false</a:t>
            </a:r>
            <a:r>
              <a:rPr lang="en-US" sz="3999" b="1">
                <a:solidFill>
                  <a:srgbClr val="FFFFFF"/>
                </a:solidFill>
                <a:latin typeface="Poppins Semi-Bold"/>
                <a:ea typeface="Poppins Semi-Bold"/>
                <a:cs typeface="Poppins Semi-Bold"/>
                <a:sym typeface="Poppins Semi-Bold"/>
              </a:rPr>
              <a:t>): 99 &gt; 100 : -10 &lt;= 30 : 54 &gt; 60 : 71 &lt; 100 :</a:t>
            </a:r>
            <a:r>
              <a:rPr lang="en-US" sz="3999" b="1">
                <a:solidFill>
                  <a:srgbClr val="3C67BF"/>
                </a:solidFill>
                <a:latin typeface="Poppins Semi-Bold"/>
                <a:ea typeface="Poppins Semi-Bold"/>
                <a:cs typeface="Poppins Semi-Bold"/>
                <a:sym typeface="Poppins Semi-Bold"/>
              </a:rPr>
              <a:t> </a:t>
            </a:r>
            <a:r>
              <a:rPr lang="en-US" sz="3999" b="1">
                <a:solidFill>
                  <a:srgbClr val="FFFFFF"/>
                </a:solidFill>
                <a:latin typeface="Poppins Semi-Bold"/>
                <a:ea typeface="Poppins Semi-Bold"/>
                <a:cs typeface="Poppins Semi-Bold"/>
                <a:sym typeface="Poppins Semi-Bold"/>
              </a:rPr>
              <a:t>10.8 &lt; 10.85 : -42.99 &gt; -43.97 : ‘C’ == ‘C’ : 42 != 42 :</a:t>
            </a:r>
            <a:r>
              <a:rPr lang="en-US" sz="3999" b="1">
                <a:solidFill>
                  <a:srgbClr val="3C67BF"/>
                </a:solidFill>
                <a:latin typeface="Poppins Semi-Bold"/>
                <a:ea typeface="Poppins Semi-Bold"/>
                <a:cs typeface="Poppins Semi-Bold"/>
                <a:sym typeface="Poppins Semi-Bold"/>
              </a:rPr>
              <a:t> </a:t>
            </a:r>
            <a:r>
              <a:rPr lang="en-US" sz="3999" b="1">
                <a:solidFill>
                  <a:srgbClr val="FFFFFF"/>
                </a:solidFill>
                <a:latin typeface="Poppins Semi-Bold"/>
                <a:ea typeface="Poppins Semi-Bold"/>
                <a:cs typeface="Poppins Semi-Bold"/>
                <a:sym typeface="Poppins Semi-Bold"/>
              </a:rPr>
              <a:t>65 == 56 : </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2220668" y="324326"/>
            <a:ext cx="1412355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Condicionais e Operadores Lógicos</a:t>
            </a:r>
          </a:p>
        </p:txBody>
      </p:sp>
      <p:sp>
        <p:nvSpPr>
          <p:cNvPr id="3" name="TextBox 3"/>
          <p:cNvSpPr txBox="1"/>
          <p:nvPr/>
        </p:nvSpPr>
        <p:spPr>
          <a:xfrm>
            <a:off x="203083" y="2216687"/>
            <a:ext cx="15733414" cy="7304361"/>
          </a:xfrm>
          <a:prstGeom prst="rect">
            <a:avLst/>
          </a:prstGeom>
        </p:spPr>
        <p:txBody>
          <a:bodyPr lIns="0" tIns="0" rIns="0" bIns="0" rtlCol="0" anchor="t">
            <a:spAutoFit/>
          </a:bodyPr>
          <a:lstStyle/>
          <a:p>
            <a:pPr algn="l">
              <a:lnSpc>
                <a:spcPts val="4723"/>
              </a:lnSpc>
            </a:pPr>
            <a:r>
              <a:rPr lang="en-US" sz="3999" b="1">
                <a:solidFill>
                  <a:srgbClr val="FFFFFF"/>
                </a:solidFill>
                <a:latin typeface="Poppins Semi-Bold"/>
                <a:ea typeface="Poppins Semi-Bold"/>
                <a:cs typeface="Poppins Semi-Bold"/>
                <a:sym typeface="Poppins Semi-Bold"/>
              </a:rPr>
              <a:t>Tente agora descobrir quais das comparações abaixo são verdadeiras(</a:t>
            </a:r>
            <a:r>
              <a:rPr lang="en-US" sz="3999" b="1">
                <a:solidFill>
                  <a:srgbClr val="3C67BF"/>
                </a:solidFill>
                <a:latin typeface="Poppins Semi-Bold"/>
                <a:ea typeface="Poppins Semi-Bold"/>
                <a:cs typeface="Poppins Semi-Bold"/>
                <a:sym typeface="Poppins Semi-Bold"/>
              </a:rPr>
              <a:t>true</a:t>
            </a:r>
            <a:r>
              <a:rPr lang="en-US" sz="3999" b="1">
                <a:solidFill>
                  <a:srgbClr val="FFFFFF"/>
                </a:solidFill>
                <a:latin typeface="Poppins Semi-Bold"/>
                <a:ea typeface="Poppins Semi-Bold"/>
                <a:cs typeface="Poppins Semi-Bold"/>
                <a:sym typeface="Poppins Semi-Bold"/>
              </a:rPr>
              <a:t>) ou falsas(</a:t>
            </a:r>
            <a:r>
              <a:rPr lang="en-US" sz="3999" b="1">
                <a:solidFill>
                  <a:srgbClr val="3C67BF"/>
                </a:solidFill>
                <a:latin typeface="Poppins Semi-Bold"/>
                <a:ea typeface="Poppins Semi-Bold"/>
                <a:cs typeface="Poppins Semi-Bold"/>
                <a:sym typeface="Poppins Semi-Bold"/>
              </a:rPr>
              <a:t>false</a:t>
            </a:r>
            <a:r>
              <a:rPr lang="en-US" sz="3999" b="1">
                <a:solidFill>
                  <a:srgbClr val="FFFFFF"/>
                </a:solidFill>
                <a:latin typeface="Poppins Semi-Bold"/>
                <a:ea typeface="Poppins Semi-Bold"/>
                <a:cs typeface="Poppins Semi-Bold"/>
                <a:sym typeface="Poppins Semi-Bold"/>
              </a:rPr>
              <a:t>): 88 == 88 : 90.5 != 91.5 : "Mesa" != "Porta" : 32.77 &lt; 33.77 : -100 &lt;= 100 : 56 &gt;= 56 : 91 &gt; 91 : -111 &lt;= -111 : -90 &gt; -89 : </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2220668" y="324326"/>
            <a:ext cx="1412355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Condicionais e Operadores Lógicos</a:t>
            </a:r>
          </a:p>
        </p:txBody>
      </p:sp>
      <p:sp>
        <p:nvSpPr>
          <p:cNvPr id="3" name="TextBox 3"/>
          <p:cNvSpPr txBox="1"/>
          <p:nvPr/>
        </p:nvSpPr>
        <p:spPr>
          <a:xfrm>
            <a:off x="164983" y="2816762"/>
            <a:ext cx="18101701" cy="4904061"/>
          </a:xfrm>
          <a:prstGeom prst="rect">
            <a:avLst/>
          </a:prstGeom>
        </p:spPr>
        <p:txBody>
          <a:bodyPr lIns="0" tIns="0" rIns="0" bIns="0" rtlCol="0" anchor="t">
            <a:spAutoFit/>
          </a:bodyPr>
          <a:lstStyle/>
          <a:p>
            <a:pPr algn="l">
              <a:lnSpc>
                <a:spcPts val="4723"/>
              </a:lnSpc>
            </a:pPr>
            <a:r>
              <a:rPr lang="en-US" sz="3999" b="1">
                <a:solidFill>
                  <a:srgbClr val="FFFFFF"/>
                </a:solidFill>
                <a:latin typeface="Poppins Semi-Bold"/>
                <a:ea typeface="Poppins Semi-Bold"/>
                <a:cs typeface="Poppins Semi-Bold"/>
                <a:sym typeface="Poppins Semi-Bold"/>
              </a:rPr>
              <a:t>Não precisamos ficar presos apenas a utilizar dois valores a serem comparados, ou seja, nossa expressão terá mais de uma comparação. Para conseguir fazer isso, devemos utilizar os </a:t>
            </a:r>
            <a:r>
              <a:rPr lang="en-US" sz="3999" b="1">
                <a:solidFill>
                  <a:srgbClr val="FF5757"/>
                </a:solidFill>
                <a:latin typeface="Poppins Semi-Bold"/>
                <a:ea typeface="Poppins Semi-Bold"/>
                <a:cs typeface="Poppins Semi-Bold"/>
                <a:sym typeface="Poppins Semi-Bold"/>
              </a:rPr>
              <a:t>operadores lógicos</a:t>
            </a:r>
            <a:r>
              <a:rPr lang="en-US" sz="3999" b="1">
                <a:solidFill>
                  <a:srgbClr val="FFFFFF"/>
                </a:solidFill>
                <a:latin typeface="Poppins Semi-Bold"/>
                <a:ea typeface="Poppins Semi-Bold"/>
                <a:cs typeface="Poppins Semi-Bold"/>
                <a:sym typeface="Poppins Semi-Bold"/>
              </a:rPr>
              <a:t>. Os </a:t>
            </a:r>
            <a:r>
              <a:rPr lang="en-US" sz="3999" b="1">
                <a:solidFill>
                  <a:srgbClr val="FF5757"/>
                </a:solidFill>
                <a:latin typeface="Poppins Semi-Bold"/>
                <a:ea typeface="Poppins Semi-Bold"/>
                <a:cs typeface="Poppins Semi-Bold"/>
                <a:sym typeface="Poppins Semi-Bold"/>
              </a:rPr>
              <a:t>operadores lógicos</a:t>
            </a:r>
            <a:r>
              <a:rPr lang="en-US" sz="3999" b="1">
                <a:solidFill>
                  <a:srgbClr val="FFFFFF"/>
                </a:solidFill>
                <a:latin typeface="Poppins Semi-Bold"/>
                <a:ea typeface="Poppins Semi-Bold"/>
                <a:cs typeface="Poppins Semi-Bold"/>
                <a:sym typeface="Poppins Semi-Bold"/>
              </a:rPr>
              <a:t> são usados para comparar dois ou mais valores.</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2220668" y="324326"/>
            <a:ext cx="1412355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Condicionais e Operadores Lógicos</a:t>
            </a:r>
          </a:p>
        </p:txBody>
      </p:sp>
      <p:sp>
        <p:nvSpPr>
          <p:cNvPr id="3" name="TextBox 3"/>
          <p:cNvSpPr txBox="1"/>
          <p:nvPr/>
        </p:nvSpPr>
        <p:spPr>
          <a:xfrm>
            <a:off x="164983" y="1616612"/>
            <a:ext cx="17999621" cy="7904436"/>
          </a:xfrm>
          <a:prstGeom prst="rect">
            <a:avLst/>
          </a:prstGeom>
        </p:spPr>
        <p:txBody>
          <a:bodyPr lIns="0" tIns="0" rIns="0" bIns="0" rtlCol="0" anchor="t">
            <a:spAutoFit/>
          </a:bodyPr>
          <a:lstStyle/>
          <a:p>
            <a:pPr algn="l">
              <a:lnSpc>
                <a:spcPts val="4723"/>
              </a:lnSpc>
            </a:pPr>
            <a:r>
              <a:rPr lang="en-US" sz="3999" b="1">
                <a:solidFill>
                  <a:srgbClr val="FFFFFF"/>
                </a:solidFill>
                <a:latin typeface="Poppins Semi-Bold"/>
                <a:ea typeface="Poppins Semi-Bold"/>
                <a:cs typeface="Poppins Semi-Bold"/>
                <a:sym typeface="Poppins Semi-Bold"/>
              </a:rPr>
              <a:t>São eles: </a:t>
            </a:r>
            <a:r>
              <a:rPr lang="en-US" sz="3999" b="1">
                <a:solidFill>
                  <a:srgbClr val="FF5757"/>
                </a:solidFill>
                <a:latin typeface="Poppins Semi-Bold"/>
                <a:ea typeface="Poppins Semi-Bold"/>
                <a:cs typeface="Poppins Semi-Bold"/>
                <a:sym typeface="Poppins Semi-Bold"/>
              </a:rPr>
              <a:t>AND (E)</a:t>
            </a:r>
            <a:r>
              <a:rPr lang="en-US" sz="3999" b="1">
                <a:solidFill>
                  <a:srgbClr val="FFFFFF"/>
                </a:solidFill>
                <a:latin typeface="Poppins Semi-Bold"/>
                <a:ea typeface="Poppins Semi-Bold"/>
                <a:cs typeface="Poppins Semi-Bold"/>
                <a:sym typeface="Poppins Semi-Bold"/>
              </a:rPr>
              <a:t>: Indica que todas as comparações devem ser verdadeiras para que o retorno seja verdadeiro. Por exemplo: </a:t>
            </a:r>
            <a:r>
              <a:rPr lang="en-US" sz="3999" b="1">
                <a:solidFill>
                  <a:srgbClr val="FFCB85"/>
                </a:solidFill>
                <a:latin typeface="Poppins Semi-Bold"/>
                <a:ea typeface="Poppins Semi-Bold"/>
                <a:cs typeface="Poppins Semi-Bold"/>
                <a:sym typeface="Poppins Semi-Bold"/>
              </a:rPr>
              <a:t>10</a:t>
            </a:r>
            <a:r>
              <a:rPr lang="en-US" sz="3999" b="1">
                <a:solidFill>
                  <a:srgbClr val="FFFFFF"/>
                </a:solidFill>
                <a:latin typeface="Poppins Semi-Bold"/>
                <a:ea typeface="Poppins Semi-Bold"/>
                <a:cs typeface="Poppins Semi-Bold"/>
                <a:sym typeface="Poppins Semi-Bold"/>
              </a:rPr>
              <a:t> </a:t>
            </a:r>
            <a:r>
              <a:rPr lang="en-US" sz="3999" b="1">
                <a:solidFill>
                  <a:srgbClr val="7ED957"/>
                </a:solidFill>
                <a:latin typeface="Poppins Semi-Bold"/>
                <a:ea typeface="Poppins Semi-Bold"/>
                <a:cs typeface="Poppins Semi-Bold"/>
                <a:sym typeface="Poppins Semi-Bold"/>
              </a:rPr>
              <a:t>==</a:t>
            </a:r>
            <a:r>
              <a:rPr lang="en-US" sz="3999" b="1">
                <a:solidFill>
                  <a:srgbClr val="FFFFFF"/>
                </a:solidFill>
                <a:latin typeface="Poppins Semi-Bold"/>
                <a:ea typeface="Poppins Semi-Bold"/>
                <a:cs typeface="Poppins Semi-Bold"/>
                <a:sym typeface="Poppins Semi-Bold"/>
              </a:rPr>
              <a:t> </a:t>
            </a:r>
            <a:r>
              <a:rPr lang="en-US" sz="3999" b="1">
                <a:solidFill>
                  <a:srgbClr val="FFCB85"/>
                </a:solidFill>
                <a:latin typeface="Poppins Semi-Bold"/>
                <a:ea typeface="Poppins Semi-Bold"/>
                <a:cs typeface="Poppins Semi-Bold"/>
                <a:sym typeface="Poppins Semi-Bold"/>
              </a:rPr>
              <a:t>10</a:t>
            </a:r>
            <a:r>
              <a:rPr lang="en-US" sz="3999" b="1">
                <a:solidFill>
                  <a:srgbClr val="FFFFFF"/>
                </a:solidFill>
                <a:latin typeface="Poppins Semi-Bold"/>
                <a:ea typeface="Poppins Semi-Bold"/>
                <a:cs typeface="Poppins Semi-Bold"/>
                <a:sym typeface="Poppins Semi-Bold"/>
              </a:rPr>
              <a:t> </a:t>
            </a:r>
            <a:r>
              <a:rPr lang="en-US" sz="3999" b="1">
                <a:solidFill>
                  <a:srgbClr val="FF5757"/>
                </a:solidFill>
                <a:latin typeface="Poppins Semi-Bold"/>
                <a:ea typeface="Poppins Semi-Bold"/>
                <a:cs typeface="Poppins Semi-Bold"/>
                <a:sym typeface="Poppins Semi-Bold"/>
              </a:rPr>
              <a:t>AND</a:t>
            </a:r>
            <a:r>
              <a:rPr lang="en-US" sz="3999" b="1">
                <a:solidFill>
                  <a:srgbClr val="FFFFFF"/>
                </a:solidFill>
                <a:latin typeface="Poppins Semi-Bold"/>
                <a:ea typeface="Poppins Semi-Bold"/>
                <a:cs typeface="Poppins Semi-Bold"/>
                <a:sym typeface="Poppins Semi-Bold"/>
              </a:rPr>
              <a:t> </a:t>
            </a:r>
            <a:r>
              <a:rPr lang="en-US" sz="3999" b="1">
                <a:solidFill>
                  <a:srgbClr val="FFCB85"/>
                </a:solidFill>
                <a:latin typeface="Poppins Semi-Bold"/>
                <a:ea typeface="Poppins Semi-Bold"/>
                <a:cs typeface="Poppins Semi-Bold"/>
                <a:sym typeface="Poppins Semi-Bold"/>
              </a:rPr>
              <a:t>"Carro"</a:t>
            </a:r>
            <a:r>
              <a:rPr lang="en-US" sz="3999" b="1">
                <a:solidFill>
                  <a:srgbClr val="FFFFFF"/>
                </a:solidFill>
                <a:latin typeface="Poppins Semi-Bold"/>
                <a:ea typeface="Poppins Semi-Bold"/>
                <a:cs typeface="Poppins Semi-Bold"/>
                <a:sym typeface="Poppins Semi-Bold"/>
              </a:rPr>
              <a:t> </a:t>
            </a:r>
            <a:r>
              <a:rPr lang="en-US" sz="3999" b="1">
                <a:solidFill>
                  <a:srgbClr val="7ED957"/>
                </a:solidFill>
                <a:latin typeface="Poppins Semi-Bold"/>
                <a:ea typeface="Poppins Semi-Bold"/>
                <a:cs typeface="Poppins Semi-Bold"/>
                <a:sym typeface="Poppins Semi-Bold"/>
              </a:rPr>
              <a:t>!=</a:t>
            </a:r>
            <a:r>
              <a:rPr lang="en-US" sz="3999" b="1">
                <a:solidFill>
                  <a:srgbClr val="FFFFFF"/>
                </a:solidFill>
                <a:latin typeface="Poppins Semi-Bold"/>
                <a:ea typeface="Poppins Semi-Bold"/>
                <a:cs typeface="Poppins Semi-Bold"/>
                <a:sym typeface="Poppins Semi-Bold"/>
              </a:rPr>
              <a:t> </a:t>
            </a:r>
            <a:r>
              <a:rPr lang="en-US" sz="3999" b="1">
                <a:solidFill>
                  <a:srgbClr val="FFCB85"/>
                </a:solidFill>
                <a:latin typeface="Poppins Semi-Bold"/>
                <a:ea typeface="Poppins Semi-Bold"/>
                <a:cs typeface="Poppins Semi-Bold"/>
                <a:sym typeface="Poppins Semi-Bold"/>
              </a:rPr>
              <a:t>"Moto"</a:t>
            </a:r>
            <a:r>
              <a:rPr lang="en-US" sz="3999" b="1">
                <a:solidFill>
                  <a:srgbClr val="FFFFFF"/>
                </a:solidFill>
                <a:latin typeface="Poppins Semi-Bold"/>
                <a:ea typeface="Poppins Semi-Bold"/>
                <a:cs typeface="Poppins Semi-Bold"/>
                <a:sym typeface="Poppins Semi-Bold"/>
              </a:rPr>
              <a:t>. </a:t>
            </a:r>
            <a:r>
              <a:rPr lang="en-US" sz="3999" b="1">
                <a:solidFill>
                  <a:srgbClr val="FF5757"/>
                </a:solidFill>
                <a:latin typeface="Poppins Semi-Bold"/>
                <a:ea typeface="Poppins Semi-Bold"/>
                <a:cs typeface="Poppins Semi-Bold"/>
                <a:sym typeface="Poppins Semi-Bold"/>
              </a:rPr>
              <a:t>OR (OU)</a:t>
            </a:r>
            <a:r>
              <a:rPr lang="en-US" sz="3999" b="1">
                <a:solidFill>
                  <a:srgbClr val="FFFFFF"/>
                </a:solidFill>
                <a:latin typeface="Poppins Semi-Bold"/>
                <a:ea typeface="Poppins Semi-Bold"/>
                <a:cs typeface="Poppins Semi-Bold"/>
                <a:sym typeface="Poppins Semi-Bold"/>
              </a:rPr>
              <a:t>: Indica que apenas uma das comparações no mínimo deve ser verdadeira para que o retorno seja verdadeiro. Por exemplo: </a:t>
            </a:r>
            <a:r>
              <a:rPr lang="en-US" sz="3999" b="1">
                <a:solidFill>
                  <a:srgbClr val="FFCB85"/>
                </a:solidFill>
                <a:latin typeface="Poppins Semi-Bold"/>
                <a:ea typeface="Poppins Semi-Bold"/>
                <a:cs typeface="Poppins Semi-Bold"/>
                <a:sym typeface="Poppins Semi-Bold"/>
              </a:rPr>
              <a:t>10</a:t>
            </a:r>
            <a:r>
              <a:rPr lang="en-US" sz="3999" b="1">
                <a:solidFill>
                  <a:srgbClr val="FFFFFF"/>
                </a:solidFill>
                <a:latin typeface="Poppins Semi-Bold"/>
                <a:ea typeface="Poppins Semi-Bold"/>
                <a:cs typeface="Poppins Semi-Bold"/>
                <a:sym typeface="Poppins Semi-Bold"/>
              </a:rPr>
              <a:t> </a:t>
            </a:r>
            <a:r>
              <a:rPr lang="en-US" sz="3999" b="1">
                <a:solidFill>
                  <a:srgbClr val="7ED957"/>
                </a:solidFill>
                <a:latin typeface="Poppins Semi-Bold"/>
                <a:ea typeface="Poppins Semi-Bold"/>
                <a:cs typeface="Poppins Semi-Bold"/>
                <a:sym typeface="Poppins Semi-Bold"/>
              </a:rPr>
              <a:t>==</a:t>
            </a:r>
            <a:r>
              <a:rPr lang="en-US" sz="3999" b="1">
                <a:solidFill>
                  <a:srgbClr val="FFFFFF"/>
                </a:solidFill>
                <a:latin typeface="Poppins Semi-Bold"/>
                <a:ea typeface="Poppins Semi-Bold"/>
                <a:cs typeface="Poppins Semi-Bold"/>
                <a:sym typeface="Poppins Semi-Bold"/>
              </a:rPr>
              <a:t> </a:t>
            </a:r>
            <a:r>
              <a:rPr lang="en-US" sz="3999" b="1">
                <a:solidFill>
                  <a:srgbClr val="FFCB85"/>
                </a:solidFill>
                <a:latin typeface="Poppins Semi-Bold"/>
                <a:ea typeface="Poppins Semi-Bold"/>
                <a:cs typeface="Poppins Semi-Bold"/>
                <a:sym typeface="Poppins Semi-Bold"/>
              </a:rPr>
              <a:t>10</a:t>
            </a:r>
            <a:r>
              <a:rPr lang="en-US" sz="3999" b="1">
                <a:solidFill>
                  <a:srgbClr val="FFFFFF"/>
                </a:solidFill>
                <a:latin typeface="Poppins Semi-Bold"/>
                <a:ea typeface="Poppins Semi-Bold"/>
                <a:cs typeface="Poppins Semi-Bold"/>
                <a:sym typeface="Poppins Semi-Bold"/>
              </a:rPr>
              <a:t> </a:t>
            </a:r>
            <a:r>
              <a:rPr lang="en-US" sz="3999" b="1">
                <a:solidFill>
                  <a:srgbClr val="FF5757"/>
                </a:solidFill>
                <a:latin typeface="Poppins Semi-Bold"/>
                <a:ea typeface="Poppins Semi-Bold"/>
                <a:cs typeface="Poppins Semi-Bold"/>
                <a:sym typeface="Poppins Semi-Bold"/>
              </a:rPr>
              <a:t>OR</a:t>
            </a:r>
            <a:r>
              <a:rPr lang="en-US" sz="3999" b="1">
                <a:solidFill>
                  <a:srgbClr val="FFFFFF"/>
                </a:solidFill>
                <a:latin typeface="Poppins Semi-Bold"/>
                <a:ea typeface="Poppins Semi-Bold"/>
                <a:cs typeface="Poppins Semi-Bold"/>
                <a:sym typeface="Poppins Semi-Bold"/>
              </a:rPr>
              <a:t> </a:t>
            </a:r>
            <a:r>
              <a:rPr lang="en-US" sz="3999" b="1">
                <a:solidFill>
                  <a:srgbClr val="FFCB85"/>
                </a:solidFill>
                <a:latin typeface="Poppins Semi-Bold"/>
                <a:ea typeface="Poppins Semi-Bold"/>
                <a:cs typeface="Poppins Semi-Bold"/>
                <a:sym typeface="Poppins Semi-Bold"/>
              </a:rPr>
              <a:t>"Moto"</a:t>
            </a:r>
            <a:r>
              <a:rPr lang="en-US" sz="3999" b="1">
                <a:solidFill>
                  <a:srgbClr val="FFFFFF"/>
                </a:solidFill>
                <a:latin typeface="Poppins Semi-Bold"/>
                <a:ea typeface="Poppins Semi-Bold"/>
                <a:cs typeface="Poppins Semi-Bold"/>
                <a:sym typeface="Poppins Semi-Bold"/>
              </a:rPr>
              <a:t> </a:t>
            </a:r>
            <a:r>
              <a:rPr lang="en-US" sz="3999" b="1">
                <a:solidFill>
                  <a:srgbClr val="7ED957"/>
                </a:solidFill>
                <a:latin typeface="Poppins Semi-Bold"/>
                <a:ea typeface="Poppins Semi-Bold"/>
                <a:cs typeface="Poppins Semi-Bold"/>
                <a:sym typeface="Poppins Semi-Bold"/>
              </a:rPr>
              <a:t>!=</a:t>
            </a:r>
            <a:r>
              <a:rPr lang="en-US" sz="3999" b="1">
                <a:solidFill>
                  <a:srgbClr val="FFFFFF"/>
                </a:solidFill>
                <a:latin typeface="Poppins Semi-Bold"/>
                <a:ea typeface="Poppins Semi-Bold"/>
                <a:cs typeface="Poppins Semi-Bold"/>
                <a:sym typeface="Poppins Semi-Bold"/>
              </a:rPr>
              <a:t> </a:t>
            </a:r>
            <a:r>
              <a:rPr lang="en-US" sz="3999" b="1">
                <a:solidFill>
                  <a:srgbClr val="FFCB85"/>
                </a:solidFill>
                <a:latin typeface="Poppins Semi-Bold"/>
                <a:ea typeface="Poppins Semi-Bold"/>
                <a:cs typeface="Poppins Semi-Bold"/>
                <a:sym typeface="Poppins Semi-Bold"/>
              </a:rPr>
              <a:t>"Moto"</a:t>
            </a:r>
            <a:r>
              <a:rPr lang="en-US" sz="3999" b="1">
                <a:solidFill>
                  <a:srgbClr val="FFFFFF"/>
                </a:solidFill>
                <a:latin typeface="Poppins Semi-Bold"/>
                <a:ea typeface="Poppins Semi-Bold"/>
                <a:cs typeface="Poppins Semi-Bold"/>
                <a:sym typeface="Poppins Semi-Bold"/>
              </a:rPr>
              <a:t>. </a:t>
            </a:r>
            <a:r>
              <a:rPr lang="en-US" sz="3999" b="1">
                <a:solidFill>
                  <a:srgbClr val="FF5757"/>
                </a:solidFill>
                <a:latin typeface="Poppins Semi-Bold"/>
                <a:ea typeface="Poppins Semi-Bold"/>
                <a:cs typeface="Poppins Semi-Bold"/>
                <a:sym typeface="Poppins Semi-Bold"/>
              </a:rPr>
              <a:t>NOT (Negação)</a:t>
            </a:r>
            <a:r>
              <a:rPr lang="en-US" sz="3999" b="1">
                <a:solidFill>
                  <a:srgbClr val="FFFFFF"/>
                </a:solidFill>
                <a:latin typeface="Poppins Semi-Bold"/>
                <a:ea typeface="Poppins Semi-Bold"/>
                <a:cs typeface="Poppins Semi-Bold"/>
                <a:sym typeface="Poppins Semi-Bold"/>
              </a:rPr>
              <a:t>: Inverte o resultado da comparação que desejar, ou seja, se a entrada for verdadeira ela retorna falsa e vice-versa. Por exemplo: </a:t>
            </a:r>
            <a:r>
              <a:rPr lang="en-US" sz="3999" b="1">
                <a:solidFill>
                  <a:srgbClr val="FF5757"/>
                </a:solidFill>
                <a:latin typeface="Poppins Semi-Bold"/>
                <a:ea typeface="Poppins Semi-Bold"/>
                <a:cs typeface="Poppins Semi-Bold"/>
                <a:sym typeface="Poppins Semi-Bold"/>
              </a:rPr>
              <a:t>NÃO</a:t>
            </a:r>
            <a:r>
              <a:rPr lang="en-US" sz="3999" b="1">
                <a:solidFill>
                  <a:srgbClr val="FFFFFF"/>
                </a:solidFill>
                <a:latin typeface="Poppins Semi-Bold"/>
                <a:ea typeface="Poppins Semi-Bold"/>
                <a:cs typeface="Poppins Semi-Bold"/>
                <a:sym typeface="Poppins Semi-Bold"/>
              </a:rPr>
              <a:t> </a:t>
            </a:r>
            <a:r>
              <a:rPr lang="en-US" sz="3999" b="1">
                <a:solidFill>
                  <a:srgbClr val="FFCB85"/>
                </a:solidFill>
                <a:latin typeface="Poppins Semi-Bold"/>
                <a:ea typeface="Poppins Semi-Bold"/>
                <a:cs typeface="Poppins Semi-Bold"/>
                <a:sym typeface="Poppins Semi-Bold"/>
              </a:rPr>
              <a:t>10</a:t>
            </a:r>
            <a:r>
              <a:rPr lang="en-US" sz="3999" b="1">
                <a:solidFill>
                  <a:srgbClr val="FFFFFF"/>
                </a:solidFill>
                <a:latin typeface="Poppins Semi-Bold"/>
                <a:ea typeface="Poppins Semi-Bold"/>
                <a:cs typeface="Poppins Semi-Bold"/>
                <a:sym typeface="Poppins Semi-Bold"/>
              </a:rPr>
              <a:t> </a:t>
            </a:r>
            <a:r>
              <a:rPr lang="en-US" sz="3999" b="1">
                <a:solidFill>
                  <a:srgbClr val="7ED957"/>
                </a:solidFill>
                <a:latin typeface="Poppins Semi-Bold"/>
                <a:ea typeface="Poppins Semi-Bold"/>
                <a:cs typeface="Poppins Semi-Bold"/>
                <a:sym typeface="Poppins Semi-Bold"/>
              </a:rPr>
              <a:t>==</a:t>
            </a:r>
            <a:r>
              <a:rPr lang="en-US" sz="3999" b="1">
                <a:solidFill>
                  <a:srgbClr val="FFFFFF"/>
                </a:solidFill>
                <a:latin typeface="Poppins Semi-Bold"/>
                <a:ea typeface="Poppins Semi-Bold"/>
                <a:cs typeface="Poppins Semi-Bold"/>
                <a:sym typeface="Poppins Semi-Bold"/>
              </a:rPr>
              <a:t> </a:t>
            </a:r>
            <a:r>
              <a:rPr lang="en-US" sz="3999" b="1">
                <a:solidFill>
                  <a:srgbClr val="FFCB85"/>
                </a:solidFill>
                <a:latin typeface="Poppins Semi-Bold"/>
                <a:ea typeface="Poppins Semi-Bold"/>
                <a:cs typeface="Poppins Semi-Bold"/>
                <a:sym typeface="Poppins Semi-Bold"/>
              </a:rPr>
              <a:t>10</a:t>
            </a:r>
            <a:r>
              <a:rPr lang="en-US" sz="3999" b="1">
                <a:solidFill>
                  <a:srgbClr val="FFFFFF"/>
                </a:solidFill>
                <a:latin typeface="Poppins Semi-Bold"/>
                <a:ea typeface="Poppins Semi-Bold"/>
                <a:cs typeface="Poppins Semi-Bold"/>
                <a:sym typeface="Poppins Semi-Bold"/>
              </a:rPr>
              <a:t>. </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2530107" y="5332705"/>
            <a:ext cx="1093613" cy="1797234"/>
          </a:xfrm>
          <a:custGeom>
            <a:avLst/>
            <a:gdLst/>
            <a:ahLst/>
            <a:cxnLst/>
            <a:rect l="l" t="t" r="r" b="b"/>
            <a:pathLst>
              <a:path w="1093613" h="1797234">
                <a:moveTo>
                  <a:pt x="0" y="0"/>
                </a:moveTo>
                <a:lnTo>
                  <a:pt x="1093613" y="0"/>
                </a:lnTo>
                <a:lnTo>
                  <a:pt x="1093613" y="1797234"/>
                </a:lnTo>
                <a:lnTo>
                  <a:pt x="0" y="17972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6930171" y="5303539"/>
            <a:ext cx="1057008" cy="1821990"/>
          </a:xfrm>
          <a:custGeom>
            <a:avLst/>
            <a:gdLst/>
            <a:ahLst/>
            <a:cxnLst/>
            <a:rect l="l" t="t" r="r" b="b"/>
            <a:pathLst>
              <a:path w="1057008" h="1821990">
                <a:moveTo>
                  <a:pt x="0" y="0"/>
                </a:moveTo>
                <a:lnTo>
                  <a:pt x="1057008" y="0"/>
                </a:lnTo>
                <a:lnTo>
                  <a:pt x="1057008" y="1821990"/>
                </a:lnTo>
                <a:lnTo>
                  <a:pt x="0" y="182199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9441999" y="7507776"/>
            <a:ext cx="1687430" cy="2022691"/>
          </a:xfrm>
          <a:custGeom>
            <a:avLst/>
            <a:gdLst/>
            <a:ahLst/>
            <a:cxnLst/>
            <a:rect l="l" t="t" r="r" b="b"/>
            <a:pathLst>
              <a:path w="1687430" h="2022691">
                <a:moveTo>
                  <a:pt x="0" y="0"/>
                </a:moveTo>
                <a:lnTo>
                  <a:pt x="1687430" y="0"/>
                </a:lnTo>
                <a:lnTo>
                  <a:pt x="1687430" y="2022691"/>
                </a:lnTo>
                <a:lnTo>
                  <a:pt x="0" y="202269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3703503" y="5330000"/>
            <a:ext cx="622306" cy="1771774"/>
          </a:xfrm>
          <a:custGeom>
            <a:avLst/>
            <a:gdLst/>
            <a:ahLst/>
            <a:cxnLst/>
            <a:rect l="l" t="t" r="r" b="b"/>
            <a:pathLst>
              <a:path w="622306" h="1771774">
                <a:moveTo>
                  <a:pt x="0" y="0"/>
                </a:moveTo>
                <a:lnTo>
                  <a:pt x="622307" y="0"/>
                </a:lnTo>
                <a:lnTo>
                  <a:pt x="622307" y="1771773"/>
                </a:lnTo>
                <a:lnTo>
                  <a:pt x="0" y="177177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2220668" y="324326"/>
            <a:ext cx="1412355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Condicionais e Operadores Lógicos</a:t>
            </a:r>
          </a:p>
        </p:txBody>
      </p:sp>
      <p:sp>
        <p:nvSpPr>
          <p:cNvPr id="7" name="TextBox 7"/>
          <p:cNvSpPr txBox="1"/>
          <p:nvPr/>
        </p:nvSpPr>
        <p:spPr>
          <a:xfrm>
            <a:off x="164983" y="4592879"/>
            <a:ext cx="16549097" cy="779736"/>
          </a:xfrm>
          <a:prstGeom prst="rect">
            <a:avLst/>
          </a:prstGeom>
        </p:spPr>
        <p:txBody>
          <a:bodyPr lIns="0" tIns="0" rIns="0" bIns="0" rtlCol="0" anchor="t">
            <a:spAutoFit/>
          </a:bodyPr>
          <a:lstStyle/>
          <a:p>
            <a:pPr algn="l">
              <a:lnSpc>
                <a:spcPts val="5599"/>
              </a:lnSpc>
            </a:pPr>
            <a:r>
              <a:rPr lang="en-US" sz="3999" b="1">
                <a:solidFill>
                  <a:srgbClr val="FFFFFF"/>
                </a:solidFill>
                <a:latin typeface="Poppins Semi-Bold"/>
                <a:ea typeface="Poppins Semi-Bold"/>
                <a:cs typeface="Poppins Semi-Bold"/>
                <a:sym typeface="Poppins Semi-Bold"/>
              </a:rPr>
              <a:t>(tempo nublado </a:t>
            </a:r>
            <a:r>
              <a:rPr lang="en-US" sz="3999" b="1">
                <a:solidFill>
                  <a:srgbClr val="FF5757"/>
                </a:solidFill>
                <a:latin typeface="Poppins Semi-Bold"/>
                <a:ea typeface="Poppins Semi-Bold"/>
                <a:cs typeface="Poppins Semi-Bold"/>
                <a:sym typeface="Poppins Semi-Bold"/>
              </a:rPr>
              <a:t>OR</a:t>
            </a:r>
            <a:r>
              <a:rPr lang="en-US" sz="3999" b="1">
                <a:solidFill>
                  <a:srgbClr val="FFFFFF"/>
                </a:solidFill>
                <a:latin typeface="Poppins Semi-Bold"/>
                <a:ea typeface="Poppins Semi-Bold"/>
                <a:cs typeface="Poppins Semi-Bold"/>
                <a:sym typeface="Poppins Semi-Bold"/>
              </a:rPr>
              <a:t> tempo ensolarado) </a:t>
            </a:r>
            <a:r>
              <a:rPr lang="en-US" sz="3999" b="1">
                <a:solidFill>
                  <a:srgbClr val="FF5757"/>
                </a:solidFill>
                <a:latin typeface="Poppins Semi-Bold"/>
                <a:ea typeface="Poppins Semi-Bold"/>
                <a:cs typeface="Poppins Semi-Bold"/>
                <a:sym typeface="Poppins Semi-Bold"/>
              </a:rPr>
              <a:t>AND</a:t>
            </a:r>
            <a:r>
              <a:rPr lang="en-US" sz="3999" b="1">
                <a:solidFill>
                  <a:srgbClr val="FFFFFF"/>
                </a:solidFill>
                <a:latin typeface="Poppins Semi-Bold"/>
                <a:ea typeface="Poppins Semi-Bold"/>
                <a:cs typeface="Poppins Semi-Bold"/>
                <a:sym typeface="Poppins Semi-Bold"/>
              </a:rPr>
              <a:t> final de semana</a:t>
            </a:r>
          </a:p>
        </p:txBody>
      </p:sp>
      <p:sp>
        <p:nvSpPr>
          <p:cNvPr id="8" name="TextBox 8"/>
          <p:cNvSpPr txBox="1"/>
          <p:nvPr/>
        </p:nvSpPr>
        <p:spPr>
          <a:xfrm>
            <a:off x="164983" y="2268779"/>
            <a:ext cx="17533325" cy="1303611"/>
          </a:xfrm>
          <a:prstGeom prst="rect">
            <a:avLst/>
          </a:prstGeom>
        </p:spPr>
        <p:txBody>
          <a:bodyPr lIns="0" tIns="0" rIns="0" bIns="0" rtlCol="0" anchor="t">
            <a:spAutoFit/>
          </a:bodyPr>
          <a:lstStyle/>
          <a:p>
            <a:pPr algn="l">
              <a:lnSpc>
                <a:spcPts val="4723"/>
              </a:lnSpc>
            </a:pPr>
            <a:r>
              <a:rPr lang="en-US" sz="3999" b="1">
                <a:solidFill>
                  <a:srgbClr val="FFFFFF"/>
                </a:solidFill>
                <a:latin typeface="Poppins Semi-Bold"/>
                <a:ea typeface="Poppins Semi-Bold"/>
                <a:cs typeface="Poppins Semi-Bold"/>
                <a:sym typeface="Poppins Semi-Bold"/>
              </a:rPr>
              <a:t>Vamos supor que você queira ir a praia no final de semana, mas de fato só irá se o tempo tiver nublado ou ensolarado.</a:t>
            </a:r>
          </a:p>
        </p:txBody>
      </p:sp>
      <p:sp>
        <p:nvSpPr>
          <p:cNvPr id="9" name="TextBox 9"/>
          <p:cNvSpPr txBox="1"/>
          <p:nvPr/>
        </p:nvSpPr>
        <p:spPr>
          <a:xfrm>
            <a:off x="668522" y="6940820"/>
            <a:ext cx="9071781" cy="1202341"/>
          </a:xfrm>
          <a:prstGeom prst="rect">
            <a:avLst/>
          </a:prstGeom>
        </p:spPr>
        <p:txBody>
          <a:bodyPr lIns="0" tIns="0" rIns="0" bIns="0" rtlCol="0" anchor="t">
            <a:spAutoFit/>
          </a:bodyPr>
          <a:lstStyle/>
          <a:p>
            <a:pPr algn="ctr">
              <a:lnSpc>
                <a:spcPts val="4725"/>
              </a:lnSpc>
            </a:pPr>
            <a:r>
              <a:rPr lang="en-US" sz="3399">
                <a:solidFill>
                  <a:srgbClr val="FFFFFF"/>
                </a:solidFill>
                <a:latin typeface="Open Sans"/>
                <a:ea typeface="Open Sans"/>
                <a:cs typeface="Open Sans"/>
                <a:sym typeface="Open Sans"/>
              </a:rPr>
              <a:t>Se um dos dois forem verdadeiros prosseguimos na nossa decisão de ir a praia</a:t>
            </a:r>
          </a:p>
        </p:txBody>
      </p:sp>
      <p:sp>
        <p:nvSpPr>
          <p:cNvPr id="10" name="TextBox 10"/>
          <p:cNvSpPr txBox="1"/>
          <p:nvPr/>
        </p:nvSpPr>
        <p:spPr>
          <a:xfrm>
            <a:off x="11007909" y="6940820"/>
            <a:ext cx="6133795" cy="1202341"/>
          </a:xfrm>
          <a:prstGeom prst="rect">
            <a:avLst/>
          </a:prstGeom>
        </p:spPr>
        <p:txBody>
          <a:bodyPr lIns="0" tIns="0" rIns="0" bIns="0" rtlCol="0" anchor="t">
            <a:spAutoFit/>
          </a:bodyPr>
          <a:lstStyle/>
          <a:p>
            <a:pPr algn="ctr">
              <a:lnSpc>
                <a:spcPts val="4725"/>
              </a:lnSpc>
            </a:pPr>
            <a:r>
              <a:rPr lang="en-US" sz="3399">
                <a:solidFill>
                  <a:srgbClr val="FFFFFF"/>
                </a:solidFill>
                <a:latin typeface="Open Sans"/>
                <a:ea typeface="Open Sans"/>
                <a:cs typeface="Open Sans"/>
                <a:sym typeface="Open Sans"/>
              </a:rPr>
              <a:t>Se de fato for final de semana prosseguimos para ir a praia</a:t>
            </a:r>
          </a:p>
        </p:txBody>
      </p:sp>
      <p:sp>
        <p:nvSpPr>
          <p:cNvPr id="11" name="TextBox 11"/>
          <p:cNvSpPr txBox="1"/>
          <p:nvPr/>
        </p:nvSpPr>
        <p:spPr>
          <a:xfrm>
            <a:off x="2940053" y="9345663"/>
            <a:ext cx="15085362" cy="602266"/>
          </a:xfrm>
          <a:prstGeom prst="rect">
            <a:avLst/>
          </a:prstGeom>
        </p:spPr>
        <p:txBody>
          <a:bodyPr lIns="0" tIns="0" rIns="0" bIns="0" rtlCol="0" anchor="t">
            <a:spAutoFit/>
          </a:bodyPr>
          <a:lstStyle/>
          <a:p>
            <a:pPr algn="l">
              <a:lnSpc>
                <a:spcPts val="4759"/>
              </a:lnSpc>
            </a:pPr>
            <a:r>
              <a:rPr lang="en-US" sz="3399">
                <a:solidFill>
                  <a:srgbClr val="FFFFFF"/>
                </a:solidFill>
                <a:latin typeface="Open Sans"/>
                <a:ea typeface="Open Sans"/>
                <a:cs typeface="Open Sans"/>
                <a:sym typeface="Open Sans"/>
              </a:rPr>
              <a:t>Vou a praia se o tempo atender ao meu requisito e se for final de semana</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2220668" y="324326"/>
            <a:ext cx="1412355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Condicionais e Operadores Lógicos</a:t>
            </a:r>
          </a:p>
        </p:txBody>
      </p:sp>
      <p:sp>
        <p:nvSpPr>
          <p:cNvPr id="3" name="TextBox 3"/>
          <p:cNvSpPr txBox="1"/>
          <p:nvPr/>
        </p:nvSpPr>
        <p:spPr>
          <a:xfrm>
            <a:off x="164983" y="6469599"/>
            <a:ext cx="16549097" cy="779736"/>
          </a:xfrm>
          <a:prstGeom prst="rect">
            <a:avLst/>
          </a:prstGeom>
        </p:spPr>
        <p:txBody>
          <a:bodyPr lIns="0" tIns="0" rIns="0" bIns="0" rtlCol="0" anchor="t">
            <a:spAutoFit/>
          </a:bodyPr>
          <a:lstStyle/>
          <a:p>
            <a:pPr algn="l">
              <a:lnSpc>
                <a:spcPts val="5599"/>
              </a:lnSpc>
            </a:pPr>
            <a:r>
              <a:rPr lang="en-US" sz="3999" b="1">
                <a:solidFill>
                  <a:srgbClr val="FFFFFF"/>
                </a:solidFill>
                <a:latin typeface="Poppins Semi-Bold"/>
                <a:ea typeface="Poppins Semi-Bold"/>
                <a:cs typeface="Poppins Semi-Bold"/>
                <a:sym typeface="Poppins Semi-Bold"/>
              </a:rPr>
              <a:t>(tempo nublado </a:t>
            </a:r>
            <a:r>
              <a:rPr lang="en-US" sz="3999" b="1">
                <a:solidFill>
                  <a:srgbClr val="FF5757"/>
                </a:solidFill>
                <a:latin typeface="Poppins Semi-Bold"/>
                <a:ea typeface="Poppins Semi-Bold"/>
                <a:cs typeface="Poppins Semi-Bold"/>
                <a:sym typeface="Poppins Semi-Bold"/>
              </a:rPr>
              <a:t>OR</a:t>
            </a:r>
            <a:r>
              <a:rPr lang="en-US" sz="3999" b="1">
                <a:solidFill>
                  <a:srgbClr val="FFFFFF"/>
                </a:solidFill>
                <a:latin typeface="Poppins Semi-Bold"/>
                <a:ea typeface="Poppins Semi-Bold"/>
                <a:cs typeface="Poppins Semi-Bold"/>
                <a:sym typeface="Poppins Semi-Bold"/>
              </a:rPr>
              <a:t> tempo ensolarado) </a:t>
            </a:r>
            <a:r>
              <a:rPr lang="en-US" sz="3999" b="1">
                <a:solidFill>
                  <a:srgbClr val="FF5757"/>
                </a:solidFill>
                <a:latin typeface="Poppins Semi-Bold"/>
                <a:ea typeface="Poppins Semi-Bold"/>
                <a:cs typeface="Poppins Semi-Bold"/>
                <a:sym typeface="Poppins Semi-Bold"/>
              </a:rPr>
              <a:t>AND</a:t>
            </a:r>
            <a:r>
              <a:rPr lang="en-US" sz="3999" b="1">
                <a:solidFill>
                  <a:srgbClr val="FFFFFF"/>
                </a:solidFill>
                <a:latin typeface="Poppins Semi-Bold"/>
                <a:ea typeface="Poppins Semi-Bold"/>
                <a:cs typeface="Poppins Semi-Bold"/>
                <a:sym typeface="Poppins Semi-Bold"/>
              </a:rPr>
              <a:t> final de semana</a:t>
            </a:r>
          </a:p>
        </p:txBody>
      </p:sp>
      <p:sp>
        <p:nvSpPr>
          <p:cNvPr id="4" name="TextBox 4"/>
          <p:cNvSpPr txBox="1"/>
          <p:nvPr/>
        </p:nvSpPr>
        <p:spPr>
          <a:xfrm>
            <a:off x="164983" y="2945349"/>
            <a:ext cx="16325602" cy="1303611"/>
          </a:xfrm>
          <a:prstGeom prst="rect">
            <a:avLst/>
          </a:prstGeom>
        </p:spPr>
        <p:txBody>
          <a:bodyPr lIns="0" tIns="0" rIns="0" bIns="0" rtlCol="0" anchor="t">
            <a:spAutoFit/>
          </a:bodyPr>
          <a:lstStyle/>
          <a:p>
            <a:pPr algn="l">
              <a:lnSpc>
                <a:spcPts val="4723"/>
              </a:lnSpc>
            </a:pPr>
            <a:r>
              <a:rPr lang="en-US" sz="3999" b="1">
                <a:solidFill>
                  <a:srgbClr val="FFFFFF"/>
                </a:solidFill>
                <a:latin typeface="Poppins Semi-Bold"/>
                <a:ea typeface="Poppins Semi-Bold"/>
                <a:cs typeface="Poppins Semi-Bold"/>
                <a:sym typeface="Poppins Semi-Bold"/>
              </a:rPr>
              <a:t>Aplicando o filtro para saber o que o programa irá entender, podemos fazer assim:</a:t>
            </a:r>
          </a:p>
        </p:txBody>
      </p:sp>
      <p:sp>
        <p:nvSpPr>
          <p:cNvPr id="5" name="TextBox 5"/>
          <p:cNvSpPr txBox="1"/>
          <p:nvPr/>
        </p:nvSpPr>
        <p:spPr>
          <a:xfrm>
            <a:off x="1693897" y="5928103"/>
            <a:ext cx="1086231" cy="780936"/>
          </a:xfrm>
          <a:prstGeom prst="rect">
            <a:avLst/>
          </a:prstGeom>
        </p:spPr>
        <p:txBody>
          <a:bodyPr lIns="0" tIns="0" rIns="0" bIns="0" rtlCol="0" anchor="t">
            <a:spAutoFit/>
          </a:bodyPr>
          <a:lstStyle/>
          <a:p>
            <a:pPr algn="l">
              <a:lnSpc>
                <a:spcPts val="5878"/>
              </a:lnSpc>
            </a:pPr>
            <a:r>
              <a:rPr lang="en-US" sz="4199">
                <a:solidFill>
                  <a:srgbClr val="3C67BF"/>
                </a:solidFill>
                <a:latin typeface="Poppins"/>
                <a:ea typeface="Poppins"/>
                <a:cs typeface="Poppins"/>
                <a:sym typeface="Poppins"/>
              </a:rPr>
              <a:t>true</a:t>
            </a:r>
          </a:p>
        </p:txBody>
      </p:sp>
      <p:sp>
        <p:nvSpPr>
          <p:cNvPr id="6" name="TextBox 6"/>
          <p:cNvSpPr txBox="1"/>
          <p:nvPr/>
        </p:nvSpPr>
        <p:spPr>
          <a:xfrm>
            <a:off x="1693897" y="7968986"/>
            <a:ext cx="1086231" cy="780936"/>
          </a:xfrm>
          <a:prstGeom prst="rect">
            <a:avLst/>
          </a:prstGeom>
        </p:spPr>
        <p:txBody>
          <a:bodyPr lIns="0" tIns="0" rIns="0" bIns="0" rtlCol="0" anchor="t">
            <a:spAutoFit/>
          </a:bodyPr>
          <a:lstStyle/>
          <a:p>
            <a:pPr algn="l">
              <a:lnSpc>
                <a:spcPts val="5878"/>
              </a:lnSpc>
            </a:pPr>
            <a:r>
              <a:rPr lang="en-US" sz="4199">
                <a:solidFill>
                  <a:srgbClr val="3C67BF"/>
                </a:solidFill>
                <a:latin typeface="Poppins"/>
                <a:ea typeface="Poppins"/>
                <a:cs typeface="Poppins"/>
                <a:sym typeface="Poppins"/>
              </a:rPr>
              <a:t>true</a:t>
            </a:r>
          </a:p>
        </p:txBody>
      </p:sp>
      <p:sp>
        <p:nvSpPr>
          <p:cNvPr id="7" name="TextBox 7"/>
          <p:cNvSpPr txBox="1"/>
          <p:nvPr/>
        </p:nvSpPr>
        <p:spPr>
          <a:xfrm>
            <a:off x="6983559" y="5928103"/>
            <a:ext cx="1301620" cy="780936"/>
          </a:xfrm>
          <a:prstGeom prst="rect">
            <a:avLst/>
          </a:prstGeom>
        </p:spPr>
        <p:txBody>
          <a:bodyPr lIns="0" tIns="0" rIns="0" bIns="0" rtlCol="0" anchor="t">
            <a:spAutoFit/>
          </a:bodyPr>
          <a:lstStyle/>
          <a:p>
            <a:pPr algn="l">
              <a:lnSpc>
                <a:spcPts val="5878"/>
              </a:lnSpc>
            </a:pPr>
            <a:r>
              <a:rPr lang="en-US" sz="4199">
                <a:solidFill>
                  <a:srgbClr val="3C67BF"/>
                </a:solidFill>
                <a:latin typeface="Poppins"/>
                <a:ea typeface="Poppins"/>
                <a:cs typeface="Poppins"/>
                <a:sym typeface="Poppins"/>
              </a:rPr>
              <a:t>false</a:t>
            </a:r>
          </a:p>
        </p:txBody>
      </p:sp>
      <p:sp>
        <p:nvSpPr>
          <p:cNvPr id="8" name="TextBox 8"/>
          <p:cNvSpPr txBox="1"/>
          <p:nvPr/>
        </p:nvSpPr>
        <p:spPr>
          <a:xfrm>
            <a:off x="10484691" y="7968986"/>
            <a:ext cx="1133561" cy="780936"/>
          </a:xfrm>
          <a:prstGeom prst="rect">
            <a:avLst/>
          </a:prstGeom>
        </p:spPr>
        <p:txBody>
          <a:bodyPr lIns="0" tIns="0" rIns="0" bIns="0" rtlCol="0" anchor="t">
            <a:spAutoFit/>
          </a:bodyPr>
          <a:lstStyle/>
          <a:p>
            <a:pPr algn="l">
              <a:lnSpc>
                <a:spcPts val="5878"/>
              </a:lnSpc>
            </a:pPr>
            <a:r>
              <a:rPr lang="en-US" sz="4199">
                <a:solidFill>
                  <a:srgbClr val="FF5757"/>
                </a:solidFill>
                <a:latin typeface="Poppins"/>
                <a:ea typeface="Poppins"/>
                <a:cs typeface="Poppins"/>
                <a:sym typeface="Poppins"/>
              </a:rPr>
              <a:t>AND</a:t>
            </a:r>
          </a:p>
        </p:txBody>
      </p:sp>
      <p:sp>
        <p:nvSpPr>
          <p:cNvPr id="9" name="TextBox 9"/>
          <p:cNvSpPr txBox="1"/>
          <p:nvPr/>
        </p:nvSpPr>
        <p:spPr>
          <a:xfrm>
            <a:off x="13163560" y="5928103"/>
            <a:ext cx="1086231" cy="780936"/>
          </a:xfrm>
          <a:prstGeom prst="rect">
            <a:avLst/>
          </a:prstGeom>
        </p:spPr>
        <p:txBody>
          <a:bodyPr lIns="0" tIns="0" rIns="0" bIns="0" rtlCol="0" anchor="t">
            <a:spAutoFit/>
          </a:bodyPr>
          <a:lstStyle/>
          <a:p>
            <a:pPr algn="l">
              <a:lnSpc>
                <a:spcPts val="5878"/>
              </a:lnSpc>
            </a:pPr>
            <a:r>
              <a:rPr lang="en-US" sz="4199">
                <a:solidFill>
                  <a:srgbClr val="3C67BF"/>
                </a:solidFill>
                <a:latin typeface="Poppins"/>
                <a:ea typeface="Poppins"/>
                <a:cs typeface="Poppins"/>
                <a:sym typeface="Poppins"/>
              </a:rPr>
              <a:t>true</a:t>
            </a:r>
          </a:p>
        </p:txBody>
      </p:sp>
      <p:sp>
        <p:nvSpPr>
          <p:cNvPr id="10" name="TextBox 10"/>
          <p:cNvSpPr txBox="1"/>
          <p:nvPr/>
        </p:nvSpPr>
        <p:spPr>
          <a:xfrm>
            <a:off x="13163560" y="7530836"/>
            <a:ext cx="1086231" cy="2598306"/>
          </a:xfrm>
          <a:prstGeom prst="rect">
            <a:avLst/>
          </a:prstGeom>
        </p:spPr>
        <p:txBody>
          <a:bodyPr lIns="0" tIns="0" rIns="0" bIns="0" rtlCol="0" anchor="t">
            <a:spAutoFit/>
          </a:bodyPr>
          <a:lstStyle/>
          <a:p>
            <a:pPr algn="just">
              <a:lnSpc>
                <a:spcPts val="10498"/>
              </a:lnSpc>
            </a:pPr>
            <a:r>
              <a:rPr lang="en-US" sz="4199">
                <a:solidFill>
                  <a:srgbClr val="3C67BF"/>
                </a:solidFill>
                <a:latin typeface="Poppins"/>
                <a:ea typeface="Poppins"/>
                <a:cs typeface="Poppins"/>
                <a:sym typeface="Poppins"/>
              </a:rPr>
              <a:t>true true</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2220668" y="391001"/>
            <a:ext cx="14123556" cy="1097128"/>
          </a:xfrm>
          <a:prstGeom prst="rect">
            <a:avLst/>
          </a:prstGeom>
        </p:spPr>
        <p:txBody>
          <a:bodyPr lIns="0" tIns="0" rIns="0" bIns="0" rtlCol="0" anchor="t">
            <a:spAutoFit/>
          </a:bodyPr>
          <a:lstStyle/>
          <a:p>
            <a:pPr algn="l">
              <a:lnSpc>
                <a:spcPts val="7682"/>
              </a:lnSpc>
            </a:pPr>
            <a:r>
              <a:rPr lang="en-US" sz="5964" b="1">
                <a:solidFill>
                  <a:srgbClr val="FFFFFF"/>
                </a:solidFill>
                <a:latin typeface="Poppins Semi-Bold"/>
                <a:ea typeface="Poppins Semi-Bold"/>
                <a:cs typeface="Poppins Semi-Bold"/>
                <a:sym typeface="Poppins Semi-Bold"/>
              </a:rPr>
              <a:t>Condicionais e Operadores Lógicos</a:t>
            </a:r>
          </a:p>
        </p:txBody>
      </p:sp>
      <p:sp>
        <p:nvSpPr>
          <p:cNvPr id="3" name="TextBox 3"/>
          <p:cNvSpPr txBox="1"/>
          <p:nvPr/>
        </p:nvSpPr>
        <p:spPr>
          <a:xfrm>
            <a:off x="2516724" y="1302210"/>
            <a:ext cx="132121" cy="1022814"/>
          </a:xfrm>
          <a:prstGeom prst="rect">
            <a:avLst/>
          </a:prstGeom>
        </p:spPr>
        <p:txBody>
          <a:bodyPr lIns="0" tIns="0" rIns="0" bIns="0" rtlCol="0" anchor="t">
            <a:spAutoFit/>
          </a:bodyPr>
          <a:lstStyle/>
          <a:p>
            <a:pPr algn="l">
              <a:lnSpc>
                <a:spcPts val="8499"/>
              </a:lnSpc>
            </a:pPr>
            <a:r>
              <a:rPr lang="en-US" sz="3399" b="1">
                <a:solidFill>
                  <a:srgbClr val="FFFFFF"/>
                </a:solidFill>
                <a:latin typeface="Poppins Semi-Bold"/>
                <a:ea typeface="Poppins Semi-Bold"/>
                <a:cs typeface="Poppins Semi-Bold"/>
                <a:sym typeface="Poppins Semi-Bold"/>
              </a:rPr>
              <a:t> </a:t>
            </a:r>
          </a:p>
        </p:txBody>
      </p:sp>
      <p:sp>
        <p:nvSpPr>
          <p:cNvPr id="4" name="TextBox 4"/>
          <p:cNvSpPr txBox="1"/>
          <p:nvPr/>
        </p:nvSpPr>
        <p:spPr>
          <a:xfrm>
            <a:off x="164983" y="5940885"/>
            <a:ext cx="8994115" cy="4080339"/>
          </a:xfrm>
          <a:prstGeom prst="rect">
            <a:avLst/>
          </a:prstGeom>
        </p:spPr>
        <p:txBody>
          <a:bodyPr lIns="0" tIns="0" rIns="0" bIns="0" rtlCol="0" anchor="t">
            <a:spAutoFit/>
          </a:bodyPr>
          <a:lstStyle/>
          <a:p>
            <a:pPr algn="just">
              <a:lnSpc>
                <a:spcPts val="8101"/>
              </a:lnSpc>
            </a:pPr>
            <a:r>
              <a:rPr lang="en-US" sz="3399" b="1">
                <a:solidFill>
                  <a:srgbClr val="FFFFFF"/>
                </a:solidFill>
                <a:latin typeface="Poppins Semi-Bold"/>
                <a:ea typeface="Poppins Semi-Bold"/>
                <a:cs typeface="Poppins Semi-Bold"/>
                <a:sym typeface="Poppins Semi-Bold"/>
              </a:rPr>
              <a:t>velocidade &gt;= 110 </a:t>
            </a:r>
            <a:r>
              <a:rPr lang="en-US" sz="3399" b="1">
                <a:solidFill>
                  <a:srgbClr val="FF5757"/>
                </a:solidFill>
                <a:latin typeface="Poppins Semi-Bold"/>
                <a:ea typeface="Poppins Semi-Bold"/>
                <a:cs typeface="Poppins Semi-Bold"/>
                <a:sym typeface="Poppins Semi-Bold"/>
              </a:rPr>
              <a:t>E</a:t>
            </a:r>
            <a:r>
              <a:rPr lang="en-US" sz="3399" b="1">
                <a:solidFill>
                  <a:srgbClr val="FFFFFF"/>
                </a:solidFill>
                <a:latin typeface="Poppins Semi-Bold"/>
                <a:ea typeface="Poppins Semi-Bold"/>
                <a:cs typeface="Poppins Semi-Bold"/>
                <a:sym typeface="Poppins Semi-Bold"/>
              </a:rPr>
              <a:t> velocidade &lt;= 200 : velocidade &gt; 0 </a:t>
            </a:r>
            <a:r>
              <a:rPr lang="en-US" sz="3399" b="1">
                <a:solidFill>
                  <a:srgbClr val="FF5757"/>
                </a:solidFill>
                <a:latin typeface="Poppins Semi-Bold"/>
                <a:ea typeface="Poppins Semi-Bold"/>
                <a:cs typeface="Poppins Semi-Bold"/>
                <a:sym typeface="Poppins Semi-Bold"/>
              </a:rPr>
              <a:t>OU</a:t>
            </a:r>
            <a:r>
              <a:rPr lang="en-US" sz="3399" b="1">
                <a:solidFill>
                  <a:srgbClr val="FFFFFF"/>
                </a:solidFill>
                <a:latin typeface="Poppins Semi-Bold"/>
                <a:ea typeface="Poppins Semi-Bold"/>
                <a:cs typeface="Poppins Semi-Bold"/>
                <a:sym typeface="Poppins Semi-Bold"/>
              </a:rPr>
              <a:t> velocidade &lt; 100 : velocidade &lt; 0 </a:t>
            </a:r>
            <a:r>
              <a:rPr lang="en-US" sz="3399" b="1">
                <a:solidFill>
                  <a:srgbClr val="FF5757"/>
                </a:solidFill>
                <a:latin typeface="Poppins Semi-Bold"/>
                <a:ea typeface="Poppins Semi-Bold"/>
                <a:cs typeface="Poppins Semi-Bold"/>
                <a:sym typeface="Poppins Semi-Bold"/>
              </a:rPr>
              <a:t>OU</a:t>
            </a:r>
            <a:r>
              <a:rPr lang="en-US" sz="3399" b="1">
                <a:solidFill>
                  <a:srgbClr val="FFFFFF"/>
                </a:solidFill>
                <a:latin typeface="Poppins Semi-Bold"/>
                <a:ea typeface="Poppins Semi-Bold"/>
                <a:cs typeface="Poppins Semi-Bold"/>
                <a:sym typeface="Poppins Semi-Bold"/>
              </a:rPr>
              <a:t> velocidade &gt; 100 : velocidade &lt; 0 </a:t>
            </a:r>
            <a:r>
              <a:rPr lang="en-US" sz="3399" b="1">
                <a:solidFill>
                  <a:srgbClr val="FF5757"/>
                </a:solidFill>
                <a:latin typeface="Poppins Semi-Bold"/>
                <a:ea typeface="Poppins Semi-Bold"/>
                <a:cs typeface="Poppins Semi-Bold"/>
                <a:sym typeface="Poppins Semi-Bold"/>
              </a:rPr>
              <a:t>OU</a:t>
            </a:r>
            <a:r>
              <a:rPr lang="en-US" sz="3399" b="1">
                <a:solidFill>
                  <a:srgbClr val="FFFFFF"/>
                </a:solidFill>
                <a:latin typeface="Poppins Semi-Bold"/>
                <a:ea typeface="Poppins Semi-Bold"/>
                <a:cs typeface="Poppins Semi-Bold"/>
                <a:sym typeface="Poppins Semi-Bold"/>
              </a:rPr>
              <a:t> velocidade &gt;=110 : </a:t>
            </a:r>
          </a:p>
        </p:txBody>
      </p:sp>
      <p:sp>
        <p:nvSpPr>
          <p:cNvPr id="5" name="TextBox 5"/>
          <p:cNvSpPr txBox="1"/>
          <p:nvPr/>
        </p:nvSpPr>
        <p:spPr>
          <a:xfrm>
            <a:off x="164983" y="1721310"/>
            <a:ext cx="16682018" cy="603714"/>
          </a:xfrm>
          <a:prstGeom prst="rect">
            <a:avLst/>
          </a:prstGeom>
        </p:spPr>
        <p:txBody>
          <a:bodyPr lIns="0" tIns="0" rIns="0" bIns="0" rtlCol="0" anchor="t">
            <a:spAutoFit/>
          </a:bodyPr>
          <a:lstStyle/>
          <a:p>
            <a:pPr algn="l">
              <a:lnSpc>
                <a:spcPts val="4049"/>
              </a:lnSpc>
            </a:pPr>
            <a:r>
              <a:rPr lang="en-US" sz="3399" b="1">
                <a:solidFill>
                  <a:srgbClr val="FFFFFF"/>
                </a:solidFill>
                <a:latin typeface="Poppins Semi-Bold"/>
                <a:ea typeface="Poppins Semi-Bold"/>
                <a:cs typeface="Poppins Semi-Bold"/>
                <a:sym typeface="Poppins Semi-Bold"/>
              </a:rPr>
              <a:t>Atribuindoovalor inteirode</a:t>
            </a:r>
            <a:r>
              <a:rPr lang="en-US" sz="3399" b="1">
                <a:solidFill>
                  <a:srgbClr val="FFCB85"/>
                </a:solidFill>
                <a:latin typeface="Poppins Semi-Bold"/>
                <a:ea typeface="Poppins Semi-Bold"/>
                <a:cs typeface="Poppins Semi-Bold"/>
                <a:sym typeface="Poppins Semi-Bold"/>
              </a:rPr>
              <a:t>110 </a:t>
            </a:r>
            <a:r>
              <a:rPr lang="en-US" sz="3399" b="1">
                <a:solidFill>
                  <a:srgbClr val="FFFFFF"/>
                </a:solidFill>
                <a:latin typeface="Poppins Semi-Bold"/>
                <a:ea typeface="Poppins Semi-Bold"/>
                <a:cs typeface="Poppins Semi-Bold"/>
                <a:sym typeface="Poppins Semi-Bold"/>
              </a:rPr>
              <a:t>na velocidade, respondaseresultaráem</a:t>
            </a:r>
          </a:p>
        </p:txBody>
      </p:sp>
      <p:sp>
        <p:nvSpPr>
          <p:cNvPr id="6" name="TextBox 6"/>
          <p:cNvSpPr txBox="1"/>
          <p:nvPr/>
        </p:nvSpPr>
        <p:spPr>
          <a:xfrm>
            <a:off x="164983" y="2235660"/>
            <a:ext cx="12481855" cy="3664696"/>
          </a:xfrm>
          <a:prstGeom prst="rect">
            <a:avLst/>
          </a:prstGeom>
        </p:spPr>
        <p:txBody>
          <a:bodyPr lIns="0" tIns="0" rIns="0" bIns="0" rtlCol="0" anchor="t">
            <a:spAutoFit/>
          </a:bodyPr>
          <a:lstStyle/>
          <a:p>
            <a:pPr algn="l">
              <a:lnSpc>
                <a:spcPts val="4049"/>
              </a:lnSpc>
            </a:pPr>
            <a:r>
              <a:rPr lang="en-US" sz="3399" b="1">
                <a:solidFill>
                  <a:srgbClr val="FFFFFF"/>
                </a:solidFill>
                <a:latin typeface="Poppins Semi-Bold"/>
                <a:ea typeface="Poppins Semi-Bold"/>
                <a:cs typeface="Poppins Semi-Bold"/>
                <a:sym typeface="Poppins Semi-Bold"/>
              </a:rPr>
              <a:t>verdadeiro(true) ou falso(false) as expressões abaixo. velocidade &gt; 0 </a:t>
            </a:r>
            <a:r>
              <a:rPr lang="en-US" sz="3399" b="1">
                <a:solidFill>
                  <a:srgbClr val="FF5757"/>
                </a:solidFill>
                <a:latin typeface="Poppins Semi-Bold"/>
                <a:ea typeface="Poppins Semi-Bold"/>
                <a:cs typeface="Poppins Semi-Bold"/>
                <a:sym typeface="Poppins Semi-Bold"/>
              </a:rPr>
              <a:t>E</a:t>
            </a:r>
            <a:r>
              <a:rPr lang="en-US" sz="3399" b="1">
                <a:solidFill>
                  <a:srgbClr val="FFFFFF"/>
                </a:solidFill>
                <a:latin typeface="Poppins Semi-Bold"/>
                <a:ea typeface="Poppins Semi-Bold"/>
                <a:cs typeface="Poppins Semi-Bold"/>
                <a:sym typeface="Poppins Semi-Bold"/>
              </a:rPr>
              <a:t> velocidade &lt; 120 : velocidade &gt; 0 </a:t>
            </a:r>
            <a:r>
              <a:rPr lang="en-US" sz="3399" b="1">
                <a:solidFill>
                  <a:srgbClr val="FF5757"/>
                </a:solidFill>
                <a:latin typeface="Poppins Semi-Bold"/>
                <a:ea typeface="Poppins Semi-Bold"/>
                <a:cs typeface="Poppins Semi-Bold"/>
                <a:sym typeface="Poppins Semi-Bold"/>
              </a:rPr>
              <a:t>E</a:t>
            </a:r>
            <a:r>
              <a:rPr lang="en-US" sz="3399" b="1">
                <a:solidFill>
                  <a:srgbClr val="FFFFFF"/>
                </a:solidFill>
                <a:latin typeface="Poppins Semi-Bold"/>
                <a:ea typeface="Poppins Semi-Bold"/>
                <a:cs typeface="Poppins Semi-Bold"/>
                <a:sym typeface="Poppins Semi-Bold"/>
              </a:rPr>
              <a:t> velocidade &lt; 110 : </a:t>
            </a:r>
          </a:p>
          <a:p>
            <a:pPr algn="l">
              <a:lnSpc>
                <a:spcPts val="4618"/>
              </a:lnSpc>
            </a:pPr>
            <a:r>
              <a:rPr lang="en-US" sz="3299" b="1">
                <a:solidFill>
                  <a:srgbClr val="FFFFFF"/>
                </a:solidFill>
                <a:latin typeface="Poppins Semi-Bold"/>
                <a:ea typeface="Poppins Semi-Bold"/>
                <a:cs typeface="Poppins Semi-Bold"/>
                <a:sym typeface="Poppins Semi-Bold"/>
              </a:rPr>
              <a:t>velocidade &gt;= 120 </a:t>
            </a:r>
            <a:r>
              <a:rPr lang="en-US" sz="3299" b="1">
                <a:solidFill>
                  <a:srgbClr val="FF5757"/>
                </a:solidFill>
                <a:latin typeface="Poppins Semi-Bold"/>
                <a:ea typeface="Poppins Semi-Bold"/>
                <a:cs typeface="Poppins Semi-Bold"/>
                <a:sym typeface="Poppins Semi-Bold"/>
              </a:rPr>
              <a:t>E</a:t>
            </a:r>
            <a:r>
              <a:rPr lang="en-US" sz="3299" b="1">
                <a:solidFill>
                  <a:srgbClr val="FFFFFF"/>
                </a:solidFill>
                <a:latin typeface="Poppins Semi-Bold"/>
                <a:ea typeface="Poppins Semi-Bold"/>
                <a:cs typeface="Poppins Semi-Bold"/>
                <a:sym typeface="Poppins Semi-Bold"/>
              </a:rPr>
              <a:t> </a:t>
            </a:r>
            <a:r>
              <a:rPr lang="en-US" sz="3299" b="1">
                <a:solidFill>
                  <a:srgbClr val="FF5757"/>
                </a:solidFill>
                <a:latin typeface="Poppins Semi-Bold"/>
                <a:ea typeface="Poppins Semi-Bold"/>
                <a:cs typeface="Poppins Semi-Bold"/>
                <a:sym typeface="Poppins Semi-Bold"/>
              </a:rPr>
              <a:t>NÃO</a:t>
            </a:r>
            <a:r>
              <a:rPr lang="en-US" sz="3299" b="1">
                <a:solidFill>
                  <a:srgbClr val="FFFFFF"/>
                </a:solidFill>
                <a:latin typeface="Poppins Semi-Bold"/>
                <a:ea typeface="Poppins Semi-Bold"/>
                <a:cs typeface="Poppins Semi-Bold"/>
                <a:sym typeface="Poppins Semi-Bold"/>
              </a:rPr>
              <a:t> velocidade &lt;= 0:</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2220668" y="324326"/>
            <a:ext cx="1412355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Condicionais e Operadores Lógicos</a:t>
            </a:r>
          </a:p>
        </p:txBody>
      </p:sp>
      <p:sp>
        <p:nvSpPr>
          <p:cNvPr id="3" name="TextBox 3"/>
          <p:cNvSpPr txBox="1"/>
          <p:nvPr/>
        </p:nvSpPr>
        <p:spPr>
          <a:xfrm>
            <a:off x="164983" y="3197685"/>
            <a:ext cx="17063333" cy="4409942"/>
          </a:xfrm>
          <a:prstGeom prst="rect">
            <a:avLst/>
          </a:prstGeom>
        </p:spPr>
        <p:txBody>
          <a:bodyPr lIns="0" tIns="0" rIns="0" bIns="0" rtlCol="0" anchor="t">
            <a:spAutoFit/>
          </a:bodyPr>
          <a:lstStyle/>
          <a:p>
            <a:pPr algn="l">
              <a:lnSpc>
                <a:spcPts val="4049"/>
              </a:lnSpc>
            </a:pPr>
            <a:r>
              <a:rPr lang="en-US" sz="3399" b="1">
                <a:solidFill>
                  <a:srgbClr val="FFFFFF"/>
                </a:solidFill>
                <a:latin typeface="Poppins Semi-Bold"/>
                <a:ea typeface="Poppins Semi-Bold"/>
                <a:cs typeface="Poppins Semi-Bold"/>
                <a:sym typeface="Poppins Semi-Bold"/>
              </a:rPr>
              <a:t>Vamos atribuir o valor inteiro de </a:t>
            </a:r>
            <a:r>
              <a:rPr lang="en-US" sz="3399" b="1">
                <a:solidFill>
                  <a:srgbClr val="FFCB85"/>
                </a:solidFill>
                <a:latin typeface="Poppins Semi-Bold"/>
                <a:ea typeface="Poppins Semi-Bold"/>
                <a:cs typeface="Poppins Semi-Bold"/>
                <a:sym typeface="Poppins Semi-Bold"/>
              </a:rPr>
              <a:t>17</a:t>
            </a:r>
            <a:r>
              <a:rPr lang="en-US" sz="3399" b="1">
                <a:solidFill>
                  <a:srgbClr val="FFFFFF"/>
                </a:solidFill>
                <a:latin typeface="Poppins Semi-Bold"/>
                <a:ea typeface="Poppins Semi-Bold"/>
                <a:cs typeface="Poppins Semi-Bold"/>
                <a:sym typeface="Poppins Semi-Bold"/>
              </a:rPr>
              <a:t> para idade e </a:t>
            </a:r>
            <a:r>
              <a:rPr lang="en-US" sz="3399" b="1">
                <a:solidFill>
                  <a:srgbClr val="FFCB85"/>
                </a:solidFill>
                <a:latin typeface="Poppins Semi-Bold"/>
                <a:ea typeface="Poppins Semi-Bold"/>
                <a:cs typeface="Poppins Semi-Bold"/>
                <a:sym typeface="Poppins Semi-Bold"/>
              </a:rPr>
              <a:t>21 </a:t>
            </a:r>
            <a:r>
              <a:rPr lang="en-US" sz="3399" b="1">
                <a:solidFill>
                  <a:srgbClr val="FFFFFF"/>
                </a:solidFill>
                <a:latin typeface="Poppins Semi-Bold"/>
                <a:ea typeface="Poppins Semi-Bold"/>
                <a:cs typeface="Poppins Semi-Bold"/>
                <a:sym typeface="Poppins Semi-Bold"/>
              </a:rPr>
              <a:t>para hora, responda se resultará em verdadeiro(</a:t>
            </a:r>
            <a:r>
              <a:rPr lang="en-US" sz="3399" b="1">
                <a:solidFill>
                  <a:srgbClr val="3C67BF"/>
                </a:solidFill>
                <a:latin typeface="Poppins Semi-Bold"/>
                <a:ea typeface="Poppins Semi-Bold"/>
                <a:cs typeface="Poppins Semi-Bold"/>
                <a:sym typeface="Poppins Semi-Bold"/>
              </a:rPr>
              <a:t>true</a:t>
            </a:r>
            <a:r>
              <a:rPr lang="en-US" sz="3399" b="1">
                <a:solidFill>
                  <a:srgbClr val="FFFFFF"/>
                </a:solidFill>
                <a:latin typeface="Poppins Semi-Bold"/>
                <a:ea typeface="Poppins Semi-Bold"/>
                <a:cs typeface="Poppins Semi-Bold"/>
                <a:sym typeface="Poppins Semi-Bold"/>
              </a:rPr>
              <a:t>) ou falso(</a:t>
            </a:r>
            <a:r>
              <a:rPr lang="en-US" sz="3399" b="1">
                <a:solidFill>
                  <a:srgbClr val="3C67BF"/>
                </a:solidFill>
                <a:latin typeface="Poppins Semi-Bold"/>
                <a:ea typeface="Poppins Semi-Bold"/>
                <a:cs typeface="Poppins Semi-Bold"/>
                <a:sym typeface="Poppins Semi-Bold"/>
              </a:rPr>
              <a:t>false</a:t>
            </a:r>
            <a:r>
              <a:rPr lang="en-US" sz="3399" b="1">
                <a:solidFill>
                  <a:srgbClr val="FFFFFF"/>
                </a:solidFill>
                <a:latin typeface="Poppins Semi-Bold"/>
                <a:ea typeface="Poppins Semi-Bold"/>
                <a:cs typeface="Poppins Semi-Bold"/>
                <a:sym typeface="Poppins Semi-Bold"/>
              </a:rPr>
              <a:t>) as expressões abaixo. </a:t>
            </a:r>
            <a:r>
              <a:rPr lang="en-US" sz="3399" b="1">
                <a:solidFill>
                  <a:srgbClr val="FFFFFF"/>
                </a:solidFill>
                <a:latin typeface="Poppins Medium"/>
                <a:ea typeface="Poppins Medium"/>
                <a:cs typeface="Poppins Medium"/>
                <a:sym typeface="Poppins Medium"/>
              </a:rPr>
              <a:t>(idade &gt;= </a:t>
            </a:r>
            <a:r>
              <a:rPr lang="en-US" sz="3399" b="1">
                <a:solidFill>
                  <a:srgbClr val="FFCB85"/>
                </a:solidFill>
                <a:latin typeface="Poppins Medium"/>
                <a:ea typeface="Poppins Medium"/>
                <a:cs typeface="Poppins Medium"/>
                <a:sym typeface="Poppins Medium"/>
              </a:rPr>
              <a:t>18</a:t>
            </a:r>
            <a:r>
              <a:rPr lang="en-US" sz="3399" b="1">
                <a:solidFill>
                  <a:srgbClr val="FFFFFF"/>
                </a:solidFill>
                <a:latin typeface="Poppins Medium"/>
                <a:ea typeface="Poppins Medium"/>
                <a:cs typeface="Poppins Medium"/>
                <a:sym typeface="Poppins Medium"/>
              </a:rPr>
              <a:t> </a:t>
            </a:r>
            <a:r>
              <a:rPr lang="en-US" sz="3399" b="1">
                <a:solidFill>
                  <a:srgbClr val="FF5757"/>
                </a:solidFill>
                <a:latin typeface="Poppins Medium"/>
                <a:ea typeface="Poppins Medium"/>
                <a:cs typeface="Poppins Medium"/>
                <a:sym typeface="Poppins Medium"/>
              </a:rPr>
              <a:t>E</a:t>
            </a:r>
            <a:r>
              <a:rPr lang="en-US" sz="3399" b="1">
                <a:solidFill>
                  <a:srgbClr val="FFFFFF"/>
                </a:solidFill>
                <a:latin typeface="Poppins Medium"/>
                <a:ea typeface="Poppins Medium"/>
                <a:cs typeface="Poppins Medium"/>
                <a:sym typeface="Poppins Medium"/>
              </a:rPr>
              <a:t> idade &lt; </a:t>
            </a:r>
            <a:r>
              <a:rPr lang="en-US" sz="3399" b="1">
                <a:solidFill>
                  <a:srgbClr val="FFCB85"/>
                </a:solidFill>
                <a:latin typeface="Poppins Medium"/>
                <a:ea typeface="Poppins Medium"/>
                <a:cs typeface="Poppins Medium"/>
                <a:sym typeface="Poppins Medium"/>
              </a:rPr>
              <a:t>65</a:t>
            </a:r>
            <a:r>
              <a:rPr lang="en-US" sz="3399" b="1">
                <a:solidFill>
                  <a:srgbClr val="FFFFFF"/>
                </a:solidFill>
                <a:latin typeface="Poppins Medium"/>
                <a:ea typeface="Poppins Medium"/>
                <a:cs typeface="Poppins Medium"/>
                <a:sym typeface="Poppins Medium"/>
              </a:rPr>
              <a:t>) </a:t>
            </a:r>
            <a:r>
              <a:rPr lang="en-US" sz="3399" b="1">
                <a:solidFill>
                  <a:srgbClr val="FF5757"/>
                </a:solidFill>
                <a:latin typeface="Poppins Medium"/>
                <a:ea typeface="Poppins Medium"/>
                <a:cs typeface="Poppins Medium"/>
                <a:sym typeface="Poppins Medium"/>
              </a:rPr>
              <a:t>E</a:t>
            </a:r>
            <a:r>
              <a:rPr lang="en-US" sz="3399" b="1">
                <a:solidFill>
                  <a:srgbClr val="FFFFFF"/>
                </a:solidFill>
                <a:latin typeface="Poppins Medium"/>
                <a:ea typeface="Poppins Medium"/>
                <a:cs typeface="Poppins Medium"/>
                <a:sym typeface="Poppins Medium"/>
              </a:rPr>
              <a:t> hora &lt;= </a:t>
            </a:r>
            <a:r>
              <a:rPr lang="en-US" sz="3399" b="1">
                <a:solidFill>
                  <a:srgbClr val="FFCB85"/>
                </a:solidFill>
                <a:latin typeface="Poppins Medium"/>
                <a:ea typeface="Poppins Medium"/>
                <a:cs typeface="Poppins Medium"/>
                <a:sym typeface="Poppins Medium"/>
              </a:rPr>
              <a:t>21 </a:t>
            </a:r>
            <a:r>
              <a:rPr lang="en-US" sz="3399" b="1">
                <a:solidFill>
                  <a:srgbClr val="FFFFFF"/>
                </a:solidFill>
                <a:latin typeface="Poppins Medium"/>
                <a:ea typeface="Poppins Medium"/>
                <a:cs typeface="Poppins Medium"/>
                <a:sym typeface="Poppins Medium"/>
              </a:rPr>
              <a:t>: (idade &gt; </a:t>
            </a:r>
            <a:r>
              <a:rPr lang="en-US" sz="3399" b="1">
                <a:solidFill>
                  <a:srgbClr val="FFCB85"/>
                </a:solidFill>
                <a:latin typeface="Poppins Medium"/>
                <a:ea typeface="Poppins Medium"/>
                <a:cs typeface="Poppins Medium"/>
                <a:sym typeface="Poppins Medium"/>
              </a:rPr>
              <a:t>17</a:t>
            </a:r>
            <a:r>
              <a:rPr lang="en-US" sz="3399" b="1">
                <a:solidFill>
                  <a:srgbClr val="FFFFFF"/>
                </a:solidFill>
                <a:latin typeface="Poppins Medium"/>
                <a:ea typeface="Poppins Medium"/>
                <a:cs typeface="Poppins Medium"/>
                <a:sym typeface="Poppins Medium"/>
              </a:rPr>
              <a:t> </a:t>
            </a:r>
            <a:r>
              <a:rPr lang="en-US" sz="3399" b="1">
                <a:solidFill>
                  <a:srgbClr val="FF5757"/>
                </a:solidFill>
                <a:latin typeface="Poppins Medium"/>
                <a:ea typeface="Poppins Medium"/>
                <a:cs typeface="Poppins Medium"/>
                <a:sym typeface="Poppins Medium"/>
              </a:rPr>
              <a:t>OU</a:t>
            </a:r>
            <a:r>
              <a:rPr lang="en-US" sz="3399" b="1">
                <a:solidFill>
                  <a:srgbClr val="FFFFFF"/>
                </a:solidFill>
                <a:latin typeface="Poppins Medium"/>
                <a:ea typeface="Poppins Medium"/>
                <a:cs typeface="Poppins Medium"/>
                <a:sym typeface="Poppins Medium"/>
              </a:rPr>
              <a:t> hora &lt;= </a:t>
            </a:r>
            <a:r>
              <a:rPr lang="en-US" sz="3399" b="1">
                <a:solidFill>
                  <a:srgbClr val="FFCB85"/>
                </a:solidFill>
                <a:latin typeface="Poppins Medium"/>
                <a:ea typeface="Poppins Medium"/>
                <a:cs typeface="Poppins Medium"/>
                <a:sym typeface="Poppins Medium"/>
              </a:rPr>
              <a:t>21</a:t>
            </a:r>
            <a:r>
              <a:rPr lang="en-US" sz="3399" b="1">
                <a:solidFill>
                  <a:srgbClr val="FFFFFF"/>
                </a:solidFill>
                <a:latin typeface="Poppins Medium"/>
                <a:ea typeface="Poppins Medium"/>
                <a:cs typeface="Poppins Medium"/>
                <a:sym typeface="Poppins Medium"/>
              </a:rPr>
              <a:t>) </a:t>
            </a:r>
            <a:r>
              <a:rPr lang="en-US" sz="3399" b="1">
                <a:solidFill>
                  <a:srgbClr val="FF5757"/>
                </a:solidFill>
                <a:latin typeface="Poppins Medium"/>
                <a:ea typeface="Poppins Medium"/>
                <a:cs typeface="Poppins Medium"/>
                <a:sym typeface="Poppins Medium"/>
              </a:rPr>
              <a:t>E</a:t>
            </a:r>
            <a:r>
              <a:rPr lang="en-US" sz="3399" b="1">
                <a:solidFill>
                  <a:srgbClr val="FFFFFF"/>
                </a:solidFill>
                <a:latin typeface="Poppins Medium"/>
                <a:ea typeface="Poppins Medium"/>
                <a:cs typeface="Poppins Medium"/>
                <a:sym typeface="Poppins Medium"/>
              </a:rPr>
              <a:t> idade &gt; </a:t>
            </a:r>
            <a:r>
              <a:rPr lang="en-US" sz="3399" b="1">
                <a:solidFill>
                  <a:srgbClr val="FFCB85"/>
                </a:solidFill>
                <a:latin typeface="Poppins Medium"/>
                <a:ea typeface="Poppins Medium"/>
                <a:cs typeface="Poppins Medium"/>
                <a:sym typeface="Poppins Medium"/>
              </a:rPr>
              <a:t>0 </a:t>
            </a:r>
            <a:r>
              <a:rPr lang="en-US" sz="3399" b="1">
                <a:solidFill>
                  <a:srgbClr val="FFFFFF"/>
                </a:solidFill>
                <a:latin typeface="Poppins Medium"/>
                <a:ea typeface="Poppins Medium"/>
                <a:cs typeface="Poppins Medium"/>
                <a:sym typeface="Poppins Medium"/>
              </a:rPr>
              <a:t>: </a:t>
            </a:r>
          </a:p>
          <a:p>
            <a:pPr algn="l">
              <a:lnSpc>
                <a:spcPts val="3358"/>
              </a:lnSpc>
            </a:pPr>
            <a:r>
              <a:rPr lang="en-US" sz="2399" b="1">
                <a:solidFill>
                  <a:srgbClr val="FFFFFF"/>
                </a:solidFill>
                <a:latin typeface="Poppins Medium"/>
                <a:ea typeface="Poppins Medium"/>
                <a:cs typeface="Poppins Medium"/>
                <a:sym typeface="Poppins Medium"/>
              </a:rPr>
              <a:t>(hora &gt; </a:t>
            </a:r>
            <a:r>
              <a:rPr lang="en-US" sz="2399" b="1">
                <a:solidFill>
                  <a:srgbClr val="FFCB85"/>
                </a:solidFill>
                <a:latin typeface="Poppins Medium"/>
                <a:ea typeface="Poppins Medium"/>
                <a:cs typeface="Poppins Medium"/>
                <a:sym typeface="Poppins Medium"/>
              </a:rPr>
              <a:t>0</a:t>
            </a:r>
            <a:r>
              <a:rPr lang="en-US" sz="2399" b="1">
                <a:solidFill>
                  <a:srgbClr val="FFFFFF"/>
                </a:solidFill>
                <a:latin typeface="Poppins Medium"/>
                <a:ea typeface="Poppins Medium"/>
                <a:cs typeface="Poppins Medium"/>
                <a:sym typeface="Poppins Medium"/>
              </a:rPr>
              <a:t> </a:t>
            </a:r>
            <a:r>
              <a:rPr lang="en-US" sz="2399" b="1">
                <a:solidFill>
                  <a:srgbClr val="FF5757"/>
                </a:solidFill>
                <a:latin typeface="Poppins Medium"/>
                <a:ea typeface="Poppins Medium"/>
                <a:cs typeface="Poppins Medium"/>
                <a:sym typeface="Poppins Medium"/>
              </a:rPr>
              <a:t>E</a:t>
            </a:r>
            <a:r>
              <a:rPr lang="en-US" sz="2399" b="1">
                <a:solidFill>
                  <a:srgbClr val="FFFFFF"/>
                </a:solidFill>
                <a:latin typeface="Poppins Medium"/>
                <a:ea typeface="Poppins Medium"/>
                <a:cs typeface="Poppins Medium"/>
                <a:sym typeface="Poppins Medium"/>
              </a:rPr>
              <a:t> hora &lt; </a:t>
            </a:r>
            <a:r>
              <a:rPr lang="en-US" sz="2399" b="1">
                <a:solidFill>
                  <a:srgbClr val="FFCB85"/>
                </a:solidFill>
                <a:latin typeface="Poppins Medium"/>
                <a:ea typeface="Poppins Medium"/>
                <a:cs typeface="Poppins Medium"/>
                <a:sym typeface="Poppins Medium"/>
              </a:rPr>
              <a:t>24</a:t>
            </a:r>
            <a:r>
              <a:rPr lang="en-US" sz="2399" b="1">
                <a:solidFill>
                  <a:srgbClr val="FFFFFF"/>
                </a:solidFill>
                <a:latin typeface="Poppins Medium"/>
                <a:ea typeface="Poppins Medium"/>
                <a:cs typeface="Poppins Medium"/>
                <a:sym typeface="Poppins Medium"/>
              </a:rPr>
              <a:t>) </a:t>
            </a:r>
            <a:r>
              <a:rPr lang="en-US" sz="2399" b="1">
                <a:solidFill>
                  <a:srgbClr val="FF5757"/>
                </a:solidFill>
                <a:latin typeface="Poppins Medium"/>
                <a:ea typeface="Poppins Medium"/>
                <a:cs typeface="Poppins Medium"/>
                <a:sym typeface="Poppins Medium"/>
              </a:rPr>
              <a:t>OU</a:t>
            </a:r>
            <a:r>
              <a:rPr lang="en-US" sz="2399" b="1">
                <a:solidFill>
                  <a:srgbClr val="FFFFFF"/>
                </a:solidFill>
                <a:latin typeface="Poppins Medium"/>
                <a:ea typeface="Poppins Medium"/>
                <a:cs typeface="Poppins Medium"/>
                <a:sym typeface="Poppins Medium"/>
              </a:rPr>
              <a:t> (hora &lt; </a:t>
            </a:r>
            <a:r>
              <a:rPr lang="en-US" sz="2399" b="1">
                <a:solidFill>
                  <a:srgbClr val="FFCB85"/>
                </a:solidFill>
                <a:latin typeface="Poppins Medium"/>
                <a:ea typeface="Poppins Medium"/>
                <a:cs typeface="Poppins Medium"/>
                <a:sym typeface="Poppins Medium"/>
              </a:rPr>
              <a:t>0</a:t>
            </a:r>
            <a:r>
              <a:rPr lang="en-US" sz="2399" b="1">
                <a:solidFill>
                  <a:srgbClr val="FFFFFF"/>
                </a:solidFill>
                <a:latin typeface="Poppins Medium"/>
                <a:ea typeface="Poppins Medium"/>
                <a:cs typeface="Poppins Medium"/>
                <a:sym typeface="Poppins Medium"/>
              </a:rPr>
              <a:t> </a:t>
            </a:r>
            <a:r>
              <a:rPr lang="en-US" sz="2399" b="1">
                <a:solidFill>
                  <a:srgbClr val="FF5757"/>
                </a:solidFill>
                <a:latin typeface="Poppins Medium"/>
                <a:ea typeface="Poppins Medium"/>
                <a:cs typeface="Poppins Medium"/>
                <a:sym typeface="Poppins Medium"/>
              </a:rPr>
              <a:t>E</a:t>
            </a:r>
            <a:r>
              <a:rPr lang="en-US" sz="2399" b="1">
                <a:solidFill>
                  <a:srgbClr val="FFFFFF"/>
                </a:solidFill>
                <a:latin typeface="Poppins Medium"/>
                <a:ea typeface="Poppins Medium"/>
                <a:cs typeface="Poppins Medium"/>
                <a:sym typeface="Poppins Medium"/>
              </a:rPr>
              <a:t> hora &gt; </a:t>
            </a:r>
            <a:r>
              <a:rPr lang="en-US" sz="2399" b="1">
                <a:solidFill>
                  <a:srgbClr val="FFCB85"/>
                </a:solidFill>
                <a:latin typeface="Poppins Medium"/>
                <a:ea typeface="Poppins Medium"/>
                <a:cs typeface="Poppins Medium"/>
                <a:sym typeface="Poppins Medium"/>
              </a:rPr>
              <a:t>24</a:t>
            </a:r>
            <a:r>
              <a:rPr lang="en-US" sz="2399" b="1">
                <a:solidFill>
                  <a:srgbClr val="FFFFFF"/>
                </a:solidFill>
                <a:latin typeface="Poppins Medium"/>
                <a:ea typeface="Poppins Medium"/>
                <a:cs typeface="Poppins Medium"/>
                <a:sym typeface="Poppins Medium"/>
              </a:rPr>
              <a:t>) :</a:t>
            </a:r>
          </a:p>
          <a:p>
            <a:pPr algn="l">
              <a:lnSpc>
                <a:spcPts val="3639"/>
              </a:lnSpc>
            </a:pPr>
            <a:r>
              <a:rPr lang="en-US" sz="2599" b="1">
                <a:solidFill>
                  <a:srgbClr val="FFFFFF"/>
                </a:solidFill>
                <a:latin typeface="Poppins Medium"/>
                <a:ea typeface="Poppins Medium"/>
                <a:cs typeface="Poppins Medium"/>
                <a:sym typeface="Poppins Medium"/>
              </a:rPr>
              <a:t>(hora &gt; </a:t>
            </a:r>
            <a:r>
              <a:rPr lang="en-US" sz="2599" b="1">
                <a:solidFill>
                  <a:srgbClr val="FFCB85"/>
                </a:solidFill>
                <a:latin typeface="Poppins Medium"/>
                <a:ea typeface="Poppins Medium"/>
                <a:cs typeface="Poppins Medium"/>
                <a:sym typeface="Poppins Medium"/>
              </a:rPr>
              <a:t>4</a:t>
            </a:r>
            <a:r>
              <a:rPr lang="en-US" sz="2599" b="1">
                <a:solidFill>
                  <a:srgbClr val="FFFFFF"/>
                </a:solidFill>
                <a:latin typeface="Poppins Medium"/>
                <a:ea typeface="Poppins Medium"/>
                <a:cs typeface="Poppins Medium"/>
                <a:sym typeface="Poppins Medium"/>
              </a:rPr>
              <a:t> </a:t>
            </a:r>
            <a:r>
              <a:rPr lang="en-US" sz="2599" b="1">
                <a:solidFill>
                  <a:srgbClr val="FF5757"/>
                </a:solidFill>
                <a:latin typeface="Poppins Medium"/>
                <a:ea typeface="Poppins Medium"/>
                <a:cs typeface="Poppins Medium"/>
                <a:sym typeface="Poppins Medium"/>
              </a:rPr>
              <a:t>E</a:t>
            </a:r>
            <a:r>
              <a:rPr lang="en-US" sz="2599" b="1">
                <a:solidFill>
                  <a:srgbClr val="FFFFFF"/>
                </a:solidFill>
                <a:latin typeface="Poppins Medium"/>
                <a:ea typeface="Poppins Medium"/>
                <a:cs typeface="Poppins Medium"/>
                <a:sym typeface="Poppins Medium"/>
              </a:rPr>
              <a:t> idade &lt; </a:t>
            </a:r>
            <a:r>
              <a:rPr lang="en-US" sz="2599" b="1">
                <a:solidFill>
                  <a:srgbClr val="FFCB85"/>
                </a:solidFill>
                <a:latin typeface="Poppins Medium"/>
                <a:ea typeface="Poppins Medium"/>
                <a:cs typeface="Poppins Medium"/>
                <a:sym typeface="Poppins Medium"/>
              </a:rPr>
              <a:t>0</a:t>
            </a:r>
            <a:r>
              <a:rPr lang="en-US" sz="2599" b="1">
                <a:solidFill>
                  <a:srgbClr val="FFFFFF"/>
                </a:solidFill>
                <a:latin typeface="Poppins Medium"/>
                <a:ea typeface="Poppins Medium"/>
                <a:cs typeface="Poppins Medium"/>
                <a:sym typeface="Poppins Medium"/>
              </a:rPr>
              <a:t> </a:t>
            </a:r>
            <a:r>
              <a:rPr lang="en-US" sz="2599" b="1">
                <a:solidFill>
                  <a:srgbClr val="FF5757"/>
                </a:solidFill>
                <a:latin typeface="Poppins Medium"/>
                <a:ea typeface="Poppins Medium"/>
                <a:cs typeface="Poppins Medium"/>
                <a:sym typeface="Poppins Medium"/>
              </a:rPr>
              <a:t>OU</a:t>
            </a:r>
            <a:r>
              <a:rPr lang="en-US" sz="2599" b="1">
                <a:solidFill>
                  <a:srgbClr val="FFFFFF"/>
                </a:solidFill>
                <a:latin typeface="Poppins Medium"/>
                <a:ea typeface="Poppins Medium"/>
                <a:cs typeface="Poppins Medium"/>
                <a:sym typeface="Poppins Medium"/>
              </a:rPr>
              <a:t> idade ==</a:t>
            </a:r>
            <a:r>
              <a:rPr lang="en-US" sz="2599" b="1">
                <a:solidFill>
                  <a:srgbClr val="FFCB85"/>
                </a:solidFill>
                <a:latin typeface="Poppins Medium"/>
                <a:ea typeface="Poppins Medium"/>
                <a:cs typeface="Poppins Medium"/>
                <a:sym typeface="Poppins Medium"/>
              </a:rPr>
              <a:t> 17</a:t>
            </a:r>
            <a:r>
              <a:rPr lang="en-US" sz="2599" b="1">
                <a:solidFill>
                  <a:srgbClr val="FFFFFF"/>
                </a:solidFill>
                <a:latin typeface="Poppins Medium"/>
                <a:ea typeface="Poppins Medium"/>
                <a:cs typeface="Poppins Medium"/>
                <a:sym typeface="Poppins Medium"/>
              </a:rPr>
              <a:t>) </a:t>
            </a:r>
            <a:r>
              <a:rPr lang="en-US" sz="2599" b="1">
                <a:solidFill>
                  <a:srgbClr val="FF5757"/>
                </a:solidFill>
                <a:latin typeface="Poppins Medium"/>
                <a:ea typeface="Poppins Medium"/>
                <a:cs typeface="Poppins Medium"/>
                <a:sym typeface="Poppins Medium"/>
              </a:rPr>
              <a:t>E NÃO</a:t>
            </a:r>
            <a:r>
              <a:rPr lang="en-US" sz="2599" b="1">
                <a:solidFill>
                  <a:srgbClr val="FFFFFF"/>
                </a:solidFill>
                <a:latin typeface="Poppins Medium"/>
                <a:ea typeface="Poppins Medium"/>
                <a:cs typeface="Poppins Medium"/>
                <a:sym typeface="Poppins Medium"/>
              </a:rPr>
              <a:t> hora !=</a:t>
            </a:r>
            <a:r>
              <a:rPr lang="en-US" sz="2599" b="1">
                <a:solidFill>
                  <a:srgbClr val="FFCB85"/>
                </a:solidFill>
                <a:latin typeface="Poppins Medium"/>
                <a:ea typeface="Poppins Medium"/>
                <a:cs typeface="Poppins Medium"/>
                <a:sym typeface="Poppins Medium"/>
              </a:rPr>
              <a:t> 21 </a:t>
            </a:r>
            <a:r>
              <a:rPr lang="en-US" sz="2599" b="1">
                <a:solidFill>
                  <a:srgbClr val="FFFFFF"/>
                </a:solidFill>
                <a:latin typeface="Poppins Medium"/>
                <a:ea typeface="Poppins Medium"/>
                <a:cs typeface="Poppins Medium"/>
                <a:sym typeface="Poppins Medium"/>
              </a:rPr>
              <a:t>: </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64983" y="3416837"/>
            <a:ext cx="16348472" cy="4904061"/>
          </a:xfrm>
          <a:prstGeom prst="rect">
            <a:avLst/>
          </a:prstGeom>
        </p:spPr>
        <p:txBody>
          <a:bodyPr lIns="0" tIns="0" rIns="0" bIns="0" rtlCol="0" anchor="t">
            <a:spAutoFit/>
          </a:bodyPr>
          <a:lstStyle/>
          <a:p>
            <a:pPr algn="l">
              <a:lnSpc>
                <a:spcPts val="4723"/>
              </a:lnSpc>
            </a:pPr>
            <a:r>
              <a:rPr lang="en-US" sz="3999" b="1">
                <a:solidFill>
                  <a:srgbClr val="FFFFFF"/>
                </a:solidFill>
                <a:latin typeface="Poppins Semi-Bold"/>
                <a:ea typeface="Poppins Semi-Bold"/>
                <a:cs typeface="Poppins Semi-Bold"/>
                <a:sym typeface="Poppins Semi-Bold"/>
              </a:rPr>
              <a:t>No C# vamos simbolizar os operadores lógicos da seguinte maneira: </a:t>
            </a:r>
            <a:r>
              <a:rPr lang="en-US" sz="3999" b="1">
                <a:solidFill>
                  <a:srgbClr val="FF5757"/>
                </a:solidFill>
                <a:latin typeface="Poppins Semi-Bold"/>
                <a:ea typeface="Poppins Semi-Bold"/>
                <a:cs typeface="Poppins Semi-Bold"/>
                <a:sym typeface="Poppins Semi-Bold"/>
              </a:rPr>
              <a:t>AND (E)</a:t>
            </a:r>
            <a:r>
              <a:rPr lang="en-US" sz="3999" b="1">
                <a:solidFill>
                  <a:srgbClr val="FFFFFF"/>
                </a:solidFill>
                <a:latin typeface="Poppins Semi-Bold"/>
                <a:ea typeface="Poppins Semi-Bold"/>
                <a:cs typeface="Poppins Semi-Bold"/>
                <a:sym typeface="Poppins Semi-Bold"/>
              </a:rPr>
              <a:t> por dois Es comerciais: </a:t>
            </a:r>
            <a:r>
              <a:rPr lang="en-US" sz="3999" b="1">
                <a:solidFill>
                  <a:srgbClr val="FF5757"/>
                </a:solidFill>
                <a:latin typeface="Poppins Semi-Bold"/>
                <a:ea typeface="Poppins Semi-Bold"/>
                <a:cs typeface="Poppins Semi-Bold"/>
                <a:sym typeface="Poppins Semi-Bold"/>
              </a:rPr>
              <a:t>&amp;&amp; OR (OU)</a:t>
            </a:r>
            <a:r>
              <a:rPr lang="en-US" sz="3999" b="1">
                <a:solidFill>
                  <a:srgbClr val="FFFFFF"/>
                </a:solidFill>
                <a:latin typeface="Poppins Semi-Bold"/>
                <a:ea typeface="Poppins Semi-Bold"/>
                <a:cs typeface="Poppins Semi-Bold"/>
                <a:sym typeface="Poppins Semi-Bold"/>
              </a:rPr>
              <a:t> por duas barras verticais: </a:t>
            </a:r>
            <a:r>
              <a:rPr lang="en-US" sz="3999" b="1">
                <a:solidFill>
                  <a:srgbClr val="FF5757"/>
                </a:solidFill>
                <a:latin typeface="Poppins Semi-Bold"/>
                <a:ea typeface="Poppins Semi-Bold"/>
                <a:cs typeface="Poppins Semi-Bold"/>
                <a:sym typeface="Poppins Semi-Bold"/>
              </a:rPr>
              <a:t>|| NOT (NÃO)</a:t>
            </a:r>
            <a:r>
              <a:rPr lang="en-US" sz="3999" b="1">
                <a:solidFill>
                  <a:srgbClr val="FFFFFF"/>
                </a:solidFill>
                <a:latin typeface="Poppins Semi-Bold"/>
                <a:ea typeface="Poppins Semi-Bold"/>
                <a:cs typeface="Poppins Semi-Bold"/>
                <a:sym typeface="Poppins Semi-Bold"/>
              </a:rPr>
              <a:t> por uma exclamação no inicio da comparação: </a:t>
            </a:r>
            <a:r>
              <a:rPr lang="en-US" sz="3999" b="1">
                <a:solidFill>
                  <a:srgbClr val="FF5757"/>
                </a:solidFill>
                <a:latin typeface="Poppins Semi-Bold"/>
                <a:ea typeface="Poppins Semi-Bold"/>
                <a:cs typeface="Poppins Semi-Bold"/>
                <a:sym typeface="Poppins Semi-Bold"/>
              </a:rPr>
              <a:t>!</a:t>
            </a:r>
          </a:p>
        </p:txBody>
      </p:sp>
      <p:sp>
        <p:nvSpPr>
          <p:cNvPr id="3" name="TextBox 3"/>
          <p:cNvSpPr txBox="1"/>
          <p:nvPr/>
        </p:nvSpPr>
        <p:spPr>
          <a:xfrm>
            <a:off x="2220668" y="324326"/>
            <a:ext cx="1412355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Condicionais e Operadores Lógicos</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2811361" y="324326"/>
            <a:ext cx="1291839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Condições e declarações IF (SE)</a:t>
            </a:r>
          </a:p>
        </p:txBody>
      </p:sp>
      <p:sp>
        <p:nvSpPr>
          <p:cNvPr id="3" name="TextBox 3"/>
          <p:cNvSpPr txBox="1"/>
          <p:nvPr/>
        </p:nvSpPr>
        <p:spPr>
          <a:xfrm>
            <a:off x="164983" y="1916649"/>
            <a:ext cx="18305307" cy="7904436"/>
          </a:xfrm>
          <a:prstGeom prst="rect">
            <a:avLst/>
          </a:prstGeom>
        </p:spPr>
        <p:txBody>
          <a:bodyPr lIns="0" tIns="0" rIns="0" bIns="0" rtlCol="0" anchor="t">
            <a:spAutoFit/>
          </a:bodyPr>
          <a:lstStyle/>
          <a:p>
            <a:pPr algn="l">
              <a:lnSpc>
                <a:spcPts val="4723"/>
              </a:lnSpc>
            </a:pPr>
            <a:r>
              <a:rPr lang="en-US" sz="3999" b="1">
                <a:solidFill>
                  <a:srgbClr val="FFFFFF"/>
                </a:solidFill>
                <a:latin typeface="Poppins Semi-Bold"/>
                <a:ea typeface="Poppins Semi-Bold"/>
                <a:cs typeface="Poppins Semi-Bold"/>
                <a:sym typeface="Poppins Semi-Bold"/>
              </a:rPr>
              <a:t>Agora que aprendemos sobre as condicionais e sobre os operadores, podemos passar para uma nova fase que é aprender o comando </a:t>
            </a:r>
            <a:r>
              <a:rPr lang="en-US" sz="3999" b="1">
                <a:solidFill>
                  <a:srgbClr val="FF5757"/>
                </a:solidFill>
                <a:latin typeface="Poppins Semi-Bold"/>
                <a:ea typeface="Poppins Semi-Bold"/>
                <a:cs typeface="Poppins Semi-Bold"/>
                <a:sym typeface="Poppins Semi-Bold"/>
              </a:rPr>
              <a:t>if</a:t>
            </a:r>
            <a:r>
              <a:rPr lang="en-US" sz="3999" b="1">
                <a:solidFill>
                  <a:srgbClr val="FFFFFF"/>
                </a:solidFill>
                <a:latin typeface="Poppins Semi-Bold"/>
                <a:ea typeface="Poppins Semi-Bold"/>
                <a:cs typeface="Poppins Semi-Bold"/>
                <a:sym typeface="Poppins Semi-Bold"/>
              </a:rPr>
              <a:t>, para os íntimos, o comando </a:t>
            </a:r>
            <a:r>
              <a:rPr lang="en-US" sz="3999" b="1">
                <a:solidFill>
                  <a:srgbClr val="FF5757"/>
                </a:solidFill>
                <a:latin typeface="Poppins Semi-Bold"/>
                <a:ea typeface="Poppins Semi-Bold"/>
                <a:cs typeface="Poppins Semi-Bold"/>
                <a:sym typeface="Poppins Semi-Bold"/>
              </a:rPr>
              <a:t>SE</a:t>
            </a:r>
            <a:r>
              <a:rPr lang="en-US" sz="3999" b="1">
                <a:solidFill>
                  <a:srgbClr val="FFFFFF"/>
                </a:solidFill>
                <a:latin typeface="Poppins Semi-Bold"/>
                <a:ea typeface="Poppins Semi-Bold"/>
                <a:cs typeface="Poppins Semi-Bold"/>
                <a:sym typeface="Poppins Semi-Bold"/>
              </a:rPr>
              <a:t>. Esse comando utiliza das condicionais para poder executar um bloco de código ou não. A condicional retornando verdadeiro, executa o bloco de código definido para isso, se não, executa outro bloco de código. Podemos definir que o comando if é utilizado para tomar decisões no nosso programa. </a:t>
            </a:r>
            <a:r>
              <a:rPr lang="en-US" sz="3999" b="1">
                <a:solidFill>
                  <a:srgbClr val="FFCB85"/>
                </a:solidFill>
                <a:latin typeface="Poppins Semi-Bold"/>
                <a:ea typeface="Poppins Semi-Bold"/>
                <a:cs typeface="Poppins Semi-Bold"/>
                <a:sym typeface="Poppins Semi-Bold"/>
              </a:rPr>
              <a:t>"Se isso for verdadeiro, faça isso aqui, se não, faça aquilo ali.”</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2811361" y="324326"/>
            <a:ext cx="1291839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Condições e declarações IF (SE)</a:t>
            </a:r>
          </a:p>
        </p:txBody>
      </p:sp>
      <p:sp>
        <p:nvSpPr>
          <p:cNvPr id="3" name="TextBox 3"/>
          <p:cNvSpPr txBox="1"/>
          <p:nvPr/>
        </p:nvSpPr>
        <p:spPr>
          <a:xfrm>
            <a:off x="164983" y="2516724"/>
            <a:ext cx="18257396" cy="6104211"/>
          </a:xfrm>
          <a:prstGeom prst="rect">
            <a:avLst/>
          </a:prstGeom>
        </p:spPr>
        <p:txBody>
          <a:bodyPr lIns="0" tIns="0" rIns="0" bIns="0" rtlCol="0" anchor="t">
            <a:spAutoFit/>
          </a:bodyPr>
          <a:lstStyle/>
          <a:p>
            <a:pPr algn="l">
              <a:lnSpc>
                <a:spcPts val="4723"/>
              </a:lnSpc>
            </a:pPr>
            <a:r>
              <a:rPr lang="en-US" sz="3999" b="1">
                <a:solidFill>
                  <a:srgbClr val="FFFFFF"/>
                </a:solidFill>
                <a:latin typeface="Poppins Semi-Bold"/>
                <a:ea typeface="Poppins Semi-Bold"/>
                <a:cs typeface="Poppins Semi-Bold"/>
                <a:sym typeface="Poppins Semi-Bold"/>
              </a:rPr>
              <a:t>A esturura do if é dessa maneira: Use </a:t>
            </a:r>
            <a:r>
              <a:rPr lang="en-US" sz="3999" b="1">
                <a:solidFill>
                  <a:srgbClr val="FF5757"/>
                </a:solidFill>
                <a:latin typeface="Poppins Semi-Bold"/>
                <a:ea typeface="Poppins Semi-Bold"/>
                <a:cs typeface="Poppins Semi-Bold"/>
                <a:sym typeface="Poppins Semi-Bold"/>
              </a:rPr>
              <a:t>if</a:t>
            </a:r>
            <a:r>
              <a:rPr lang="en-US" sz="3999" b="1">
                <a:solidFill>
                  <a:srgbClr val="FFFFFF"/>
                </a:solidFill>
                <a:latin typeface="Poppins Semi-Bold"/>
                <a:ea typeface="Poppins Semi-Bold"/>
                <a:cs typeface="Poppins Semi-Bold"/>
                <a:sym typeface="Poppins Semi-Bold"/>
              </a:rPr>
              <a:t> para especificar um bloco de código a ser executado, se uma condição especificada for </a:t>
            </a:r>
            <a:r>
              <a:rPr lang="en-US" sz="3999" b="1">
                <a:solidFill>
                  <a:srgbClr val="3C67BF"/>
                </a:solidFill>
                <a:latin typeface="Poppins Semi-Bold"/>
                <a:ea typeface="Poppins Semi-Bold"/>
                <a:cs typeface="Poppins Semi-Bold"/>
                <a:sym typeface="Poppins Semi-Bold"/>
              </a:rPr>
              <a:t>true</a:t>
            </a:r>
            <a:r>
              <a:rPr lang="en-US" sz="3999" b="1">
                <a:solidFill>
                  <a:srgbClr val="FFFFFF"/>
                </a:solidFill>
                <a:latin typeface="Poppins Semi-Bold"/>
                <a:ea typeface="Poppins Semi-Bold"/>
                <a:cs typeface="Poppins Semi-Bold"/>
                <a:sym typeface="Poppins Semi-Bold"/>
              </a:rPr>
              <a:t>. Use </a:t>
            </a:r>
            <a:r>
              <a:rPr lang="en-US" sz="3999" b="1">
                <a:solidFill>
                  <a:srgbClr val="FF5757"/>
                </a:solidFill>
                <a:latin typeface="Poppins Semi-Bold"/>
                <a:ea typeface="Poppins Semi-Bold"/>
                <a:cs typeface="Poppins Semi-Bold"/>
                <a:sym typeface="Poppins Semi-Bold"/>
              </a:rPr>
              <a:t>else</a:t>
            </a:r>
            <a:r>
              <a:rPr lang="en-US" sz="3999" b="1">
                <a:solidFill>
                  <a:srgbClr val="FFFFFF"/>
                </a:solidFill>
                <a:latin typeface="Poppins Semi-Bold"/>
                <a:ea typeface="Poppins Semi-Bold"/>
                <a:cs typeface="Poppins Semi-Bold"/>
                <a:sym typeface="Poppins Semi-Bold"/>
              </a:rPr>
              <a:t> para especificar um bloco de código a ser executado, se a mesma condição for </a:t>
            </a:r>
            <a:r>
              <a:rPr lang="en-US" sz="3999" b="1">
                <a:solidFill>
                  <a:srgbClr val="3C67BF"/>
                </a:solidFill>
                <a:latin typeface="Poppins Semi-Bold"/>
                <a:ea typeface="Poppins Semi-Bold"/>
                <a:cs typeface="Poppins Semi-Bold"/>
                <a:sym typeface="Poppins Semi-Bold"/>
              </a:rPr>
              <a:t>false</a:t>
            </a:r>
            <a:r>
              <a:rPr lang="en-US" sz="3999" b="1">
                <a:solidFill>
                  <a:srgbClr val="FFFFFF"/>
                </a:solidFill>
                <a:latin typeface="Poppins Semi-Bold"/>
                <a:ea typeface="Poppins Semi-Bold"/>
                <a:cs typeface="Poppins Semi-Bold"/>
                <a:sym typeface="Poppins Semi-Bold"/>
              </a:rPr>
              <a:t>. Use </a:t>
            </a:r>
            <a:r>
              <a:rPr lang="en-US" sz="3999" b="1">
                <a:solidFill>
                  <a:srgbClr val="FF5757"/>
                </a:solidFill>
                <a:latin typeface="Poppins Semi-Bold"/>
                <a:ea typeface="Poppins Semi-Bold"/>
                <a:cs typeface="Poppins Semi-Bold"/>
                <a:sym typeface="Poppins Semi-Bold"/>
              </a:rPr>
              <a:t>else if</a:t>
            </a:r>
            <a:r>
              <a:rPr lang="en-US" sz="3999" b="1">
                <a:solidFill>
                  <a:srgbClr val="FFFFFF"/>
                </a:solidFill>
                <a:latin typeface="Poppins Semi-Bold"/>
                <a:ea typeface="Poppins Semi-Bold"/>
                <a:cs typeface="Poppins Semi-Bold"/>
                <a:sym typeface="Poppins Semi-Bold"/>
              </a:rPr>
              <a:t> para especificar uma nova condição para testar, se a primeira condição for </a:t>
            </a:r>
            <a:r>
              <a:rPr lang="en-US" sz="3999" b="1">
                <a:solidFill>
                  <a:srgbClr val="FF5757"/>
                </a:solidFill>
                <a:latin typeface="Poppins Semi-Bold"/>
                <a:ea typeface="Poppins Semi-Bold"/>
                <a:cs typeface="Poppins Semi-Bold"/>
                <a:sym typeface="Poppins Semi-Bold"/>
              </a:rPr>
              <a:t>false</a:t>
            </a:r>
            <a:r>
              <a:rPr lang="en-US" sz="3999" b="1">
                <a:solidFill>
                  <a:srgbClr val="FFFFFF"/>
                </a:solidFill>
                <a:latin typeface="Poppins Semi-Bold"/>
                <a:ea typeface="Poppins Semi-Bold"/>
                <a:cs typeface="Poppins Semi-Bold"/>
                <a:sym typeface="Poppins Semi-Bold"/>
              </a:rPr>
              <a:t>.</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382610" y="3650666"/>
            <a:ext cx="11296650" cy="6343650"/>
          </a:xfrm>
          <a:custGeom>
            <a:avLst/>
            <a:gdLst/>
            <a:ahLst/>
            <a:cxnLst/>
            <a:rect l="l" t="t" r="r" b="b"/>
            <a:pathLst>
              <a:path w="11296650" h="6343650">
                <a:moveTo>
                  <a:pt x="0" y="0"/>
                </a:moveTo>
                <a:lnTo>
                  <a:pt x="11296650" y="0"/>
                </a:lnTo>
                <a:lnTo>
                  <a:pt x="11296650" y="6343650"/>
                </a:lnTo>
                <a:lnTo>
                  <a:pt x="0" y="6343650"/>
                </a:lnTo>
                <a:lnTo>
                  <a:pt x="0" y="0"/>
                </a:lnTo>
                <a:close/>
              </a:path>
            </a:pathLst>
          </a:custGeom>
          <a:blipFill>
            <a:blip r:embed="rId2"/>
            <a:stretch>
              <a:fillRect/>
            </a:stretch>
          </a:blipFill>
        </p:spPr>
      </p:sp>
      <p:sp>
        <p:nvSpPr>
          <p:cNvPr id="3" name="TextBox 3"/>
          <p:cNvSpPr txBox="1"/>
          <p:nvPr/>
        </p:nvSpPr>
        <p:spPr>
          <a:xfrm>
            <a:off x="2811361" y="324326"/>
            <a:ext cx="1291839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Condições e declarações IF (SE)</a:t>
            </a:r>
          </a:p>
        </p:txBody>
      </p:sp>
      <p:sp>
        <p:nvSpPr>
          <p:cNvPr id="4" name="TextBox 4"/>
          <p:cNvSpPr txBox="1"/>
          <p:nvPr/>
        </p:nvSpPr>
        <p:spPr>
          <a:xfrm>
            <a:off x="382610" y="2530335"/>
            <a:ext cx="6323000" cy="779736"/>
          </a:xfrm>
          <a:prstGeom prst="rect">
            <a:avLst/>
          </a:prstGeom>
        </p:spPr>
        <p:txBody>
          <a:bodyPr lIns="0" tIns="0" rIns="0" bIns="0" rtlCol="0" anchor="t">
            <a:spAutoFit/>
          </a:bodyPr>
          <a:lstStyle/>
          <a:p>
            <a:pPr algn="l">
              <a:lnSpc>
                <a:spcPts val="5599"/>
              </a:lnSpc>
            </a:pPr>
            <a:r>
              <a:rPr lang="en-US" sz="3999" b="1">
                <a:solidFill>
                  <a:srgbClr val="FFFFFF"/>
                </a:solidFill>
                <a:latin typeface="Poppins Semi-Bold"/>
                <a:ea typeface="Poppins Semi-Bold"/>
                <a:cs typeface="Poppins Semi-Bold"/>
                <a:sym typeface="Poppins Semi-Bold"/>
              </a:rPr>
              <a:t>Olhe o exemplo abaixo:</a:t>
            </a:r>
          </a:p>
        </p:txBody>
      </p:sp>
      <p:sp>
        <p:nvSpPr>
          <p:cNvPr id="5" name="TextBox 5"/>
          <p:cNvSpPr txBox="1"/>
          <p:nvPr/>
        </p:nvSpPr>
        <p:spPr>
          <a:xfrm>
            <a:off x="12249750" y="5824080"/>
            <a:ext cx="5684701" cy="1903686"/>
          </a:xfrm>
          <a:prstGeom prst="rect">
            <a:avLst/>
          </a:prstGeom>
        </p:spPr>
        <p:txBody>
          <a:bodyPr lIns="0" tIns="0" rIns="0" bIns="0" rtlCol="0" anchor="t">
            <a:spAutoFit/>
          </a:bodyPr>
          <a:lstStyle/>
          <a:p>
            <a:pPr algn="ctr">
              <a:lnSpc>
                <a:spcPts val="4723"/>
              </a:lnSpc>
            </a:pPr>
            <a:r>
              <a:rPr lang="en-US" sz="3999" b="1">
                <a:solidFill>
                  <a:srgbClr val="FFFFFF"/>
                </a:solidFill>
                <a:latin typeface="Poppins Semi-Bold"/>
                <a:ea typeface="Poppins Semi-Bold"/>
                <a:cs typeface="Poppins Semi-Bold"/>
                <a:sym typeface="Poppins Semi-Bold"/>
              </a:rPr>
              <a:t>Análisando o código, qual bloco de código será executado?</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382610" y="3650666"/>
            <a:ext cx="11296650" cy="6343650"/>
          </a:xfrm>
          <a:custGeom>
            <a:avLst/>
            <a:gdLst/>
            <a:ahLst/>
            <a:cxnLst/>
            <a:rect l="l" t="t" r="r" b="b"/>
            <a:pathLst>
              <a:path w="11296650" h="6343650">
                <a:moveTo>
                  <a:pt x="0" y="0"/>
                </a:moveTo>
                <a:lnTo>
                  <a:pt x="11296650" y="0"/>
                </a:lnTo>
                <a:lnTo>
                  <a:pt x="11296650" y="6343650"/>
                </a:lnTo>
                <a:lnTo>
                  <a:pt x="0" y="6343650"/>
                </a:lnTo>
                <a:lnTo>
                  <a:pt x="0" y="0"/>
                </a:lnTo>
                <a:close/>
              </a:path>
            </a:pathLst>
          </a:custGeom>
          <a:blipFill>
            <a:blip r:embed="rId2"/>
            <a:stretch>
              <a:fillRect/>
            </a:stretch>
          </a:blipFill>
        </p:spPr>
      </p:sp>
      <p:sp>
        <p:nvSpPr>
          <p:cNvPr id="3" name="TextBox 3"/>
          <p:cNvSpPr txBox="1"/>
          <p:nvPr/>
        </p:nvSpPr>
        <p:spPr>
          <a:xfrm>
            <a:off x="2811361" y="324326"/>
            <a:ext cx="1291839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Condições e declarações IF (SE)</a:t>
            </a:r>
          </a:p>
        </p:txBody>
      </p:sp>
      <p:sp>
        <p:nvSpPr>
          <p:cNvPr id="4" name="TextBox 4"/>
          <p:cNvSpPr txBox="1"/>
          <p:nvPr/>
        </p:nvSpPr>
        <p:spPr>
          <a:xfrm>
            <a:off x="382610" y="2530335"/>
            <a:ext cx="6323000" cy="779736"/>
          </a:xfrm>
          <a:prstGeom prst="rect">
            <a:avLst/>
          </a:prstGeom>
        </p:spPr>
        <p:txBody>
          <a:bodyPr lIns="0" tIns="0" rIns="0" bIns="0" rtlCol="0" anchor="t">
            <a:spAutoFit/>
          </a:bodyPr>
          <a:lstStyle/>
          <a:p>
            <a:pPr algn="l">
              <a:lnSpc>
                <a:spcPts val="5599"/>
              </a:lnSpc>
            </a:pPr>
            <a:r>
              <a:rPr lang="en-US" sz="3999" b="1">
                <a:solidFill>
                  <a:srgbClr val="FFFFFF"/>
                </a:solidFill>
                <a:latin typeface="Poppins Semi-Bold"/>
                <a:ea typeface="Poppins Semi-Bold"/>
                <a:cs typeface="Poppins Semi-Bold"/>
                <a:sym typeface="Poppins Semi-Bold"/>
              </a:rPr>
              <a:t>Olhe o exemplo abaixo:</a:t>
            </a:r>
          </a:p>
        </p:txBody>
      </p:sp>
      <p:sp>
        <p:nvSpPr>
          <p:cNvPr id="5" name="TextBox 5"/>
          <p:cNvSpPr txBox="1"/>
          <p:nvPr/>
        </p:nvSpPr>
        <p:spPr>
          <a:xfrm>
            <a:off x="12123391" y="3774596"/>
            <a:ext cx="5942495" cy="6016247"/>
          </a:xfrm>
          <a:prstGeom prst="rect">
            <a:avLst/>
          </a:prstGeom>
        </p:spPr>
        <p:txBody>
          <a:bodyPr lIns="0" tIns="0" rIns="0" bIns="0" rtlCol="0" anchor="t">
            <a:spAutoFit/>
          </a:bodyPr>
          <a:lstStyle/>
          <a:p>
            <a:pPr algn="ctr">
              <a:lnSpc>
                <a:spcPts val="3899"/>
              </a:lnSpc>
            </a:pPr>
            <a:r>
              <a:rPr lang="en-US" sz="3299" b="1">
                <a:solidFill>
                  <a:srgbClr val="FFFFFF"/>
                </a:solidFill>
                <a:latin typeface="Poppins Semi-Bold"/>
                <a:ea typeface="Poppins Semi-Bold"/>
                <a:cs typeface="Poppins Semi-Bold"/>
                <a:sym typeface="Poppins Semi-Bold"/>
              </a:rPr>
              <a:t>Idade tem o valor de </a:t>
            </a:r>
            <a:r>
              <a:rPr lang="en-US" sz="3299" b="1">
                <a:solidFill>
                  <a:srgbClr val="FFCB85"/>
                </a:solidFill>
                <a:latin typeface="Poppins Semi-Bold"/>
                <a:ea typeface="Poppins Semi-Bold"/>
                <a:cs typeface="Poppins Semi-Bold"/>
                <a:sym typeface="Poppins Semi-Bold"/>
              </a:rPr>
              <a:t>17 </a:t>
            </a:r>
            <a:r>
              <a:rPr lang="en-US" sz="3299" b="1">
                <a:solidFill>
                  <a:srgbClr val="FFFFFF"/>
                </a:solidFill>
                <a:latin typeface="Poppins Semi-Bold"/>
                <a:ea typeface="Poppins Semi-Bold"/>
                <a:cs typeface="Poppins Semi-Bold"/>
                <a:sym typeface="Poppins Semi-Bold"/>
              </a:rPr>
              <a:t>armazenado, em seguida estou verificando </a:t>
            </a:r>
            <a:r>
              <a:rPr lang="en-US" sz="3299" b="1">
                <a:solidFill>
                  <a:srgbClr val="FF5757"/>
                </a:solidFill>
                <a:latin typeface="Poppins Semi-Bold"/>
                <a:ea typeface="Poppins Semi-Bold"/>
                <a:cs typeface="Poppins Semi-Bold"/>
                <a:sym typeface="Poppins Semi-Bold"/>
              </a:rPr>
              <a:t>se</a:t>
            </a:r>
            <a:r>
              <a:rPr lang="en-US" sz="3299" b="1">
                <a:solidFill>
                  <a:srgbClr val="FFFFFF"/>
                </a:solidFill>
                <a:latin typeface="Poppins Semi-Bold"/>
                <a:ea typeface="Poppins Semi-Bold"/>
                <a:cs typeface="Poppins Semi-Bold"/>
                <a:sym typeface="Poppins Semi-Bold"/>
              </a:rPr>
              <a:t> idade </a:t>
            </a:r>
            <a:r>
              <a:rPr lang="en-US" sz="3299" b="1">
                <a:solidFill>
                  <a:srgbClr val="7ED957"/>
                </a:solidFill>
                <a:latin typeface="Poppins Semi-Bold"/>
                <a:ea typeface="Poppins Semi-Bold"/>
                <a:cs typeface="Poppins Semi-Bold"/>
                <a:sym typeface="Poppins Semi-Bold"/>
              </a:rPr>
              <a:t>é maior ou igual</a:t>
            </a:r>
            <a:r>
              <a:rPr lang="en-US" sz="3299" b="1">
                <a:solidFill>
                  <a:srgbClr val="FFFFFF"/>
                </a:solidFill>
                <a:latin typeface="Poppins Semi-Bold"/>
                <a:ea typeface="Poppins Semi-Bold"/>
                <a:cs typeface="Poppins Semi-Bold"/>
                <a:sym typeface="Poppins Semi-Bold"/>
              </a:rPr>
              <a:t> </a:t>
            </a:r>
            <a:r>
              <a:rPr lang="en-US" sz="3299" b="1">
                <a:solidFill>
                  <a:srgbClr val="7ED957"/>
                </a:solidFill>
                <a:latin typeface="Poppins Semi-Bold"/>
                <a:ea typeface="Poppins Semi-Bold"/>
                <a:cs typeface="Poppins Semi-Bold"/>
                <a:sym typeface="Poppins Semi-Bold"/>
              </a:rPr>
              <a:t>a</a:t>
            </a:r>
            <a:r>
              <a:rPr lang="en-US" sz="3299" b="1">
                <a:solidFill>
                  <a:srgbClr val="FFFFFF"/>
                </a:solidFill>
                <a:latin typeface="Poppins Semi-Bold"/>
                <a:ea typeface="Poppins Semi-Bold"/>
                <a:cs typeface="Poppins Semi-Bold"/>
                <a:sym typeface="Poppins Semi-Bold"/>
              </a:rPr>
              <a:t> </a:t>
            </a:r>
            <a:r>
              <a:rPr lang="en-US" sz="3299" b="1">
                <a:solidFill>
                  <a:srgbClr val="FFCB85"/>
                </a:solidFill>
                <a:latin typeface="Poppins Semi-Bold"/>
                <a:ea typeface="Poppins Semi-Bold"/>
                <a:cs typeface="Poppins Semi-Bold"/>
                <a:sym typeface="Poppins Semi-Bold"/>
              </a:rPr>
              <a:t>18</a:t>
            </a:r>
            <a:r>
              <a:rPr lang="en-US" sz="3299" b="1">
                <a:solidFill>
                  <a:srgbClr val="FFFFFF"/>
                </a:solidFill>
                <a:latin typeface="Poppins Semi-Bold"/>
                <a:ea typeface="Poppins Semi-Bold"/>
                <a:cs typeface="Poppins Semi-Bold"/>
                <a:sym typeface="Poppins Semi-Bold"/>
              </a:rPr>
              <a:t>, se retornar</a:t>
            </a:r>
            <a:r>
              <a:rPr lang="en-US" sz="3299" b="1">
                <a:solidFill>
                  <a:srgbClr val="3C67BF"/>
                </a:solidFill>
                <a:latin typeface="Poppins Semi-Bold"/>
                <a:ea typeface="Poppins Semi-Bold"/>
                <a:cs typeface="Poppins Semi-Bold"/>
                <a:sym typeface="Poppins Semi-Bold"/>
              </a:rPr>
              <a:t> verdadeiro</a:t>
            </a:r>
            <a:r>
              <a:rPr lang="en-US" sz="3299" b="1">
                <a:solidFill>
                  <a:srgbClr val="FFFFFF"/>
                </a:solidFill>
                <a:latin typeface="Poppins Semi-Bold"/>
                <a:ea typeface="Poppins Semi-Bold"/>
                <a:cs typeface="Poppins Semi-Bold"/>
                <a:sym typeface="Poppins Semi-Bold"/>
              </a:rPr>
              <a:t> será exibido no terminal o texto de maior idade. Nesse caso o </a:t>
            </a:r>
            <a:r>
              <a:rPr lang="en-US" sz="3299" b="1">
                <a:solidFill>
                  <a:srgbClr val="FFCB85"/>
                </a:solidFill>
                <a:latin typeface="Poppins Semi-Bold"/>
                <a:ea typeface="Poppins Semi-Bold"/>
                <a:cs typeface="Poppins Semi-Bold"/>
                <a:sym typeface="Poppins Semi-Bold"/>
              </a:rPr>
              <a:t>17</a:t>
            </a:r>
            <a:r>
              <a:rPr lang="en-US" sz="3299" b="1">
                <a:solidFill>
                  <a:srgbClr val="FFFFFF"/>
                </a:solidFill>
                <a:latin typeface="Poppins Semi-Bold"/>
                <a:ea typeface="Poppins Semi-Bold"/>
                <a:cs typeface="Poppins Semi-Bold"/>
                <a:sym typeface="Poppins Semi-Bold"/>
              </a:rPr>
              <a:t> não é maior ou igual a </a:t>
            </a:r>
            <a:r>
              <a:rPr lang="en-US" sz="3299" b="1">
                <a:solidFill>
                  <a:srgbClr val="FFCB85"/>
                </a:solidFill>
                <a:latin typeface="Poppins Semi-Bold"/>
                <a:ea typeface="Poppins Semi-Bold"/>
                <a:cs typeface="Poppins Semi-Bold"/>
                <a:sym typeface="Poppins Semi-Bold"/>
              </a:rPr>
              <a:t>18</a:t>
            </a:r>
            <a:r>
              <a:rPr lang="en-US" sz="3299" b="1">
                <a:solidFill>
                  <a:srgbClr val="FFFFFF"/>
                </a:solidFill>
                <a:latin typeface="Poppins Semi-Bold"/>
                <a:ea typeface="Poppins Semi-Bold"/>
                <a:cs typeface="Poppins Semi-Bold"/>
                <a:sym typeface="Poppins Semi-Bold"/>
              </a:rPr>
              <a:t>, então ele entra no bloco inferior e escreve no terminal o texo de menor idade.</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274806" y="3465376"/>
            <a:ext cx="8763000" cy="6715125"/>
          </a:xfrm>
          <a:custGeom>
            <a:avLst/>
            <a:gdLst/>
            <a:ahLst/>
            <a:cxnLst/>
            <a:rect l="l" t="t" r="r" b="b"/>
            <a:pathLst>
              <a:path w="8763000" h="6715125">
                <a:moveTo>
                  <a:pt x="0" y="0"/>
                </a:moveTo>
                <a:lnTo>
                  <a:pt x="8763000" y="0"/>
                </a:lnTo>
                <a:lnTo>
                  <a:pt x="8763000" y="6715125"/>
                </a:lnTo>
                <a:lnTo>
                  <a:pt x="0" y="6715125"/>
                </a:lnTo>
                <a:lnTo>
                  <a:pt x="0" y="0"/>
                </a:lnTo>
                <a:close/>
              </a:path>
            </a:pathLst>
          </a:custGeom>
          <a:blipFill>
            <a:blip r:embed="rId2"/>
            <a:stretch>
              <a:fillRect/>
            </a:stretch>
          </a:blipFill>
        </p:spPr>
      </p:sp>
      <p:sp>
        <p:nvSpPr>
          <p:cNvPr id="3" name="TextBox 3"/>
          <p:cNvSpPr txBox="1"/>
          <p:nvPr/>
        </p:nvSpPr>
        <p:spPr>
          <a:xfrm>
            <a:off x="2811361" y="324326"/>
            <a:ext cx="1291839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Condições e declarações IF (SE)</a:t>
            </a:r>
          </a:p>
        </p:txBody>
      </p:sp>
      <p:sp>
        <p:nvSpPr>
          <p:cNvPr id="4" name="TextBox 4"/>
          <p:cNvSpPr txBox="1"/>
          <p:nvPr/>
        </p:nvSpPr>
        <p:spPr>
          <a:xfrm>
            <a:off x="382610" y="2530335"/>
            <a:ext cx="8783498" cy="779736"/>
          </a:xfrm>
          <a:prstGeom prst="rect">
            <a:avLst/>
          </a:prstGeom>
        </p:spPr>
        <p:txBody>
          <a:bodyPr lIns="0" tIns="0" rIns="0" bIns="0" rtlCol="0" anchor="t">
            <a:spAutoFit/>
          </a:bodyPr>
          <a:lstStyle/>
          <a:p>
            <a:pPr algn="l">
              <a:lnSpc>
                <a:spcPts val="5599"/>
              </a:lnSpc>
            </a:pPr>
            <a:r>
              <a:rPr lang="en-US" sz="3999" b="1">
                <a:solidFill>
                  <a:srgbClr val="FFFFFF"/>
                </a:solidFill>
                <a:latin typeface="Poppins Semi-Bold"/>
                <a:ea typeface="Poppins Semi-Bold"/>
                <a:cs typeface="Poppins Semi-Bold"/>
                <a:sym typeface="Poppins Semi-Bold"/>
              </a:rPr>
              <a:t>Olhe esse outro exemplo abaixo:</a:t>
            </a:r>
          </a:p>
        </p:txBody>
      </p:sp>
      <p:sp>
        <p:nvSpPr>
          <p:cNvPr id="5" name="TextBox 5"/>
          <p:cNvSpPr txBox="1"/>
          <p:nvPr/>
        </p:nvSpPr>
        <p:spPr>
          <a:xfrm>
            <a:off x="11002366" y="5238893"/>
            <a:ext cx="5684701" cy="1903686"/>
          </a:xfrm>
          <a:prstGeom prst="rect">
            <a:avLst/>
          </a:prstGeom>
        </p:spPr>
        <p:txBody>
          <a:bodyPr lIns="0" tIns="0" rIns="0" bIns="0" rtlCol="0" anchor="t">
            <a:spAutoFit/>
          </a:bodyPr>
          <a:lstStyle/>
          <a:p>
            <a:pPr algn="ctr">
              <a:lnSpc>
                <a:spcPts val="4723"/>
              </a:lnSpc>
            </a:pPr>
            <a:r>
              <a:rPr lang="en-US" sz="3999" b="1">
                <a:solidFill>
                  <a:srgbClr val="FFFFFF"/>
                </a:solidFill>
                <a:latin typeface="Poppins Semi-Bold"/>
                <a:ea typeface="Poppins Semi-Bold"/>
                <a:cs typeface="Poppins Semi-Bold"/>
                <a:sym typeface="Poppins Semi-Bold"/>
              </a:rPr>
              <a:t>Análisando o código, qual bloco de código será executado?</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274806" y="3465376"/>
            <a:ext cx="8763000" cy="6715125"/>
          </a:xfrm>
          <a:custGeom>
            <a:avLst/>
            <a:gdLst/>
            <a:ahLst/>
            <a:cxnLst/>
            <a:rect l="l" t="t" r="r" b="b"/>
            <a:pathLst>
              <a:path w="8763000" h="6715125">
                <a:moveTo>
                  <a:pt x="0" y="0"/>
                </a:moveTo>
                <a:lnTo>
                  <a:pt x="8763000" y="0"/>
                </a:lnTo>
                <a:lnTo>
                  <a:pt x="8763000" y="6715125"/>
                </a:lnTo>
                <a:lnTo>
                  <a:pt x="0" y="6715125"/>
                </a:lnTo>
                <a:lnTo>
                  <a:pt x="0" y="0"/>
                </a:lnTo>
                <a:close/>
              </a:path>
            </a:pathLst>
          </a:custGeom>
          <a:blipFill>
            <a:blip r:embed="rId2"/>
            <a:stretch>
              <a:fillRect/>
            </a:stretch>
          </a:blipFill>
        </p:spPr>
      </p:sp>
      <p:sp>
        <p:nvSpPr>
          <p:cNvPr id="3" name="TextBox 3"/>
          <p:cNvSpPr txBox="1"/>
          <p:nvPr/>
        </p:nvSpPr>
        <p:spPr>
          <a:xfrm>
            <a:off x="2811361" y="324326"/>
            <a:ext cx="1291839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Condições e declarações IF (SE)</a:t>
            </a:r>
          </a:p>
        </p:txBody>
      </p:sp>
      <p:sp>
        <p:nvSpPr>
          <p:cNvPr id="4" name="TextBox 4"/>
          <p:cNvSpPr txBox="1"/>
          <p:nvPr/>
        </p:nvSpPr>
        <p:spPr>
          <a:xfrm>
            <a:off x="382610" y="2530335"/>
            <a:ext cx="8783498" cy="779736"/>
          </a:xfrm>
          <a:prstGeom prst="rect">
            <a:avLst/>
          </a:prstGeom>
        </p:spPr>
        <p:txBody>
          <a:bodyPr lIns="0" tIns="0" rIns="0" bIns="0" rtlCol="0" anchor="t">
            <a:spAutoFit/>
          </a:bodyPr>
          <a:lstStyle/>
          <a:p>
            <a:pPr algn="l">
              <a:lnSpc>
                <a:spcPts val="5599"/>
              </a:lnSpc>
            </a:pPr>
            <a:r>
              <a:rPr lang="en-US" sz="3999" b="1">
                <a:solidFill>
                  <a:srgbClr val="FFFFFF"/>
                </a:solidFill>
                <a:latin typeface="Poppins Semi-Bold"/>
                <a:ea typeface="Poppins Semi-Bold"/>
                <a:cs typeface="Poppins Semi-Bold"/>
                <a:sym typeface="Poppins Semi-Bold"/>
              </a:rPr>
              <a:t>Olhe esse outro exemplo abaixo:</a:t>
            </a:r>
          </a:p>
        </p:txBody>
      </p:sp>
      <p:sp>
        <p:nvSpPr>
          <p:cNvPr id="5" name="TextBox 5"/>
          <p:cNvSpPr txBox="1"/>
          <p:nvPr/>
        </p:nvSpPr>
        <p:spPr>
          <a:xfrm>
            <a:off x="10810075" y="4338780"/>
            <a:ext cx="6076912" cy="3703911"/>
          </a:xfrm>
          <a:prstGeom prst="rect">
            <a:avLst/>
          </a:prstGeom>
        </p:spPr>
        <p:txBody>
          <a:bodyPr lIns="0" tIns="0" rIns="0" bIns="0" rtlCol="0" anchor="t">
            <a:spAutoFit/>
          </a:bodyPr>
          <a:lstStyle/>
          <a:p>
            <a:pPr algn="ctr">
              <a:lnSpc>
                <a:spcPts val="4723"/>
              </a:lnSpc>
            </a:pPr>
            <a:r>
              <a:rPr lang="en-US" sz="3999" b="1">
                <a:solidFill>
                  <a:srgbClr val="FFFFFF"/>
                </a:solidFill>
                <a:latin typeface="Poppins Semi-Bold"/>
                <a:ea typeface="Poppins Semi-Bold"/>
                <a:cs typeface="Poppins Semi-Bold"/>
                <a:sym typeface="Poppins Semi-Bold"/>
              </a:rPr>
              <a:t>Acertou quem disse </a:t>
            </a:r>
            <a:r>
              <a:rPr lang="en-US" sz="3999" b="1">
                <a:solidFill>
                  <a:srgbClr val="FFCB85"/>
                </a:solidFill>
                <a:latin typeface="Poppins Semi-Bold"/>
                <a:ea typeface="Poppins Semi-Bold"/>
                <a:cs typeface="Poppins Semi-Bold"/>
                <a:sym typeface="Poppins Semi-Bold"/>
              </a:rPr>
              <a:t>Tarde!</a:t>
            </a:r>
            <a:r>
              <a:rPr lang="en-US" sz="3999" b="1">
                <a:solidFill>
                  <a:srgbClr val="FFFFFF"/>
                </a:solidFill>
                <a:latin typeface="Poppins Semi-Bold"/>
                <a:ea typeface="Poppins Semi-Bold"/>
                <a:cs typeface="Poppins Semi-Bold"/>
                <a:sym typeface="Poppins Semi-Bold"/>
              </a:rPr>
              <a:t>, pois a variável hora tem armazenado o número </a:t>
            </a:r>
            <a:r>
              <a:rPr lang="en-US" sz="3999" b="1">
                <a:solidFill>
                  <a:srgbClr val="FFCB85"/>
                </a:solidFill>
                <a:latin typeface="Poppins Semi-Bold"/>
                <a:ea typeface="Poppins Semi-Bold"/>
                <a:cs typeface="Poppins Semi-Bold"/>
                <a:sym typeface="Poppins Semi-Bold"/>
              </a:rPr>
              <a:t>14</a:t>
            </a:r>
            <a:r>
              <a:rPr lang="en-US" sz="3999" b="1">
                <a:solidFill>
                  <a:srgbClr val="FFFFFF"/>
                </a:solidFill>
                <a:latin typeface="Poppins Semi-Bold"/>
                <a:ea typeface="Poppins Semi-Bold"/>
                <a:cs typeface="Poppins Semi-Bold"/>
                <a:sym typeface="Poppins Semi-Bold"/>
              </a:rPr>
              <a:t> e ele só consegue ser menor que o número </a:t>
            </a:r>
            <a:r>
              <a:rPr lang="en-US" sz="3999" b="1">
                <a:solidFill>
                  <a:srgbClr val="FFCB85"/>
                </a:solidFill>
                <a:latin typeface="Poppins Semi-Bold"/>
                <a:ea typeface="Poppins Semi-Bold"/>
                <a:cs typeface="Poppins Semi-Bold"/>
                <a:sym typeface="Poppins Semi-Bold"/>
              </a:rPr>
              <a:t>17</a:t>
            </a:r>
            <a:r>
              <a:rPr lang="en-US" sz="3999" b="1">
                <a:solidFill>
                  <a:srgbClr val="FFFFFF"/>
                </a:solidFill>
                <a:latin typeface="Poppins Semi-Bold"/>
                <a:ea typeface="Poppins Semi-Bold"/>
                <a:cs typeface="Poppins Semi-Bold"/>
                <a:sym typeface="Poppins Semi-Bold"/>
              </a:rPr>
              <a:t>.</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2811361" y="324326"/>
            <a:ext cx="1291839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Condições e declarações IF (SE)</a:t>
            </a:r>
          </a:p>
        </p:txBody>
      </p:sp>
      <p:sp>
        <p:nvSpPr>
          <p:cNvPr id="3" name="TextBox 3"/>
          <p:cNvSpPr txBox="1"/>
          <p:nvPr/>
        </p:nvSpPr>
        <p:spPr>
          <a:xfrm>
            <a:off x="164983" y="2816762"/>
            <a:ext cx="18088156" cy="6104211"/>
          </a:xfrm>
          <a:prstGeom prst="rect">
            <a:avLst/>
          </a:prstGeom>
        </p:spPr>
        <p:txBody>
          <a:bodyPr lIns="0" tIns="0" rIns="0" bIns="0" rtlCol="0" anchor="t">
            <a:spAutoFit/>
          </a:bodyPr>
          <a:lstStyle/>
          <a:p>
            <a:pPr algn="l">
              <a:lnSpc>
                <a:spcPts val="4723"/>
              </a:lnSpc>
            </a:pPr>
            <a:r>
              <a:rPr lang="en-US" sz="3999" b="1">
                <a:solidFill>
                  <a:srgbClr val="FFFFFF"/>
                </a:solidFill>
                <a:latin typeface="Poppins Semi-Bold"/>
                <a:ea typeface="Poppins Semi-Bold"/>
                <a:cs typeface="Poppins Semi-Bold"/>
                <a:sym typeface="Poppins Semi-Bold"/>
              </a:rPr>
              <a:t>Então resumidamente, dentro do parenteses do </a:t>
            </a:r>
            <a:r>
              <a:rPr lang="en-US" sz="3999" b="1">
                <a:solidFill>
                  <a:srgbClr val="FF5757"/>
                </a:solidFill>
                <a:latin typeface="Poppins Semi-Bold"/>
                <a:ea typeface="Poppins Semi-Bold"/>
                <a:cs typeface="Poppins Semi-Bold"/>
                <a:sym typeface="Poppins Semi-Bold"/>
              </a:rPr>
              <a:t>if</a:t>
            </a:r>
            <a:r>
              <a:rPr lang="en-US" sz="3999" b="1">
                <a:solidFill>
                  <a:srgbClr val="FFFFFF"/>
                </a:solidFill>
                <a:latin typeface="Poppins Semi-Bold"/>
                <a:ea typeface="Poppins Semi-Bold"/>
                <a:cs typeface="Poppins Semi-Bold"/>
                <a:sym typeface="Poppins Semi-Bold"/>
              </a:rPr>
              <a:t> se espera um retorno verdadeiro da condicional. Caso não seja verdadeiro, pode seguir o caminho do </a:t>
            </a:r>
            <a:r>
              <a:rPr lang="en-US" sz="3999" b="1">
                <a:solidFill>
                  <a:srgbClr val="FF5757"/>
                </a:solidFill>
                <a:latin typeface="Poppins Semi-Bold"/>
                <a:ea typeface="Poppins Semi-Bold"/>
                <a:cs typeface="Poppins Semi-Bold"/>
                <a:sym typeface="Poppins Semi-Bold"/>
              </a:rPr>
              <a:t>else</a:t>
            </a:r>
            <a:r>
              <a:rPr lang="en-US" sz="3999" b="1">
                <a:solidFill>
                  <a:srgbClr val="FFFFFF"/>
                </a:solidFill>
                <a:latin typeface="Poppins Semi-Bold"/>
                <a:ea typeface="Poppins Semi-Bold"/>
                <a:cs typeface="Poppins Semi-Bold"/>
                <a:sym typeface="Poppins Semi-Bold"/>
              </a:rPr>
              <a:t> ou </a:t>
            </a:r>
            <a:r>
              <a:rPr lang="en-US" sz="3999" b="1">
                <a:solidFill>
                  <a:srgbClr val="FF5757"/>
                </a:solidFill>
                <a:latin typeface="Poppins Semi-Bold"/>
                <a:ea typeface="Poppins Semi-Bold"/>
                <a:cs typeface="Poppins Semi-Bold"/>
                <a:sym typeface="Poppins Semi-Bold"/>
              </a:rPr>
              <a:t>else</a:t>
            </a:r>
            <a:r>
              <a:rPr lang="en-US" sz="3999" b="1">
                <a:solidFill>
                  <a:srgbClr val="FFFFFF"/>
                </a:solidFill>
                <a:latin typeface="Poppins Semi-Bold"/>
                <a:ea typeface="Poppins Semi-Bold"/>
                <a:cs typeface="Poppins Semi-Bold"/>
                <a:sym typeface="Poppins Semi-Bold"/>
              </a:rPr>
              <a:t> </a:t>
            </a:r>
            <a:r>
              <a:rPr lang="en-US" sz="3999" b="1">
                <a:solidFill>
                  <a:srgbClr val="FF5757"/>
                </a:solidFill>
                <a:latin typeface="Poppins Semi-Bold"/>
                <a:ea typeface="Poppins Semi-Bold"/>
                <a:cs typeface="Poppins Semi-Bold"/>
                <a:sym typeface="Poppins Semi-Bold"/>
              </a:rPr>
              <a:t>if</a:t>
            </a:r>
            <a:r>
              <a:rPr lang="en-US" sz="3999" b="1">
                <a:solidFill>
                  <a:srgbClr val="FFFFFF"/>
                </a:solidFill>
                <a:latin typeface="Poppins Semi-Bold"/>
                <a:ea typeface="Poppins Semi-Bold"/>
                <a:cs typeface="Poppins Semi-Bold"/>
                <a:sym typeface="Poppins Semi-Bold"/>
              </a:rPr>
              <a:t>. Uma informação importante é saber que o </a:t>
            </a:r>
            <a:r>
              <a:rPr lang="en-US" sz="3999" b="1">
                <a:solidFill>
                  <a:srgbClr val="FF5757"/>
                </a:solidFill>
                <a:latin typeface="Poppins Semi-Bold"/>
                <a:ea typeface="Poppins Semi-Bold"/>
                <a:cs typeface="Poppins Semi-Bold"/>
                <a:sym typeface="Poppins Semi-Bold"/>
              </a:rPr>
              <a:t>else</a:t>
            </a:r>
            <a:r>
              <a:rPr lang="en-US" sz="3999" b="1">
                <a:solidFill>
                  <a:srgbClr val="FFFFFF"/>
                </a:solidFill>
                <a:latin typeface="Poppins Semi-Bold"/>
                <a:ea typeface="Poppins Semi-Bold"/>
                <a:cs typeface="Poppins Semi-Bold"/>
                <a:sym typeface="Poppins Semi-Bold"/>
              </a:rPr>
              <a:t> e o </a:t>
            </a:r>
            <a:r>
              <a:rPr lang="en-US" sz="3999" b="1">
                <a:solidFill>
                  <a:srgbClr val="FF5757"/>
                </a:solidFill>
                <a:latin typeface="Poppins Semi-Bold"/>
                <a:ea typeface="Poppins Semi-Bold"/>
                <a:cs typeface="Poppins Semi-Bold"/>
                <a:sym typeface="Poppins Semi-Bold"/>
              </a:rPr>
              <a:t>else if</a:t>
            </a:r>
            <a:r>
              <a:rPr lang="en-US" sz="3999" b="1">
                <a:solidFill>
                  <a:srgbClr val="FFFFFF"/>
                </a:solidFill>
                <a:latin typeface="Poppins Semi-Bold"/>
                <a:ea typeface="Poppins Semi-Bold"/>
                <a:cs typeface="Poppins Semi-Bold"/>
                <a:sym typeface="Poppins Semi-Bold"/>
              </a:rPr>
              <a:t> são </a:t>
            </a:r>
            <a:r>
              <a:rPr lang="en-US" sz="3999" b="1">
                <a:solidFill>
                  <a:srgbClr val="FFCB85"/>
                </a:solidFill>
                <a:latin typeface="Poppins Semi-Bold"/>
                <a:ea typeface="Poppins Semi-Bold"/>
                <a:cs typeface="Poppins Semi-Bold"/>
                <a:sym typeface="Poppins Semi-Bold"/>
              </a:rPr>
              <a:t>opcionais</a:t>
            </a:r>
            <a:r>
              <a:rPr lang="en-US" sz="3999" b="1">
                <a:solidFill>
                  <a:srgbClr val="FFFFFF"/>
                </a:solidFill>
                <a:latin typeface="Poppins Semi-Bold"/>
                <a:ea typeface="Poppins Semi-Bold"/>
                <a:cs typeface="Poppins Semi-Bold"/>
                <a:sym typeface="Poppins Semi-Bold"/>
              </a:rPr>
              <a:t>, ou seja, vai depender da lógica que você tiver que criar para saber se irá utilizar ou não. Caso decida utilizar um </a:t>
            </a:r>
            <a:r>
              <a:rPr lang="en-US" sz="3999" b="1">
                <a:solidFill>
                  <a:srgbClr val="FF5757"/>
                </a:solidFill>
                <a:latin typeface="Poppins Semi-Bold"/>
                <a:ea typeface="Poppins Semi-Bold"/>
                <a:cs typeface="Poppins Semi-Bold"/>
                <a:sym typeface="Poppins Semi-Bold"/>
              </a:rPr>
              <a:t>else </a:t>
            </a:r>
            <a:r>
              <a:rPr lang="en-US" sz="3999" b="1">
                <a:solidFill>
                  <a:srgbClr val="FFFFFF"/>
                </a:solidFill>
                <a:latin typeface="Poppins Semi-Bold"/>
                <a:ea typeface="Poppins Semi-Bold"/>
                <a:cs typeface="Poppins Semi-Bold"/>
                <a:sym typeface="Poppins Semi-Bold"/>
              </a:rPr>
              <a:t>ou </a:t>
            </a:r>
            <a:r>
              <a:rPr lang="en-US" sz="3999" b="1">
                <a:solidFill>
                  <a:srgbClr val="FF5757"/>
                </a:solidFill>
                <a:latin typeface="Poppins Semi-Bold"/>
                <a:ea typeface="Poppins Semi-Bold"/>
                <a:cs typeface="Poppins Semi-Bold"/>
                <a:sym typeface="Poppins Semi-Bold"/>
              </a:rPr>
              <a:t>else if</a:t>
            </a:r>
            <a:r>
              <a:rPr lang="en-US" sz="3999" b="1">
                <a:solidFill>
                  <a:srgbClr val="FFFFFF"/>
                </a:solidFill>
                <a:latin typeface="Poppins Semi-Bold"/>
                <a:ea typeface="Poppins Semi-Bold"/>
                <a:cs typeface="Poppins Semi-Bold"/>
                <a:sym typeface="Poppins Semi-Bold"/>
              </a:rPr>
              <a:t>, obrigatóriamente deverá vir no topo da estrutura um comando </a:t>
            </a:r>
            <a:r>
              <a:rPr lang="en-US" sz="3999" b="1">
                <a:solidFill>
                  <a:srgbClr val="FF5757"/>
                </a:solidFill>
                <a:latin typeface="Poppins Semi-Bold"/>
                <a:ea typeface="Poppins Semi-Bold"/>
                <a:cs typeface="Poppins Semi-Bold"/>
                <a:sym typeface="Poppins Semi-Bold"/>
              </a:rPr>
              <a:t>if</a:t>
            </a:r>
            <a:r>
              <a:rPr lang="en-US" sz="3999" b="1">
                <a:solidFill>
                  <a:srgbClr val="FFFFFF"/>
                </a:solidFill>
                <a:latin typeface="Poppins Semi-Bold"/>
                <a:ea typeface="Poppins Semi-Bold"/>
                <a:cs typeface="Poppins Semi-Bold"/>
                <a:sym typeface="Poppins Semi-Bold"/>
              </a:rPr>
              <a:t>.</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691659" y="2920822"/>
            <a:ext cx="14476181" cy="363686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#19 </a:t>
            </a:r>
            <a:r>
              <a:rPr lang="en-US" sz="4684" b="1">
                <a:solidFill>
                  <a:srgbClr val="FFFFFF"/>
                </a:solidFill>
                <a:latin typeface="Poppins Semi-Bold"/>
                <a:ea typeface="Poppins Semi-Bold"/>
                <a:cs typeface="Poppins Semi-Bold"/>
                <a:sym typeface="Poppins Semi-Bold"/>
              </a:rPr>
              <a:t>Faça um programa que verifique se um número inteiro informado é positivo, negativo ou neutro.</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224952" y="920134"/>
            <a:ext cx="18175586" cy="857081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#21 </a:t>
            </a:r>
            <a:r>
              <a:rPr lang="en-US" sz="4684" b="1">
                <a:solidFill>
                  <a:srgbClr val="FFFFFF"/>
                </a:solidFill>
                <a:latin typeface="Poppins Semi-Bold"/>
                <a:ea typeface="Poppins Semi-Bold"/>
                <a:cs typeface="Poppins Semi-Bold"/>
                <a:sym typeface="Poppins Semi-Bold"/>
              </a:rPr>
              <a:t>Faça um programa que leia dois números inteiros. O programa deve ter um menu de opções que são: Somar, dividir, subtrair e multiplicar. Onde o usuário deve informar uma letra para poder escolher uma das opções. Ao escolher a opção o programa deve fazer a operação selecionada com os dois números lidos. Exemplo: ao informar os números 21 e 50, depois informar a letra correspondente a soma, o programa deve pegar esses dois números e somar, no final deve mostrar o resultado para o usuário</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691659" y="2920822"/>
            <a:ext cx="14700656" cy="363686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#20 </a:t>
            </a:r>
            <a:r>
              <a:rPr lang="en-US" sz="4684" b="1">
                <a:solidFill>
                  <a:srgbClr val="FFFFFF"/>
                </a:solidFill>
                <a:latin typeface="Poppins Semi-Bold"/>
                <a:ea typeface="Poppins Semi-Bold"/>
                <a:cs typeface="Poppins Semi-Bold"/>
                <a:sym typeface="Poppins Semi-Bold"/>
              </a:rPr>
              <a:t>Faça um programa que ao ler um número inteiro positivo, determine se ele é par ou ímpar. Exiba o resultado no final do programa.</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506920" y="1510684"/>
            <a:ext cx="17315831" cy="716111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#23 </a:t>
            </a:r>
            <a:r>
              <a:rPr lang="en-US" sz="4684" b="1">
                <a:solidFill>
                  <a:srgbClr val="FFFFFF"/>
                </a:solidFill>
                <a:latin typeface="Poppins Semi-Bold"/>
                <a:ea typeface="Poppins Semi-Bold"/>
                <a:cs typeface="Poppins Semi-Bold"/>
                <a:sym typeface="Poppins Semi-Bold"/>
              </a:rPr>
              <a:t>Uma companhia de teatro planeja dar uma série de espetáculos. Para cada espetáculo serão vendidos 120 ingressos e as despesas fixas somam R$ 2000,00. A direção precisa calcular o valor a ser pago por ingresso. Para isso, escreva um programa que leia o valor que ele pretende cobrar no ingresso e informe se esse valor cobrirá as despesas e, caso ele cubra, quanto restará de lucro para companhia.</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349139" y="620020"/>
            <a:ext cx="17552518" cy="8147142"/>
          </a:xfrm>
          <a:prstGeom prst="rect">
            <a:avLst/>
          </a:prstGeom>
        </p:spPr>
        <p:txBody>
          <a:bodyPr lIns="0" tIns="0" rIns="0" bIns="0" rtlCol="0" anchor="t">
            <a:spAutoFit/>
          </a:bodyPr>
          <a:lstStyle/>
          <a:p>
            <a:pPr algn="l">
              <a:lnSpc>
                <a:spcPts val="4876"/>
              </a:lnSpc>
            </a:pPr>
            <a:r>
              <a:rPr lang="en-US" sz="4084" b="1">
                <a:solidFill>
                  <a:srgbClr val="FF5757"/>
                </a:solidFill>
                <a:latin typeface="Poppins Semi-Bold"/>
                <a:ea typeface="Poppins Semi-Bold"/>
                <a:cs typeface="Poppins Semi-Bold"/>
                <a:sym typeface="Poppins Semi-Bold"/>
              </a:rPr>
              <a:t>Atividade #24 </a:t>
            </a:r>
            <a:r>
              <a:rPr lang="en-US" sz="4084" b="1">
                <a:solidFill>
                  <a:srgbClr val="FFFFFF"/>
                </a:solidFill>
                <a:latin typeface="Poppins Semi-Bold"/>
                <a:ea typeface="Poppins Semi-Bold"/>
                <a:cs typeface="Poppins Semi-Bold"/>
                <a:sym typeface="Poppins Semi-Bold"/>
              </a:rPr>
              <a:t>Faça um programa que leia 3 notas e calcule a média aritmética. Leia também a frequência desse aluno. Se a frequência for menor que 70, o aluno está reprovado por frequência direto. Se o aluno tiver com a frequência maior ou igual a 70 o programa deve verificar se ele está aprovado, de recuperação ou reprovado por nota. Para estar aprovado o aluno deve ter uma média maior ou igual a 60, para estar de recuperação o aluno deve estar maior que ou igual a 40, para estar reprovado por nota ele deve ter a média abaixo de 40. O programa deve informar no final a situação do aluno.</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2549423" y="324326"/>
            <a:ext cx="13453024"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Condições e declarações SWITCH</a:t>
            </a:r>
          </a:p>
        </p:txBody>
      </p:sp>
      <p:sp>
        <p:nvSpPr>
          <p:cNvPr id="3" name="TextBox 3"/>
          <p:cNvSpPr txBox="1"/>
          <p:nvPr/>
        </p:nvSpPr>
        <p:spPr>
          <a:xfrm>
            <a:off x="164983" y="1883273"/>
            <a:ext cx="18038388" cy="3473025"/>
          </a:xfrm>
          <a:prstGeom prst="rect">
            <a:avLst/>
          </a:prstGeom>
        </p:spPr>
        <p:txBody>
          <a:bodyPr lIns="0" tIns="0" rIns="0" bIns="0" rtlCol="0" anchor="t">
            <a:spAutoFit/>
          </a:bodyPr>
          <a:lstStyle/>
          <a:p>
            <a:pPr algn="l">
              <a:lnSpc>
                <a:spcPts val="4424"/>
              </a:lnSpc>
            </a:pPr>
            <a:r>
              <a:rPr lang="en-US" sz="3699" b="1">
                <a:solidFill>
                  <a:srgbClr val="FFFFFF"/>
                </a:solidFill>
                <a:latin typeface="Poppins Semi-Bold"/>
                <a:ea typeface="Poppins Semi-Bold"/>
                <a:cs typeface="Poppins Semi-Bold"/>
                <a:sym typeface="Poppins Semi-Bold"/>
              </a:rPr>
              <a:t>O switch é outro comando condicional que podemos utilizar para tomar decisões no nosso programa, ele pega um valor e compara com outros demais valores. Ele é muito utilizado quando o programa tem um menu de opções.</a:t>
            </a:r>
          </a:p>
          <a:p>
            <a:pPr algn="l">
              <a:lnSpc>
                <a:spcPts val="9249"/>
              </a:lnSpc>
            </a:pPr>
            <a:r>
              <a:rPr lang="en-US" sz="3699" b="1">
                <a:solidFill>
                  <a:srgbClr val="3C67BF"/>
                </a:solidFill>
                <a:latin typeface="Poppins Semi-Bold"/>
                <a:ea typeface="Poppins Semi-Bold"/>
                <a:cs typeface="Poppins Semi-Bold"/>
                <a:sym typeface="Poppins Semi-Bold"/>
              </a:rPr>
              <a:t>switch</a:t>
            </a:r>
            <a:r>
              <a:rPr lang="en-US" sz="3699" b="1">
                <a:solidFill>
                  <a:srgbClr val="FFFFFF"/>
                </a:solidFill>
                <a:latin typeface="Poppins Semi-Bold"/>
                <a:ea typeface="Poppins Semi-Bold"/>
                <a:cs typeface="Poppins Semi-Bold"/>
                <a:sym typeface="Poppins Semi-Bold"/>
              </a:rPr>
              <a:t>(</a:t>
            </a:r>
            <a:r>
              <a:rPr lang="en-US" sz="3699" b="1">
                <a:solidFill>
                  <a:srgbClr val="FFCB85"/>
                </a:solidFill>
                <a:latin typeface="Poppins Semi-Bold"/>
                <a:ea typeface="Poppins Semi-Bold"/>
                <a:cs typeface="Poppins Semi-Bold"/>
                <a:sym typeface="Poppins Semi-Bold"/>
              </a:rPr>
              <a:t>valor original</a:t>
            </a:r>
            <a:r>
              <a:rPr lang="en-US" sz="3699" b="1">
                <a:solidFill>
                  <a:srgbClr val="FFFFFF"/>
                </a:solidFill>
                <a:latin typeface="Poppins Semi-Bold"/>
                <a:ea typeface="Poppins Semi-Bold"/>
                <a:cs typeface="Poppins Semi-Bold"/>
                <a:sym typeface="Poppins Semi-Bold"/>
              </a:rPr>
              <a:t>){</a:t>
            </a:r>
          </a:p>
        </p:txBody>
      </p:sp>
      <p:sp>
        <p:nvSpPr>
          <p:cNvPr id="4" name="TextBox 4"/>
          <p:cNvSpPr txBox="1"/>
          <p:nvPr/>
        </p:nvSpPr>
        <p:spPr>
          <a:xfrm>
            <a:off x="8232886" y="4375585"/>
            <a:ext cx="4298728" cy="863394"/>
          </a:xfrm>
          <a:prstGeom prst="rect">
            <a:avLst/>
          </a:prstGeom>
        </p:spPr>
        <p:txBody>
          <a:bodyPr lIns="0" tIns="0" rIns="0" bIns="0" rtlCol="0" anchor="t">
            <a:spAutoFit/>
          </a:bodyPr>
          <a:lstStyle/>
          <a:p>
            <a:pPr algn="l">
              <a:lnSpc>
                <a:spcPts val="7248"/>
              </a:lnSpc>
            </a:pPr>
            <a:r>
              <a:rPr lang="en-US" sz="2899" b="1">
                <a:solidFill>
                  <a:srgbClr val="FFFFFF"/>
                </a:solidFill>
                <a:latin typeface="Poppins Semi-Bold"/>
                <a:ea typeface="Poppins Semi-Bold"/>
                <a:cs typeface="Poppins Semi-Bold"/>
                <a:sym typeface="Poppins Semi-Bold"/>
              </a:rPr>
              <a:t>É assim que funciona:</a:t>
            </a:r>
          </a:p>
        </p:txBody>
      </p:sp>
      <p:sp>
        <p:nvSpPr>
          <p:cNvPr id="5" name="TextBox 5"/>
          <p:cNvSpPr txBox="1"/>
          <p:nvPr/>
        </p:nvSpPr>
        <p:spPr>
          <a:xfrm>
            <a:off x="164983" y="5411524"/>
            <a:ext cx="13975185" cy="506749"/>
          </a:xfrm>
          <a:prstGeom prst="rect">
            <a:avLst/>
          </a:prstGeom>
        </p:spPr>
        <p:txBody>
          <a:bodyPr lIns="0" tIns="0" rIns="0" bIns="0" rtlCol="0" anchor="t">
            <a:spAutoFit/>
          </a:bodyPr>
          <a:lstStyle/>
          <a:p>
            <a:pPr algn="l">
              <a:lnSpc>
                <a:spcPts val="1849"/>
              </a:lnSpc>
            </a:pPr>
            <a:r>
              <a:rPr lang="en-US" sz="3699" b="1">
                <a:solidFill>
                  <a:srgbClr val="FFFFFF"/>
                </a:solidFill>
                <a:latin typeface="Poppins Semi-Bold"/>
                <a:ea typeface="Poppins Semi-Bold"/>
                <a:cs typeface="Poppins Semi-Bold"/>
                <a:sym typeface="Poppins Semi-Bold"/>
              </a:rPr>
              <a:t> </a:t>
            </a:r>
            <a:r>
              <a:rPr lang="en-US" sz="3699" b="1">
                <a:solidFill>
                  <a:srgbClr val="3C67BF"/>
                </a:solidFill>
                <a:latin typeface="Poppins Semi-Bold"/>
                <a:ea typeface="Poppins Semi-Bold"/>
                <a:cs typeface="Poppins Semi-Bold"/>
                <a:sym typeface="Poppins Semi-Bold"/>
              </a:rPr>
              <a:t>case </a:t>
            </a:r>
            <a:r>
              <a:rPr lang="en-US" sz="3699" b="1">
                <a:solidFill>
                  <a:srgbClr val="FF5757"/>
                </a:solidFill>
                <a:latin typeface="Poppins Semi-Bold"/>
                <a:ea typeface="Poppins Semi-Bold"/>
                <a:cs typeface="Poppins Semi-Bold"/>
                <a:sym typeface="Poppins Semi-Bold"/>
              </a:rPr>
              <a:t>valor a ser comparado</a:t>
            </a:r>
            <a:r>
              <a:rPr lang="en-US" sz="3699" b="1">
                <a:solidFill>
                  <a:srgbClr val="FFFFFF"/>
                </a:solidFill>
                <a:latin typeface="Poppins Semi-Bold"/>
                <a:ea typeface="Poppins Semi-Bold"/>
                <a:cs typeface="Poppins Semi-Bold"/>
                <a:sym typeface="Poppins Semi-Bold"/>
              </a:rPr>
              <a:t>:O </a:t>
            </a:r>
            <a:r>
              <a:rPr lang="en-US" sz="3699" b="1">
                <a:solidFill>
                  <a:srgbClr val="3C67BF"/>
                </a:solidFill>
                <a:latin typeface="Poppins Semi-Bold"/>
                <a:ea typeface="Poppins Semi-Bold"/>
                <a:cs typeface="Poppins Semi-Bold"/>
                <a:sym typeface="Poppins Semi-Bold"/>
              </a:rPr>
              <a:t>switch </a:t>
            </a:r>
            <a:r>
              <a:rPr lang="en-US" sz="3699" b="1">
                <a:solidFill>
                  <a:srgbClr val="FFFFFF"/>
                </a:solidFill>
                <a:latin typeface="Poppins Semi-Bold"/>
                <a:ea typeface="Poppins Semi-Bold"/>
                <a:cs typeface="Poppins Semi-Bold"/>
                <a:sym typeface="Poppins Semi-Bold"/>
              </a:rPr>
              <a:t>é avaliado uma vez;</a:t>
            </a:r>
          </a:p>
        </p:txBody>
      </p:sp>
      <p:sp>
        <p:nvSpPr>
          <p:cNvPr id="6" name="TextBox 6"/>
          <p:cNvSpPr txBox="1"/>
          <p:nvPr/>
        </p:nvSpPr>
        <p:spPr>
          <a:xfrm>
            <a:off x="8232886" y="5680510"/>
            <a:ext cx="10053942" cy="3939969"/>
          </a:xfrm>
          <a:prstGeom prst="rect">
            <a:avLst/>
          </a:prstGeom>
        </p:spPr>
        <p:txBody>
          <a:bodyPr lIns="0" tIns="0" rIns="0" bIns="0" rtlCol="0" anchor="t">
            <a:spAutoFit/>
          </a:bodyPr>
          <a:lstStyle/>
          <a:p>
            <a:pPr algn="l">
              <a:lnSpc>
                <a:spcPts val="2731"/>
              </a:lnSpc>
            </a:pPr>
            <a:r>
              <a:rPr lang="en-US" sz="2899" b="1">
                <a:solidFill>
                  <a:srgbClr val="FFFFFF"/>
                </a:solidFill>
                <a:latin typeface="Poppins Semi-Bold"/>
                <a:ea typeface="Poppins Semi-Bold"/>
                <a:cs typeface="Poppins Semi-Bold"/>
                <a:sym typeface="Poppins Semi-Bold"/>
              </a:rPr>
              <a:t>O </a:t>
            </a:r>
            <a:r>
              <a:rPr lang="en-US" sz="2899" b="1">
                <a:solidFill>
                  <a:srgbClr val="FFCB85"/>
                </a:solidFill>
                <a:latin typeface="Poppins Semi-Bold"/>
                <a:ea typeface="Poppins Semi-Bold"/>
                <a:cs typeface="Poppins Semi-Bold"/>
                <a:sym typeface="Poppins Semi-Bold"/>
              </a:rPr>
              <a:t>valor original</a:t>
            </a:r>
            <a:r>
              <a:rPr lang="en-US" sz="2899" b="1">
                <a:solidFill>
                  <a:srgbClr val="FFFFFF"/>
                </a:solidFill>
                <a:latin typeface="Poppins Semi-Bold"/>
                <a:ea typeface="Poppins Semi-Bold"/>
                <a:cs typeface="Poppins Semi-Bold"/>
                <a:sym typeface="Poppins Semi-Bold"/>
              </a:rPr>
              <a:t> é comparado com os valores de cada </a:t>
            </a:r>
            <a:r>
              <a:rPr lang="en-US" sz="2899" b="1">
                <a:solidFill>
                  <a:srgbClr val="FF5757"/>
                </a:solidFill>
                <a:latin typeface="Poppins Semi-Bold"/>
                <a:ea typeface="Poppins Semi-Bold"/>
                <a:cs typeface="Poppins Semi-Bold"/>
                <a:sym typeface="Poppins Semi-Bold"/>
              </a:rPr>
              <a:t>case</a:t>
            </a:r>
            <a:r>
              <a:rPr lang="en-US" sz="2899" b="1">
                <a:solidFill>
                  <a:srgbClr val="FFFFFF"/>
                </a:solidFill>
                <a:latin typeface="Poppins Semi-Bold"/>
                <a:ea typeface="Poppins Semi-Bold"/>
                <a:cs typeface="Poppins Semi-Bold"/>
                <a:sym typeface="Poppins Semi-Bold"/>
              </a:rPr>
              <a:t>; Se houver uma correspondência, o </a:t>
            </a:r>
            <a:r>
              <a:rPr lang="en-US" sz="2899" b="1">
                <a:solidFill>
                  <a:srgbClr val="7ED957"/>
                </a:solidFill>
                <a:latin typeface="Poppins Semi-Bold"/>
                <a:ea typeface="Poppins Semi-Bold"/>
                <a:cs typeface="Poppins Semi-Bold"/>
                <a:sym typeface="Poppins Semi-Bold"/>
              </a:rPr>
              <a:t>bloco de código</a:t>
            </a:r>
          </a:p>
          <a:p>
            <a:pPr algn="l">
              <a:lnSpc>
                <a:spcPts val="4073"/>
              </a:lnSpc>
            </a:pPr>
            <a:r>
              <a:rPr lang="en-US" sz="2899" b="1">
                <a:solidFill>
                  <a:srgbClr val="7ED957"/>
                </a:solidFill>
                <a:latin typeface="Poppins Semi-Bold"/>
                <a:ea typeface="Poppins Semi-Bold"/>
                <a:cs typeface="Poppins Semi-Bold"/>
                <a:sym typeface="Poppins Semi-Bold"/>
              </a:rPr>
              <a:t>associado é executado</a:t>
            </a:r>
            <a:r>
              <a:rPr lang="en-US" sz="2899" b="1">
                <a:solidFill>
                  <a:srgbClr val="FFFFFF"/>
                </a:solidFill>
                <a:latin typeface="Poppins Semi-Bold"/>
                <a:ea typeface="Poppins Semi-Bold"/>
                <a:cs typeface="Poppins Semi-Bold"/>
                <a:sym typeface="Poppins Semi-Bold"/>
              </a:rPr>
              <a:t>;</a:t>
            </a:r>
          </a:p>
          <a:p>
            <a:pPr algn="l">
              <a:lnSpc>
                <a:spcPts val="4978"/>
              </a:lnSpc>
            </a:pPr>
            <a:r>
              <a:rPr lang="en-US" sz="2899" b="1">
                <a:solidFill>
                  <a:srgbClr val="FFFFFF"/>
                </a:solidFill>
                <a:latin typeface="Poppins Semi-Bold"/>
                <a:ea typeface="Poppins Semi-Bold"/>
                <a:cs typeface="Poppins Semi-Bold"/>
                <a:sym typeface="Poppins Semi-Bold"/>
              </a:rPr>
              <a:t>A </a:t>
            </a:r>
            <a:r>
              <a:rPr lang="en-US" sz="2899" b="1">
                <a:solidFill>
                  <a:srgbClr val="3C67BF"/>
                </a:solidFill>
                <a:latin typeface="Poppins Semi-Bold"/>
                <a:ea typeface="Poppins Semi-Bold"/>
                <a:cs typeface="Poppins Semi-Bold"/>
                <a:sym typeface="Poppins Semi-Bold"/>
              </a:rPr>
              <a:t>break </a:t>
            </a:r>
            <a:r>
              <a:rPr lang="en-US" sz="2899" b="1">
                <a:solidFill>
                  <a:srgbClr val="FFFFFF"/>
                </a:solidFill>
                <a:latin typeface="Poppins Semi-Bold"/>
                <a:ea typeface="Poppins Semi-Bold"/>
                <a:cs typeface="Poppins Semi-Bold"/>
                <a:sym typeface="Poppins Semi-Bold"/>
              </a:rPr>
              <a:t>sai do bloco switch e interrompe a execução;</a:t>
            </a:r>
          </a:p>
          <a:p>
            <a:pPr algn="l">
              <a:lnSpc>
                <a:spcPts val="1449"/>
              </a:lnSpc>
            </a:pPr>
            <a:r>
              <a:rPr lang="en-US" sz="2899" b="1">
                <a:solidFill>
                  <a:srgbClr val="FFFFFF"/>
                </a:solidFill>
                <a:latin typeface="Poppins Semi-Bold"/>
                <a:ea typeface="Poppins Semi-Bold"/>
                <a:cs typeface="Poppins Semi-Bold"/>
                <a:sym typeface="Poppins Semi-Bold"/>
              </a:rPr>
              <a:t>A </a:t>
            </a:r>
            <a:r>
              <a:rPr lang="en-US" sz="2899" b="1">
                <a:solidFill>
                  <a:srgbClr val="3C67BF"/>
                </a:solidFill>
                <a:latin typeface="Poppins Semi-Bold"/>
                <a:ea typeface="Poppins Semi-Bold"/>
                <a:cs typeface="Poppins Semi-Bold"/>
                <a:sym typeface="Poppins Semi-Bold"/>
              </a:rPr>
              <a:t>defaul </a:t>
            </a:r>
            <a:r>
              <a:rPr lang="en-US" sz="2899" b="1">
                <a:solidFill>
                  <a:srgbClr val="FFFFFF"/>
                </a:solidFill>
                <a:latin typeface="Poppins Semi-Bold"/>
                <a:ea typeface="Poppins Semi-Bold"/>
                <a:cs typeface="Poppins Semi-Bold"/>
                <a:sym typeface="Poppins Semi-Bold"/>
              </a:rPr>
              <a:t>é opcional e especifica algum código a</a:t>
            </a:r>
          </a:p>
          <a:p>
            <a:pPr algn="l">
              <a:lnSpc>
                <a:spcPts val="4897"/>
              </a:lnSpc>
            </a:pPr>
            <a:r>
              <a:rPr lang="en-US" sz="2899" b="1">
                <a:solidFill>
                  <a:srgbClr val="FFFFFF"/>
                </a:solidFill>
                <a:latin typeface="Poppins Semi-Bold"/>
                <a:ea typeface="Poppins Semi-Bold"/>
                <a:cs typeface="Poppins Semi-Bold"/>
                <a:sym typeface="Poppins Semi-Bold"/>
              </a:rPr>
              <a:t>ser executado se não houver correspondência de</a:t>
            </a:r>
          </a:p>
          <a:p>
            <a:pPr algn="l">
              <a:lnSpc>
                <a:spcPts val="2038"/>
              </a:lnSpc>
            </a:pPr>
            <a:r>
              <a:rPr lang="en-US" sz="2899" b="1">
                <a:solidFill>
                  <a:srgbClr val="FFFFFF"/>
                </a:solidFill>
                <a:latin typeface="Poppins Semi-Bold"/>
                <a:ea typeface="Poppins Semi-Bold"/>
                <a:cs typeface="Poppins Semi-Bold"/>
                <a:sym typeface="Poppins Semi-Bold"/>
              </a:rPr>
              <a:t>caso, como se fosse o </a:t>
            </a:r>
            <a:r>
              <a:rPr lang="en-US" sz="2899" b="1">
                <a:solidFill>
                  <a:srgbClr val="FF5757"/>
                </a:solidFill>
                <a:latin typeface="Poppins Semi-Bold"/>
                <a:ea typeface="Poppins Semi-Bold"/>
                <a:cs typeface="Poppins Semi-Bold"/>
                <a:sym typeface="Poppins Semi-Bold"/>
              </a:rPr>
              <a:t>else do if</a:t>
            </a:r>
            <a:r>
              <a:rPr lang="en-US" sz="2899" b="1">
                <a:solidFill>
                  <a:srgbClr val="FFFFFF"/>
                </a:solidFill>
                <a:latin typeface="Poppins Semi-Bold"/>
                <a:ea typeface="Poppins Semi-Bold"/>
                <a:cs typeface="Poppins Semi-Bold"/>
                <a:sym typeface="Poppins Semi-Bold"/>
              </a:rPr>
              <a:t>.</a:t>
            </a:r>
          </a:p>
        </p:txBody>
      </p:sp>
      <p:sp>
        <p:nvSpPr>
          <p:cNvPr id="7" name="TextBox 7"/>
          <p:cNvSpPr txBox="1"/>
          <p:nvPr/>
        </p:nvSpPr>
        <p:spPr>
          <a:xfrm>
            <a:off x="164983" y="5912348"/>
            <a:ext cx="251612" cy="3939750"/>
          </a:xfrm>
          <a:prstGeom prst="rect">
            <a:avLst/>
          </a:prstGeom>
        </p:spPr>
        <p:txBody>
          <a:bodyPr lIns="0" tIns="0" rIns="0" bIns="0" rtlCol="0" anchor="t">
            <a:spAutoFit/>
          </a:bodyPr>
          <a:lstStyle/>
          <a:p>
            <a:pPr algn="just">
              <a:lnSpc>
                <a:spcPts val="3485"/>
              </a:lnSpc>
            </a:pPr>
            <a:r>
              <a:rPr lang="en-US" sz="3699" b="1">
                <a:solidFill>
                  <a:srgbClr val="FFFFFF"/>
                </a:solidFill>
                <a:latin typeface="Poppins Semi-Bold"/>
                <a:ea typeface="Poppins Semi-Bold"/>
                <a:cs typeface="Poppins Semi-Bold"/>
                <a:sym typeface="Poppins Semi-Bold"/>
              </a:rPr>
              <a:t> </a:t>
            </a:r>
          </a:p>
          <a:p>
            <a:pPr algn="just">
              <a:lnSpc>
                <a:spcPts val="3485"/>
              </a:lnSpc>
            </a:pPr>
            <a:r>
              <a:rPr lang="en-US" sz="3699" b="1">
                <a:solidFill>
                  <a:srgbClr val="FFFFFF"/>
                </a:solidFill>
                <a:latin typeface="Poppins Semi-Bold"/>
                <a:ea typeface="Poppins Semi-Bold"/>
                <a:cs typeface="Poppins Semi-Bold"/>
                <a:sym typeface="Poppins Semi-Bold"/>
              </a:rPr>
              <a:t> </a:t>
            </a:r>
          </a:p>
          <a:p>
            <a:pPr algn="just">
              <a:lnSpc>
                <a:spcPts val="5198"/>
              </a:lnSpc>
            </a:pPr>
            <a:r>
              <a:rPr lang="en-US" sz="3699" b="1">
                <a:solidFill>
                  <a:srgbClr val="FFFFFF"/>
                </a:solidFill>
                <a:latin typeface="Poppins Semi-Bold"/>
                <a:ea typeface="Poppins Semi-Bold"/>
                <a:cs typeface="Poppins Semi-Bold"/>
                <a:sym typeface="Poppins Semi-Bold"/>
              </a:rPr>
              <a:t> </a:t>
            </a:r>
          </a:p>
          <a:p>
            <a:pPr algn="just">
              <a:lnSpc>
                <a:spcPts val="6352"/>
              </a:lnSpc>
            </a:pPr>
            <a:r>
              <a:rPr lang="en-US" sz="3699" b="1">
                <a:solidFill>
                  <a:srgbClr val="FFFFFF"/>
                </a:solidFill>
                <a:latin typeface="Poppins Semi-Bold"/>
                <a:ea typeface="Poppins Semi-Bold"/>
                <a:cs typeface="Poppins Semi-Bold"/>
                <a:sym typeface="Poppins Semi-Bold"/>
              </a:rPr>
              <a:t> </a:t>
            </a:r>
          </a:p>
          <a:p>
            <a:pPr algn="just">
              <a:lnSpc>
                <a:spcPts val="1849"/>
              </a:lnSpc>
            </a:pPr>
            <a:r>
              <a:rPr lang="en-US" sz="3699" b="1">
                <a:solidFill>
                  <a:srgbClr val="FFFFFF"/>
                </a:solidFill>
                <a:latin typeface="Poppins Semi-Bold"/>
                <a:ea typeface="Poppins Semi-Bold"/>
                <a:cs typeface="Poppins Semi-Bold"/>
                <a:sym typeface="Poppins Semi-Bold"/>
              </a:rPr>
              <a:t> </a:t>
            </a:r>
          </a:p>
          <a:p>
            <a:pPr algn="just">
              <a:lnSpc>
                <a:spcPts val="6248"/>
              </a:lnSpc>
            </a:pPr>
            <a:r>
              <a:rPr lang="en-US" sz="3699" b="1">
                <a:solidFill>
                  <a:srgbClr val="FFFFFF"/>
                </a:solidFill>
                <a:latin typeface="Poppins Semi-Bold"/>
                <a:ea typeface="Poppins Semi-Bold"/>
                <a:cs typeface="Poppins Semi-Bold"/>
                <a:sym typeface="Poppins Semi-Bold"/>
              </a:rPr>
              <a:t> </a:t>
            </a:r>
          </a:p>
          <a:p>
            <a:pPr algn="just">
              <a:lnSpc>
                <a:spcPts val="2600"/>
              </a:lnSpc>
            </a:pPr>
            <a:r>
              <a:rPr lang="en-US" sz="3699" b="1">
                <a:solidFill>
                  <a:srgbClr val="FFFFFF"/>
                </a:solidFill>
                <a:latin typeface="Poppins Semi-Bold"/>
                <a:ea typeface="Poppins Semi-Bold"/>
                <a:cs typeface="Poppins Semi-Bold"/>
                <a:sym typeface="Poppins Semi-Bold"/>
              </a:rPr>
              <a:t>}</a:t>
            </a:r>
          </a:p>
        </p:txBody>
      </p:sp>
      <p:sp>
        <p:nvSpPr>
          <p:cNvPr id="8" name="TextBox 8"/>
          <p:cNvSpPr txBox="1"/>
          <p:nvPr/>
        </p:nvSpPr>
        <p:spPr>
          <a:xfrm>
            <a:off x="1433589" y="5912348"/>
            <a:ext cx="4459891" cy="1129875"/>
          </a:xfrm>
          <a:prstGeom prst="rect">
            <a:avLst/>
          </a:prstGeom>
        </p:spPr>
        <p:txBody>
          <a:bodyPr lIns="0" tIns="0" rIns="0" bIns="0" rtlCol="0" anchor="t">
            <a:spAutoFit/>
          </a:bodyPr>
          <a:lstStyle/>
          <a:p>
            <a:pPr algn="l">
              <a:lnSpc>
                <a:spcPts val="3485"/>
              </a:lnSpc>
            </a:pPr>
            <a:r>
              <a:rPr lang="en-US" sz="3699" b="1">
                <a:solidFill>
                  <a:srgbClr val="7ED957"/>
                </a:solidFill>
                <a:latin typeface="Poppins Semi-Bold"/>
                <a:ea typeface="Poppins Semi-Bold"/>
                <a:cs typeface="Poppins Semi-Bold"/>
                <a:sym typeface="Poppins Semi-Bold"/>
              </a:rPr>
              <a:t>//bloco de código </a:t>
            </a:r>
            <a:r>
              <a:rPr lang="en-US" sz="3699" b="1">
                <a:solidFill>
                  <a:srgbClr val="3C67BF"/>
                </a:solidFill>
                <a:latin typeface="Poppins Semi-Bold"/>
                <a:ea typeface="Poppins Semi-Bold"/>
                <a:cs typeface="Poppins Semi-Bold"/>
                <a:sym typeface="Poppins Semi-Bold"/>
              </a:rPr>
              <a:t>break</a:t>
            </a:r>
            <a:r>
              <a:rPr lang="en-US" sz="3699" b="1">
                <a:solidFill>
                  <a:srgbClr val="FFFFFF"/>
                </a:solidFill>
                <a:latin typeface="Poppins Semi-Bold"/>
                <a:ea typeface="Poppins Semi-Bold"/>
                <a:cs typeface="Poppins Semi-Bold"/>
                <a:sym typeface="Poppins Semi-Bold"/>
              </a:rPr>
              <a:t>;</a:t>
            </a:r>
          </a:p>
        </p:txBody>
      </p:sp>
      <p:sp>
        <p:nvSpPr>
          <p:cNvPr id="9" name="TextBox 9"/>
          <p:cNvSpPr txBox="1"/>
          <p:nvPr/>
        </p:nvSpPr>
        <p:spPr>
          <a:xfrm>
            <a:off x="728891" y="6874373"/>
            <a:ext cx="2061381" cy="2415750"/>
          </a:xfrm>
          <a:prstGeom prst="rect">
            <a:avLst/>
          </a:prstGeom>
        </p:spPr>
        <p:txBody>
          <a:bodyPr lIns="0" tIns="0" rIns="0" bIns="0" rtlCol="0" anchor="t">
            <a:spAutoFit/>
          </a:bodyPr>
          <a:lstStyle/>
          <a:p>
            <a:pPr algn="just">
              <a:lnSpc>
                <a:spcPts val="5198"/>
              </a:lnSpc>
            </a:pPr>
            <a:r>
              <a:rPr lang="en-US" sz="3699" b="1">
                <a:solidFill>
                  <a:srgbClr val="3C67BF"/>
                </a:solidFill>
                <a:latin typeface="Poppins Semi-Bold"/>
                <a:ea typeface="Poppins Semi-Bold"/>
                <a:cs typeface="Poppins Semi-Bold"/>
                <a:sym typeface="Poppins Semi-Bold"/>
              </a:rPr>
              <a:t>case </a:t>
            </a:r>
            <a:r>
              <a:rPr lang="en-US" sz="3699" b="1">
                <a:solidFill>
                  <a:srgbClr val="FFFFFF"/>
                </a:solidFill>
                <a:latin typeface="Poppins Semi-Bold"/>
                <a:ea typeface="Poppins Semi-Bold"/>
                <a:cs typeface="Poppins Semi-Bold"/>
                <a:sym typeface="Poppins Semi-Bold"/>
              </a:rPr>
              <a:t>...:</a:t>
            </a:r>
          </a:p>
          <a:p>
            <a:pPr algn="just">
              <a:lnSpc>
                <a:spcPts val="6352"/>
              </a:lnSpc>
            </a:pPr>
            <a:r>
              <a:rPr lang="en-US" sz="3699" b="1">
                <a:solidFill>
                  <a:srgbClr val="FFFFFF"/>
                </a:solidFill>
                <a:latin typeface="Poppins Semi-Bold"/>
                <a:ea typeface="Poppins Semi-Bold"/>
                <a:cs typeface="Poppins Semi-Bold"/>
                <a:sym typeface="Poppins Semi-Bold"/>
              </a:rPr>
              <a:t>.</a:t>
            </a:r>
          </a:p>
          <a:p>
            <a:pPr algn="just">
              <a:lnSpc>
                <a:spcPts val="1849"/>
              </a:lnSpc>
            </a:pPr>
            <a:r>
              <a:rPr lang="en-US" sz="3699" b="1">
                <a:solidFill>
                  <a:srgbClr val="FFFFFF"/>
                </a:solidFill>
                <a:latin typeface="Poppins Semi-Bold"/>
                <a:ea typeface="Poppins Semi-Bold"/>
                <a:cs typeface="Poppins Semi-Bold"/>
                <a:sym typeface="Poppins Semi-Bold"/>
              </a:rPr>
              <a:t>.</a:t>
            </a:r>
          </a:p>
          <a:p>
            <a:pPr algn="just">
              <a:lnSpc>
                <a:spcPts val="6248"/>
              </a:lnSpc>
            </a:pPr>
            <a:r>
              <a:rPr lang="en-US" sz="3699" b="1">
                <a:solidFill>
                  <a:srgbClr val="5284FF"/>
                </a:solidFill>
                <a:latin typeface="Poppins Semi-Bold"/>
                <a:ea typeface="Poppins Semi-Bold"/>
                <a:cs typeface="Poppins Semi-Bold"/>
                <a:sym typeface="Poppins Semi-Bold"/>
              </a:rPr>
              <a:t>default </a:t>
            </a:r>
            <a:r>
              <a:rPr lang="en-US" sz="3699" b="1">
                <a:solidFill>
                  <a:srgbClr val="FFFFFF"/>
                </a:solidFill>
                <a:latin typeface="Poppins Semi-Bold"/>
                <a:ea typeface="Poppins Semi-Bold"/>
                <a:cs typeface="Poppins Semi-Bold"/>
                <a:sym typeface="Poppins Semi-Bold"/>
              </a:rPr>
              <a:t>:</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2549423" y="324326"/>
            <a:ext cx="13453024"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Condições e declarações SWITCH</a:t>
            </a:r>
          </a:p>
        </p:txBody>
      </p:sp>
      <p:sp>
        <p:nvSpPr>
          <p:cNvPr id="3" name="TextBox 3"/>
          <p:cNvSpPr txBox="1"/>
          <p:nvPr/>
        </p:nvSpPr>
        <p:spPr>
          <a:xfrm>
            <a:off x="164983" y="1070334"/>
            <a:ext cx="5132499" cy="2097072"/>
          </a:xfrm>
          <a:prstGeom prst="rect">
            <a:avLst/>
          </a:prstGeom>
        </p:spPr>
        <p:txBody>
          <a:bodyPr lIns="0" tIns="0" rIns="0" bIns="0" rtlCol="0" anchor="t">
            <a:spAutoFit/>
          </a:bodyPr>
          <a:lstStyle/>
          <a:p>
            <a:pPr algn="l">
              <a:lnSpc>
                <a:spcPts val="2699"/>
              </a:lnSpc>
            </a:pPr>
            <a:r>
              <a:rPr lang="en-US" sz="2299" b="1">
                <a:solidFill>
                  <a:srgbClr val="FFFFFF"/>
                </a:solidFill>
                <a:latin typeface="Poppins Semi-Bold"/>
                <a:ea typeface="Poppins Semi-Bold"/>
                <a:cs typeface="Poppins Semi-Bold"/>
                <a:sym typeface="Poppins Semi-Bold"/>
              </a:rPr>
              <a:t>Exemplo: </a:t>
            </a:r>
            <a:r>
              <a:rPr lang="en-US" sz="2299" b="1">
                <a:solidFill>
                  <a:srgbClr val="3C67BF"/>
                </a:solidFill>
                <a:latin typeface="Poppins Semi-Bold"/>
                <a:ea typeface="Poppins Semi-Bold"/>
                <a:cs typeface="Poppins Semi-Bold"/>
                <a:sym typeface="Poppins Semi-Bold"/>
              </a:rPr>
              <a:t>int</a:t>
            </a:r>
            <a:r>
              <a:rPr lang="en-US" sz="2299" b="1">
                <a:solidFill>
                  <a:srgbClr val="FFFFFF"/>
                </a:solidFill>
                <a:latin typeface="Poppins Semi-Bold"/>
                <a:ea typeface="Poppins Semi-Bold"/>
                <a:cs typeface="Poppins Semi-Bold"/>
                <a:sym typeface="Poppins Semi-Bold"/>
              </a:rPr>
              <a:t> dia = </a:t>
            </a:r>
            <a:r>
              <a:rPr lang="en-US" sz="2299" b="1">
                <a:solidFill>
                  <a:srgbClr val="FFCB85"/>
                </a:solidFill>
                <a:latin typeface="Poppins Semi-Bold"/>
                <a:ea typeface="Poppins Semi-Bold"/>
                <a:cs typeface="Poppins Semi-Bold"/>
                <a:sym typeface="Poppins Semi-Bold"/>
              </a:rPr>
              <a:t>4</a:t>
            </a:r>
            <a:r>
              <a:rPr lang="en-US" sz="2299" b="1">
                <a:solidFill>
                  <a:srgbClr val="FFFFFF"/>
                </a:solidFill>
                <a:latin typeface="Poppins Semi-Bold"/>
                <a:ea typeface="Poppins Semi-Bold"/>
                <a:cs typeface="Poppins Semi-Bold"/>
                <a:sym typeface="Poppins Semi-Bold"/>
              </a:rPr>
              <a:t>; </a:t>
            </a:r>
            <a:r>
              <a:rPr lang="en-US" sz="2299" b="1">
                <a:solidFill>
                  <a:srgbClr val="3C67BF"/>
                </a:solidFill>
                <a:latin typeface="Poppins Semi-Bold"/>
                <a:ea typeface="Poppins Semi-Bold"/>
                <a:cs typeface="Poppins Semi-Bold"/>
                <a:sym typeface="Poppins Semi-Bold"/>
              </a:rPr>
              <a:t>switch </a:t>
            </a:r>
            <a:r>
              <a:rPr lang="en-US" sz="2299" b="1">
                <a:solidFill>
                  <a:srgbClr val="FFFFFF"/>
                </a:solidFill>
                <a:latin typeface="Poppins Semi-Bold"/>
                <a:ea typeface="Poppins Semi-Bold"/>
                <a:cs typeface="Poppins Semi-Bold"/>
                <a:sym typeface="Poppins Semi-Bold"/>
              </a:rPr>
              <a:t>(dia) {  </a:t>
            </a:r>
            <a:r>
              <a:rPr lang="en-US" sz="2299" b="1">
                <a:solidFill>
                  <a:srgbClr val="3C67BF"/>
                </a:solidFill>
                <a:latin typeface="Poppins Semi-Bold"/>
                <a:ea typeface="Poppins Semi-Bold"/>
                <a:cs typeface="Poppins Semi-Bold"/>
                <a:sym typeface="Poppins Semi-Bold"/>
              </a:rPr>
              <a:t>case </a:t>
            </a:r>
            <a:r>
              <a:rPr lang="en-US" sz="2299" b="1">
                <a:solidFill>
                  <a:srgbClr val="FFCB85"/>
                </a:solidFill>
                <a:latin typeface="Poppins Semi-Bold"/>
                <a:ea typeface="Poppins Semi-Bold"/>
                <a:cs typeface="Poppins Semi-Bold"/>
                <a:sym typeface="Poppins Semi-Bold"/>
              </a:rPr>
              <a:t>1</a:t>
            </a:r>
            <a:r>
              <a:rPr lang="en-US" sz="2299" b="1">
                <a:solidFill>
                  <a:srgbClr val="FFFFFF"/>
                </a:solidFill>
                <a:latin typeface="Poppins Semi-Bold"/>
                <a:ea typeface="Poppins Semi-Bold"/>
                <a:cs typeface="Poppins Semi-Bold"/>
                <a:sym typeface="Poppins Semi-Bold"/>
              </a:rPr>
              <a:t>:  </a:t>
            </a:r>
            <a:r>
              <a:rPr lang="en-US" sz="2299" b="1">
                <a:solidFill>
                  <a:srgbClr val="7ED957"/>
                </a:solidFill>
                <a:latin typeface="Poppins Semi-Bold"/>
                <a:ea typeface="Poppins Semi-Bold"/>
                <a:cs typeface="Poppins Semi-Bold"/>
                <a:sym typeface="Poppins Semi-Bold"/>
              </a:rPr>
              <a:t>Console</a:t>
            </a:r>
            <a:r>
              <a:rPr lang="en-US" sz="2299" b="1">
                <a:solidFill>
                  <a:srgbClr val="FFFFFF"/>
                </a:solidFill>
                <a:latin typeface="Poppins Semi-Bold"/>
                <a:ea typeface="Poppins Semi-Bold"/>
                <a:cs typeface="Poppins Semi-Bold"/>
                <a:sym typeface="Poppins Semi-Bold"/>
              </a:rPr>
              <a:t>.</a:t>
            </a:r>
            <a:r>
              <a:rPr lang="en-US" sz="2299" b="1">
                <a:solidFill>
                  <a:srgbClr val="FFCB85"/>
                </a:solidFill>
                <a:latin typeface="Poppins Semi-Bold"/>
                <a:ea typeface="Poppins Semi-Bold"/>
                <a:cs typeface="Poppins Semi-Bold"/>
                <a:sym typeface="Poppins Semi-Bold"/>
              </a:rPr>
              <a:t>WriteLine</a:t>
            </a:r>
            <a:r>
              <a:rPr lang="en-US" sz="2299" b="1">
                <a:solidFill>
                  <a:srgbClr val="FFFFFF"/>
                </a:solidFill>
                <a:latin typeface="Poppins Semi-Bold"/>
                <a:ea typeface="Poppins Semi-Bold"/>
                <a:cs typeface="Poppins Semi-Bold"/>
                <a:sym typeface="Poppins Semi-Bold"/>
              </a:rPr>
              <a:t>(</a:t>
            </a:r>
            <a:r>
              <a:rPr lang="en-US" sz="2299" b="1">
                <a:solidFill>
                  <a:srgbClr val="FFCB85"/>
                </a:solidFill>
                <a:latin typeface="Poppins Semi-Bold"/>
                <a:ea typeface="Poppins Semi-Bold"/>
                <a:cs typeface="Poppins Semi-Bold"/>
                <a:sym typeface="Poppins Semi-Bold"/>
              </a:rPr>
              <a:t>“Domingo"</a:t>
            </a:r>
            <a:r>
              <a:rPr lang="en-US" sz="2299" b="1">
                <a:solidFill>
                  <a:srgbClr val="FFFFFF"/>
                </a:solidFill>
                <a:latin typeface="Poppins Semi-Bold"/>
                <a:ea typeface="Poppins Semi-Bold"/>
                <a:cs typeface="Poppins Semi-Bold"/>
                <a:sym typeface="Poppins Semi-Bold"/>
              </a:rPr>
              <a:t>);</a:t>
            </a:r>
          </a:p>
        </p:txBody>
      </p:sp>
      <p:sp>
        <p:nvSpPr>
          <p:cNvPr id="4" name="TextBox 4"/>
          <p:cNvSpPr txBox="1"/>
          <p:nvPr/>
        </p:nvSpPr>
        <p:spPr>
          <a:xfrm>
            <a:off x="164983" y="3127734"/>
            <a:ext cx="89364" cy="382572"/>
          </a:xfrm>
          <a:prstGeom prst="rect">
            <a:avLst/>
          </a:prstGeom>
        </p:spPr>
        <p:txBody>
          <a:bodyPr lIns="0" tIns="0" rIns="0" bIns="0" rtlCol="0" anchor="t">
            <a:spAutoFit/>
          </a:bodyPr>
          <a:lstStyle/>
          <a:p>
            <a:pPr algn="l">
              <a:lnSpc>
                <a:spcPts val="2699"/>
              </a:lnSpc>
            </a:pPr>
            <a:r>
              <a:rPr lang="en-US" sz="2299" b="1">
                <a:solidFill>
                  <a:srgbClr val="FFFFFF"/>
                </a:solidFill>
                <a:latin typeface="Poppins Semi-Bold"/>
                <a:ea typeface="Poppins Semi-Bold"/>
                <a:cs typeface="Poppins Semi-Bold"/>
                <a:sym typeface="Poppins Semi-Bold"/>
              </a:rPr>
              <a:t> </a:t>
            </a:r>
          </a:p>
        </p:txBody>
      </p:sp>
      <p:sp>
        <p:nvSpPr>
          <p:cNvPr id="5" name="TextBox 5"/>
          <p:cNvSpPr txBox="1"/>
          <p:nvPr/>
        </p:nvSpPr>
        <p:spPr>
          <a:xfrm>
            <a:off x="515474" y="3127734"/>
            <a:ext cx="993915" cy="382572"/>
          </a:xfrm>
          <a:prstGeom prst="rect">
            <a:avLst/>
          </a:prstGeom>
        </p:spPr>
        <p:txBody>
          <a:bodyPr lIns="0" tIns="0" rIns="0" bIns="0" rtlCol="0" anchor="t">
            <a:spAutoFit/>
          </a:bodyPr>
          <a:lstStyle/>
          <a:p>
            <a:pPr algn="l">
              <a:lnSpc>
                <a:spcPts val="2699"/>
              </a:lnSpc>
            </a:pPr>
            <a:r>
              <a:rPr lang="en-US" sz="2299" b="1">
                <a:solidFill>
                  <a:srgbClr val="3C67BF"/>
                </a:solidFill>
                <a:latin typeface="Poppins Semi-Bold"/>
                <a:ea typeface="Poppins Semi-Bold"/>
                <a:cs typeface="Poppins Semi-Bold"/>
                <a:sym typeface="Poppins Semi-Bold"/>
              </a:rPr>
              <a:t>break</a:t>
            </a:r>
            <a:r>
              <a:rPr lang="en-US" sz="2299" b="1">
                <a:solidFill>
                  <a:srgbClr val="FFFFFF"/>
                </a:solidFill>
                <a:latin typeface="Poppins Semi-Bold"/>
                <a:ea typeface="Poppins Semi-Bold"/>
                <a:cs typeface="Poppins Semi-Bold"/>
                <a:sym typeface="Poppins Semi-Bold"/>
              </a:rPr>
              <a:t>;</a:t>
            </a:r>
          </a:p>
        </p:txBody>
      </p:sp>
      <p:sp>
        <p:nvSpPr>
          <p:cNvPr id="6" name="TextBox 6"/>
          <p:cNvSpPr txBox="1"/>
          <p:nvPr/>
        </p:nvSpPr>
        <p:spPr>
          <a:xfrm>
            <a:off x="164983" y="3470634"/>
            <a:ext cx="6044536" cy="725472"/>
          </a:xfrm>
          <a:prstGeom prst="rect">
            <a:avLst/>
          </a:prstGeom>
        </p:spPr>
        <p:txBody>
          <a:bodyPr lIns="0" tIns="0" rIns="0" bIns="0" rtlCol="0" anchor="t">
            <a:spAutoFit/>
          </a:bodyPr>
          <a:lstStyle/>
          <a:p>
            <a:pPr algn="l">
              <a:lnSpc>
                <a:spcPts val="2699"/>
              </a:lnSpc>
            </a:pPr>
            <a:r>
              <a:rPr lang="en-US" sz="2299" b="1">
                <a:solidFill>
                  <a:srgbClr val="FFFFFF"/>
                </a:solidFill>
                <a:latin typeface="Poppins Semi-Bold"/>
                <a:ea typeface="Poppins Semi-Bold"/>
                <a:cs typeface="Poppins Semi-Bold"/>
                <a:sym typeface="Poppins Semi-Bold"/>
              </a:rPr>
              <a:t> </a:t>
            </a:r>
            <a:r>
              <a:rPr lang="en-US" sz="2299" b="1">
                <a:solidFill>
                  <a:srgbClr val="3C67BF"/>
                </a:solidFill>
                <a:latin typeface="Poppins Semi-Bold"/>
                <a:ea typeface="Poppins Semi-Bold"/>
                <a:cs typeface="Poppins Semi-Bold"/>
                <a:sym typeface="Poppins Semi-Bold"/>
              </a:rPr>
              <a:t>case </a:t>
            </a:r>
            <a:r>
              <a:rPr lang="en-US" sz="2299" b="1">
                <a:solidFill>
                  <a:srgbClr val="FFCB85"/>
                </a:solidFill>
                <a:latin typeface="Poppins Semi-Bold"/>
                <a:ea typeface="Poppins Semi-Bold"/>
                <a:cs typeface="Poppins Semi-Bold"/>
                <a:sym typeface="Poppins Semi-Bold"/>
              </a:rPr>
              <a:t>2</a:t>
            </a:r>
            <a:r>
              <a:rPr lang="en-US" sz="2299" b="1">
                <a:solidFill>
                  <a:srgbClr val="FFFFFF"/>
                </a:solidFill>
                <a:latin typeface="Poppins Semi-Bold"/>
                <a:ea typeface="Poppins Semi-Bold"/>
                <a:cs typeface="Poppins Semi-Bold"/>
                <a:sym typeface="Poppins Semi-Bold"/>
              </a:rPr>
              <a:t>:  </a:t>
            </a:r>
            <a:r>
              <a:rPr lang="en-US" sz="2299" b="1">
                <a:solidFill>
                  <a:srgbClr val="7ED957"/>
                </a:solidFill>
                <a:latin typeface="Poppins Semi-Bold"/>
                <a:ea typeface="Poppins Semi-Bold"/>
                <a:cs typeface="Poppins Semi-Bold"/>
                <a:sym typeface="Poppins Semi-Bold"/>
              </a:rPr>
              <a:t>Console</a:t>
            </a:r>
            <a:r>
              <a:rPr lang="en-US" sz="2299" b="1">
                <a:solidFill>
                  <a:srgbClr val="FFFFFF"/>
                </a:solidFill>
                <a:latin typeface="Poppins Semi-Bold"/>
                <a:ea typeface="Poppins Semi-Bold"/>
                <a:cs typeface="Poppins Semi-Bold"/>
                <a:sym typeface="Poppins Semi-Bold"/>
              </a:rPr>
              <a:t>.</a:t>
            </a:r>
            <a:r>
              <a:rPr lang="en-US" sz="2299" b="1">
                <a:solidFill>
                  <a:srgbClr val="FFCB85"/>
                </a:solidFill>
                <a:latin typeface="Poppins Semi-Bold"/>
                <a:ea typeface="Poppins Semi-Bold"/>
                <a:cs typeface="Poppins Semi-Bold"/>
                <a:sym typeface="Poppins Semi-Bold"/>
              </a:rPr>
              <a:t>WriteLine</a:t>
            </a:r>
            <a:r>
              <a:rPr lang="en-US" sz="2299" b="1">
                <a:solidFill>
                  <a:srgbClr val="FFFFFF"/>
                </a:solidFill>
                <a:latin typeface="Poppins Semi-Bold"/>
                <a:ea typeface="Poppins Semi-Bold"/>
                <a:cs typeface="Poppins Semi-Bold"/>
                <a:sym typeface="Poppins Semi-Bold"/>
              </a:rPr>
              <a:t>(</a:t>
            </a:r>
            <a:r>
              <a:rPr lang="en-US" sz="2299" b="1">
                <a:solidFill>
                  <a:srgbClr val="FFCB85"/>
                </a:solidFill>
                <a:latin typeface="Poppins Semi-Bold"/>
                <a:ea typeface="Poppins Semi-Bold"/>
                <a:cs typeface="Poppins Semi-Bold"/>
                <a:sym typeface="Poppins Semi-Bold"/>
              </a:rPr>
              <a:t>“Segunda-Feira"</a:t>
            </a:r>
            <a:r>
              <a:rPr lang="en-US" sz="2299" b="1">
                <a:solidFill>
                  <a:srgbClr val="FFFFFF"/>
                </a:solidFill>
                <a:latin typeface="Poppins Semi-Bold"/>
                <a:ea typeface="Poppins Semi-Bold"/>
                <a:cs typeface="Poppins Semi-Bold"/>
                <a:sym typeface="Poppins Semi-Bold"/>
              </a:rPr>
              <a:t>);</a:t>
            </a:r>
          </a:p>
        </p:txBody>
      </p:sp>
      <p:sp>
        <p:nvSpPr>
          <p:cNvPr id="7" name="TextBox 7"/>
          <p:cNvSpPr txBox="1"/>
          <p:nvPr/>
        </p:nvSpPr>
        <p:spPr>
          <a:xfrm>
            <a:off x="164983" y="4156434"/>
            <a:ext cx="89364" cy="382572"/>
          </a:xfrm>
          <a:prstGeom prst="rect">
            <a:avLst/>
          </a:prstGeom>
        </p:spPr>
        <p:txBody>
          <a:bodyPr lIns="0" tIns="0" rIns="0" bIns="0" rtlCol="0" anchor="t">
            <a:spAutoFit/>
          </a:bodyPr>
          <a:lstStyle/>
          <a:p>
            <a:pPr algn="l">
              <a:lnSpc>
                <a:spcPts val="2699"/>
              </a:lnSpc>
            </a:pPr>
            <a:r>
              <a:rPr lang="en-US" sz="2299" b="1">
                <a:solidFill>
                  <a:srgbClr val="FFFFFF"/>
                </a:solidFill>
                <a:latin typeface="Poppins Semi-Bold"/>
                <a:ea typeface="Poppins Semi-Bold"/>
                <a:cs typeface="Poppins Semi-Bold"/>
                <a:sym typeface="Poppins Semi-Bold"/>
              </a:rPr>
              <a:t> </a:t>
            </a:r>
          </a:p>
        </p:txBody>
      </p:sp>
      <p:sp>
        <p:nvSpPr>
          <p:cNvPr id="8" name="TextBox 8"/>
          <p:cNvSpPr txBox="1"/>
          <p:nvPr/>
        </p:nvSpPr>
        <p:spPr>
          <a:xfrm>
            <a:off x="515474" y="4156434"/>
            <a:ext cx="993915" cy="382572"/>
          </a:xfrm>
          <a:prstGeom prst="rect">
            <a:avLst/>
          </a:prstGeom>
        </p:spPr>
        <p:txBody>
          <a:bodyPr lIns="0" tIns="0" rIns="0" bIns="0" rtlCol="0" anchor="t">
            <a:spAutoFit/>
          </a:bodyPr>
          <a:lstStyle/>
          <a:p>
            <a:pPr algn="l">
              <a:lnSpc>
                <a:spcPts val="2699"/>
              </a:lnSpc>
            </a:pPr>
            <a:r>
              <a:rPr lang="en-US" sz="2299" b="1">
                <a:solidFill>
                  <a:srgbClr val="3C67BF"/>
                </a:solidFill>
                <a:latin typeface="Poppins Semi-Bold"/>
                <a:ea typeface="Poppins Semi-Bold"/>
                <a:cs typeface="Poppins Semi-Bold"/>
                <a:sym typeface="Poppins Semi-Bold"/>
              </a:rPr>
              <a:t>break</a:t>
            </a:r>
            <a:r>
              <a:rPr lang="en-US" sz="2299" b="1">
                <a:solidFill>
                  <a:srgbClr val="FFFFFF"/>
                </a:solidFill>
                <a:latin typeface="Poppins Semi-Bold"/>
                <a:ea typeface="Poppins Semi-Bold"/>
                <a:cs typeface="Poppins Semi-Bold"/>
                <a:sym typeface="Poppins Semi-Bold"/>
              </a:rPr>
              <a:t>;</a:t>
            </a:r>
          </a:p>
        </p:txBody>
      </p:sp>
      <p:sp>
        <p:nvSpPr>
          <p:cNvPr id="9" name="TextBox 9"/>
          <p:cNvSpPr txBox="1"/>
          <p:nvPr/>
        </p:nvSpPr>
        <p:spPr>
          <a:xfrm>
            <a:off x="164983" y="4499334"/>
            <a:ext cx="5521271" cy="725472"/>
          </a:xfrm>
          <a:prstGeom prst="rect">
            <a:avLst/>
          </a:prstGeom>
        </p:spPr>
        <p:txBody>
          <a:bodyPr lIns="0" tIns="0" rIns="0" bIns="0" rtlCol="0" anchor="t">
            <a:spAutoFit/>
          </a:bodyPr>
          <a:lstStyle/>
          <a:p>
            <a:pPr algn="l">
              <a:lnSpc>
                <a:spcPts val="2699"/>
              </a:lnSpc>
            </a:pPr>
            <a:r>
              <a:rPr lang="en-US" sz="2299" b="1">
                <a:solidFill>
                  <a:srgbClr val="FFFFFF"/>
                </a:solidFill>
                <a:latin typeface="Poppins Semi-Bold"/>
                <a:ea typeface="Poppins Semi-Bold"/>
                <a:cs typeface="Poppins Semi-Bold"/>
                <a:sym typeface="Poppins Semi-Bold"/>
              </a:rPr>
              <a:t> </a:t>
            </a:r>
            <a:r>
              <a:rPr lang="en-US" sz="2299" b="1">
                <a:solidFill>
                  <a:srgbClr val="3C67BF"/>
                </a:solidFill>
                <a:latin typeface="Poppins Semi-Bold"/>
                <a:ea typeface="Poppins Semi-Bold"/>
                <a:cs typeface="Poppins Semi-Bold"/>
                <a:sym typeface="Poppins Semi-Bold"/>
              </a:rPr>
              <a:t>case </a:t>
            </a:r>
            <a:r>
              <a:rPr lang="en-US" sz="2299" b="1">
                <a:solidFill>
                  <a:srgbClr val="FFCB85"/>
                </a:solidFill>
                <a:latin typeface="Poppins Semi-Bold"/>
                <a:ea typeface="Poppins Semi-Bold"/>
                <a:cs typeface="Poppins Semi-Bold"/>
                <a:sym typeface="Poppins Semi-Bold"/>
              </a:rPr>
              <a:t>3</a:t>
            </a:r>
            <a:r>
              <a:rPr lang="en-US" sz="2299" b="1">
                <a:solidFill>
                  <a:srgbClr val="FFFFFF"/>
                </a:solidFill>
                <a:latin typeface="Poppins Semi-Bold"/>
                <a:ea typeface="Poppins Semi-Bold"/>
                <a:cs typeface="Poppins Semi-Bold"/>
                <a:sym typeface="Poppins Semi-Bold"/>
              </a:rPr>
              <a:t>:  </a:t>
            </a:r>
            <a:r>
              <a:rPr lang="en-US" sz="2299" b="1">
                <a:solidFill>
                  <a:srgbClr val="7ED957"/>
                </a:solidFill>
                <a:latin typeface="Poppins Semi-Bold"/>
                <a:ea typeface="Poppins Semi-Bold"/>
                <a:cs typeface="Poppins Semi-Bold"/>
                <a:sym typeface="Poppins Semi-Bold"/>
              </a:rPr>
              <a:t>Console</a:t>
            </a:r>
            <a:r>
              <a:rPr lang="en-US" sz="2299" b="1">
                <a:solidFill>
                  <a:srgbClr val="FFFFFF"/>
                </a:solidFill>
                <a:latin typeface="Poppins Semi-Bold"/>
                <a:ea typeface="Poppins Semi-Bold"/>
                <a:cs typeface="Poppins Semi-Bold"/>
                <a:sym typeface="Poppins Semi-Bold"/>
              </a:rPr>
              <a:t>.</a:t>
            </a:r>
            <a:r>
              <a:rPr lang="en-US" sz="2299" b="1">
                <a:solidFill>
                  <a:srgbClr val="FFCB85"/>
                </a:solidFill>
                <a:latin typeface="Poppins Semi-Bold"/>
                <a:ea typeface="Poppins Semi-Bold"/>
                <a:cs typeface="Poppins Semi-Bold"/>
                <a:sym typeface="Poppins Semi-Bold"/>
              </a:rPr>
              <a:t>WriteLine</a:t>
            </a:r>
            <a:r>
              <a:rPr lang="en-US" sz="2299" b="1">
                <a:solidFill>
                  <a:srgbClr val="FFFFFF"/>
                </a:solidFill>
                <a:latin typeface="Poppins Semi-Bold"/>
                <a:ea typeface="Poppins Semi-Bold"/>
                <a:cs typeface="Poppins Semi-Bold"/>
                <a:sym typeface="Poppins Semi-Bold"/>
              </a:rPr>
              <a:t>(</a:t>
            </a:r>
            <a:r>
              <a:rPr lang="en-US" sz="2299" b="1">
                <a:solidFill>
                  <a:srgbClr val="FFCB85"/>
                </a:solidFill>
                <a:latin typeface="Poppins Semi-Bold"/>
                <a:ea typeface="Poppins Semi-Bold"/>
                <a:cs typeface="Poppins Semi-Bold"/>
                <a:sym typeface="Poppins Semi-Bold"/>
              </a:rPr>
              <a:t>“Terça-Feira"</a:t>
            </a:r>
            <a:r>
              <a:rPr lang="en-US" sz="2299" b="1">
                <a:solidFill>
                  <a:srgbClr val="FFFFFF"/>
                </a:solidFill>
                <a:latin typeface="Poppins Semi-Bold"/>
                <a:ea typeface="Poppins Semi-Bold"/>
                <a:cs typeface="Poppins Semi-Bold"/>
                <a:sym typeface="Poppins Semi-Bold"/>
              </a:rPr>
              <a:t>);</a:t>
            </a:r>
          </a:p>
        </p:txBody>
      </p:sp>
      <p:sp>
        <p:nvSpPr>
          <p:cNvPr id="10" name="TextBox 10"/>
          <p:cNvSpPr txBox="1"/>
          <p:nvPr/>
        </p:nvSpPr>
        <p:spPr>
          <a:xfrm>
            <a:off x="164983" y="5185134"/>
            <a:ext cx="89364" cy="382572"/>
          </a:xfrm>
          <a:prstGeom prst="rect">
            <a:avLst/>
          </a:prstGeom>
        </p:spPr>
        <p:txBody>
          <a:bodyPr lIns="0" tIns="0" rIns="0" bIns="0" rtlCol="0" anchor="t">
            <a:spAutoFit/>
          </a:bodyPr>
          <a:lstStyle/>
          <a:p>
            <a:pPr algn="l">
              <a:lnSpc>
                <a:spcPts val="2699"/>
              </a:lnSpc>
            </a:pPr>
            <a:r>
              <a:rPr lang="en-US" sz="2299" b="1">
                <a:solidFill>
                  <a:srgbClr val="FFFFFF"/>
                </a:solidFill>
                <a:latin typeface="Poppins Semi-Bold"/>
                <a:ea typeface="Poppins Semi-Bold"/>
                <a:cs typeface="Poppins Semi-Bold"/>
                <a:sym typeface="Poppins Semi-Bold"/>
              </a:rPr>
              <a:t> </a:t>
            </a:r>
          </a:p>
        </p:txBody>
      </p:sp>
      <p:sp>
        <p:nvSpPr>
          <p:cNvPr id="11" name="TextBox 11"/>
          <p:cNvSpPr txBox="1"/>
          <p:nvPr/>
        </p:nvSpPr>
        <p:spPr>
          <a:xfrm>
            <a:off x="515474" y="5185134"/>
            <a:ext cx="993915" cy="382572"/>
          </a:xfrm>
          <a:prstGeom prst="rect">
            <a:avLst/>
          </a:prstGeom>
        </p:spPr>
        <p:txBody>
          <a:bodyPr lIns="0" tIns="0" rIns="0" bIns="0" rtlCol="0" anchor="t">
            <a:spAutoFit/>
          </a:bodyPr>
          <a:lstStyle/>
          <a:p>
            <a:pPr algn="l">
              <a:lnSpc>
                <a:spcPts val="2699"/>
              </a:lnSpc>
            </a:pPr>
            <a:r>
              <a:rPr lang="en-US" sz="2299" b="1">
                <a:solidFill>
                  <a:srgbClr val="3C67BF"/>
                </a:solidFill>
                <a:latin typeface="Poppins Semi-Bold"/>
                <a:ea typeface="Poppins Semi-Bold"/>
                <a:cs typeface="Poppins Semi-Bold"/>
                <a:sym typeface="Poppins Semi-Bold"/>
              </a:rPr>
              <a:t>break</a:t>
            </a:r>
            <a:r>
              <a:rPr lang="en-US" sz="2299" b="1">
                <a:solidFill>
                  <a:srgbClr val="FFFFFF"/>
                </a:solidFill>
                <a:latin typeface="Poppins Semi-Bold"/>
                <a:ea typeface="Poppins Semi-Bold"/>
                <a:cs typeface="Poppins Semi-Bold"/>
                <a:sym typeface="Poppins Semi-Bold"/>
              </a:rPr>
              <a:t>;</a:t>
            </a:r>
          </a:p>
        </p:txBody>
      </p:sp>
      <p:sp>
        <p:nvSpPr>
          <p:cNvPr id="12" name="TextBox 12"/>
          <p:cNvSpPr txBox="1"/>
          <p:nvPr/>
        </p:nvSpPr>
        <p:spPr>
          <a:xfrm>
            <a:off x="164983" y="5528034"/>
            <a:ext cx="5739870" cy="725472"/>
          </a:xfrm>
          <a:prstGeom prst="rect">
            <a:avLst/>
          </a:prstGeom>
        </p:spPr>
        <p:txBody>
          <a:bodyPr lIns="0" tIns="0" rIns="0" bIns="0" rtlCol="0" anchor="t">
            <a:spAutoFit/>
          </a:bodyPr>
          <a:lstStyle/>
          <a:p>
            <a:pPr algn="l">
              <a:lnSpc>
                <a:spcPts val="2699"/>
              </a:lnSpc>
            </a:pPr>
            <a:r>
              <a:rPr lang="en-US" sz="2299" b="1">
                <a:solidFill>
                  <a:srgbClr val="FFFFFF"/>
                </a:solidFill>
                <a:latin typeface="Poppins Semi-Bold"/>
                <a:ea typeface="Poppins Semi-Bold"/>
                <a:cs typeface="Poppins Semi-Bold"/>
                <a:sym typeface="Poppins Semi-Bold"/>
              </a:rPr>
              <a:t> </a:t>
            </a:r>
            <a:r>
              <a:rPr lang="en-US" sz="2299" b="1">
                <a:solidFill>
                  <a:srgbClr val="3C67BF"/>
                </a:solidFill>
                <a:latin typeface="Poppins Semi-Bold"/>
                <a:ea typeface="Poppins Semi-Bold"/>
                <a:cs typeface="Poppins Semi-Bold"/>
                <a:sym typeface="Poppins Semi-Bold"/>
              </a:rPr>
              <a:t>case </a:t>
            </a:r>
            <a:r>
              <a:rPr lang="en-US" sz="2299" b="1">
                <a:solidFill>
                  <a:srgbClr val="FFCB85"/>
                </a:solidFill>
                <a:latin typeface="Poppins Semi-Bold"/>
                <a:ea typeface="Poppins Semi-Bold"/>
                <a:cs typeface="Poppins Semi-Bold"/>
                <a:sym typeface="Poppins Semi-Bold"/>
              </a:rPr>
              <a:t>4</a:t>
            </a:r>
            <a:r>
              <a:rPr lang="en-US" sz="2299" b="1">
                <a:solidFill>
                  <a:srgbClr val="FFFFFF"/>
                </a:solidFill>
                <a:latin typeface="Poppins Semi-Bold"/>
                <a:ea typeface="Poppins Semi-Bold"/>
                <a:cs typeface="Poppins Semi-Bold"/>
                <a:sym typeface="Poppins Semi-Bold"/>
              </a:rPr>
              <a:t>:  </a:t>
            </a:r>
            <a:r>
              <a:rPr lang="en-US" sz="2299" b="1">
                <a:solidFill>
                  <a:srgbClr val="7ED957"/>
                </a:solidFill>
                <a:latin typeface="Poppins Semi-Bold"/>
                <a:ea typeface="Poppins Semi-Bold"/>
                <a:cs typeface="Poppins Semi-Bold"/>
                <a:sym typeface="Poppins Semi-Bold"/>
              </a:rPr>
              <a:t>Console</a:t>
            </a:r>
            <a:r>
              <a:rPr lang="en-US" sz="2299" b="1">
                <a:solidFill>
                  <a:srgbClr val="FFFFFF"/>
                </a:solidFill>
                <a:latin typeface="Poppins Semi-Bold"/>
                <a:ea typeface="Poppins Semi-Bold"/>
                <a:cs typeface="Poppins Semi-Bold"/>
                <a:sym typeface="Poppins Semi-Bold"/>
              </a:rPr>
              <a:t>.</a:t>
            </a:r>
            <a:r>
              <a:rPr lang="en-US" sz="2299" b="1">
                <a:solidFill>
                  <a:srgbClr val="FFCB85"/>
                </a:solidFill>
                <a:latin typeface="Poppins Semi-Bold"/>
                <a:ea typeface="Poppins Semi-Bold"/>
                <a:cs typeface="Poppins Semi-Bold"/>
                <a:sym typeface="Poppins Semi-Bold"/>
              </a:rPr>
              <a:t>WriteLine</a:t>
            </a:r>
            <a:r>
              <a:rPr lang="en-US" sz="2299" b="1">
                <a:solidFill>
                  <a:srgbClr val="FFFFFF"/>
                </a:solidFill>
                <a:latin typeface="Poppins Semi-Bold"/>
                <a:ea typeface="Poppins Semi-Bold"/>
                <a:cs typeface="Poppins Semi-Bold"/>
                <a:sym typeface="Poppins Semi-Bold"/>
              </a:rPr>
              <a:t>(</a:t>
            </a:r>
            <a:r>
              <a:rPr lang="en-US" sz="2299" b="1">
                <a:solidFill>
                  <a:srgbClr val="FFCB85"/>
                </a:solidFill>
                <a:latin typeface="Poppins Semi-Bold"/>
                <a:ea typeface="Poppins Semi-Bold"/>
                <a:cs typeface="Poppins Semi-Bold"/>
                <a:sym typeface="Poppins Semi-Bold"/>
              </a:rPr>
              <a:t>“Quarta-Feira"</a:t>
            </a:r>
            <a:r>
              <a:rPr lang="en-US" sz="2299" b="1">
                <a:solidFill>
                  <a:srgbClr val="FFFFFF"/>
                </a:solidFill>
                <a:latin typeface="Poppins Semi-Bold"/>
                <a:ea typeface="Poppins Semi-Bold"/>
                <a:cs typeface="Poppins Semi-Bold"/>
                <a:sym typeface="Poppins Semi-Bold"/>
              </a:rPr>
              <a:t>);</a:t>
            </a:r>
          </a:p>
        </p:txBody>
      </p:sp>
      <p:sp>
        <p:nvSpPr>
          <p:cNvPr id="13" name="TextBox 13"/>
          <p:cNvSpPr txBox="1"/>
          <p:nvPr/>
        </p:nvSpPr>
        <p:spPr>
          <a:xfrm>
            <a:off x="164983" y="6213834"/>
            <a:ext cx="89364" cy="382572"/>
          </a:xfrm>
          <a:prstGeom prst="rect">
            <a:avLst/>
          </a:prstGeom>
        </p:spPr>
        <p:txBody>
          <a:bodyPr lIns="0" tIns="0" rIns="0" bIns="0" rtlCol="0" anchor="t">
            <a:spAutoFit/>
          </a:bodyPr>
          <a:lstStyle/>
          <a:p>
            <a:pPr algn="l">
              <a:lnSpc>
                <a:spcPts val="2699"/>
              </a:lnSpc>
            </a:pPr>
            <a:r>
              <a:rPr lang="en-US" sz="2299" b="1">
                <a:solidFill>
                  <a:srgbClr val="FFFFFF"/>
                </a:solidFill>
                <a:latin typeface="Poppins Semi-Bold"/>
                <a:ea typeface="Poppins Semi-Bold"/>
                <a:cs typeface="Poppins Semi-Bold"/>
                <a:sym typeface="Poppins Semi-Bold"/>
              </a:rPr>
              <a:t> </a:t>
            </a:r>
          </a:p>
        </p:txBody>
      </p:sp>
      <p:sp>
        <p:nvSpPr>
          <p:cNvPr id="14" name="TextBox 14"/>
          <p:cNvSpPr txBox="1"/>
          <p:nvPr/>
        </p:nvSpPr>
        <p:spPr>
          <a:xfrm>
            <a:off x="515474" y="6213834"/>
            <a:ext cx="993915" cy="382572"/>
          </a:xfrm>
          <a:prstGeom prst="rect">
            <a:avLst/>
          </a:prstGeom>
        </p:spPr>
        <p:txBody>
          <a:bodyPr lIns="0" tIns="0" rIns="0" bIns="0" rtlCol="0" anchor="t">
            <a:spAutoFit/>
          </a:bodyPr>
          <a:lstStyle/>
          <a:p>
            <a:pPr algn="l">
              <a:lnSpc>
                <a:spcPts val="2699"/>
              </a:lnSpc>
            </a:pPr>
            <a:r>
              <a:rPr lang="en-US" sz="2299" b="1">
                <a:solidFill>
                  <a:srgbClr val="3C67BF"/>
                </a:solidFill>
                <a:latin typeface="Poppins Semi-Bold"/>
                <a:ea typeface="Poppins Semi-Bold"/>
                <a:cs typeface="Poppins Semi-Bold"/>
                <a:sym typeface="Poppins Semi-Bold"/>
              </a:rPr>
              <a:t>break</a:t>
            </a:r>
            <a:r>
              <a:rPr lang="en-US" sz="2299" b="1">
                <a:solidFill>
                  <a:srgbClr val="FFFFFF"/>
                </a:solidFill>
                <a:latin typeface="Poppins Semi-Bold"/>
                <a:ea typeface="Poppins Semi-Bold"/>
                <a:cs typeface="Poppins Semi-Bold"/>
                <a:sym typeface="Poppins Semi-Bold"/>
              </a:rPr>
              <a:t>;</a:t>
            </a:r>
          </a:p>
        </p:txBody>
      </p:sp>
      <p:sp>
        <p:nvSpPr>
          <p:cNvPr id="15" name="TextBox 15"/>
          <p:cNvSpPr txBox="1"/>
          <p:nvPr/>
        </p:nvSpPr>
        <p:spPr>
          <a:xfrm>
            <a:off x="164983" y="6556734"/>
            <a:ext cx="5702217" cy="725472"/>
          </a:xfrm>
          <a:prstGeom prst="rect">
            <a:avLst/>
          </a:prstGeom>
        </p:spPr>
        <p:txBody>
          <a:bodyPr lIns="0" tIns="0" rIns="0" bIns="0" rtlCol="0" anchor="t">
            <a:spAutoFit/>
          </a:bodyPr>
          <a:lstStyle/>
          <a:p>
            <a:pPr algn="l">
              <a:lnSpc>
                <a:spcPts val="2699"/>
              </a:lnSpc>
            </a:pPr>
            <a:r>
              <a:rPr lang="en-US" sz="2299" b="1">
                <a:solidFill>
                  <a:srgbClr val="FFFFFF"/>
                </a:solidFill>
                <a:latin typeface="Poppins Semi-Bold"/>
                <a:ea typeface="Poppins Semi-Bold"/>
                <a:cs typeface="Poppins Semi-Bold"/>
                <a:sym typeface="Poppins Semi-Bold"/>
              </a:rPr>
              <a:t> </a:t>
            </a:r>
            <a:r>
              <a:rPr lang="en-US" sz="2299" b="1">
                <a:solidFill>
                  <a:srgbClr val="3C67BF"/>
                </a:solidFill>
                <a:latin typeface="Poppins Semi-Bold"/>
                <a:ea typeface="Poppins Semi-Bold"/>
                <a:cs typeface="Poppins Semi-Bold"/>
                <a:sym typeface="Poppins Semi-Bold"/>
              </a:rPr>
              <a:t>case </a:t>
            </a:r>
            <a:r>
              <a:rPr lang="en-US" sz="2299" b="1">
                <a:solidFill>
                  <a:srgbClr val="FFCB85"/>
                </a:solidFill>
                <a:latin typeface="Poppins Semi-Bold"/>
                <a:ea typeface="Poppins Semi-Bold"/>
                <a:cs typeface="Poppins Semi-Bold"/>
                <a:sym typeface="Poppins Semi-Bold"/>
              </a:rPr>
              <a:t>5</a:t>
            </a:r>
            <a:r>
              <a:rPr lang="en-US" sz="2299" b="1">
                <a:solidFill>
                  <a:srgbClr val="FFFFFF"/>
                </a:solidFill>
                <a:latin typeface="Poppins Semi-Bold"/>
                <a:ea typeface="Poppins Semi-Bold"/>
                <a:cs typeface="Poppins Semi-Bold"/>
                <a:sym typeface="Poppins Semi-Bold"/>
              </a:rPr>
              <a:t>:  </a:t>
            </a:r>
            <a:r>
              <a:rPr lang="en-US" sz="2299" b="1">
                <a:solidFill>
                  <a:srgbClr val="7ED957"/>
                </a:solidFill>
                <a:latin typeface="Poppins Semi-Bold"/>
                <a:ea typeface="Poppins Semi-Bold"/>
                <a:cs typeface="Poppins Semi-Bold"/>
                <a:sym typeface="Poppins Semi-Bold"/>
              </a:rPr>
              <a:t>Console</a:t>
            </a:r>
            <a:r>
              <a:rPr lang="en-US" sz="2299" b="1">
                <a:solidFill>
                  <a:srgbClr val="FFFFFF"/>
                </a:solidFill>
                <a:latin typeface="Poppins Semi-Bold"/>
                <a:ea typeface="Poppins Semi-Bold"/>
                <a:cs typeface="Poppins Semi-Bold"/>
                <a:sym typeface="Poppins Semi-Bold"/>
              </a:rPr>
              <a:t>.</a:t>
            </a:r>
            <a:r>
              <a:rPr lang="en-US" sz="2299" b="1">
                <a:solidFill>
                  <a:srgbClr val="FFCB85"/>
                </a:solidFill>
                <a:latin typeface="Poppins Semi-Bold"/>
                <a:ea typeface="Poppins Semi-Bold"/>
                <a:cs typeface="Poppins Semi-Bold"/>
                <a:sym typeface="Poppins Semi-Bold"/>
              </a:rPr>
              <a:t>WriteLine</a:t>
            </a:r>
            <a:r>
              <a:rPr lang="en-US" sz="2299" b="1">
                <a:solidFill>
                  <a:srgbClr val="FFFFFF"/>
                </a:solidFill>
                <a:latin typeface="Poppins Semi-Bold"/>
                <a:ea typeface="Poppins Semi-Bold"/>
                <a:cs typeface="Poppins Semi-Bold"/>
                <a:sym typeface="Poppins Semi-Bold"/>
              </a:rPr>
              <a:t>(</a:t>
            </a:r>
            <a:r>
              <a:rPr lang="en-US" sz="2299" b="1">
                <a:solidFill>
                  <a:srgbClr val="FFCB85"/>
                </a:solidFill>
                <a:latin typeface="Poppins Semi-Bold"/>
                <a:ea typeface="Poppins Semi-Bold"/>
                <a:cs typeface="Poppins Semi-Bold"/>
                <a:sym typeface="Poppins Semi-Bold"/>
              </a:rPr>
              <a:t>“Quinta-Feira"</a:t>
            </a:r>
            <a:r>
              <a:rPr lang="en-US" sz="2299" b="1">
                <a:solidFill>
                  <a:srgbClr val="FFFFFF"/>
                </a:solidFill>
                <a:latin typeface="Poppins Semi-Bold"/>
                <a:ea typeface="Poppins Semi-Bold"/>
                <a:cs typeface="Poppins Semi-Bold"/>
                <a:sym typeface="Poppins Semi-Bold"/>
              </a:rPr>
              <a:t>);</a:t>
            </a:r>
          </a:p>
        </p:txBody>
      </p:sp>
      <p:sp>
        <p:nvSpPr>
          <p:cNvPr id="16" name="TextBox 16"/>
          <p:cNvSpPr txBox="1"/>
          <p:nvPr/>
        </p:nvSpPr>
        <p:spPr>
          <a:xfrm>
            <a:off x="164983" y="7242534"/>
            <a:ext cx="89364" cy="382572"/>
          </a:xfrm>
          <a:prstGeom prst="rect">
            <a:avLst/>
          </a:prstGeom>
        </p:spPr>
        <p:txBody>
          <a:bodyPr lIns="0" tIns="0" rIns="0" bIns="0" rtlCol="0" anchor="t">
            <a:spAutoFit/>
          </a:bodyPr>
          <a:lstStyle/>
          <a:p>
            <a:pPr algn="l">
              <a:lnSpc>
                <a:spcPts val="2699"/>
              </a:lnSpc>
            </a:pPr>
            <a:r>
              <a:rPr lang="en-US" sz="2299" b="1">
                <a:solidFill>
                  <a:srgbClr val="FFFFFF"/>
                </a:solidFill>
                <a:latin typeface="Poppins Semi-Bold"/>
                <a:ea typeface="Poppins Semi-Bold"/>
                <a:cs typeface="Poppins Semi-Bold"/>
                <a:sym typeface="Poppins Semi-Bold"/>
              </a:rPr>
              <a:t> </a:t>
            </a:r>
          </a:p>
        </p:txBody>
      </p:sp>
      <p:sp>
        <p:nvSpPr>
          <p:cNvPr id="17" name="TextBox 17"/>
          <p:cNvSpPr txBox="1"/>
          <p:nvPr/>
        </p:nvSpPr>
        <p:spPr>
          <a:xfrm>
            <a:off x="515474" y="7242534"/>
            <a:ext cx="993915" cy="382572"/>
          </a:xfrm>
          <a:prstGeom prst="rect">
            <a:avLst/>
          </a:prstGeom>
        </p:spPr>
        <p:txBody>
          <a:bodyPr lIns="0" tIns="0" rIns="0" bIns="0" rtlCol="0" anchor="t">
            <a:spAutoFit/>
          </a:bodyPr>
          <a:lstStyle/>
          <a:p>
            <a:pPr algn="l">
              <a:lnSpc>
                <a:spcPts val="2699"/>
              </a:lnSpc>
            </a:pPr>
            <a:r>
              <a:rPr lang="en-US" sz="2299" b="1">
                <a:solidFill>
                  <a:srgbClr val="3C67BF"/>
                </a:solidFill>
                <a:latin typeface="Poppins Semi-Bold"/>
                <a:ea typeface="Poppins Semi-Bold"/>
                <a:cs typeface="Poppins Semi-Bold"/>
                <a:sym typeface="Poppins Semi-Bold"/>
              </a:rPr>
              <a:t>break</a:t>
            </a:r>
            <a:r>
              <a:rPr lang="en-US" sz="2299" b="1">
                <a:solidFill>
                  <a:srgbClr val="FFFFFF"/>
                </a:solidFill>
                <a:latin typeface="Poppins Semi-Bold"/>
                <a:ea typeface="Poppins Semi-Bold"/>
                <a:cs typeface="Poppins Semi-Bold"/>
                <a:sym typeface="Poppins Semi-Bold"/>
              </a:rPr>
              <a:t>;</a:t>
            </a:r>
          </a:p>
        </p:txBody>
      </p:sp>
      <p:sp>
        <p:nvSpPr>
          <p:cNvPr id="18" name="TextBox 18"/>
          <p:cNvSpPr txBox="1"/>
          <p:nvPr/>
        </p:nvSpPr>
        <p:spPr>
          <a:xfrm>
            <a:off x="164983" y="7585434"/>
            <a:ext cx="5506545" cy="725472"/>
          </a:xfrm>
          <a:prstGeom prst="rect">
            <a:avLst/>
          </a:prstGeom>
        </p:spPr>
        <p:txBody>
          <a:bodyPr lIns="0" tIns="0" rIns="0" bIns="0" rtlCol="0" anchor="t">
            <a:spAutoFit/>
          </a:bodyPr>
          <a:lstStyle/>
          <a:p>
            <a:pPr algn="l">
              <a:lnSpc>
                <a:spcPts val="2699"/>
              </a:lnSpc>
            </a:pPr>
            <a:r>
              <a:rPr lang="en-US" sz="2299" b="1">
                <a:solidFill>
                  <a:srgbClr val="FFFFFF"/>
                </a:solidFill>
                <a:latin typeface="Poppins Semi-Bold"/>
                <a:ea typeface="Poppins Semi-Bold"/>
                <a:cs typeface="Poppins Semi-Bold"/>
                <a:sym typeface="Poppins Semi-Bold"/>
              </a:rPr>
              <a:t> </a:t>
            </a:r>
            <a:r>
              <a:rPr lang="en-US" sz="2299" b="1">
                <a:solidFill>
                  <a:srgbClr val="3C67BF"/>
                </a:solidFill>
                <a:latin typeface="Poppins Semi-Bold"/>
                <a:ea typeface="Poppins Semi-Bold"/>
                <a:cs typeface="Poppins Semi-Bold"/>
                <a:sym typeface="Poppins Semi-Bold"/>
              </a:rPr>
              <a:t>case </a:t>
            </a:r>
            <a:r>
              <a:rPr lang="en-US" sz="2299" b="1">
                <a:solidFill>
                  <a:srgbClr val="FFCB85"/>
                </a:solidFill>
                <a:latin typeface="Poppins Semi-Bold"/>
                <a:ea typeface="Poppins Semi-Bold"/>
                <a:cs typeface="Poppins Semi-Bold"/>
                <a:sym typeface="Poppins Semi-Bold"/>
              </a:rPr>
              <a:t>6</a:t>
            </a:r>
            <a:r>
              <a:rPr lang="en-US" sz="2299" b="1">
                <a:solidFill>
                  <a:srgbClr val="FFFFFF"/>
                </a:solidFill>
                <a:latin typeface="Poppins Semi-Bold"/>
                <a:ea typeface="Poppins Semi-Bold"/>
                <a:cs typeface="Poppins Semi-Bold"/>
                <a:sym typeface="Poppins Semi-Bold"/>
              </a:rPr>
              <a:t>:  </a:t>
            </a:r>
            <a:r>
              <a:rPr lang="en-US" sz="2299" b="1">
                <a:solidFill>
                  <a:srgbClr val="7ED957"/>
                </a:solidFill>
                <a:latin typeface="Poppins Semi-Bold"/>
                <a:ea typeface="Poppins Semi-Bold"/>
                <a:cs typeface="Poppins Semi-Bold"/>
                <a:sym typeface="Poppins Semi-Bold"/>
              </a:rPr>
              <a:t>Console</a:t>
            </a:r>
            <a:r>
              <a:rPr lang="en-US" sz="2299" b="1">
                <a:solidFill>
                  <a:srgbClr val="FFFFFF"/>
                </a:solidFill>
                <a:latin typeface="Poppins Semi-Bold"/>
                <a:ea typeface="Poppins Semi-Bold"/>
                <a:cs typeface="Poppins Semi-Bold"/>
                <a:sym typeface="Poppins Semi-Bold"/>
              </a:rPr>
              <a:t>.</a:t>
            </a:r>
            <a:r>
              <a:rPr lang="en-US" sz="2299" b="1">
                <a:solidFill>
                  <a:srgbClr val="FFCB85"/>
                </a:solidFill>
                <a:latin typeface="Poppins Semi-Bold"/>
                <a:ea typeface="Poppins Semi-Bold"/>
                <a:cs typeface="Poppins Semi-Bold"/>
                <a:sym typeface="Poppins Semi-Bold"/>
              </a:rPr>
              <a:t>WriteLine</a:t>
            </a:r>
            <a:r>
              <a:rPr lang="en-US" sz="2299" b="1">
                <a:solidFill>
                  <a:srgbClr val="FFFFFF"/>
                </a:solidFill>
                <a:latin typeface="Poppins Semi-Bold"/>
                <a:ea typeface="Poppins Semi-Bold"/>
                <a:cs typeface="Poppins Semi-Bold"/>
                <a:sym typeface="Poppins Semi-Bold"/>
              </a:rPr>
              <a:t>(</a:t>
            </a:r>
            <a:r>
              <a:rPr lang="en-US" sz="2299" b="1">
                <a:solidFill>
                  <a:srgbClr val="FFCB85"/>
                </a:solidFill>
                <a:latin typeface="Poppins Semi-Bold"/>
                <a:ea typeface="Poppins Semi-Bold"/>
                <a:cs typeface="Poppins Semi-Bold"/>
                <a:sym typeface="Poppins Semi-Bold"/>
              </a:rPr>
              <a:t>“Sexta-Feira"</a:t>
            </a:r>
            <a:r>
              <a:rPr lang="en-US" sz="2299" b="1">
                <a:solidFill>
                  <a:srgbClr val="FFFFFF"/>
                </a:solidFill>
                <a:latin typeface="Poppins Semi-Bold"/>
                <a:ea typeface="Poppins Semi-Bold"/>
                <a:cs typeface="Poppins Semi-Bold"/>
                <a:sym typeface="Poppins Semi-Bold"/>
              </a:rPr>
              <a:t>);</a:t>
            </a:r>
          </a:p>
        </p:txBody>
      </p:sp>
      <p:sp>
        <p:nvSpPr>
          <p:cNvPr id="19" name="TextBox 19"/>
          <p:cNvSpPr txBox="1"/>
          <p:nvPr/>
        </p:nvSpPr>
        <p:spPr>
          <a:xfrm>
            <a:off x="164983" y="8271234"/>
            <a:ext cx="89364" cy="382572"/>
          </a:xfrm>
          <a:prstGeom prst="rect">
            <a:avLst/>
          </a:prstGeom>
        </p:spPr>
        <p:txBody>
          <a:bodyPr lIns="0" tIns="0" rIns="0" bIns="0" rtlCol="0" anchor="t">
            <a:spAutoFit/>
          </a:bodyPr>
          <a:lstStyle/>
          <a:p>
            <a:pPr algn="l">
              <a:lnSpc>
                <a:spcPts val="2699"/>
              </a:lnSpc>
            </a:pPr>
            <a:r>
              <a:rPr lang="en-US" sz="2299" b="1">
                <a:solidFill>
                  <a:srgbClr val="FFFFFF"/>
                </a:solidFill>
                <a:latin typeface="Poppins Semi-Bold"/>
                <a:ea typeface="Poppins Semi-Bold"/>
                <a:cs typeface="Poppins Semi-Bold"/>
                <a:sym typeface="Poppins Semi-Bold"/>
              </a:rPr>
              <a:t> </a:t>
            </a:r>
          </a:p>
        </p:txBody>
      </p:sp>
      <p:sp>
        <p:nvSpPr>
          <p:cNvPr id="20" name="TextBox 20"/>
          <p:cNvSpPr txBox="1"/>
          <p:nvPr/>
        </p:nvSpPr>
        <p:spPr>
          <a:xfrm>
            <a:off x="515474" y="8271234"/>
            <a:ext cx="993915" cy="382572"/>
          </a:xfrm>
          <a:prstGeom prst="rect">
            <a:avLst/>
          </a:prstGeom>
        </p:spPr>
        <p:txBody>
          <a:bodyPr lIns="0" tIns="0" rIns="0" bIns="0" rtlCol="0" anchor="t">
            <a:spAutoFit/>
          </a:bodyPr>
          <a:lstStyle/>
          <a:p>
            <a:pPr algn="l">
              <a:lnSpc>
                <a:spcPts val="2699"/>
              </a:lnSpc>
            </a:pPr>
            <a:r>
              <a:rPr lang="en-US" sz="2299" b="1">
                <a:solidFill>
                  <a:srgbClr val="3C67BF"/>
                </a:solidFill>
                <a:latin typeface="Poppins Semi-Bold"/>
                <a:ea typeface="Poppins Semi-Bold"/>
                <a:cs typeface="Poppins Semi-Bold"/>
                <a:sym typeface="Poppins Semi-Bold"/>
              </a:rPr>
              <a:t>break</a:t>
            </a:r>
            <a:r>
              <a:rPr lang="en-US" sz="2299" b="1">
                <a:solidFill>
                  <a:srgbClr val="FFFFFF"/>
                </a:solidFill>
                <a:latin typeface="Poppins Semi-Bold"/>
                <a:ea typeface="Poppins Semi-Bold"/>
                <a:cs typeface="Poppins Semi-Bold"/>
                <a:sym typeface="Poppins Semi-Bold"/>
              </a:rPr>
              <a:t>;</a:t>
            </a:r>
          </a:p>
        </p:txBody>
      </p:sp>
      <p:sp>
        <p:nvSpPr>
          <p:cNvPr id="21" name="TextBox 21"/>
          <p:cNvSpPr txBox="1"/>
          <p:nvPr/>
        </p:nvSpPr>
        <p:spPr>
          <a:xfrm>
            <a:off x="164983" y="8614134"/>
            <a:ext cx="4921939" cy="725472"/>
          </a:xfrm>
          <a:prstGeom prst="rect">
            <a:avLst/>
          </a:prstGeom>
        </p:spPr>
        <p:txBody>
          <a:bodyPr lIns="0" tIns="0" rIns="0" bIns="0" rtlCol="0" anchor="t">
            <a:spAutoFit/>
          </a:bodyPr>
          <a:lstStyle/>
          <a:p>
            <a:pPr algn="l">
              <a:lnSpc>
                <a:spcPts val="2699"/>
              </a:lnSpc>
            </a:pPr>
            <a:r>
              <a:rPr lang="en-US" sz="2299" b="1">
                <a:solidFill>
                  <a:srgbClr val="FFFFFF"/>
                </a:solidFill>
                <a:latin typeface="Poppins Semi-Bold"/>
                <a:ea typeface="Poppins Semi-Bold"/>
                <a:cs typeface="Poppins Semi-Bold"/>
                <a:sym typeface="Poppins Semi-Bold"/>
              </a:rPr>
              <a:t> </a:t>
            </a:r>
            <a:r>
              <a:rPr lang="en-US" sz="2299" b="1">
                <a:solidFill>
                  <a:srgbClr val="3C67BF"/>
                </a:solidFill>
                <a:latin typeface="Poppins Semi-Bold"/>
                <a:ea typeface="Poppins Semi-Bold"/>
                <a:cs typeface="Poppins Semi-Bold"/>
                <a:sym typeface="Poppins Semi-Bold"/>
              </a:rPr>
              <a:t>case </a:t>
            </a:r>
            <a:r>
              <a:rPr lang="en-US" sz="2299" b="1">
                <a:solidFill>
                  <a:srgbClr val="FFCB85"/>
                </a:solidFill>
                <a:latin typeface="Poppins Semi-Bold"/>
                <a:ea typeface="Poppins Semi-Bold"/>
                <a:cs typeface="Poppins Semi-Bold"/>
                <a:sym typeface="Poppins Semi-Bold"/>
              </a:rPr>
              <a:t>7</a:t>
            </a:r>
            <a:r>
              <a:rPr lang="en-US" sz="2299" b="1">
                <a:solidFill>
                  <a:srgbClr val="FFFFFF"/>
                </a:solidFill>
                <a:latin typeface="Poppins Semi-Bold"/>
                <a:ea typeface="Poppins Semi-Bold"/>
                <a:cs typeface="Poppins Semi-Bold"/>
                <a:sym typeface="Poppins Semi-Bold"/>
              </a:rPr>
              <a:t>:  </a:t>
            </a:r>
            <a:r>
              <a:rPr lang="en-US" sz="2299" b="1">
                <a:solidFill>
                  <a:srgbClr val="7ED957"/>
                </a:solidFill>
                <a:latin typeface="Poppins Semi-Bold"/>
                <a:ea typeface="Poppins Semi-Bold"/>
                <a:cs typeface="Poppins Semi-Bold"/>
                <a:sym typeface="Poppins Semi-Bold"/>
              </a:rPr>
              <a:t>Console</a:t>
            </a:r>
            <a:r>
              <a:rPr lang="en-US" sz="2299" b="1">
                <a:solidFill>
                  <a:srgbClr val="FFFFFF"/>
                </a:solidFill>
                <a:latin typeface="Poppins Semi-Bold"/>
                <a:ea typeface="Poppins Semi-Bold"/>
                <a:cs typeface="Poppins Semi-Bold"/>
                <a:sym typeface="Poppins Semi-Bold"/>
              </a:rPr>
              <a:t>.</a:t>
            </a:r>
            <a:r>
              <a:rPr lang="en-US" sz="2299" b="1">
                <a:solidFill>
                  <a:srgbClr val="FFCB85"/>
                </a:solidFill>
                <a:latin typeface="Poppins Semi-Bold"/>
                <a:ea typeface="Poppins Semi-Bold"/>
                <a:cs typeface="Poppins Semi-Bold"/>
                <a:sym typeface="Poppins Semi-Bold"/>
              </a:rPr>
              <a:t>WriteLine</a:t>
            </a:r>
            <a:r>
              <a:rPr lang="en-US" sz="2299" b="1">
                <a:solidFill>
                  <a:srgbClr val="FFFFFF"/>
                </a:solidFill>
                <a:latin typeface="Poppins Semi-Bold"/>
                <a:ea typeface="Poppins Semi-Bold"/>
                <a:cs typeface="Poppins Semi-Bold"/>
                <a:sym typeface="Poppins Semi-Bold"/>
              </a:rPr>
              <a:t>(</a:t>
            </a:r>
            <a:r>
              <a:rPr lang="en-US" sz="2299" b="1">
                <a:solidFill>
                  <a:srgbClr val="FFCB85"/>
                </a:solidFill>
                <a:latin typeface="Poppins Semi-Bold"/>
                <a:ea typeface="Poppins Semi-Bold"/>
                <a:cs typeface="Poppins Semi-Bold"/>
                <a:sym typeface="Poppins Semi-Bold"/>
              </a:rPr>
              <a:t>“Sábado"</a:t>
            </a:r>
            <a:r>
              <a:rPr lang="en-US" sz="2299" b="1">
                <a:solidFill>
                  <a:srgbClr val="FFFFFF"/>
                </a:solidFill>
                <a:latin typeface="Poppins Semi-Bold"/>
                <a:ea typeface="Poppins Semi-Bold"/>
                <a:cs typeface="Poppins Semi-Bold"/>
                <a:sym typeface="Poppins Semi-Bold"/>
              </a:rPr>
              <a:t>);</a:t>
            </a:r>
          </a:p>
        </p:txBody>
      </p:sp>
      <p:sp>
        <p:nvSpPr>
          <p:cNvPr id="22" name="TextBox 22"/>
          <p:cNvSpPr txBox="1"/>
          <p:nvPr/>
        </p:nvSpPr>
        <p:spPr>
          <a:xfrm>
            <a:off x="164983" y="9299934"/>
            <a:ext cx="156381" cy="725472"/>
          </a:xfrm>
          <a:prstGeom prst="rect">
            <a:avLst/>
          </a:prstGeom>
        </p:spPr>
        <p:txBody>
          <a:bodyPr lIns="0" tIns="0" rIns="0" bIns="0" rtlCol="0" anchor="t">
            <a:spAutoFit/>
          </a:bodyPr>
          <a:lstStyle/>
          <a:p>
            <a:pPr algn="l">
              <a:lnSpc>
                <a:spcPts val="2699"/>
              </a:lnSpc>
            </a:pPr>
            <a:r>
              <a:rPr lang="en-US" sz="2299" b="1">
                <a:solidFill>
                  <a:srgbClr val="FFFFFF"/>
                </a:solidFill>
                <a:latin typeface="Poppins Semi-Bold"/>
                <a:ea typeface="Poppins Semi-Bold"/>
                <a:cs typeface="Poppins Semi-Bold"/>
                <a:sym typeface="Poppins Semi-Bold"/>
              </a:rPr>
              <a:t> </a:t>
            </a:r>
          </a:p>
          <a:p>
            <a:pPr algn="l">
              <a:lnSpc>
                <a:spcPts val="2699"/>
              </a:lnSpc>
            </a:pPr>
            <a:r>
              <a:rPr lang="en-US" sz="2299" b="1">
                <a:solidFill>
                  <a:srgbClr val="FFFFFF"/>
                </a:solidFill>
                <a:latin typeface="Poppins Semi-Bold"/>
                <a:ea typeface="Poppins Semi-Bold"/>
                <a:cs typeface="Poppins Semi-Bold"/>
                <a:sym typeface="Poppins Semi-Bold"/>
              </a:rPr>
              <a:t>}</a:t>
            </a:r>
          </a:p>
        </p:txBody>
      </p:sp>
      <p:sp>
        <p:nvSpPr>
          <p:cNvPr id="23" name="TextBox 23"/>
          <p:cNvSpPr txBox="1"/>
          <p:nvPr/>
        </p:nvSpPr>
        <p:spPr>
          <a:xfrm>
            <a:off x="515474" y="9299934"/>
            <a:ext cx="993915" cy="382572"/>
          </a:xfrm>
          <a:prstGeom prst="rect">
            <a:avLst/>
          </a:prstGeom>
        </p:spPr>
        <p:txBody>
          <a:bodyPr lIns="0" tIns="0" rIns="0" bIns="0" rtlCol="0" anchor="t">
            <a:spAutoFit/>
          </a:bodyPr>
          <a:lstStyle/>
          <a:p>
            <a:pPr algn="l">
              <a:lnSpc>
                <a:spcPts val="2699"/>
              </a:lnSpc>
            </a:pPr>
            <a:r>
              <a:rPr lang="en-US" sz="2299" b="1">
                <a:solidFill>
                  <a:srgbClr val="3C67BF"/>
                </a:solidFill>
                <a:latin typeface="Poppins Semi-Bold"/>
                <a:ea typeface="Poppins Semi-Bold"/>
                <a:cs typeface="Poppins Semi-Bold"/>
                <a:sym typeface="Poppins Semi-Bold"/>
              </a:rPr>
              <a:t>break</a:t>
            </a:r>
            <a:r>
              <a:rPr lang="en-US" sz="2299" b="1">
                <a:solidFill>
                  <a:srgbClr val="FFFFFF"/>
                </a:solidFill>
                <a:latin typeface="Poppins Semi-Bold"/>
                <a:ea typeface="Poppins Semi-Bold"/>
                <a:cs typeface="Poppins Semi-Bold"/>
                <a:sym typeface="Poppins Semi-Bold"/>
              </a:rPr>
              <a:t>;</a:t>
            </a:r>
          </a:p>
        </p:txBody>
      </p:sp>
      <p:sp>
        <p:nvSpPr>
          <p:cNvPr id="24" name="TextBox 24"/>
          <p:cNvSpPr txBox="1"/>
          <p:nvPr/>
        </p:nvSpPr>
        <p:spPr>
          <a:xfrm>
            <a:off x="9714433" y="4131173"/>
            <a:ext cx="4724905" cy="2911050"/>
          </a:xfrm>
          <a:prstGeom prst="rect">
            <a:avLst/>
          </a:prstGeom>
        </p:spPr>
        <p:txBody>
          <a:bodyPr lIns="0" tIns="0" rIns="0" bIns="0" rtlCol="0" anchor="t">
            <a:spAutoFit/>
          </a:bodyPr>
          <a:lstStyle/>
          <a:p>
            <a:pPr algn="ctr">
              <a:lnSpc>
                <a:spcPts val="4424"/>
              </a:lnSpc>
            </a:pPr>
            <a:r>
              <a:rPr lang="en-US" sz="3699" b="1">
                <a:solidFill>
                  <a:srgbClr val="FFFFFF"/>
                </a:solidFill>
                <a:latin typeface="Poppins Semi-Bold"/>
                <a:ea typeface="Poppins Semi-Bold"/>
                <a:cs typeface="Poppins Semi-Bold"/>
                <a:sym typeface="Poppins Semi-Bold"/>
              </a:rPr>
              <a:t>O exemplo usa o número do dia da semana para descobrir o nome do dia da semana:</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691659" y="2920822"/>
            <a:ext cx="14095133" cy="363686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#25 </a:t>
            </a:r>
            <a:r>
              <a:rPr lang="en-US" sz="4684" b="1">
                <a:solidFill>
                  <a:srgbClr val="FFFFFF"/>
                </a:solidFill>
                <a:latin typeface="Poppins Semi-Bold"/>
                <a:ea typeface="Poppins Semi-Bold"/>
                <a:cs typeface="Poppins Semi-Bold"/>
                <a:sym typeface="Poppins Semi-Bold"/>
              </a:rPr>
              <a:t>Refaça a atividade #21 só que agora utilizando o comando Switch para resolver o problema. </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691659" y="1863547"/>
            <a:ext cx="14255925" cy="504656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#26 </a:t>
            </a:r>
            <a:r>
              <a:rPr lang="en-US" sz="4684" b="1">
                <a:solidFill>
                  <a:srgbClr val="FFFFFF"/>
                </a:solidFill>
                <a:latin typeface="Poppins Semi-Bold"/>
                <a:ea typeface="Poppins Semi-Bold"/>
                <a:cs typeface="Poppins Semi-Bold"/>
                <a:sym typeface="Poppins Semi-Bold"/>
              </a:rPr>
              <a:t>Faça um programa que leia um número o mostre ao usuário qual mês pertence aquele número. Utilize switch para resolver esse problema. No final informe ao usuário qual mês se refere aquele número informado.</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Freeform 3"/>
          <p:cNvSpPr/>
          <p:nvPr/>
        </p:nvSpPr>
        <p:spPr>
          <a:xfrm>
            <a:off x="1028700" y="7020592"/>
            <a:ext cx="16230600" cy="3266408"/>
          </a:xfrm>
          <a:custGeom>
            <a:avLst/>
            <a:gdLst/>
            <a:ahLst/>
            <a:cxnLst/>
            <a:rect l="l" t="t" r="r" b="b"/>
            <a:pathLst>
              <a:path w="16230600" h="3266408">
                <a:moveTo>
                  <a:pt x="0" y="0"/>
                </a:moveTo>
                <a:lnTo>
                  <a:pt x="16230600" y="0"/>
                </a:lnTo>
                <a:lnTo>
                  <a:pt x="16230600" y="3266408"/>
                </a:lnTo>
                <a:lnTo>
                  <a:pt x="0" y="3266408"/>
                </a:lnTo>
                <a:lnTo>
                  <a:pt x="0" y="0"/>
                </a:lnTo>
                <a:close/>
              </a:path>
            </a:pathLst>
          </a:custGeom>
          <a:blipFill>
            <a:blip r:embed="rId3"/>
            <a:stretch>
              <a:fillRect b="-20"/>
            </a:stretch>
          </a:blipFill>
        </p:spPr>
      </p:sp>
      <p:sp>
        <p:nvSpPr>
          <p:cNvPr id="4" name="TextBox 4"/>
          <p:cNvSpPr txBox="1"/>
          <p:nvPr/>
        </p:nvSpPr>
        <p:spPr>
          <a:xfrm>
            <a:off x="1691659" y="1511122"/>
            <a:ext cx="13994406" cy="504656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#27 </a:t>
            </a:r>
            <a:r>
              <a:rPr lang="en-US" sz="4684" b="1">
                <a:solidFill>
                  <a:srgbClr val="FFFFFF"/>
                </a:solidFill>
                <a:latin typeface="Poppins Semi-Bold"/>
                <a:ea typeface="Poppins Semi-Bold"/>
                <a:cs typeface="Poppins Semi-Bold"/>
                <a:sym typeface="Poppins Semi-Bold"/>
              </a:rPr>
              <a:t>Faça um programa que simula um Menu de Opções utilizando switch, e que para cada uma das opções abaixo lidas, imprima uma mensagem que corresponda a função sugerida:</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691659" y="806272"/>
            <a:ext cx="14236513" cy="786596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#28 </a:t>
            </a:r>
            <a:r>
              <a:rPr lang="en-US" sz="4684" b="1">
                <a:solidFill>
                  <a:srgbClr val="FFFFFF"/>
                </a:solidFill>
                <a:latin typeface="Poppins Semi-Bold"/>
                <a:ea typeface="Poppins Semi-Bold"/>
                <a:cs typeface="Poppins Semi-Bold"/>
                <a:sym typeface="Poppins Semi-Bold"/>
              </a:rPr>
              <a:t>Faça um programa em C# que leia um total de Terabytes e converta para as seguintes notações: 0 – para bytes 1 – para Kilobyte 2 – para Megabyte 3 – para Gigabyte Informe ao usuário o resultado da conversão realizada.</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rot="5400000">
            <a:off x="3550425" y="2374030"/>
            <a:ext cx="4362450" cy="11463299"/>
          </a:xfrm>
          <a:custGeom>
            <a:avLst/>
            <a:gdLst/>
            <a:ahLst/>
            <a:cxnLst/>
            <a:rect l="l" t="t" r="r" b="b"/>
            <a:pathLst>
              <a:path w="4362450" h="11463299">
                <a:moveTo>
                  <a:pt x="0" y="0"/>
                </a:moveTo>
                <a:lnTo>
                  <a:pt x="4362450" y="0"/>
                </a:lnTo>
                <a:lnTo>
                  <a:pt x="4362450" y="11463299"/>
                </a:lnTo>
                <a:lnTo>
                  <a:pt x="0" y="11463299"/>
                </a:lnTo>
                <a:lnTo>
                  <a:pt x="0" y="0"/>
                </a:lnTo>
                <a:close/>
              </a:path>
            </a:pathLst>
          </a:custGeom>
          <a:blipFill>
            <a:blip r:embed="rId2"/>
            <a:stretch>
              <a:fillRect l="-91573" r="-7771" b="-7187"/>
            </a:stretch>
          </a:blipFill>
        </p:spPr>
      </p:sp>
      <p:sp>
        <p:nvSpPr>
          <p:cNvPr id="3" name="Freeform 3"/>
          <p:cNvSpPr/>
          <p:nvPr/>
        </p:nvSpPr>
        <p:spPr>
          <a:xfrm>
            <a:off x="-63503" y="5860923"/>
            <a:ext cx="12904660" cy="4489580"/>
          </a:xfrm>
          <a:custGeom>
            <a:avLst/>
            <a:gdLst/>
            <a:ahLst/>
            <a:cxnLst/>
            <a:rect l="l" t="t" r="r" b="b"/>
            <a:pathLst>
              <a:path w="12904660" h="4489580">
                <a:moveTo>
                  <a:pt x="0" y="0"/>
                </a:moveTo>
                <a:lnTo>
                  <a:pt x="12904660" y="0"/>
                </a:lnTo>
                <a:lnTo>
                  <a:pt x="12904660" y="4489580"/>
                </a:lnTo>
                <a:lnTo>
                  <a:pt x="0" y="448958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6404524" y="267176"/>
            <a:ext cx="5588603" cy="1220953"/>
          </a:xfrm>
          <a:prstGeom prst="rect">
            <a:avLst/>
          </a:prstGeom>
        </p:spPr>
        <p:txBody>
          <a:bodyPr lIns="0" tIns="0" rIns="0" bIns="0" rtlCol="0" anchor="t">
            <a:spAutoFit/>
          </a:bodyPr>
          <a:lstStyle/>
          <a:p>
            <a:pPr algn="l">
              <a:lnSpc>
                <a:spcPts val="8965"/>
              </a:lnSpc>
            </a:pPr>
            <a:r>
              <a:rPr lang="en-US" sz="5964" b="1">
                <a:solidFill>
                  <a:srgbClr val="FFFFFF"/>
                </a:solidFill>
                <a:latin typeface="Poppins Semi-Bold"/>
                <a:ea typeface="Poppins Semi-Bold"/>
                <a:cs typeface="Poppins Semi-Bold"/>
                <a:sym typeface="Poppins Semi-Bold"/>
              </a:rPr>
              <a:t>Vetores/Array</a:t>
            </a:r>
          </a:p>
        </p:txBody>
      </p:sp>
      <p:sp>
        <p:nvSpPr>
          <p:cNvPr id="5" name="TextBox 5"/>
          <p:cNvSpPr txBox="1"/>
          <p:nvPr/>
        </p:nvSpPr>
        <p:spPr>
          <a:xfrm>
            <a:off x="9766840" y="1357674"/>
            <a:ext cx="143780" cy="1120350"/>
          </a:xfrm>
          <a:prstGeom prst="rect">
            <a:avLst/>
          </a:prstGeom>
        </p:spPr>
        <p:txBody>
          <a:bodyPr lIns="0" tIns="0" rIns="0" bIns="0" rtlCol="0" anchor="t">
            <a:spAutoFit/>
          </a:bodyPr>
          <a:lstStyle/>
          <a:p>
            <a:pPr algn="l">
              <a:lnSpc>
                <a:spcPts val="9249"/>
              </a:lnSpc>
            </a:pPr>
            <a:r>
              <a:rPr lang="en-US" sz="3699" b="1">
                <a:solidFill>
                  <a:srgbClr val="FFFFFF"/>
                </a:solidFill>
                <a:latin typeface="Poppins Semi-Bold"/>
                <a:ea typeface="Poppins Semi-Bold"/>
                <a:cs typeface="Poppins Semi-Bold"/>
                <a:sym typeface="Poppins Semi-Bold"/>
              </a:rPr>
              <a:t> </a:t>
            </a:r>
          </a:p>
        </p:txBody>
      </p:sp>
      <p:sp>
        <p:nvSpPr>
          <p:cNvPr id="6" name="TextBox 6"/>
          <p:cNvSpPr txBox="1"/>
          <p:nvPr/>
        </p:nvSpPr>
        <p:spPr>
          <a:xfrm>
            <a:off x="164983" y="1814874"/>
            <a:ext cx="17251956" cy="663150"/>
          </a:xfrm>
          <a:prstGeom prst="rect">
            <a:avLst/>
          </a:prstGeom>
        </p:spPr>
        <p:txBody>
          <a:bodyPr lIns="0" tIns="0" rIns="0" bIns="0" rtlCol="0" anchor="t">
            <a:spAutoFit/>
          </a:bodyPr>
          <a:lstStyle/>
          <a:p>
            <a:pPr algn="l">
              <a:lnSpc>
                <a:spcPts val="4424"/>
              </a:lnSpc>
            </a:pPr>
            <a:r>
              <a:rPr lang="en-US" sz="3699" b="1">
                <a:solidFill>
                  <a:srgbClr val="FFFFFF"/>
                </a:solidFill>
                <a:latin typeface="Poppins Semi-Bold"/>
                <a:ea typeface="Poppins Semi-Bold"/>
                <a:cs typeface="Poppins Semi-Bold"/>
                <a:sym typeface="Poppins Semi-Bold"/>
              </a:rPr>
              <a:t>Vetores ou Matrizes são utilizados paraarmazenar vários valores em</a:t>
            </a:r>
          </a:p>
        </p:txBody>
      </p:sp>
      <p:sp>
        <p:nvSpPr>
          <p:cNvPr id="7" name="TextBox 7"/>
          <p:cNvSpPr txBox="1"/>
          <p:nvPr/>
        </p:nvSpPr>
        <p:spPr>
          <a:xfrm>
            <a:off x="164983" y="2376849"/>
            <a:ext cx="17112005" cy="3473025"/>
          </a:xfrm>
          <a:prstGeom prst="rect">
            <a:avLst/>
          </a:prstGeom>
        </p:spPr>
        <p:txBody>
          <a:bodyPr lIns="0" tIns="0" rIns="0" bIns="0" rtlCol="0" anchor="t">
            <a:spAutoFit/>
          </a:bodyPr>
          <a:lstStyle/>
          <a:p>
            <a:pPr algn="just">
              <a:lnSpc>
                <a:spcPts val="4424"/>
              </a:lnSpc>
            </a:pPr>
            <a:r>
              <a:rPr lang="en-US" sz="3699" b="1">
                <a:solidFill>
                  <a:srgbClr val="FFFFFF"/>
                </a:solidFill>
                <a:latin typeface="Poppins Semi-Bold"/>
                <a:ea typeface="Poppins Semi-Bold"/>
                <a:cs typeface="Poppins Semi-Bold"/>
                <a:sym typeface="Poppins Semi-Bold"/>
              </a:rPr>
              <a:t>uma única variável. Foi mostrado anteriormente nos slides como declarar variáveis únicas para cada caso, agora você verá que é possível criar uma única variável que consegue armazenar todos os valores necessários, por exemplo. Vamos imaginar que o ônibus seja uma variável.</a:t>
            </a:r>
          </a:p>
        </p:txBody>
      </p:sp>
      <p:sp>
        <p:nvSpPr>
          <p:cNvPr id="8" name="TextBox 8"/>
          <p:cNvSpPr txBox="1"/>
          <p:nvPr/>
        </p:nvSpPr>
        <p:spPr>
          <a:xfrm>
            <a:off x="12891116" y="6544123"/>
            <a:ext cx="4843834" cy="3044447"/>
          </a:xfrm>
          <a:prstGeom prst="rect">
            <a:avLst/>
          </a:prstGeom>
        </p:spPr>
        <p:txBody>
          <a:bodyPr lIns="0" tIns="0" rIns="0" bIns="0" rtlCol="0" anchor="t">
            <a:spAutoFit/>
          </a:bodyPr>
          <a:lstStyle/>
          <a:p>
            <a:pPr algn="ctr">
              <a:lnSpc>
                <a:spcPts val="3899"/>
              </a:lnSpc>
            </a:pPr>
            <a:r>
              <a:rPr lang="en-US" sz="3299" b="1">
                <a:solidFill>
                  <a:srgbClr val="FFFFFF"/>
                </a:solidFill>
                <a:latin typeface="Poppins Semi-Bold"/>
                <a:ea typeface="Poppins Semi-Bold"/>
                <a:cs typeface="Poppins Semi-Bold"/>
                <a:sym typeface="Poppins Semi-Bold"/>
              </a:rPr>
              <a:t>Cada assento desse ônibus corresponde a um espaço para armazenar um valor, nesse caso, o ônibus tem 42 assentos.</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2528335" y="6224845"/>
            <a:ext cx="850906" cy="1583226"/>
          </a:xfrm>
          <a:custGeom>
            <a:avLst/>
            <a:gdLst/>
            <a:ahLst/>
            <a:cxnLst/>
            <a:rect l="l" t="t" r="r" b="b"/>
            <a:pathLst>
              <a:path w="850906" h="1583226">
                <a:moveTo>
                  <a:pt x="0" y="0"/>
                </a:moveTo>
                <a:lnTo>
                  <a:pt x="850906" y="0"/>
                </a:lnTo>
                <a:lnTo>
                  <a:pt x="850906" y="1583226"/>
                </a:lnTo>
                <a:lnTo>
                  <a:pt x="0" y="158322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7399115" y="6162999"/>
            <a:ext cx="1874396" cy="2083432"/>
          </a:xfrm>
          <a:custGeom>
            <a:avLst/>
            <a:gdLst/>
            <a:ahLst/>
            <a:cxnLst/>
            <a:rect l="l" t="t" r="r" b="b"/>
            <a:pathLst>
              <a:path w="1874396" h="2083432">
                <a:moveTo>
                  <a:pt x="0" y="0"/>
                </a:moveTo>
                <a:lnTo>
                  <a:pt x="1874396" y="0"/>
                </a:lnTo>
                <a:lnTo>
                  <a:pt x="1874396" y="2083432"/>
                </a:lnTo>
                <a:lnTo>
                  <a:pt x="0" y="208343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4975881" y="6165466"/>
            <a:ext cx="1536325" cy="1962950"/>
          </a:xfrm>
          <a:custGeom>
            <a:avLst/>
            <a:gdLst/>
            <a:ahLst/>
            <a:cxnLst/>
            <a:rect l="l" t="t" r="r" b="b"/>
            <a:pathLst>
              <a:path w="1536325" h="1962950">
                <a:moveTo>
                  <a:pt x="0" y="0"/>
                </a:moveTo>
                <a:lnTo>
                  <a:pt x="1536326" y="0"/>
                </a:lnTo>
                <a:lnTo>
                  <a:pt x="1536326" y="1962950"/>
                </a:lnTo>
                <a:lnTo>
                  <a:pt x="0" y="196295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5053775" y="776764"/>
            <a:ext cx="7947955" cy="2840222"/>
          </a:xfrm>
          <a:prstGeom prst="rect">
            <a:avLst/>
          </a:prstGeom>
        </p:spPr>
        <p:txBody>
          <a:bodyPr lIns="0" tIns="0" rIns="0" bIns="0" rtlCol="0" anchor="t">
            <a:spAutoFit/>
          </a:bodyPr>
          <a:lstStyle/>
          <a:p>
            <a:pPr algn="ctr">
              <a:lnSpc>
                <a:spcPts val="8350"/>
              </a:lnSpc>
            </a:pPr>
            <a:r>
              <a:rPr lang="en-US" sz="5964" b="1">
                <a:solidFill>
                  <a:srgbClr val="FFFFFF"/>
                </a:solidFill>
                <a:latin typeface="Poppins Semi-Bold"/>
                <a:ea typeface="Poppins Semi-Bold"/>
                <a:cs typeface="Poppins Semi-Bold"/>
                <a:sym typeface="Poppins Semi-Bold"/>
              </a:rPr>
              <a:t>Vetores/Array</a:t>
            </a:r>
          </a:p>
          <a:p>
            <a:pPr algn="ctr">
              <a:lnSpc>
                <a:spcPts val="3899"/>
              </a:lnSpc>
            </a:pPr>
            <a:r>
              <a:rPr lang="en-US" sz="3299" b="1">
                <a:solidFill>
                  <a:srgbClr val="FFFFFF"/>
                </a:solidFill>
                <a:latin typeface="Poppins Semi-Bold"/>
                <a:ea typeface="Poppins Semi-Bold"/>
                <a:cs typeface="Poppins Semi-Bold"/>
                <a:sym typeface="Poppins Semi-Bold"/>
              </a:rPr>
              <a:t>Se trouxermos esse exemplo para a</a:t>
            </a:r>
          </a:p>
        </p:txBody>
      </p:sp>
      <p:sp>
        <p:nvSpPr>
          <p:cNvPr id="6" name="TextBox 6"/>
          <p:cNvSpPr txBox="1"/>
          <p:nvPr/>
        </p:nvSpPr>
        <p:spPr>
          <a:xfrm>
            <a:off x="10471756" y="3219193"/>
            <a:ext cx="128216" cy="948947"/>
          </a:xfrm>
          <a:prstGeom prst="rect">
            <a:avLst/>
          </a:prstGeom>
        </p:spPr>
        <p:txBody>
          <a:bodyPr lIns="0" tIns="0" rIns="0" bIns="0" rtlCol="0" anchor="t">
            <a:spAutoFit/>
          </a:bodyPr>
          <a:lstStyle/>
          <a:p>
            <a:pPr algn="l">
              <a:lnSpc>
                <a:spcPts val="7815"/>
              </a:lnSpc>
            </a:pPr>
            <a:r>
              <a:rPr lang="en-US" sz="3299" b="1">
                <a:solidFill>
                  <a:srgbClr val="FFFFFF"/>
                </a:solidFill>
                <a:latin typeface="Poppins Semi-Bold"/>
                <a:ea typeface="Poppins Semi-Bold"/>
                <a:cs typeface="Poppins Semi-Bold"/>
                <a:sym typeface="Poppins Semi-Bold"/>
              </a:rPr>
              <a:t> </a:t>
            </a:r>
          </a:p>
        </p:txBody>
      </p:sp>
      <p:sp>
        <p:nvSpPr>
          <p:cNvPr id="7" name="TextBox 7"/>
          <p:cNvSpPr txBox="1"/>
          <p:nvPr/>
        </p:nvSpPr>
        <p:spPr>
          <a:xfrm>
            <a:off x="241573" y="4099627"/>
            <a:ext cx="18160765" cy="4338037"/>
          </a:xfrm>
          <a:prstGeom prst="rect">
            <a:avLst/>
          </a:prstGeom>
        </p:spPr>
        <p:txBody>
          <a:bodyPr lIns="0" tIns="0" rIns="0" bIns="0" rtlCol="0" anchor="t">
            <a:spAutoFit/>
          </a:bodyPr>
          <a:lstStyle/>
          <a:p>
            <a:pPr algn="l">
              <a:lnSpc>
                <a:spcPts val="17658"/>
              </a:lnSpc>
            </a:pPr>
            <a:r>
              <a:rPr lang="en-US" sz="8167" b="1">
                <a:solidFill>
                  <a:srgbClr val="3C67BF"/>
                </a:solidFill>
                <a:latin typeface="Poppins Semi-Bold"/>
                <a:ea typeface="Poppins Semi-Bold"/>
                <a:cs typeface="Poppins Semi-Bold"/>
                <a:sym typeface="Poppins Semi-Bold"/>
              </a:rPr>
              <a:t>string</a:t>
            </a:r>
            <a:r>
              <a:rPr lang="en-US" sz="8167" b="1">
                <a:solidFill>
                  <a:srgbClr val="FFFFFF"/>
                </a:solidFill>
                <a:latin typeface="Poppins Semi-Bold"/>
                <a:ea typeface="Poppins Semi-Bold"/>
                <a:cs typeface="Poppins Semi-Bold"/>
                <a:sym typeface="Poppins Semi-Bold"/>
              </a:rPr>
              <a:t>[] onibus = </a:t>
            </a:r>
            <a:r>
              <a:rPr lang="en-US" sz="8167" b="1">
                <a:solidFill>
                  <a:srgbClr val="3C67BF"/>
                </a:solidFill>
                <a:latin typeface="Poppins Semi-Bold"/>
                <a:ea typeface="Poppins Semi-Bold"/>
                <a:cs typeface="Poppins Semi-Bold"/>
                <a:sym typeface="Poppins Semi-Bold"/>
              </a:rPr>
              <a:t>new string</a:t>
            </a:r>
            <a:r>
              <a:rPr lang="en-US" sz="8167" b="1">
                <a:solidFill>
                  <a:srgbClr val="FFFFFF"/>
                </a:solidFill>
                <a:latin typeface="Poppins Semi-Bold"/>
                <a:ea typeface="Poppins Semi-Bold"/>
                <a:cs typeface="Poppins Semi-Bold"/>
                <a:sym typeface="Poppins Semi-Bold"/>
              </a:rPr>
              <a:t>[</a:t>
            </a:r>
            <a:r>
              <a:rPr lang="en-US" sz="8167" b="1">
                <a:solidFill>
                  <a:srgbClr val="FFCB85"/>
                </a:solidFill>
                <a:latin typeface="Poppins Semi-Bold"/>
                <a:ea typeface="Poppins Semi-Bold"/>
                <a:cs typeface="Poppins Semi-Bold"/>
                <a:sym typeface="Poppins Semi-Bold"/>
              </a:rPr>
              <a:t>42</a:t>
            </a:r>
            <a:r>
              <a:rPr lang="en-US" sz="8167" b="1">
                <a:solidFill>
                  <a:srgbClr val="FFFFFF"/>
                </a:solidFill>
                <a:latin typeface="Poppins Semi-Bold"/>
                <a:ea typeface="Poppins Semi-Bold"/>
                <a:cs typeface="Poppins Semi-Bold"/>
                <a:sym typeface="Poppins Semi-Bold"/>
              </a:rPr>
              <a:t>];</a:t>
            </a:r>
          </a:p>
          <a:p>
            <a:pPr algn="l">
              <a:lnSpc>
                <a:spcPts val="2999"/>
              </a:lnSpc>
            </a:pPr>
            <a:r>
              <a:rPr lang="en-US" sz="4999" b="1">
                <a:solidFill>
                  <a:srgbClr val="3C67BF"/>
                </a:solidFill>
                <a:latin typeface="Poppins Semi-Bold"/>
                <a:ea typeface="Poppins Semi-Bold"/>
                <a:cs typeface="Poppins Semi-Bold"/>
                <a:sym typeface="Poppins Semi-Bold"/>
              </a:rPr>
              <a:t>Tipo da variável</a:t>
            </a:r>
          </a:p>
        </p:txBody>
      </p:sp>
      <p:sp>
        <p:nvSpPr>
          <p:cNvPr id="8" name="TextBox 8"/>
          <p:cNvSpPr txBox="1"/>
          <p:nvPr/>
        </p:nvSpPr>
        <p:spPr>
          <a:xfrm>
            <a:off x="6102286" y="8300942"/>
            <a:ext cx="5978652" cy="584121"/>
          </a:xfrm>
          <a:prstGeom prst="rect">
            <a:avLst/>
          </a:prstGeom>
        </p:spPr>
        <p:txBody>
          <a:bodyPr lIns="0" tIns="0" rIns="0" bIns="0" rtlCol="0" anchor="t">
            <a:spAutoFit/>
          </a:bodyPr>
          <a:lstStyle/>
          <a:p>
            <a:pPr algn="l">
              <a:lnSpc>
                <a:spcPts val="2999"/>
              </a:lnSpc>
            </a:pPr>
            <a:r>
              <a:rPr lang="en-US" sz="4999" b="1">
                <a:solidFill>
                  <a:srgbClr val="FFFFFF"/>
                </a:solidFill>
                <a:latin typeface="Poppins Semi-Bold"/>
                <a:ea typeface="Poppins Semi-Bold"/>
                <a:cs typeface="Poppins Semi-Bold"/>
                <a:sym typeface="Poppins Semi-Bold"/>
              </a:rPr>
              <a:t>Nome da variável</a:t>
            </a:r>
          </a:p>
        </p:txBody>
      </p:sp>
      <p:sp>
        <p:nvSpPr>
          <p:cNvPr id="9" name="TextBox 9"/>
          <p:cNvSpPr txBox="1"/>
          <p:nvPr/>
        </p:nvSpPr>
        <p:spPr>
          <a:xfrm>
            <a:off x="12635436" y="7900883"/>
            <a:ext cx="5052593" cy="1631871"/>
          </a:xfrm>
          <a:prstGeom prst="rect">
            <a:avLst/>
          </a:prstGeom>
        </p:spPr>
        <p:txBody>
          <a:bodyPr lIns="0" tIns="0" rIns="0" bIns="0" rtlCol="0" anchor="t">
            <a:spAutoFit/>
          </a:bodyPr>
          <a:lstStyle/>
          <a:p>
            <a:pPr algn="ctr">
              <a:lnSpc>
                <a:spcPts val="5999"/>
              </a:lnSpc>
            </a:pPr>
            <a:r>
              <a:rPr lang="en-US" sz="4999" b="1">
                <a:solidFill>
                  <a:srgbClr val="FFCB85"/>
                </a:solidFill>
                <a:latin typeface="Poppins Semi-Bold"/>
                <a:ea typeface="Poppins Semi-Bold"/>
                <a:cs typeface="Poppins Semi-Bold"/>
                <a:sym typeface="Poppins Semi-Bold"/>
              </a:rPr>
              <a:t>Quantidade de "Assentos"</a:t>
            </a:r>
          </a:p>
        </p:txBody>
      </p:sp>
      <p:sp>
        <p:nvSpPr>
          <p:cNvPr id="10" name="TextBox 10"/>
          <p:cNvSpPr txBox="1"/>
          <p:nvPr/>
        </p:nvSpPr>
        <p:spPr>
          <a:xfrm>
            <a:off x="5861618" y="3600193"/>
            <a:ext cx="6300149" cy="567947"/>
          </a:xfrm>
          <a:prstGeom prst="rect">
            <a:avLst/>
          </a:prstGeom>
        </p:spPr>
        <p:txBody>
          <a:bodyPr lIns="0" tIns="0" rIns="0" bIns="0" rtlCol="0" anchor="t">
            <a:spAutoFit/>
          </a:bodyPr>
          <a:lstStyle/>
          <a:p>
            <a:pPr algn="l">
              <a:lnSpc>
                <a:spcPts val="3899"/>
              </a:lnSpc>
            </a:pPr>
            <a:r>
              <a:rPr lang="en-US" sz="3299" b="1">
                <a:solidFill>
                  <a:srgbClr val="FFFFFF"/>
                </a:solidFill>
                <a:latin typeface="Poppins Semi-Bold"/>
                <a:ea typeface="Poppins Semi-Bold"/>
                <a:cs typeface="Poppins Semi-Bold"/>
                <a:sym typeface="Poppins Semi-Bold"/>
              </a:rPr>
              <a:t>programação, ficariaassim:</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rot="5400000">
            <a:off x="3550425" y="2374030"/>
            <a:ext cx="4362450" cy="11463299"/>
          </a:xfrm>
          <a:custGeom>
            <a:avLst/>
            <a:gdLst/>
            <a:ahLst/>
            <a:cxnLst/>
            <a:rect l="l" t="t" r="r" b="b"/>
            <a:pathLst>
              <a:path w="4362450" h="11463299">
                <a:moveTo>
                  <a:pt x="0" y="0"/>
                </a:moveTo>
                <a:lnTo>
                  <a:pt x="4362450" y="0"/>
                </a:lnTo>
                <a:lnTo>
                  <a:pt x="4362450" y="11463299"/>
                </a:lnTo>
                <a:lnTo>
                  <a:pt x="0" y="11463299"/>
                </a:lnTo>
                <a:lnTo>
                  <a:pt x="0" y="0"/>
                </a:lnTo>
                <a:close/>
              </a:path>
            </a:pathLst>
          </a:custGeom>
          <a:blipFill>
            <a:blip r:embed="rId2"/>
            <a:stretch>
              <a:fillRect l="-91573" r="-7771" b="-7187"/>
            </a:stretch>
          </a:blipFill>
        </p:spPr>
      </p:sp>
      <p:grpSp>
        <p:nvGrpSpPr>
          <p:cNvPr id="3" name="Group 3"/>
          <p:cNvGrpSpPr>
            <a:grpSpLocks noChangeAspect="1"/>
          </p:cNvGrpSpPr>
          <p:nvPr/>
        </p:nvGrpSpPr>
        <p:grpSpPr>
          <a:xfrm>
            <a:off x="0" y="5924417"/>
            <a:ext cx="11463395" cy="4362583"/>
            <a:chOff x="0" y="0"/>
            <a:chExt cx="11463388" cy="4362577"/>
          </a:xfrm>
        </p:grpSpPr>
        <p:sp>
          <p:nvSpPr>
            <p:cNvPr id="4" name="Freeform 4"/>
            <p:cNvSpPr/>
            <p:nvPr/>
          </p:nvSpPr>
          <p:spPr>
            <a:xfrm>
              <a:off x="0" y="0"/>
              <a:ext cx="11463401" cy="4362577"/>
            </a:xfrm>
            <a:custGeom>
              <a:avLst/>
              <a:gdLst/>
              <a:ahLst/>
              <a:cxnLst/>
              <a:rect l="l" t="t" r="r" b="b"/>
              <a:pathLst>
                <a:path w="11463401" h="4362577">
                  <a:moveTo>
                    <a:pt x="0" y="0"/>
                  </a:moveTo>
                  <a:lnTo>
                    <a:pt x="0" y="4362577"/>
                  </a:lnTo>
                  <a:lnTo>
                    <a:pt x="11463401" y="4362577"/>
                  </a:lnTo>
                  <a:lnTo>
                    <a:pt x="11463401" y="0"/>
                  </a:lnTo>
                  <a:close/>
                </a:path>
              </a:pathLst>
            </a:custGeom>
            <a:solidFill>
              <a:srgbClr val="000000">
                <a:alpha val="0"/>
              </a:srgbClr>
            </a:solidFill>
          </p:spPr>
        </p:sp>
      </p:grpSp>
      <p:sp>
        <p:nvSpPr>
          <p:cNvPr id="5" name="TextBox 5"/>
          <p:cNvSpPr txBox="1"/>
          <p:nvPr/>
        </p:nvSpPr>
        <p:spPr>
          <a:xfrm>
            <a:off x="6404524" y="400526"/>
            <a:ext cx="5588603" cy="1087603"/>
          </a:xfrm>
          <a:prstGeom prst="rect">
            <a:avLst/>
          </a:prstGeom>
        </p:spPr>
        <p:txBody>
          <a:bodyPr lIns="0" tIns="0" rIns="0" bIns="0" rtlCol="0" anchor="t">
            <a:spAutoFit/>
          </a:bodyPr>
          <a:lstStyle/>
          <a:p>
            <a:pPr algn="l">
              <a:lnSpc>
                <a:spcPts val="7581"/>
              </a:lnSpc>
            </a:pPr>
            <a:r>
              <a:rPr lang="en-US" sz="5964" b="1">
                <a:solidFill>
                  <a:srgbClr val="FFFFFF"/>
                </a:solidFill>
                <a:latin typeface="Poppins Semi-Bold"/>
                <a:ea typeface="Poppins Semi-Bold"/>
                <a:cs typeface="Poppins Semi-Bold"/>
                <a:sym typeface="Poppins Semi-Bold"/>
              </a:rPr>
              <a:t>Vetores/Array</a:t>
            </a:r>
          </a:p>
        </p:txBody>
      </p:sp>
      <p:sp>
        <p:nvSpPr>
          <p:cNvPr id="6" name="TextBox 6"/>
          <p:cNvSpPr txBox="1"/>
          <p:nvPr/>
        </p:nvSpPr>
        <p:spPr>
          <a:xfrm>
            <a:off x="7215549" y="1267187"/>
            <a:ext cx="143780" cy="929850"/>
          </a:xfrm>
          <a:prstGeom prst="rect">
            <a:avLst/>
          </a:prstGeom>
        </p:spPr>
        <p:txBody>
          <a:bodyPr lIns="0" tIns="0" rIns="0" bIns="0" rtlCol="0" anchor="t">
            <a:spAutoFit/>
          </a:bodyPr>
          <a:lstStyle/>
          <a:p>
            <a:pPr algn="l">
              <a:lnSpc>
                <a:spcPts val="7255"/>
              </a:lnSpc>
            </a:pPr>
            <a:r>
              <a:rPr lang="en-US" sz="3699" b="1">
                <a:solidFill>
                  <a:srgbClr val="FFFFFF"/>
                </a:solidFill>
                <a:latin typeface="Poppins Semi-Bold"/>
                <a:ea typeface="Poppins Semi-Bold"/>
                <a:cs typeface="Poppins Semi-Bold"/>
                <a:sym typeface="Poppins Semi-Bold"/>
              </a:rPr>
              <a:t> </a:t>
            </a:r>
          </a:p>
        </p:txBody>
      </p:sp>
      <p:sp>
        <p:nvSpPr>
          <p:cNvPr id="7" name="TextBox 7"/>
          <p:cNvSpPr txBox="1"/>
          <p:nvPr/>
        </p:nvSpPr>
        <p:spPr>
          <a:xfrm>
            <a:off x="164983" y="1533887"/>
            <a:ext cx="17919059" cy="4596975"/>
          </a:xfrm>
          <a:prstGeom prst="rect">
            <a:avLst/>
          </a:prstGeom>
        </p:spPr>
        <p:txBody>
          <a:bodyPr lIns="0" tIns="0" rIns="0" bIns="0" rtlCol="0" anchor="t">
            <a:spAutoFit/>
          </a:bodyPr>
          <a:lstStyle/>
          <a:p>
            <a:pPr algn="l">
              <a:lnSpc>
                <a:spcPts val="4424"/>
              </a:lnSpc>
            </a:pPr>
            <a:r>
              <a:rPr lang="en-US" sz="3699" b="1">
                <a:solidFill>
                  <a:srgbClr val="FFFFFF"/>
                </a:solidFill>
                <a:latin typeface="Poppins Semi-Bold"/>
                <a:ea typeface="Poppins Semi-Bold"/>
                <a:cs typeface="Poppins Semi-Bold"/>
                <a:sym typeface="Poppins Semi-Bold"/>
              </a:rPr>
              <a:t>Assim como no ônibus, cadaespaçoteráseu número de assento. </a:t>
            </a:r>
            <a:r>
              <a:rPr lang="en-US" sz="3699" b="1">
                <a:solidFill>
                  <a:srgbClr val="3C67BF"/>
                </a:solidFill>
                <a:latin typeface="Poppins Semi-Bold"/>
                <a:ea typeface="Poppins Semi-Bold"/>
                <a:cs typeface="Poppins Semi-Bold"/>
                <a:sym typeface="Poppins Semi-Bold"/>
              </a:rPr>
              <a:t>string</a:t>
            </a:r>
            <a:r>
              <a:rPr lang="en-US" sz="3699" b="1">
                <a:solidFill>
                  <a:srgbClr val="FFFFFF"/>
                </a:solidFill>
                <a:latin typeface="Poppins Semi-Bold"/>
                <a:ea typeface="Poppins Semi-Bold"/>
                <a:cs typeface="Poppins Semi-Bold"/>
                <a:sym typeface="Poppins Semi-Bold"/>
              </a:rPr>
              <a:t>[]</a:t>
            </a:r>
            <a:r>
              <a:rPr lang="en-US" sz="3699" b="1">
                <a:solidFill>
                  <a:srgbClr val="3C67BF"/>
                </a:solidFill>
                <a:latin typeface="Poppins Semi-Bold"/>
                <a:ea typeface="Poppins Semi-Bold"/>
                <a:cs typeface="Poppins Semi-Bold"/>
                <a:sym typeface="Poppins Semi-Bold"/>
              </a:rPr>
              <a:t> </a:t>
            </a:r>
            <a:r>
              <a:rPr lang="en-US" sz="3699" b="1">
                <a:solidFill>
                  <a:srgbClr val="FFFFFF"/>
                </a:solidFill>
                <a:latin typeface="Poppins Semi-Bold"/>
                <a:ea typeface="Poppins Semi-Bold"/>
                <a:cs typeface="Poppins Semi-Bold"/>
                <a:sym typeface="Poppins Semi-Bold"/>
              </a:rPr>
              <a:t>onibus = </a:t>
            </a:r>
            <a:r>
              <a:rPr lang="en-US" sz="3699" b="1">
                <a:solidFill>
                  <a:srgbClr val="3C67BF"/>
                </a:solidFill>
                <a:latin typeface="Poppins Semi-Bold"/>
                <a:ea typeface="Poppins Semi-Bold"/>
                <a:cs typeface="Poppins Semi-Bold"/>
                <a:sym typeface="Poppins Semi-Bold"/>
              </a:rPr>
              <a:t>new string</a:t>
            </a:r>
            <a:r>
              <a:rPr lang="en-US" sz="3699" b="1">
                <a:solidFill>
                  <a:srgbClr val="FFFFFF"/>
                </a:solidFill>
                <a:latin typeface="Poppins Semi-Bold"/>
                <a:ea typeface="Poppins Semi-Bold"/>
                <a:cs typeface="Poppins Semi-Bold"/>
                <a:sym typeface="Poppins Semi-Bold"/>
              </a:rPr>
              <a:t>[42]; </a:t>
            </a:r>
            <a:r>
              <a:rPr lang="en-US" sz="3699" b="1">
                <a:solidFill>
                  <a:srgbClr val="7ED957"/>
                </a:solidFill>
                <a:latin typeface="Poppins Semi-Bold"/>
                <a:ea typeface="Poppins Semi-Bold"/>
                <a:cs typeface="Poppins Semi-Bold"/>
                <a:sym typeface="Poppins Semi-Bold"/>
              </a:rPr>
              <a:t>//Lembrando que precisa ser declado antes de usar. </a:t>
            </a:r>
            <a:r>
              <a:rPr lang="en-US" sz="3699" b="1">
                <a:solidFill>
                  <a:srgbClr val="FFFFFF"/>
                </a:solidFill>
                <a:latin typeface="Poppins Semi-Bold"/>
                <a:ea typeface="Poppins Semi-Bold"/>
                <a:cs typeface="Poppins Semi-Bold"/>
                <a:sym typeface="Poppins Semi-Bold"/>
              </a:rPr>
              <a:t>No nosso exemplo, tem 42 assentos, esses assentos na programação serão numerados de 0 a 41, pois o zero aqui conta como um número de assento.</a:t>
            </a:r>
          </a:p>
        </p:txBody>
      </p:sp>
      <p:sp>
        <p:nvSpPr>
          <p:cNvPr id="8" name="TextBox 8"/>
          <p:cNvSpPr txBox="1"/>
          <p:nvPr/>
        </p:nvSpPr>
        <p:spPr>
          <a:xfrm>
            <a:off x="681533" y="7125805"/>
            <a:ext cx="503615" cy="602266"/>
          </a:xfrm>
          <a:prstGeom prst="rect">
            <a:avLst/>
          </a:prstGeom>
        </p:spPr>
        <p:txBody>
          <a:bodyPr lIns="0" tIns="0" rIns="0" bIns="0" rtlCol="0" anchor="t">
            <a:spAutoFit/>
          </a:bodyPr>
          <a:lstStyle/>
          <a:p>
            <a:pPr algn="l">
              <a:lnSpc>
                <a:spcPts val="4759"/>
              </a:lnSpc>
            </a:pPr>
            <a:r>
              <a:rPr lang="en-US" sz="3399">
                <a:solidFill>
                  <a:srgbClr val="FFFFFF"/>
                </a:solidFill>
                <a:latin typeface="Open Sans"/>
                <a:ea typeface="Open Sans"/>
                <a:cs typeface="Open Sans"/>
                <a:sym typeface="Open Sans"/>
              </a:rPr>
              <a:t>41</a:t>
            </a:r>
          </a:p>
        </p:txBody>
      </p:sp>
      <p:sp>
        <p:nvSpPr>
          <p:cNvPr id="9" name="TextBox 9"/>
          <p:cNvSpPr txBox="1"/>
          <p:nvPr/>
        </p:nvSpPr>
        <p:spPr>
          <a:xfrm>
            <a:off x="4656287" y="8433187"/>
            <a:ext cx="503615" cy="602266"/>
          </a:xfrm>
          <a:prstGeom prst="rect">
            <a:avLst/>
          </a:prstGeom>
        </p:spPr>
        <p:txBody>
          <a:bodyPr lIns="0" tIns="0" rIns="0" bIns="0" rtlCol="0" anchor="t">
            <a:spAutoFit/>
          </a:bodyPr>
          <a:lstStyle/>
          <a:p>
            <a:pPr algn="l">
              <a:lnSpc>
                <a:spcPts val="4759"/>
              </a:lnSpc>
            </a:pPr>
            <a:r>
              <a:rPr lang="en-US" sz="3399">
                <a:solidFill>
                  <a:srgbClr val="FFFFFF"/>
                </a:solidFill>
                <a:latin typeface="Open Sans"/>
                <a:ea typeface="Open Sans"/>
                <a:cs typeface="Open Sans"/>
                <a:sym typeface="Open Sans"/>
              </a:rPr>
              <a:t>22</a:t>
            </a:r>
          </a:p>
        </p:txBody>
      </p:sp>
      <p:sp>
        <p:nvSpPr>
          <p:cNvPr id="10" name="TextBox 10"/>
          <p:cNvSpPr txBox="1"/>
          <p:nvPr/>
        </p:nvSpPr>
        <p:spPr>
          <a:xfrm>
            <a:off x="7152904" y="7125805"/>
            <a:ext cx="251812" cy="602266"/>
          </a:xfrm>
          <a:prstGeom prst="rect">
            <a:avLst/>
          </a:prstGeom>
        </p:spPr>
        <p:txBody>
          <a:bodyPr lIns="0" tIns="0" rIns="0" bIns="0" rtlCol="0" anchor="t">
            <a:spAutoFit/>
          </a:bodyPr>
          <a:lstStyle/>
          <a:p>
            <a:pPr algn="l">
              <a:lnSpc>
                <a:spcPts val="4759"/>
              </a:lnSpc>
            </a:pPr>
            <a:r>
              <a:rPr lang="en-US" sz="3399">
                <a:solidFill>
                  <a:srgbClr val="FFFFFF"/>
                </a:solidFill>
                <a:latin typeface="Open Sans"/>
                <a:ea typeface="Open Sans"/>
                <a:cs typeface="Open Sans"/>
                <a:sym typeface="Open Sans"/>
              </a:rPr>
              <a:t>9</a:t>
            </a:r>
          </a:p>
        </p:txBody>
      </p:sp>
      <p:sp>
        <p:nvSpPr>
          <p:cNvPr id="11" name="TextBox 11"/>
          <p:cNvSpPr txBox="1"/>
          <p:nvPr/>
        </p:nvSpPr>
        <p:spPr>
          <a:xfrm>
            <a:off x="8756085" y="6099439"/>
            <a:ext cx="251812" cy="1628632"/>
          </a:xfrm>
          <a:prstGeom prst="rect">
            <a:avLst/>
          </a:prstGeom>
        </p:spPr>
        <p:txBody>
          <a:bodyPr lIns="0" tIns="0" rIns="0" bIns="0" rtlCol="0" anchor="t">
            <a:spAutoFit/>
          </a:bodyPr>
          <a:lstStyle/>
          <a:p>
            <a:pPr algn="just">
              <a:lnSpc>
                <a:spcPts val="6656"/>
              </a:lnSpc>
            </a:pPr>
            <a:r>
              <a:rPr lang="en-US" sz="3399">
                <a:solidFill>
                  <a:srgbClr val="FFFFFF"/>
                </a:solidFill>
                <a:latin typeface="Open Sans"/>
                <a:ea typeface="Open Sans"/>
                <a:cs typeface="Open Sans"/>
                <a:sym typeface="Open Sans"/>
              </a:rPr>
              <a:t>0 1</a:t>
            </a:r>
          </a:p>
        </p:txBody>
      </p:sp>
      <p:sp>
        <p:nvSpPr>
          <p:cNvPr id="12" name="TextBox 12"/>
          <p:cNvSpPr txBox="1"/>
          <p:nvPr/>
        </p:nvSpPr>
        <p:spPr>
          <a:xfrm>
            <a:off x="8756085" y="8080762"/>
            <a:ext cx="251812" cy="1801778"/>
          </a:xfrm>
          <a:prstGeom prst="rect">
            <a:avLst/>
          </a:prstGeom>
        </p:spPr>
        <p:txBody>
          <a:bodyPr lIns="0" tIns="0" rIns="0" bIns="0" rtlCol="0" anchor="t">
            <a:spAutoFit/>
          </a:bodyPr>
          <a:lstStyle/>
          <a:p>
            <a:pPr algn="just">
              <a:lnSpc>
                <a:spcPts val="8499"/>
              </a:lnSpc>
            </a:pPr>
            <a:r>
              <a:rPr lang="en-US" sz="3399">
                <a:solidFill>
                  <a:srgbClr val="FFFFFF"/>
                </a:solidFill>
                <a:latin typeface="Open Sans"/>
                <a:ea typeface="Open Sans"/>
                <a:cs typeface="Open Sans"/>
                <a:sym typeface="Open Sans"/>
              </a:rPr>
              <a:t>2</a:t>
            </a:r>
          </a:p>
          <a:p>
            <a:pPr algn="just">
              <a:lnSpc>
                <a:spcPts val="4841"/>
              </a:lnSpc>
            </a:pPr>
            <a:r>
              <a:rPr lang="en-US" sz="3399">
                <a:solidFill>
                  <a:srgbClr val="FFFFFF"/>
                </a:solidFill>
                <a:latin typeface="Open Sans"/>
                <a:ea typeface="Open Sans"/>
                <a:cs typeface="Open Sans"/>
                <a:sym typeface="Open Sans"/>
              </a:rPr>
              <a:t>3</a:t>
            </a:r>
          </a:p>
        </p:txBody>
      </p:sp>
      <p:sp>
        <p:nvSpPr>
          <p:cNvPr id="13" name="TextBox 13"/>
          <p:cNvSpPr txBox="1"/>
          <p:nvPr/>
        </p:nvSpPr>
        <p:spPr>
          <a:xfrm>
            <a:off x="12815049" y="6918322"/>
            <a:ext cx="4528033" cy="1558547"/>
          </a:xfrm>
          <a:prstGeom prst="rect">
            <a:avLst/>
          </a:prstGeom>
        </p:spPr>
        <p:txBody>
          <a:bodyPr lIns="0" tIns="0" rIns="0" bIns="0" rtlCol="0" anchor="t">
            <a:spAutoFit/>
          </a:bodyPr>
          <a:lstStyle/>
          <a:p>
            <a:pPr algn="ctr">
              <a:lnSpc>
                <a:spcPts val="3899"/>
              </a:lnSpc>
            </a:pPr>
            <a:r>
              <a:rPr lang="en-US" sz="3299" b="1">
                <a:solidFill>
                  <a:srgbClr val="FFFFFF"/>
                </a:solidFill>
                <a:latin typeface="Poppins Semi-Bold"/>
                <a:ea typeface="Poppins Semi-Bold"/>
                <a:cs typeface="Poppins Semi-Bold"/>
                <a:sym typeface="Poppins Semi-Bold"/>
              </a:rPr>
              <a:t>De 0 a 41, temos 42 assentos no total no ônibus.</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3136830" y="3105493"/>
            <a:ext cx="3952799" cy="7245001"/>
          </a:xfrm>
          <a:custGeom>
            <a:avLst/>
            <a:gdLst/>
            <a:ahLst/>
            <a:cxnLst/>
            <a:rect l="l" t="t" r="r" b="b"/>
            <a:pathLst>
              <a:path w="3952799" h="7245001">
                <a:moveTo>
                  <a:pt x="0" y="0"/>
                </a:moveTo>
                <a:lnTo>
                  <a:pt x="3952799" y="0"/>
                </a:lnTo>
                <a:lnTo>
                  <a:pt x="3952799" y="7245001"/>
                </a:lnTo>
                <a:lnTo>
                  <a:pt x="0" y="72450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9464554" y="3100435"/>
            <a:ext cx="3952799" cy="7248430"/>
          </a:xfrm>
          <a:custGeom>
            <a:avLst/>
            <a:gdLst/>
            <a:ahLst/>
            <a:cxnLst/>
            <a:rect l="l" t="t" r="r" b="b"/>
            <a:pathLst>
              <a:path w="3952799" h="7248430">
                <a:moveTo>
                  <a:pt x="0" y="0"/>
                </a:moveTo>
                <a:lnTo>
                  <a:pt x="3952799" y="0"/>
                </a:lnTo>
                <a:lnTo>
                  <a:pt x="3952799" y="7248430"/>
                </a:lnTo>
                <a:lnTo>
                  <a:pt x="0" y="72484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6404524" y="295751"/>
            <a:ext cx="5588603" cy="1192378"/>
          </a:xfrm>
          <a:prstGeom prst="rect">
            <a:avLst/>
          </a:prstGeom>
        </p:spPr>
        <p:txBody>
          <a:bodyPr lIns="0" tIns="0" rIns="0" bIns="0" rtlCol="0" anchor="t">
            <a:spAutoFit/>
          </a:bodyPr>
          <a:lstStyle/>
          <a:p>
            <a:pPr algn="l">
              <a:lnSpc>
                <a:spcPts val="8601"/>
              </a:lnSpc>
            </a:pPr>
            <a:r>
              <a:rPr lang="en-US" sz="5964" b="1">
                <a:solidFill>
                  <a:srgbClr val="FFFFFF"/>
                </a:solidFill>
                <a:latin typeface="Poppins Semi-Bold"/>
                <a:ea typeface="Poppins Semi-Bold"/>
                <a:cs typeface="Poppins Semi-Bold"/>
                <a:sym typeface="Poppins Semi-Bold"/>
              </a:rPr>
              <a:t>Vetores/Array</a:t>
            </a:r>
          </a:p>
        </p:txBody>
      </p:sp>
      <p:sp>
        <p:nvSpPr>
          <p:cNvPr id="5" name="TextBox 5"/>
          <p:cNvSpPr txBox="1"/>
          <p:nvPr/>
        </p:nvSpPr>
        <p:spPr>
          <a:xfrm>
            <a:off x="8826665" y="1284227"/>
            <a:ext cx="143780" cy="1120350"/>
          </a:xfrm>
          <a:prstGeom prst="rect">
            <a:avLst/>
          </a:prstGeom>
        </p:spPr>
        <p:txBody>
          <a:bodyPr lIns="0" tIns="0" rIns="0" bIns="0" rtlCol="0" anchor="t">
            <a:spAutoFit/>
          </a:bodyPr>
          <a:lstStyle/>
          <a:p>
            <a:pPr algn="l">
              <a:lnSpc>
                <a:spcPts val="9249"/>
              </a:lnSpc>
            </a:pPr>
            <a:r>
              <a:rPr lang="en-US" sz="3699" b="1">
                <a:solidFill>
                  <a:srgbClr val="FFFFFF"/>
                </a:solidFill>
                <a:latin typeface="Poppins Semi-Bold"/>
                <a:ea typeface="Poppins Semi-Bold"/>
                <a:cs typeface="Poppins Semi-Bold"/>
                <a:sym typeface="Poppins Semi-Bold"/>
              </a:rPr>
              <a:t> </a:t>
            </a:r>
          </a:p>
        </p:txBody>
      </p:sp>
      <p:sp>
        <p:nvSpPr>
          <p:cNvPr id="6" name="TextBox 6"/>
          <p:cNvSpPr txBox="1"/>
          <p:nvPr/>
        </p:nvSpPr>
        <p:spPr>
          <a:xfrm>
            <a:off x="164983" y="1741427"/>
            <a:ext cx="18159165" cy="663150"/>
          </a:xfrm>
          <a:prstGeom prst="rect">
            <a:avLst/>
          </a:prstGeom>
        </p:spPr>
        <p:txBody>
          <a:bodyPr lIns="0" tIns="0" rIns="0" bIns="0" rtlCol="0" anchor="t">
            <a:spAutoFit/>
          </a:bodyPr>
          <a:lstStyle/>
          <a:p>
            <a:pPr algn="l">
              <a:lnSpc>
                <a:spcPts val="4424"/>
              </a:lnSpc>
            </a:pPr>
            <a:r>
              <a:rPr lang="en-US" sz="3699" b="1">
                <a:solidFill>
                  <a:srgbClr val="FFFFFF"/>
                </a:solidFill>
                <a:latin typeface="Poppins Semi-Bold"/>
                <a:ea typeface="Poppins Semi-Bold"/>
                <a:cs typeface="Poppins Semi-Bold"/>
                <a:sym typeface="Poppins Semi-Bold"/>
              </a:rPr>
              <a:t>Depois de terem declarado o nossoonibuscom42 assentos, eles ficarão</a:t>
            </a:r>
          </a:p>
        </p:txBody>
      </p:sp>
      <p:sp>
        <p:nvSpPr>
          <p:cNvPr id="7" name="TextBox 7"/>
          <p:cNvSpPr txBox="1"/>
          <p:nvPr/>
        </p:nvSpPr>
        <p:spPr>
          <a:xfrm>
            <a:off x="164983" y="2303402"/>
            <a:ext cx="11440268" cy="663150"/>
          </a:xfrm>
          <a:prstGeom prst="rect">
            <a:avLst/>
          </a:prstGeom>
        </p:spPr>
        <p:txBody>
          <a:bodyPr lIns="0" tIns="0" rIns="0" bIns="0" rtlCol="0" anchor="t">
            <a:spAutoFit/>
          </a:bodyPr>
          <a:lstStyle/>
          <a:p>
            <a:pPr algn="l">
              <a:lnSpc>
                <a:spcPts val="4424"/>
              </a:lnSpc>
            </a:pPr>
            <a:r>
              <a:rPr lang="en-US" sz="3699" b="1">
                <a:solidFill>
                  <a:srgbClr val="FFFFFF"/>
                </a:solidFill>
                <a:latin typeface="Poppins Semi-Bold"/>
                <a:ea typeface="Poppins Semi-Bold"/>
                <a:cs typeface="Poppins Semi-Bold"/>
                <a:sym typeface="Poppins Semi-Bold"/>
              </a:rPr>
              <a:t>numerados dessa maneira na programação:</a:t>
            </a:r>
          </a:p>
        </p:txBody>
      </p:sp>
      <p:sp>
        <p:nvSpPr>
          <p:cNvPr id="8" name="TextBox 8"/>
          <p:cNvSpPr txBox="1"/>
          <p:nvPr/>
        </p:nvSpPr>
        <p:spPr>
          <a:xfrm>
            <a:off x="1028700" y="3092834"/>
            <a:ext cx="2134276" cy="7199967"/>
          </a:xfrm>
          <a:prstGeom prst="rect">
            <a:avLst/>
          </a:prstGeom>
        </p:spPr>
        <p:txBody>
          <a:bodyPr lIns="0" tIns="0" rIns="0" bIns="0" rtlCol="0" anchor="t">
            <a:spAutoFit/>
          </a:bodyPr>
          <a:lstStyle/>
          <a:p>
            <a:pPr algn="just">
              <a:lnSpc>
                <a:spcPts val="3300"/>
              </a:lnSpc>
            </a:pPr>
            <a:r>
              <a:rPr lang="en-US" sz="2799" b="1">
                <a:solidFill>
                  <a:srgbClr val="FFFFFF"/>
                </a:solidFill>
                <a:latin typeface="Poppins Semi-Bold"/>
                <a:ea typeface="Poppins Semi-Bold"/>
                <a:cs typeface="Poppins Semi-Bold"/>
                <a:sym typeface="Poppins Semi-Bold"/>
              </a:rPr>
              <a:t>onibus[0]; onibus[1]; onibus[2]; onibus[3]; onibus[4]; onibus[5]; onibus[6]; onibus[7]; onibus[8]; onibus[9]; onibus[10]; onibus[11]; onibus[12]; onibus[13]; onibus[14]; onibus[15]; onibus[16];</a:t>
            </a:r>
          </a:p>
        </p:txBody>
      </p:sp>
      <p:sp>
        <p:nvSpPr>
          <p:cNvPr id="9" name="TextBox 9"/>
          <p:cNvSpPr txBox="1"/>
          <p:nvPr/>
        </p:nvSpPr>
        <p:spPr>
          <a:xfrm>
            <a:off x="7256593" y="3092834"/>
            <a:ext cx="2207171" cy="7199967"/>
          </a:xfrm>
          <a:prstGeom prst="rect">
            <a:avLst/>
          </a:prstGeom>
        </p:spPr>
        <p:txBody>
          <a:bodyPr lIns="0" tIns="0" rIns="0" bIns="0" rtlCol="0" anchor="t">
            <a:spAutoFit/>
          </a:bodyPr>
          <a:lstStyle/>
          <a:p>
            <a:pPr algn="just">
              <a:lnSpc>
                <a:spcPts val="3300"/>
              </a:lnSpc>
            </a:pPr>
            <a:r>
              <a:rPr lang="en-US" sz="2799" b="1">
                <a:solidFill>
                  <a:srgbClr val="FFFFFF"/>
                </a:solidFill>
                <a:latin typeface="Poppins Semi-Bold"/>
                <a:ea typeface="Poppins Semi-Bold"/>
                <a:cs typeface="Poppins Semi-Bold"/>
                <a:sym typeface="Poppins Semi-Bold"/>
              </a:rPr>
              <a:t>onibus[17]; onibus[18]; onibus[19]; onibus[20]; onibus[21]; onibus[22]; onibus[23]; onibus[24]; onibus[25]; onibus[26]; onibus[27]; onibus[28]; onibus[29]; onibus[30]; onibus[31]; onibus[32]; onibus[33];</a:t>
            </a:r>
          </a:p>
        </p:txBody>
      </p:sp>
      <p:sp>
        <p:nvSpPr>
          <p:cNvPr id="10" name="TextBox 10"/>
          <p:cNvSpPr txBox="1"/>
          <p:nvPr/>
        </p:nvSpPr>
        <p:spPr>
          <a:xfrm>
            <a:off x="13484485" y="3092834"/>
            <a:ext cx="2229660" cy="3428067"/>
          </a:xfrm>
          <a:prstGeom prst="rect">
            <a:avLst/>
          </a:prstGeom>
        </p:spPr>
        <p:txBody>
          <a:bodyPr lIns="0" tIns="0" rIns="0" bIns="0" rtlCol="0" anchor="t">
            <a:spAutoFit/>
          </a:bodyPr>
          <a:lstStyle/>
          <a:p>
            <a:pPr algn="l">
              <a:lnSpc>
                <a:spcPts val="3300"/>
              </a:lnSpc>
            </a:pPr>
            <a:r>
              <a:rPr lang="en-US" sz="2799" b="1">
                <a:solidFill>
                  <a:srgbClr val="FFFFFF"/>
                </a:solidFill>
                <a:latin typeface="Poppins Semi-Bold"/>
                <a:ea typeface="Poppins Semi-Bold"/>
                <a:cs typeface="Poppins Semi-Bold"/>
                <a:sym typeface="Poppins Semi-Bold"/>
              </a:rPr>
              <a:t>onibus[34]; onibus[35]; onibus[36]; onibus[37]; onibus[38]; onibus[39]; onibus[40]; onibus[41];</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6404524" y="295751"/>
            <a:ext cx="5588603" cy="1192378"/>
          </a:xfrm>
          <a:prstGeom prst="rect">
            <a:avLst/>
          </a:prstGeom>
        </p:spPr>
        <p:txBody>
          <a:bodyPr lIns="0" tIns="0" rIns="0" bIns="0" rtlCol="0" anchor="t">
            <a:spAutoFit/>
          </a:bodyPr>
          <a:lstStyle/>
          <a:p>
            <a:pPr algn="l">
              <a:lnSpc>
                <a:spcPts val="8601"/>
              </a:lnSpc>
            </a:pPr>
            <a:r>
              <a:rPr lang="en-US" sz="5964" b="1">
                <a:solidFill>
                  <a:srgbClr val="FFFFFF"/>
                </a:solidFill>
                <a:latin typeface="Poppins Semi-Bold"/>
                <a:ea typeface="Poppins Semi-Bold"/>
                <a:cs typeface="Poppins Semi-Bold"/>
                <a:sym typeface="Poppins Semi-Bold"/>
              </a:rPr>
              <a:t>Vetores/Array</a:t>
            </a:r>
          </a:p>
        </p:txBody>
      </p:sp>
      <p:sp>
        <p:nvSpPr>
          <p:cNvPr id="3" name="TextBox 3"/>
          <p:cNvSpPr txBox="1"/>
          <p:nvPr/>
        </p:nvSpPr>
        <p:spPr>
          <a:xfrm>
            <a:off x="5770293" y="1284227"/>
            <a:ext cx="143780" cy="1120350"/>
          </a:xfrm>
          <a:prstGeom prst="rect">
            <a:avLst/>
          </a:prstGeom>
        </p:spPr>
        <p:txBody>
          <a:bodyPr lIns="0" tIns="0" rIns="0" bIns="0" rtlCol="0" anchor="t">
            <a:spAutoFit/>
          </a:bodyPr>
          <a:lstStyle/>
          <a:p>
            <a:pPr algn="l">
              <a:lnSpc>
                <a:spcPts val="9249"/>
              </a:lnSpc>
            </a:pPr>
            <a:r>
              <a:rPr lang="en-US" sz="3699" b="1">
                <a:solidFill>
                  <a:srgbClr val="FFFFFF"/>
                </a:solidFill>
                <a:latin typeface="Poppins Semi-Bold"/>
                <a:ea typeface="Poppins Semi-Bold"/>
                <a:cs typeface="Poppins Semi-Bold"/>
                <a:sym typeface="Poppins Semi-Bold"/>
              </a:rPr>
              <a:t> </a:t>
            </a:r>
          </a:p>
        </p:txBody>
      </p:sp>
      <p:sp>
        <p:nvSpPr>
          <p:cNvPr id="4" name="TextBox 4"/>
          <p:cNvSpPr txBox="1"/>
          <p:nvPr/>
        </p:nvSpPr>
        <p:spPr>
          <a:xfrm>
            <a:off x="164983" y="1741427"/>
            <a:ext cx="17256262" cy="663150"/>
          </a:xfrm>
          <a:prstGeom prst="rect">
            <a:avLst/>
          </a:prstGeom>
        </p:spPr>
        <p:txBody>
          <a:bodyPr lIns="0" tIns="0" rIns="0" bIns="0" rtlCol="0" anchor="t">
            <a:spAutoFit/>
          </a:bodyPr>
          <a:lstStyle/>
          <a:p>
            <a:pPr algn="l">
              <a:lnSpc>
                <a:spcPts val="4424"/>
              </a:lnSpc>
            </a:pPr>
            <a:r>
              <a:rPr lang="en-US" sz="3699" b="1">
                <a:solidFill>
                  <a:srgbClr val="FFFFFF"/>
                </a:solidFill>
                <a:latin typeface="Poppins Semi-Bold"/>
                <a:ea typeface="Poppins Semi-Bold"/>
                <a:cs typeface="Poppins Semi-Bold"/>
                <a:sym typeface="Poppins Semi-Bold"/>
              </a:rPr>
              <a:t>Se eu atribuir um valorem algunsdessesassentos, esse valor estará</a:t>
            </a:r>
          </a:p>
        </p:txBody>
      </p:sp>
      <p:sp>
        <p:nvSpPr>
          <p:cNvPr id="5" name="TextBox 5"/>
          <p:cNvSpPr txBox="1"/>
          <p:nvPr/>
        </p:nvSpPr>
        <p:spPr>
          <a:xfrm>
            <a:off x="164983" y="2303402"/>
            <a:ext cx="11150165" cy="663150"/>
          </a:xfrm>
          <a:prstGeom prst="rect">
            <a:avLst/>
          </a:prstGeom>
        </p:spPr>
        <p:txBody>
          <a:bodyPr lIns="0" tIns="0" rIns="0" bIns="0" rtlCol="0" anchor="t">
            <a:spAutoFit/>
          </a:bodyPr>
          <a:lstStyle/>
          <a:p>
            <a:pPr algn="l">
              <a:lnSpc>
                <a:spcPts val="4424"/>
              </a:lnSpc>
            </a:pPr>
            <a:r>
              <a:rPr lang="en-US" sz="3699" b="1">
                <a:solidFill>
                  <a:srgbClr val="FFFFFF"/>
                </a:solidFill>
                <a:latin typeface="Poppins Semi-Bold"/>
                <a:ea typeface="Poppins Semi-Bold"/>
                <a:cs typeface="Poppins Semi-Bold"/>
                <a:sym typeface="Poppins Semi-Bold"/>
              </a:rPr>
              <a:t>armazenado lá até quando eu precisar usar.</a:t>
            </a:r>
          </a:p>
        </p:txBody>
      </p:sp>
      <p:sp>
        <p:nvSpPr>
          <p:cNvPr id="6" name="TextBox 6"/>
          <p:cNvSpPr txBox="1"/>
          <p:nvPr/>
        </p:nvSpPr>
        <p:spPr>
          <a:xfrm>
            <a:off x="2860262" y="2759459"/>
            <a:ext cx="108804" cy="827742"/>
          </a:xfrm>
          <a:prstGeom prst="rect">
            <a:avLst/>
          </a:prstGeom>
        </p:spPr>
        <p:txBody>
          <a:bodyPr lIns="0" tIns="0" rIns="0" bIns="0" rtlCol="0" anchor="t">
            <a:spAutoFit/>
          </a:bodyPr>
          <a:lstStyle/>
          <a:p>
            <a:pPr algn="l">
              <a:lnSpc>
                <a:spcPts val="6808"/>
              </a:lnSpc>
            </a:pPr>
            <a:r>
              <a:rPr lang="en-US" sz="2799" b="1">
                <a:solidFill>
                  <a:srgbClr val="FFFFFF"/>
                </a:solidFill>
                <a:latin typeface="Poppins Semi-Bold"/>
                <a:ea typeface="Poppins Semi-Bold"/>
                <a:cs typeface="Poppins Semi-Bold"/>
                <a:sym typeface="Poppins Semi-Bold"/>
              </a:rPr>
              <a:t> </a:t>
            </a:r>
          </a:p>
        </p:txBody>
      </p:sp>
      <p:sp>
        <p:nvSpPr>
          <p:cNvPr id="7" name="TextBox 7"/>
          <p:cNvSpPr txBox="1"/>
          <p:nvPr/>
        </p:nvSpPr>
        <p:spPr>
          <a:xfrm>
            <a:off x="1028700" y="3092834"/>
            <a:ext cx="4166540" cy="494367"/>
          </a:xfrm>
          <a:prstGeom prst="rect">
            <a:avLst/>
          </a:prstGeom>
        </p:spPr>
        <p:txBody>
          <a:bodyPr lIns="0" tIns="0" rIns="0" bIns="0" rtlCol="0" anchor="t">
            <a:spAutoFit/>
          </a:bodyPr>
          <a:lstStyle/>
          <a:p>
            <a:pPr algn="l">
              <a:lnSpc>
                <a:spcPts val="3300"/>
              </a:lnSpc>
            </a:pPr>
            <a:r>
              <a:rPr lang="en-US" sz="2799" b="1">
                <a:solidFill>
                  <a:srgbClr val="FFFFFF"/>
                </a:solidFill>
                <a:latin typeface="Poppins Semi-Bold"/>
                <a:ea typeface="Poppins Semi-Bold"/>
                <a:cs typeface="Poppins Semi-Bold"/>
                <a:sym typeface="Poppins Semi-Bold"/>
              </a:rPr>
              <a:t>onibus[</a:t>
            </a:r>
            <a:r>
              <a:rPr lang="en-US" sz="2799" b="1">
                <a:solidFill>
                  <a:srgbClr val="FF5757"/>
                </a:solidFill>
                <a:latin typeface="Poppins Semi-Bold"/>
                <a:ea typeface="Poppins Semi-Bold"/>
                <a:cs typeface="Poppins Semi-Bold"/>
                <a:sym typeface="Poppins Semi-Bold"/>
              </a:rPr>
              <a:t>0</a:t>
            </a:r>
            <a:r>
              <a:rPr lang="en-US" sz="2799" b="1">
                <a:solidFill>
                  <a:srgbClr val="FFFFFF"/>
                </a:solidFill>
                <a:latin typeface="Poppins Semi-Bold"/>
                <a:ea typeface="Poppins Semi-Bold"/>
                <a:cs typeface="Poppins Semi-Bold"/>
                <a:sym typeface="Poppins Semi-Bold"/>
              </a:rPr>
              <a:t>] = </a:t>
            </a:r>
            <a:r>
              <a:rPr lang="en-US" sz="2799" b="1">
                <a:solidFill>
                  <a:srgbClr val="FF5757"/>
                </a:solidFill>
                <a:latin typeface="Poppins Semi-Bold"/>
                <a:ea typeface="Poppins Semi-Bold"/>
                <a:cs typeface="Poppins Semi-Bold"/>
                <a:sym typeface="Poppins Semi-Bold"/>
              </a:rPr>
              <a:t>"Rodolfo"</a:t>
            </a:r>
            <a:r>
              <a:rPr lang="en-US" sz="2799" b="1">
                <a:solidFill>
                  <a:srgbClr val="FFFFFF"/>
                </a:solidFill>
                <a:latin typeface="Poppins Semi-Bold"/>
                <a:ea typeface="Poppins Semi-Bold"/>
                <a:cs typeface="Poppins Semi-Bold"/>
                <a:sym typeface="Poppins Semi-Bold"/>
              </a:rPr>
              <a:t>;</a:t>
            </a:r>
          </a:p>
        </p:txBody>
      </p:sp>
      <p:sp>
        <p:nvSpPr>
          <p:cNvPr id="8" name="TextBox 8"/>
          <p:cNvSpPr txBox="1"/>
          <p:nvPr/>
        </p:nvSpPr>
        <p:spPr>
          <a:xfrm>
            <a:off x="1028700" y="3511934"/>
            <a:ext cx="3883276" cy="6780867"/>
          </a:xfrm>
          <a:prstGeom prst="rect">
            <a:avLst/>
          </a:prstGeom>
        </p:spPr>
        <p:txBody>
          <a:bodyPr lIns="0" tIns="0" rIns="0" bIns="0" rtlCol="0" anchor="t">
            <a:spAutoFit/>
          </a:bodyPr>
          <a:lstStyle/>
          <a:p>
            <a:pPr algn="just">
              <a:lnSpc>
                <a:spcPts val="3300"/>
              </a:lnSpc>
            </a:pPr>
            <a:r>
              <a:rPr lang="en-US" sz="2799" b="1">
                <a:solidFill>
                  <a:srgbClr val="FFFFFF"/>
                </a:solidFill>
                <a:latin typeface="Poppins Semi-Bold"/>
                <a:ea typeface="Poppins Semi-Bold"/>
                <a:cs typeface="Poppins Semi-Bold"/>
                <a:sym typeface="Poppins Semi-Bold"/>
              </a:rPr>
              <a:t>onibus[1]; onibus[2]; onibus[3]; onibus[4]; onibus[5]; onibus[6]; onibus[7]; onibus[8]; onibus[</a:t>
            </a:r>
            <a:r>
              <a:rPr lang="en-US" sz="2799" b="1">
                <a:solidFill>
                  <a:srgbClr val="FF5757"/>
                </a:solidFill>
                <a:latin typeface="Poppins Semi-Bold"/>
                <a:ea typeface="Poppins Semi-Bold"/>
                <a:cs typeface="Poppins Semi-Bold"/>
                <a:sym typeface="Poppins Semi-Bold"/>
              </a:rPr>
              <a:t>9</a:t>
            </a:r>
            <a:r>
              <a:rPr lang="en-US" sz="2799" b="1">
                <a:solidFill>
                  <a:srgbClr val="FFFFFF"/>
                </a:solidFill>
                <a:latin typeface="Poppins Semi-Bold"/>
                <a:ea typeface="Poppins Semi-Bold"/>
                <a:cs typeface="Poppins Semi-Bold"/>
                <a:sym typeface="Poppins Semi-Bold"/>
              </a:rPr>
              <a:t>] = </a:t>
            </a:r>
            <a:r>
              <a:rPr lang="en-US" sz="2799" b="1">
                <a:solidFill>
                  <a:srgbClr val="FF5757"/>
                </a:solidFill>
                <a:latin typeface="Poppins Semi-Bold"/>
                <a:ea typeface="Poppins Semi-Bold"/>
                <a:cs typeface="Poppins Semi-Bold"/>
                <a:sym typeface="Poppins Semi-Bold"/>
              </a:rPr>
              <a:t>"Maria"</a:t>
            </a:r>
            <a:r>
              <a:rPr lang="en-US" sz="2799" b="1">
                <a:solidFill>
                  <a:srgbClr val="FFFFFF"/>
                </a:solidFill>
                <a:latin typeface="Poppins Semi-Bold"/>
                <a:ea typeface="Poppins Semi-Bold"/>
                <a:cs typeface="Poppins Semi-Bold"/>
                <a:sym typeface="Poppins Semi-Bold"/>
              </a:rPr>
              <a:t>; onibus[10]; onibus[11]; onibus[12]; onibus[</a:t>
            </a:r>
            <a:r>
              <a:rPr lang="en-US" sz="2799" b="1">
                <a:solidFill>
                  <a:srgbClr val="FF5757"/>
                </a:solidFill>
                <a:latin typeface="Poppins Semi-Bold"/>
                <a:ea typeface="Poppins Semi-Bold"/>
                <a:cs typeface="Poppins Semi-Bold"/>
                <a:sym typeface="Poppins Semi-Bold"/>
              </a:rPr>
              <a:t>13</a:t>
            </a:r>
            <a:r>
              <a:rPr lang="en-US" sz="2799" b="1">
                <a:solidFill>
                  <a:srgbClr val="FFFFFF"/>
                </a:solidFill>
                <a:latin typeface="Poppins Semi-Bold"/>
                <a:ea typeface="Poppins Semi-Bold"/>
                <a:cs typeface="Poppins Semi-Bold"/>
                <a:sym typeface="Poppins Semi-Bold"/>
              </a:rPr>
              <a:t>] =</a:t>
            </a:r>
            <a:r>
              <a:rPr lang="en-US" sz="2799" b="1">
                <a:solidFill>
                  <a:srgbClr val="FF5757"/>
                </a:solidFill>
                <a:latin typeface="Poppins Semi-Bold"/>
                <a:ea typeface="Poppins Semi-Bold"/>
                <a:cs typeface="Poppins Semi-Bold"/>
                <a:sym typeface="Poppins Semi-Bold"/>
              </a:rPr>
              <a:t> "Thaís"</a:t>
            </a:r>
            <a:r>
              <a:rPr lang="en-US" sz="2799" b="1">
                <a:solidFill>
                  <a:srgbClr val="FFFFFF"/>
                </a:solidFill>
                <a:latin typeface="Poppins Semi-Bold"/>
                <a:ea typeface="Poppins Semi-Bold"/>
                <a:cs typeface="Poppins Semi-Bold"/>
                <a:sym typeface="Poppins Semi-Bold"/>
              </a:rPr>
              <a:t>; onibus[14]; onibus[15]; onibus[16];</a:t>
            </a:r>
          </a:p>
        </p:txBody>
      </p:sp>
      <p:sp>
        <p:nvSpPr>
          <p:cNvPr id="9" name="TextBox 9"/>
          <p:cNvSpPr txBox="1"/>
          <p:nvPr/>
        </p:nvSpPr>
        <p:spPr>
          <a:xfrm>
            <a:off x="7256593" y="3092834"/>
            <a:ext cx="4683442" cy="7199967"/>
          </a:xfrm>
          <a:prstGeom prst="rect">
            <a:avLst/>
          </a:prstGeom>
        </p:spPr>
        <p:txBody>
          <a:bodyPr lIns="0" tIns="0" rIns="0" bIns="0" rtlCol="0" anchor="t">
            <a:spAutoFit/>
          </a:bodyPr>
          <a:lstStyle/>
          <a:p>
            <a:pPr algn="just">
              <a:lnSpc>
                <a:spcPts val="3300"/>
              </a:lnSpc>
            </a:pPr>
            <a:r>
              <a:rPr lang="en-US" sz="2799" b="1">
                <a:solidFill>
                  <a:srgbClr val="FFFFFF"/>
                </a:solidFill>
                <a:latin typeface="Poppins Semi-Bold"/>
                <a:ea typeface="Poppins Semi-Bold"/>
                <a:cs typeface="Poppins Semi-Bold"/>
                <a:sym typeface="Poppins Semi-Bold"/>
              </a:rPr>
              <a:t>onibus[17]; onibus[</a:t>
            </a:r>
            <a:r>
              <a:rPr lang="en-US" sz="2799" b="1">
                <a:solidFill>
                  <a:srgbClr val="FF5757"/>
                </a:solidFill>
                <a:latin typeface="Poppins Semi-Bold"/>
                <a:ea typeface="Poppins Semi-Bold"/>
                <a:cs typeface="Poppins Semi-Bold"/>
                <a:sym typeface="Poppins Semi-Bold"/>
              </a:rPr>
              <a:t>18</a:t>
            </a:r>
            <a:r>
              <a:rPr lang="en-US" sz="2799" b="1">
                <a:solidFill>
                  <a:srgbClr val="FFFFFF"/>
                </a:solidFill>
                <a:latin typeface="Poppins Semi-Bold"/>
                <a:ea typeface="Poppins Semi-Bold"/>
                <a:cs typeface="Poppins Semi-Bold"/>
                <a:sym typeface="Poppins Semi-Bold"/>
              </a:rPr>
              <a:t>] = </a:t>
            </a:r>
            <a:r>
              <a:rPr lang="en-US" sz="2799" b="1">
                <a:solidFill>
                  <a:srgbClr val="FF5757"/>
                </a:solidFill>
                <a:latin typeface="Poppins Semi-Bold"/>
                <a:ea typeface="Poppins Semi-Bold"/>
                <a:cs typeface="Poppins Semi-Bold"/>
                <a:sym typeface="Poppins Semi-Bold"/>
              </a:rPr>
              <a:t>"Agenor"</a:t>
            </a:r>
            <a:r>
              <a:rPr lang="en-US" sz="2799" b="1">
                <a:solidFill>
                  <a:srgbClr val="FFFFFF"/>
                </a:solidFill>
                <a:latin typeface="Poppins Semi-Bold"/>
                <a:ea typeface="Poppins Semi-Bold"/>
                <a:cs typeface="Poppins Semi-Bold"/>
                <a:sym typeface="Poppins Semi-Bold"/>
              </a:rPr>
              <a:t>; onibus[19]; onibus[20]; onibus[21]; onibus[22]; onibus[23]; onibus[24]; onibus[25]; onibus[26]; onibus[27]; onibus[</a:t>
            </a:r>
            <a:r>
              <a:rPr lang="en-US" sz="2799" b="1">
                <a:solidFill>
                  <a:srgbClr val="FF5757"/>
                </a:solidFill>
                <a:latin typeface="Poppins Semi-Bold"/>
                <a:ea typeface="Poppins Semi-Bold"/>
                <a:cs typeface="Poppins Semi-Bold"/>
                <a:sym typeface="Poppins Semi-Bold"/>
              </a:rPr>
              <a:t>28</a:t>
            </a:r>
            <a:r>
              <a:rPr lang="en-US" sz="2799" b="1">
                <a:solidFill>
                  <a:srgbClr val="FFFFFF"/>
                </a:solidFill>
                <a:latin typeface="Poppins Semi-Bold"/>
                <a:ea typeface="Poppins Semi-Bold"/>
                <a:cs typeface="Poppins Semi-Bold"/>
                <a:sym typeface="Poppins Semi-Bold"/>
              </a:rPr>
              <a:t>] = </a:t>
            </a:r>
            <a:r>
              <a:rPr lang="en-US" sz="2799" b="1">
                <a:solidFill>
                  <a:srgbClr val="FF5757"/>
                </a:solidFill>
                <a:latin typeface="Poppins Semi-Bold"/>
                <a:ea typeface="Poppins Semi-Bold"/>
                <a:cs typeface="Poppins Semi-Bold"/>
                <a:sym typeface="Poppins Semi-Bold"/>
              </a:rPr>
              <a:t>"Neemias"</a:t>
            </a:r>
            <a:r>
              <a:rPr lang="en-US" sz="2799" b="1">
                <a:solidFill>
                  <a:srgbClr val="FFFFFF"/>
                </a:solidFill>
                <a:latin typeface="Poppins Semi-Bold"/>
                <a:ea typeface="Poppins Semi-Bold"/>
                <a:cs typeface="Poppins Semi-Bold"/>
                <a:sym typeface="Poppins Semi-Bold"/>
              </a:rPr>
              <a:t>; onibus[29]; onibus[30]; onibus[31]; onibus[32]; onibus[</a:t>
            </a:r>
            <a:r>
              <a:rPr lang="en-US" sz="2799" b="1">
                <a:solidFill>
                  <a:srgbClr val="FF5757"/>
                </a:solidFill>
                <a:latin typeface="Poppins Semi-Bold"/>
                <a:ea typeface="Poppins Semi-Bold"/>
                <a:cs typeface="Poppins Semi-Bold"/>
                <a:sym typeface="Poppins Semi-Bold"/>
              </a:rPr>
              <a:t>33</a:t>
            </a:r>
            <a:r>
              <a:rPr lang="en-US" sz="2799" b="1">
                <a:solidFill>
                  <a:srgbClr val="FFFFFF"/>
                </a:solidFill>
                <a:latin typeface="Poppins Semi-Bold"/>
                <a:ea typeface="Poppins Semi-Bold"/>
                <a:cs typeface="Poppins Semi-Bold"/>
                <a:sym typeface="Poppins Semi-Bold"/>
              </a:rPr>
              <a:t>] = </a:t>
            </a:r>
            <a:r>
              <a:rPr lang="en-US" sz="2799" b="1">
                <a:solidFill>
                  <a:srgbClr val="FF5757"/>
                </a:solidFill>
                <a:latin typeface="Poppins Semi-Bold"/>
                <a:ea typeface="Poppins Semi-Bold"/>
                <a:cs typeface="Poppins Semi-Bold"/>
                <a:sym typeface="Poppins Semi-Bold"/>
              </a:rPr>
              <a:t>"Amarildo"</a:t>
            </a:r>
            <a:r>
              <a:rPr lang="en-US" sz="2799" b="1">
                <a:solidFill>
                  <a:srgbClr val="FFFFFF"/>
                </a:solidFill>
                <a:latin typeface="Poppins Semi-Bold"/>
                <a:ea typeface="Poppins Semi-Bold"/>
                <a:cs typeface="Poppins Semi-Bold"/>
                <a:sym typeface="Poppins Semi-Bold"/>
              </a:rPr>
              <a:t>;</a:t>
            </a:r>
          </a:p>
        </p:txBody>
      </p:sp>
      <p:sp>
        <p:nvSpPr>
          <p:cNvPr id="10" name="TextBox 10"/>
          <p:cNvSpPr txBox="1"/>
          <p:nvPr/>
        </p:nvSpPr>
        <p:spPr>
          <a:xfrm>
            <a:off x="13484485" y="3092834"/>
            <a:ext cx="3976640" cy="3428067"/>
          </a:xfrm>
          <a:prstGeom prst="rect">
            <a:avLst/>
          </a:prstGeom>
        </p:spPr>
        <p:txBody>
          <a:bodyPr lIns="0" tIns="0" rIns="0" bIns="0" rtlCol="0" anchor="t">
            <a:spAutoFit/>
          </a:bodyPr>
          <a:lstStyle/>
          <a:p>
            <a:pPr algn="l">
              <a:lnSpc>
                <a:spcPts val="3300"/>
              </a:lnSpc>
            </a:pPr>
            <a:r>
              <a:rPr lang="en-US" sz="2799" b="1">
                <a:solidFill>
                  <a:srgbClr val="FFFFFF"/>
                </a:solidFill>
                <a:latin typeface="Poppins Semi-Bold"/>
                <a:ea typeface="Poppins Semi-Bold"/>
                <a:cs typeface="Poppins Semi-Bold"/>
                <a:sym typeface="Poppins Semi-Bold"/>
              </a:rPr>
              <a:t>onibus[</a:t>
            </a:r>
            <a:r>
              <a:rPr lang="en-US" sz="2799" b="1">
                <a:solidFill>
                  <a:srgbClr val="FF5757"/>
                </a:solidFill>
                <a:latin typeface="Poppins Semi-Bold"/>
                <a:ea typeface="Poppins Semi-Bold"/>
                <a:cs typeface="Poppins Semi-Bold"/>
                <a:sym typeface="Poppins Semi-Bold"/>
              </a:rPr>
              <a:t>34</a:t>
            </a:r>
            <a:r>
              <a:rPr lang="en-US" sz="2799" b="1">
                <a:solidFill>
                  <a:srgbClr val="FFFFFF"/>
                </a:solidFill>
                <a:latin typeface="Poppins Semi-Bold"/>
                <a:ea typeface="Poppins Semi-Bold"/>
                <a:cs typeface="Poppins Semi-Bold"/>
                <a:sym typeface="Poppins Semi-Bold"/>
              </a:rPr>
              <a:t>]= </a:t>
            </a:r>
            <a:r>
              <a:rPr lang="en-US" sz="2799" b="1">
                <a:solidFill>
                  <a:srgbClr val="FF5757"/>
                </a:solidFill>
                <a:latin typeface="Poppins Semi-Bold"/>
                <a:ea typeface="Poppins Semi-Bold"/>
                <a:cs typeface="Poppins Semi-Bold"/>
                <a:sym typeface="Poppins Semi-Bold"/>
              </a:rPr>
              <a:t>"Vitor"</a:t>
            </a:r>
            <a:r>
              <a:rPr lang="en-US" sz="2799" b="1">
                <a:solidFill>
                  <a:srgbClr val="FFFFFF"/>
                </a:solidFill>
                <a:latin typeface="Poppins Semi-Bold"/>
                <a:ea typeface="Poppins Semi-Bold"/>
                <a:cs typeface="Poppins Semi-Bold"/>
                <a:sym typeface="Poppins Semi-Bold"/>
              </a:rPr>
              <a:t>; onibus[35]; onibus[36]; onibus[37]; onibus[38]; onibus[39]; onibus[</a:t>
            </a:r>
            <a:r>
              <a:rPr lang="en-US" sz="2799" b="1">
                <a:solidFill>
                  <a:srgbClr val="FF5757"/>
                </a:solidFill>
                <a:latin typeface="Poppins Semi-Bold"/>
                <a:ea typeface="Poppins Semi-Bold"/>
                <a:cs typeface="Poppins Semi-Bold"/>
                <a:sym typeface="Poppins Semi-Bold"/>
              </a:rPr>
              <a:t>40</a:t>
            </a:r>
            <a:r>
              <a:rPr lang="en-US" sz="2799" b="1">
                <a:solidFill>
                  <a:srgbClr val="FFFFFF"/>
                </a:solidFill>
                <a:latin typeface="Poppins Semi-Bold"/>
                <a:ea typeface="Poppins Semi-Bold"/>
                <a:cs typeface="Poppins Semi-Bold"/>
                <a:sym typeface="Poppins Semi-Bold"/>
              </a:rPr>
              <a:t>] = </a:t>
            </a:r>
            <a:r>
              <a:rPr lang="en-US" sz="2799" b="1">
                <a:solidFill>
                  <a:srgbClr val="FF5757"/>
                </a:solidFill>
                <a:latin typeface="Poppins Semi-Bold"/>
                <a:ea typeface="Poppins Semi-Bold"/>
                <a:cs typeface="Poppins Semi-Bold"/>
                <a:sym typeface="Poppins Semi-Bold"/>
              </a:rPr>
              <a:t>"João"</a:t>
            </a:r>
            <a:r>
              <a:rPr lang="en-US" sz="2799" b="1">
                <a:solidFill>
                  <a:srgbClr val="FFFFFF"/>
                </a:solidFill>
                <a:latin typeface="Poppins Semi-Bold"/>
                <a:ea typeface="Poppins Semi-Bold"/>
                <a:cs typeface="Poppins Semi-Bold"/>
                <a:sym typeface="Poppins Semi-Bold"/>
              </a:rPr>
              <a:t>; onibus[</a:t>
            </a:r>
            <a:r>
              <a:rPr lang="en-US" sz="2799" b="1">
                <a:solidFill>
                  <a:srgbClr val="FF5757"/>
                </a:solidFill>
                <a:latin typeface="Poppins Semi-Bold"/>
                <a:ea typeface="Poppins Semi-Bold"/>
                <a:cs typeface="Poppins Semi-Bold"/>
                <a:sym typeface="Poppins Semi-Bold"/>
              </a:rPr>
              <a:t>41</a:t>
            </a:r>
            <a:r>
              <a:rPr lang="en-US" sz="2799" b="1">
                <a:solidFill>
                  <a:srgbClr val="FFFFFF"/>
                </a:solidFill>
                <a:latin typeface="Poppins Semi-Bold"/>
                <a:ea typeface="Poppins Semi-Bold"/>
                <a:cs typeface="Poppins Semi-Bold"/>
                <a:sym typeface="Poppins Semi-Bold"/>
              </a:rPr>
              <a:t>] = </a:t>
            </a:r>
            <a:r>
              <a:rPr lang="en-US" sz="2799" b="1">
                <a:solidFill>
                  <a:srgbClr val="FF5757"/>
                </a:solidFill>
                <a:latin typeface="Poppins Semi-Bold"/>
                <a:ea typeface="Poppins Semi-Bold"/>
                <a:cs typeface="Poppins Semi-Bold"/>
                <a:sym typeface="Poppins Semi-Bold"/>
              </a:rPr>
              <a:t>"Pedro"</a:t>
            </a:r>
            <a:r>
              <a:rPr lang="en-US" sz="2799" b="1">
                <a:solidFill>
                  <a:srgbClr val="FFFFFF"/>
                </a:solidFill>
                <a:latin typeface="Poppins Semi-Bold"/>
                <a:ea typeface="Poppins Semi-Bold"/>
                <a:cs typeface="Poppins Semi-Bold"/>
                <a:sym typeface="Poppins Semi-Bold"/>
              </a:rPr>
              <a:t>;</a:t>
            </a:r>
          </a:p>
        </p:txBody>
      </p:sp>
      <p:sp>
        <p:nvSpPr>
          <p:cNvPr id="11" name="TextBox 11"/>
          <p:cNvSpPr txBox="1"/>
          <p:nvPr/>
        </p:nvSpPr>
        <p:spPr>
          <a:xfrm>
            <a:off x="12956762" y="8115814"/>
            <a:ext cx="5069881" cy="1063247"/>
          </a:xfrm>
          <a:prstGeom prst="rect">
            <a:avLst/>
          </a:prstGeom>
        </p:spPr>
        <p:txBody>
          <a:bodyPr lIns="0" tIns="0" rIns="0" bIns="0" rtlCol="0" anchor="t">
            <a:spAutoFit/>
          </a:bodyPr>
          <a:lstStyle/>
          <a:p>
            <a:pPr algn="ctr">
              <a:lnSpc>
                <a:spcPts val="3899"/>
              </a:lnSpc>
            </a:pPr>
            <a:r>
              <a:rPr lang="en-US" sz="3299" b="1">
                <a:solidFill>
                  <a:srgbClr val="FFFFFF"/>
                </a:solidFill>
                <a:latin typeface="Poppins Semi-Bold"/>
                <a:ea typeface="Poppins Semi-Bold"/>
                <a:cs typeface="Poppins Semi-Bold"/>
                <a:sym typeface="Poppins Semi-Bold"/>
              </a:rPr>
              <a:t>Quem está sentado no assento </a:t>
            </a:r>
            <a:r>
              <a:rPr lang="en-US" sz="3299" b="1">
                <a:solidFill>
                  <a:srgbClr val="FF5757"/>
                </a:solidFill>
                <a:latin typeface="Poppins Semi-Bold"/>
                <a:ea typeface="Poppins Semi-Bold"/>
                <a:cs typeface="Poppins Semi-Bold"/>
                <a:sym typeface="Poppins Semi-Bold"/>
              </a:rPr>
              <a:t>9</a:t>
            </a:r>
            <a:r>
              <a:rPr lang="en-US" sz="3299" b="1">
                <a:solidFill>
                  <a:srgbClr val="FFFFFF"/>
                </a:solidFill>
                <a:latin typeface="Poppins Semi-Bold"/>
                <a:ea typeface="Poppins Semi-Bold"/>
                <a:cs typeface="Poppins Semi-Bold"/>
                <a:sym typeface="Poppins Semi-Bold"/>
              </a:rPr>
              <a:t>?</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5142359" y="7106393"/>
            <a:ext cx="2114550" cy="2152650"/>
          </a:xfrm>
          <a:custGeom>
            <a:avLst/>
            <a:gdLst/>
            <a:ahLst/>
            <a:cxnLst/>
            <a:rect l="l" t="t" r="r" b="b"/>
            <a:pathLst>
              <a:path w="2114550" h="2152650">
                <a:moveTo>
                  <a:pt x="0" y="0"/>
                </a:moveTo>
                <a:lnTo>
                  <a:pt x="2114550" y="0"/>
                </a:lnTo>
                <a:lnTo>
                  <a:pt x="2114550" y="2152650"/>
                </a:lnTo>
                <a:lnTo>
                  <a:pt x="0" y="2152650"/>
                </a:lnTo>
                <a:lnTo>
                  <a:pt x="0" y="0"/>
                </a:lnTo>
                <a:close/>
              </a:path>
            </a:pathLst>
          </a:custGeom>
          <a:blipFill>
            <a:blip r:embed="rId2"/>
            <a:stretch>
              <a:fillRect/>
            </a:stretch>
          </a:blipFill>
        </p:spPr>
      </p:sp>
      <p:sp>
        <p:nvSpPr>
          <p:cNvPr id="3" name="TextBox 3"/>
          <p:cNvSpPr txBox="1"/>
          <p:nvPr/>
        </p:nvSpPr>
        <p:spPr>
          <a:xfrm>
            <a:off x="6404524" y="248126"/>
            <a:ext cx="5588603" cy="1240003"/>
          </a:xfrm>
          <a:prstGeom prst="rect">
            <a:avLst/>
          </a:prstGeom>
        </p:spPr>
        <p:txBody>
          <a:bodyPr lIns="0" tIns="0" rIns="0" bIns="0" rtlCol="0" anchor="t">
            <a:spAutoFit/>
          </a:bodyPr>
          <a:lstStyle/>
          <a:p>
            <a:pPr algn="l">
              <a:lnSpc>
                <a:spcPts val="9161"/>
              </a:lnSpc>
            </a:pPr>
            <a:r>
              <a:rPr lang="en-US" sz="5964" b="1">
                <a:solidFill>
                  <a:srgbClr val="FFFFFF"/>
                </a:solidFill>
                <a:latin typeface="Poppins Semi-Bold"/>
                <a:ea typeface="Poppins Semi-Bold"/>
                <a:cs typeface="Poppins Semi-Bold"/>
                <a:sym typeface="Poppins Semi-Bold"/>
              </a:rPr>
              <a:t>Vetores/Array</a:t>
            </a:r>
          </a:p>
        </p:txBody>
      </p:sp>
      <p:sp>
        <p:nvSpPr>
          <p:cNvPr id="4" name="TextBox 4"/>
          <p:cNvSpPr txBox="1"/>
          <p:nvPr/>
        </p:nvSpPr>
        <p:spPr>
          <a:xfrm>
            <a:off x="6007094" y="1397498"/>
            <a:ext cx="143780" cy="1120350"/>
          </a:xfrm>
          <a:prstGeom prst="rect">
            <a:avLst/>
          </a:prstGeom>
        </p:spPr>
        <p:txBody>
          <a:bodyPr lIns="0" tIns="0" rIns="0" bIns="0" rtlCol="0" anchor="t">
            <a:spAutoFit/>
          </a:bodyPr>
          <a:lstStyle/>
          <a:p>
            <a:pPr algn="l">
              <a:lnSpc>
                <a:spcPts val="9249"/>
              </a:lnSpc>
            </a:pPr>
            <a:r>
              <a:rPr lang="en-US" sz="3699" b="1">
                <a:solidFill>
                  <a:srgbClr val="FFFFFF"/>
                </a:solidFill>
                <a:latin typeface="Poppins Semi-Bold"/>
                <a:ea typeface="Poppins Semi-Bold"/>
                <a:cs typeface="Poppins Semi-Bold"/>
                <a:sym typeface="Poppins Semi-Bold"/>
              </a:rPr>
              <a:t> </a:t>
            </a:r>
          </a:p>
        </p:txBody>
      </p:sp>
      <p:sp>
        <p:nvSpPr>
          <p:cNvPr id="5" name="TextBox 5"/>
          <p:cNvSpPr txBox="1"/>
          <p:nvPr/>
        </p:nvSpPr>
        <p:spPr>
          <a:xfrm>
            <a:off x="164983" y="1854698"/>
            <a:ext cx="17115844" cy="7406850"/>
          </a:xfrm>
          <a:prstGeom prst="rect">
            <a:avLst/>
          </a:prstGeom>
        </p:spPr>
        <p:txBody>
          <a:bodyPr lIns="0" tIns="0" rIns="0" bIns="0" rtlCol="0" anchor="t">
            <a:spAutoFit/>
          </a:bodyPr>
          <a:lstStyle/>
          <a:p>
            <a:pPr algn="l">
              <a:lnSpc>
                <a:spcPts val="4424"/>
              </a:lnSpc>
            </a:pPr>
            <a:r>
              <a:rPr lang="en-US" sz="3699" b="1">
                <a:solidFill>
                  <a:srgbClr val="FFFFFF"/>
                </a:solidFill>
                <a:latin typeface="Poppins Semi-Bold"/>
                <a:ea typeface="Poppins Semi-Bold"/>
                <a:cs typeface="Poppins Semi-Bold"/>
                <a:sym typeface="Poppins Semi-Bold"/>
              </a:rPr>
              <a:t>Análise o código abaixoerespondaqualovalorque irá aparecer no terminal:</a:t>
            </a:r>
          </a:p>
          <a:p>
            <a:pPr algn="l">
              <a:lnSpc>
                <a:spcPts val="9249"/>
              </a:lnSpc>
            </a:pPr>
            <a:r>
              <a:rPr lang="en-US" sz="3699" b="1">
                <a:solidFill>
                  <a:srgbClr val="3C67BF"/>
                </a:solidFill>
                <a:latin typeface="Poppins Semi-Bold"/>
                <a:ea typeface="Poppins Semi-Bold"/>
                <a:cs typeface="Poppins Semi-Bold"/>
                <a:sym typeface="Poppins Semi-Bold"/>
              </a:rPr>
              <a:t>int</a:t>
            </a:r>
            <a:r>
              <a:rPr lang="en-US" sz="3699" b="1">
                <a:solidFill>
                  <a:srgbClr val="FFFFFF"/>
                </a:solidFill>
                <a:latin typeface="Poppins Semi-Bold"/>
                <a:ea typeface="Poppins Semi-Bold"/>
                <a:cs typeface="Poppins Semi-Bold"/>
                <a:sym typeface="Poppins Semi-Bold"/>
              </a:rPr>
              <a:t>[]</a:t>
            </a:r>
            <a:r>
              <a:rPr lang="en-US" sz="3699" b="1">
                <a:solidFill>
                  <a:srgbClr val="3C67BF"/>
                </a:solidFill>
                <a:latin typeface="Poppins Semi-Bold"/>
                <a:ea typeface="Poppins Semi-Bold"/>
                <a:cs typeface="Poppins Semi-Bold"/>
                <a:sym typeface="Poppins Semi-Bold"/>
              </a:rPr>
              <a:t> </a:t>
            </a:r>
            <a:r>
              <a:rPr lang="en-US" sz="3699" b="1">
                <a:solidFill>
                  <a:srgbClr val="FFFFFF"/>
                </a:solidFill>
                <a:latin typeface="Poppins Semi-Bold"/>
                <a:ea typeface="Poppins Semi-Bold"/>
                <a:cs typeface="Poppins Semi-Bold"/>
                <a:sym typeface="Poppins Semi-Bold"/>
              </a:rPr>
              <a:t>numeros = </a:t>
            </a:r>
            <a:r>
              <a:rPr lang="en-US" sz="3699" b="1">
                <a:solidFill>
                  <a:srgbClr val="3C67BF"/>
                </a:solidFill>
                <a:latin typeface="Poppins Semi-Bold"/>
                <a:ea typeface="Poppins Semi-Bold"/>
                <a:cs typeface="Poppins Semi-Bold"/>
                <a:sym typeface="Poppins Semi-Bold"/>
              </a:rPr>
              <a:t>new int</a:t>
            </a:r>
            <a:r>
              <a:rPr lang="en-US" sz="3699" b="1">
                <a:solidFill>
                  <a:srgbClr val="FFFFFF"/>
                </a:solidFill>
                <a:latin typeface="Poppins Semi-Bold"/>
                <a:ea typeface="Poppins Semi-Bold"/>
                <a:cs typeface="Poppins Semi-Bold"/>
                <a:sym typeface="Poppins Semi-Bold"/>
              </a:rPr>
              <a:t>[5]; numeros[0] = </a:t>
            </a:r>
            <a:r>
              <a:rPr lang="en-US" sz="3699" b="1">
                <a:solidFill>
                  <a:srgbClr val="FFCB85"/>
                </a:solidFill>
                <a:latin typeface="Poppins Semi-Bold"/>
                <a:ea typeface="Poppins Semi-Bold"/>
                <a:cs typeface="Poppins Semi-Bold"/>
                <a:sym typeface="Poppins Semi-Bold"/>
              </a:rPr>
              <a:t>5</a:t>
            </a:r>
            <a:r>
              <a:rPr lang="en-US" sz="3699" b="1">
                <a:solidFill>
                  <a:srgbClr val="FFFFFF"/>
                </a:solidFill>
                <a:latin typeface="Poppins Semi-Bold"/>
                <a:ea typeface="Poppins Semi-Bold"/>
                <a:cs typeface="Poppins Semi-Bold"/>
                <a:sym typeface="Poppins Semi-Bold"/>
              </a:rPr>
              <a:t>;</a:t>
            </a:r>
          </a:p>
          <a:p>
            <a:pPr algn="l">
              <a:lnSpc>
                <a:spcPts val="1849"/>
              </a:lnSpc>
            </a:pPr>
            <a:r>
              <a:rPr lang="en-US" sz="3699" b="1">
                <a:solidFill>
                  <a:srgbClr val="FFFFFF"/>
                </a:solidFill>
                <a:latin typeface="Poppins Semi-Bold"/>
                <a:ea typeface="Poppins Semi-Bold"/>
                <a:cs typeface="Poppins Semi-Bold"/>
                <a:sym typeface="Poppins Semi-Bold"/>
              </a:rPr>
              <a:t>numeros[1] =</a:t>
            </a:r>
            <a:r>
              <a:rPr lang="en-US" sz="3699" b="1">
                <a:solidFill>
                  <a:srgbClr val="FFCB85"/>
                </a:solidFill>
                <a:latin typeface="Poppins Semi-Bold"/>
                <a:ea typeface="Poppins Semi-Bold"/>
                <a:cs typeface="Poppins Semi-Bold"/>
                <a:sym typeface="Poppins Semi-Bold"/>
              </a:rPr>
              <a:t> 14</a:t>
            </a:r>
            <a:r>
              <a:rPr lang="en-US" sz="3699" b="1">
                <a:solidFill>
                  <a:srgbClr val="FFFFFF"/>
                </a:solidFill>
                <a:latin typeface="Poppins Semi-Bold"/>
                <a:ea typeface="Poppins Semi-Bold"/>
                <a:cs typeface="Poppins Semi-Bold"/>
                <a:sym typeface="Poppins Semi-Bold"/>
              </a:rPr>
              <a:t>;</a:t>
            </a:r>
          </a:p>
          <a:p>
            <a:pPr algn="l">
              <a:lnSpc>
                <a:spcPts val="6851"/>
              </a:lnSpc>
            </a:pPr>
            <a:r>
              <a:rPr lang="en-US" sz="3699" b="1">
                <a:solidFill>
                  <a:srgbClr val="FFFFFF"/>
                </a:solidFill>
                <a:latin typeface="Poppins Semi-Bold"/>
                <a:ea typeface="Poppins Semi-Bold"/>
                <a:cs typeface="Poppins Semi-Bold"/>
                <a:sym typeface="Poppins Semi-Bold"/>
              </a:rPr>
              <a:t>numeros[2] = </a:t>
            </a:r>
            <a:r>
              <a:rPr lang="en-US" sz="3699" b="1">
                <a:solidFill>
                  <a:srgbClr val="FFCB85"/>
                </a:solidFill>
                <a:latin typeface="Poppins Semi-Bold"/>
                <a:ea typeface="Poppins Semi-Bold"/>
                <a:cs typeface="Poppins Semi-Bold"/>
                <a:sym typeface="Poppins Semi-Bold"/>
              </a:rPr>
              <a:t>3</a:t>
            </a:r>
            <a:r>
              <a:rPr lang="en-US" sz="3699" b="1">
                <a:solidFill>
                  <a:srgbClr val="FFFFFF"/>
                </a:solidFill>
                <a:latin typeface="Poppins Semi-Bold"/>
                <a:ea typeface="Poppins Semi-Bold"/>
                <a:cs typeface="Poppins Semi-Bold"/>
                <a:sym typeface="Poppins Semi-Bold"/>
              </a:rPr>
              <a:t>;</a:t>
            </a:r>
          </a:p>
          <a:p>
            <a:pPr algn="l">
              <a:lnSpc>
                <a:spcPts val="2001"/>
              </a:lnSpc>
            </a:pPr>
            <a:r>
              <a:rPr lang="en-US" sz="3699" b="1">
                <a:solidFill>
                  <a:srgbClr val="FFFFFF"/>
                </a:solidFill>
                <a:latin typeface="Poppins Semi-Bold"/>
                <a:ea typeface="Poppins Semi-Bold"/>
                <a:cs typeface="Poppins Semi-Bold"/>
                <a:sym typeface="Poppins Semi-Bold"/>
              </a:rPr>
              <a:t>numeros[3] = </a:t>
            </a:r>
            <a:r>
              <a:rPr lang="en-US" sz="3699" b="1">
                <a:solidFill>
                  <a:srgbClr val="FFCB85"/>
                </a:solidFill>
                <a:latin typeface="Poppins Semi-Bold"/>
                <a:ea typeface="Poppins Semi-Bold"/>
                <a:cs typeface="Poppins Semi-Bold"/>
                <a:sym typeface="Poppins Semi-Bold"/>
              </a:rPr>
              <a:t>19</a:t>
            </a:r>
            <a:r>
              <a:rPr lang="en-US" sz="3699" b="1">
                <a:solidFill>
                  <a:srgbClr val="FFFFFF"/>
                </a:solidFill>
                <a:latin typeface="Poppins Semi-Bold"/>
                <a:ea typeface="Poppins Semi-Bold"/>
                <a:cs typeface="Poppins Semi-Bold"/>
                <a:sym typeface="Poppins Semi-Bold"/>
              </a:rPr>
              <a:t>;</a:t>
            </a:r>
          </a:p>
          <a:p>
            <a:pPr algn="l">
              <a:lnSpc>
                <a:spcPts val="6851"/>
              </a:lnSpc>
            </a:pPr>
            <a:r>
              <a:rPr lang="en-US" sz="3699" b="1">
                <a:solidFill>
                  <a:srgbClr val="FFFFFF"/>
                </a:solidFill>
                <a:latin typeface="Poppins Semi-Bold"/>
                <a:ea typeface="Poppins Semi-Bold"/>
                <a:cs typeface="Poppins Semi-Bold"/>
                <a:sym typeface="Poppins Semi-Bold"/>
              </a:rPr>
              <a:t>numeros[4] = </a:t>
            </a:r>
            <a:r>
              <a:rPr lang="en-US" sz="3699" b="1">
                <a:solidFill>
                  <a:srgbClr val="FFCB85"/>
                </a:solidFill>
                <a:latin typeface="Poppins Semi-Bold"/>
                <a:ea typeface="Poppins Semi-Bold"/>
                <a:cs typeface="Poppins Semi-Bold"/>
                <a:sym typeface="Poppins Semi-Bold"/>
              </a:rPr>
              <a:t>2</a:t>
            </a:r>
            <a:r>
              <a:rPr lang="en-US" sz="3699" b="1">
                <a:solidFill>
                  <a:srgbClr val="FFFFFF"/>
                </a:solidFill>
                <a:latin typeface="Poppins Semi-Bold"/>
                <a:ea typeface="Poppins Semi-Bold"/>
                <a:cs typeface="Poppins Semi-Bold"/>
                <a:sym typeface="Poppins Semi-Bold"/>
              </a:rPr>
              <a:t>;</a:t>
            </a:r>
          </a:p>
          <a:p>
            <a:pPr algn="l">
              <a:lnSpc>
                <a:spcPts val="9249"/>
              </a:lnSpc>
            </a:pPr>
            <a:r>
              <a:rPr lang="en-US" sz="3699" b="1">
                <a:solidFill>
                  <a:srgbClr val="3C67BF"/>
                </a:solidFill>
                <a:latin typeface="Poppins Semi-Bold"/>
                <a:ea typeface="Poppins Semi-Bold"/>
                <a:cs typeface="Poppins Semi-Bold"/>
                <a:sym typeface="Poppins Semi-Bold"/>
              </a:rPr>
              <a:t>int </a:t>
            </a:r>
            <a:r>
              <a:rPr lang="en-US" sz="3699" b="1">
                <a:solidFill>
                  <a:srgbClr val="FFFFFF"/>
                </a:solidFill>
                <a:latin typeface="Poppins Semi-Bold"/>
                <a:ea typeface="Poppins Semi-Bold"/>
                <a:cs typeface="Poppins Semi-Bold"/>
                <a:sym typeface="Poppins Semi-Bold"/>
              </a:rPr>
              <a:t>soma = numero[3] + numero[0];</a:t>
            </a:r>
          </a:p>
          <a:p>
            <a:pPr algn="l">
              <a:lnSpc>
                <a:spcPts val="1849"/>
              </a:lnSpc>
            </a:pPr>
            <a:r>
              <a:rPr lang="en-US" sz="3699" b="1">
                <a:solidFill>
                  <a:srgbClr val="7ED957"/>
                </a:solidFill>
                <a:latin typeface="Poppins Semi-Bold"/>
                <a:ea typeface="Poppins Semi-Bold"/>
                <a:cs typeface="Poppins Semi-Bold"/>
                <a:sym typeface="Poppins Semi-Bold"/>
              </a:rPr>
              <a:t>Console</a:t>
            </a:r>
            <a:r>
              <a:rPr lang="en-US" sz="3699" b="1">
                <a:solidFill>
                  <a:srgbClr val="FFFFFF"/>
                </a:solidFill>
                <a:latin typeface="Poppins Semi-Bold"/>
                <a:ea typeface="Poppins Semi-Bold"/>
                <a:cs typeface="Poppins Semi-Bold"/>
                <a:sym typeface="Poppins Semi-Bold"/>
              </a:rPr>
              <a:t>.</a:t>
            </a:r>
            <a:r>
              <a:rPr lang="en-US" sz="3699" b="1">
                <a:solidFill>
                  <a:srgbClr val="FFCB85"/>
                </a:solidFill>
                <a:latin typeface="Poppins Semi-Bold"/>
                <a:ea typeface="Poppins Semi-Bold"/>
                <a:cs typeface="Poppins Semi-Bold"/>
                <a:sym typeface="Poppins Semi-Bold"/>
              </a:rPr>
              <a:t>WriteLine</a:t>
            </a:r>
            <a:r>
              <a:rPr lang="en-US" sz="3699" b="1">
                <a:solidFill>
                  <a:srgbClr val="FFFFFF"/>
                </a:solidFill>
                <a:latin typeface="Poppins Semi-Bold"/>
                <a:ea typeface="Poppins Semi-Bold"/>
                <a:cs typeface="Poppins Semi-Bold"/>
                <a:sym typeface="Poppins Semi-Bold"/>
              </a:rPr>
              <a:t>(soma);</a:t>
            </a:r>
          </a:p>
        </p:txBody>
      </p:sp>
      <p:sp>
        <p:nvSpPr>
          <p:cNvPr id="6" name="TextBox 6"/>
          <p:cNvSpPr txBox="1"/>
          <p:nvPr/>
        </p:nvSpPr>
        <p:spPr>
          <a:xfrm>
            <a:off x="11468271" y="4401064"/>
            <a:ext cx="5076292" cy="1482347"/>
          </a:xfrm>
          <a:prstGeom prst="rect">
            <a:avLst/>
          </a:prstGeom>
        </p:spPr>
        <p:txBody>
          <a:bodyPr lIns="0" tIns="0" rIns="0" bIns="0" rtlCol="0" anchor="t">
            <a:spAutoFit/>
          </a:bodyPr>
          <a:lstStyle/>
          <a:p>
            <a:pPr algn="ctr">
              <a:lnSpc>
                <a:spcPts val="8248"/>
              </a:lnSpc>
            </a:pPr>
            <a:r>
              <a:rPr lang="en-US" sz="3299" b="1">
                <a:solidFill>
                  <a:srgbClr val="FFFFFF"/>
                </a:solidFill>
                <a:latin typeface="Poppins Semi-Bold"/>
                <a:ea typeface="Poppins Semi-Bold"/>
                <a:cs typeface="Poppins Semi-Bold"/>
                <a:sym typeface="Poppins Semi-Bold"/>
              </a:rPr>
              <a:t>Qual o valor de Soma?</a:t>
            </a:r>
          </a:p>
          <a:p>
            <a:pPr algn="ctr">
              <a:lnSpc>
                <a:spcPts val="1649"/>
              </a:lnSpc>
            </a:pPr>
            <a:r>
              <a:rPr lang="en-US" sz="3299" b="1">
                <a:solidFill>
                  <a:srgbClr val="FF5757"/>
                </a:solidFill>
                <a:latin typeface="Poppins Semi-Bold"/>
                <a:ea typeface="Poppins Semi-Bold"/>
                <a:cs typeface="Poppins Semi-Bold"/>
                <a:sym typeface="Poppins Semi-Bold"/>
              </a:rPr>
              <a:t>24</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691659" y="1863547"/>
            <a:ext cx="14589643" cy="575141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#29 </a:t>
            </a:r>
            <a:r>
              <a:rPr lang="en-US" sz="4684" b="1">
                <a:solidFill>
                  <a:srgbClr val="FFFFFF"/>
                </a:solidFill>
                <a:latin typeface="Poppins Semi-Bold"/>
                <a:ea typeface="Poppins Semi-Bold"/>
                <a:cs typeface="Poppins Semi-Bold"/>
                <a:sym typeface="Poppins Semi-Bold"/>
              </a:rPr>
              <a:t>Faça um programa sorteador de nomes, onde você deve ler 5 nomes e armazená-los num vetor. O programa deve sortear um desses nomes aleatóriamente. No final o programa deve exibir o nome da pessoa sorteada.</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848012" y="3411845"/>
            <a:ext cx="11860435" cy="293201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#30 </a:t>
            </a:r>
            <a:r>
              <a:rPr lang="en-US" sz="4684" b="1">
                <a:solidFill>
                  <a:srgbClr val="FFFFFF"/>
                </a:solidFill>
                <a:latin typeface="Poppins Semi-Bold"/>
                <a:ea typeface="Poppins Semi-Bold"/>
                <a:cs typeface="Poppins Semi-Bold"/>
                <a:sym typeface="Poppins Semi-Bold"/>
              </a:rPr>
              <a:t>Refaça a atividade #27, só que agora utilizando apenas vetores.</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3951237" y="391001"/>
            <a:ext cx="10593143" cy="1097128"/>
          </a:xfrm>
          <a:prstGeom prst="rect">
            <a:avLst/>
          </a:prstGeom>
        </p:spPr>
        <p:txBody>
          <a:bodyPr lIns="0" tIns="0" rIns="0" bIns="0" rtlCol="0" anchor="t">
            <a:spAutoFit/>
          </a:bodyPr>
          <a:lstStyle/>
          <a:p>
            <a:pPr algn="l">
              <a:lnSpc>
                <a:spcPts val="7605"/>
              </a:lnSpc>
            </a:pPr>
            <a:r>
              <a:rPr lang="en-US" sz="5964" b="1">
                <a:solidFill>
                  <a:srgbClr val="FFFFFF"/>
                </a:solidFill>
                <a:latin typeface="Poppins Semi-Bold"/>
                <a:ea typeface="Poppins Semi-Bold"/>
                <a:cs typeface="Poppins Semi-Bold"/>
                <a:sym typeface="Poppins Semi-Bold"/>
              </a:rPr>
              <a:t>Comando de repetição </a:t>
            </a:r>
            <a:r>
              <a:rPr lang="en-US" sz="5964" b="1">
                <a:solidFill>
                  <a:srgbClr val="3C67BF"/>
                </a:solidFill>
                <a:latin typeface="Poppins Semi-Bold"/>
                <a:ea typeface="Poppins Semi-Bold"/>
                <a:cs typeface="Poppins Semi-Bold"/>
                <a:sym typeface="Poppins Semi-Bold"/>
              </a:rPr>
              <a:t>for</a:t>
            </a:r>
          </a:p>
        </p:txBody>
      </p:sp>
      <p:sp>
        <p:nvSpPr>
          <p:cNvPr id="3" name="TextBox 3"/>
          <p:cNvSpPr txBox="1"/>
          <p:nvPr/>
        </p:nvSpPr>
        <p:spPr>
          <a:xfrm>
            <a:off x="10294277" y="1279369"/>
            <a:ext cx="132121" cy="1022814"/>
          </a:xfrm>
          <a:prstGeom prst="rect">
            <a:avLst/>
          </a:prstGeom>
        </p:spPr>
        <p:txBody>
          <a:bodyPr lIns="0" tIns="0" rIns="0" bIns="0" rtlCol="0" anchor="t">
            <a:spAutoFit/>
          </a:bodyPr>
          <a:lstStyle/>
          <a:p>
            <a:pPr algn="l">
              <a:lnSpc>
                <a:spcPts val="8499"/>
              </a:lnSpc>
            </a:pPr>
            <a:r>
              <a:rPr lang="en-US" sz="3399" b="1">
                <a:solidFill>
                  <a:srgbClr val="FFFFFF"/>
                </a:solidFill>
                <a:latin typeface="Poppins Semi-Bold"/>
                <a:ea typeface="Poppins Semi-Bold"/>
                <a:cs typeface="Poppins Semi-Bold"/>
                <a:sym typeface="Poppins Semi-Bold"/>
              </a:rPr>
              <a:t> </a:t>
            </a:r>
          </a:p>
        </p:txBody>
      </p:sp>
      <p:sp>
        <p:nvSpPr>
          <p:cNvPr id="4" name="TextBox 4"/>
          <p:cNvSpPr txBox="1"/>
          <p:nvPr/>
        </p:nvSpPr>
        <p:spPr>
          <a:xfrm>
            <a:off x="164983" y="1698469"/>
            <a:ext cx="16798957" cy="603714"/>
          </a:xfrm>
          <a:prstGeom prst="rect">
            <a:avLst/>
          </a:prstGeom>
        </p:spPr>
        <p:txBody>
          <a:bodyPr lIns="0" tIns="0" rIns="0" bIns="0" rtlCol="0" anchor="t">
            <a:spAutoFit/>
          </a:bodyPr>
          <a:lstStyle/>
          <a:p>
            <a:pPr algn="l">
              <a:lnSpc>
                <a:spcPts val="4049"/>
              </a:lnSpc>
            </a:pPr>
            <a:r>
              <a:rPr lang="en-US" sz="3399" b="1">
                <a:solidFill>
                  <a:srgbClr val="FFFFFF"/>
                </a:solidFill>
                <a:latin typeface="Poppins Semi-Bold"/>
                <a:ea typeface="Poppins Semi-Bold"/>
                <a:cs typeface="Poppins Semi-Bold"/>
                <a:sym typeface="Poppins Semi-Bold"/>
              </a:rPr>
              <a:t>O comando for serve para você poder repetira execução de um bloco de</a:t>
            </a:r>
          </a:p>
        </p:txBody>
      </p:sp>
      <p:sp>
        <p:nvSpPr>
          <p:cNvPr id="5" name="TextBox 5"/>
          <p:cNvSpPr txBox="1"/>
          <p:nvPr/>
        </p:nvSpPr>
        <p:spPr>
          <a:xfrm>
            <a:off x="164983" y="2212819"/>
            <a:ext cx="16997572" cy="7804614"/>
          </a:xfrm>
          <a:prstGeom prst="rect">
            <a:avLst/>
          </a:prstGeom>
        </p:spPr>
        <p:txBody>
          <a:bodyPr lIns="0" tIns="0" rIns="0" bIns="0" rtlCol="0" anchor="t">
            <a:spAutoFit/>
          </a:bodyPr>
          <a:lstStyle/>
          <a:p>
            <a:pPr algn="l">
              <a:lnSpc>
                <a:spcPts val="4049"/>
              </a:lnSpc>
            </a:pPr>
            <a:r>
              <a:rPr lang="en-US" sz="3399" b="1">
                <a:solidFill>
                  <a:srgbClr val="FFFFFF"/>
                </a:solidFill>
                <a:latin typeface="Poppins Semi-Bold"/>
                <a:ea typeface="Poppins Semi-Bold"/>
                <a:cs typeface="Poppins Semi-Bold"/>
                <a:sym typeface="Poppins Semi-Bold"/>
              </a:rPr>
              <a:t>código n vezes. Você define quantas vezes você quer que aquele bloco de código se repita, por exemplo, analise o código abaixo, um programa que conta de 0 a 10, linha por linha. </a:t>
            </a: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(0); </a:t>
            </a: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(1); </a:t>
            </a: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(2); </a:t>
            </a: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(3); </a:t>
            </a: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(4); </a:t>
            </a: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(5); </a:t>
            </a: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(6); </a:t>
            </a: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(7); </a:t>
            </a: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(8); </a:t>
            </a: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(9); </a:t>
            </a: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(10);</a:t>
            </a:r>
          </a:p>
        </p:txBody>
      </p:sp>
      <p:sp>
        <p:nvSpPr>
          <p:cNvPr id="6" name="TextBox 6"/>
          <p:cNvSpPr txBox="1"/>
          <p:nvPr/>
        </p:nvSpPr>
        <p:spPr>
          <a:xfrm>
            <a:off x="10226126" y="6073673"/>
            <a:ext cx="5583946" cy="1072772"/>
          </a:xfrm>
          <a:prstGeom prst="rect">
            <a:avLst/>
          </a:prstGeom>
        </p:spPr>
        <p:txBody>
          <a:bodyPr lIns="0" tIns="0" rIns="0" bIns="0" rtlCol="0" anchor="t">
            <a:spAutoFit/>
          </a:bodyPr>
          <a:lstStyle/>
          <a:p>
            <a:pPr algn="ctr">
              <a:lnSpc>
                <a:spcPts val="3929"/>
              </a:lnSpc>
            </a:pPr>
            <a:r>
              <a:rPr lang="en-US" sz="3299" b="1">
                <a:solidFill>
                  <a:srgbClr val="FF5757"/>
                </a:solidFill>
                <a:latin typeface="Poppins Semi-Bold"/>
                <a:ea typeface="Poppins Semi-Bold"/>
                <a:cs typeface="Poppins Semi-Bold"/>
                <a:sym typeface="Poppins Semi-Bold"/>
              </a:rPr>
              <a:t>Muitas linhas para poder fazer algo simples.</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5417630" y="4654810"/>
            <a:ext cx="7520616" cy="1755124"/>
          </a:xfrm>
          <a:custGeom>
            <a:avLst/>
            <a:gdLst/>
            <a:ahLst/>
            <a:cxnLst/>
            <a:rect l="l" t="t" r="r" b="b"/>
            <a:pathLst>
              <a:path w="7520616" h="1755124">
                <a:moveTo>
                  <a:pt x="0" y="0"/>
                </a:moveTo>
                <a:lnTo>
                  <a:pt x="7520616" y="0"/>
                </a:lnTo>
                <a:lnTo>
                  <a:pt x="7520616" y="1755124"/>
                </a:lnTo>
                <a:lnTo>
                  <a:pt x="0" y="175512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3951237" y="324326"/>
            <a:ext cx="10593143"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Comando de repetição </a:t>
            </a:r>
            <a:r>
              <a:rPr lang="en-US" sz="5964" b="1">
                <a:solidFill>
                  <a:srgbClr val="3C67BF"/>
                </a:solidFill>
                <a:latin typeface="Poppins Semi-Bold"/>
                <a:ea typeface="Poppins Semi-Bold"/>
                <a:cs typeface="Poppins Semi-Bold"/>
                <a:sym typeface="Poppins Semi-Bold"/>
              </a:rPr>
              <a:t>for</a:t>
            </a:r>
          </a:p>
        </p:txBody>
      </p:sp>
      <p:sp>
        <p:nvSpPr>
          <p:cNvPr id="4" name="TextBox 4"/>
          <p:cNvSpPr txBox="1"/>
          <p:nvPr/>
        </p:nvSpPr>
        <p:spPr>
          <a:xfrm>
            <a:off x="164983" y="3498694"/>
            <a:ext cx="5109534" cy="5747214"/>
          </a:xfrm>
          <a:prstGeom prst="rect">
            <a:avLst/>
          </a:prstGeom>
        </p:spPr>
        <p:txBody>
          <a:bodyPr lIns="0" tIns="0" rIns="0" bIns="0" rtlCol="0" anchor="t">
            <a:spAutoFit/>
          </a:bodyPr>
          <a:lstStyle/>
          <a:p>
            <a:pPr algn="l">
              <a:lnSpc>
                <a:spcPts val="4049"/>
              </a:lnSpc>
            </a:pP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(0); </a:t>
            </a: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(1); </a:t>
            </a: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(2); </a:t>
            </a: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(3); </a:t>
            </a: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(4); </a:t>
            </a: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(5); </a:t>
            </a: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(6); </a:t>
            </a: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(7); </a:t>
            </a: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(8); </a:t>
            </a: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(9); </a:t>
            </a: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(10);</a:t>
            </a:r>
          </a:p>
        </p:txBody>
      </p:sp>
      <p:sp>
        <p:nvSpPr>
          <p:cNvPr id="5" name="TextBox 5"/>
          <p:cNvSpPr txBox="1"/>
          <p:nvPr/>
        </p:nvSpPr>
        <p:spPr>
          <a:xfrm>
            <a:off x="8077791" y="3217583"/>
            <a:ext cx="9762401" cy="1558547"/>
          </a:xfrm>
          <a:prstGeom prst="rect">
            <a:avLst/>
          </a:prstGeom>
        </p:spPr>
        <p:txBody>
          <a:bodyPr lIns="0" tIns="0" rIns="0" bIns="0" rtlCol="0" anchor="t">
            <a:spAutoFit/>
          </a:bodyPr>
          <a:lstStyle/>
          <a:p>
            <a:pPr algn="ctr">
              <a:lnSpc>
                <a:spcPts val="3899"/>
              </a:lnSpc>
            </a:pPr>
            <a:r>
              <a:rPr lang="en-US" sz="3299" b="1">
                <a:solidFill>
                  <a:srgbClr val="FFFFFF"/>
                </a:solidFill>
                <a:latin typeface="Poppins Semi-Bold"/>
                <a:ea typeface="Poppins Semi-Bold"/>
                <a:cs typeface="Poppins Semi-Bold"/>
                <a:sym typeface="Poppins Semi-Bold"/>
              </a:rPr>
              <a:t>O </a:t>
            </a:r>
            <a:r>
              <a:rPr lang="en-US" sz="3299" b="1">
                <a:solidFill>
                  <a:srgbClr val="3C67BF"/>
                </a:solidFill>
                <a:latin typeface="Poppins Semi-Bold"/>
                <a:ea typeface="Poppins Semi-Bold"/>
                <a:cs typeface="Poppins Semi-Bold"/>
                <a:sym typeface="Poppins Semi-Bold"/>
              </a:rPr>
              <a:t>for </a:t>
            </a:r>
            <a:r>
              <a:rPr lang="en-US" sz="3299" b="1">
                <a:solidFill>
                  <a:srgbClr val="FFFFFF"/>
                </a:solidFill>
                <a:latin typeface="Poppins Semi-Bold"/>
                <a:ea typeface="Poppins Semi-Bold"/>
                <a:cs typeface="Poppins Semi-Bold"/>
                <a:sym typeface="Poppins Semi-Bold"/>
              </a:rPr>
              <a:t>pode nos ajudar nisso, pois ele é um comando de repetição, ou seja, ele repete a execução de um bloco de código.</a:t>
            </a:r>
          </a:p>
        </p:txBody>
      </p:sp>
      <p:sp>
        <p:nvSpPr>
          <p:cNvPr id="6" name="TextBox 6"/>
          <p:cNvSpPr txBox="1"/>
          <p:nvPr/>
        </p:nvSpPr>
        <p:spPr>
          <a:xfrm>
            <a:off x="7276319" y="6114793"/>
            <a:ext cx="5283737" cy="1754172"/>
          </a:xfrm>
          <a:prstGeom prst="rect">
            <a:avLst/>
          </a:prstGeom>
        </p:spPr>
        <p:txBody>
          <a:bodyPr lIns="0" tIns="0" rIns="0" bIns="0" rtlCol="0" anchor="t">
            <a:spAutoFit/>
          </a:bodyPr>
          <a:lstStyle/>
          <a:p>
            <a:pPr algn="ctr">
              <a:lnSpc>
                <a:spcPts val="2699"/>
              </a:lnSpc>
            </a:pPr>
            <a:r>
              <a:rPr lang="en-US" sz="2299" b="1">
                <a:solidFill>
                  <a:srgbClr val="FF5757"/>
                </a:solidFill>
                <a:latin typeface="Poppins Semi-Bold"/>
                <a:ea typeface="Poppins Semi-Bold"/>
                <a:cs typeface="Poppins Semi-Bold"/>
                <a:sym typeface="Poppins Semi-Bold"/>
              </a:rPr>
              <a:t>Aqui estamos repetindo a mesma linha de código manualmente 11 vezes. </a:t>
            </a:r>
            <a:r>
              <a:rPr lang="en-US" sz="2299" b="1">
                <a:solidFill>
                  <a:srgbClr val="FFFFFF"/>
                </a:solidFill>
                <a:latin typeface="Poppins Semi-Bold"/>
                <a:ea typeface="Poppins Semi-Bold"/>
                <a:cs typeface="Poppins Semi-Bold"/>
                <a:sym typeface="Poppins Semi-Bold"/>
              </a:rPr>
              <a:t>Vamos usar o for para nos ajudar nesse exemplo.</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2811285" y="4381529"/>
            <a:ext cx="2825677" cy="2003060"/>
          </a:xfrm>
          <a:custGeom>
            <a:avLst/>
            <a:gdLst/>
            <a:ahLst/>
            <a:cxnLst/>
            <a:rect l="l" t="t" r="r" b="b"/>
            <a:pathLst>
              <a:path w="2825677" h="2003060">
                <a:moveTo>
                  <a:pt x="0" y="0"/>
                </a:moveTo>
                <a:lnTo>
                  <a:pt x="2825677" y="0"/>
                </a:lnTo>
                <a:lnTo>
                  <a:pt x="2825677" y="2003059"/>
                </a:lnTo>
                <a:lnTo>
                  <a:pt x="0" y="200305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8832790" y="4432859"/>
            <a:ext cx="622306" cy="1900457"/>
          </a:xfrm>
          <a:custGeom>
            <a:avLst/>
            <a:gdLst/>
            <a:ahLst/>
            <a:cxnLst/>
            <a:rect l="l" t="t" r="r" b="b"/>
            <a:pathLst>
              <a:path w="622306" h="1900457">
                <a:moveTo>
                  <a:pt x="0" y="0"/>
                </a:moveTo>
                <a:lnTo>
                  <a:pt x="622306" y="0"/>
                </a:lnTo>
                <a:lnTo>
                  <a:pt x="622306" y="1900456"/>
                </a:lnTo>
                <a:lnTo>
                  <a:pt x="0" y="19004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3360279" y="4392778"/>
            <a:ext cx="1728168" cy="1980581"/>
          </a:xfrm>
          <a:custGeom>
            <a:avLst/>
            <a:gdLst/>
            <a:ahLst/>
            <a:cxnLst/>
            <a:rect l="l" t="t" r="r" b="b"/>
            <a:pathLst>
              <a:path w="1728168" h="1980581">
                <a:moveTo>
                  <a:pt x="0" y="0"/>
                </a:moveTo>
                <a:lnTo>
                  <a:pt x="1728169" y="0"/>
                </a:lnTo>
                <a:lnTo>
                  <a:pt x="1728169" y="1980580"/>
                </a:lnTo>
                <a:lnTo>
                  <a:pt x="0" y="198058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3375815" y="8255622"/>
            <a:ext cx="1920402" cy="1272616"/>
          </a:xfrm>
          <a:custGeom>
            <a:avLst/>
            <a:gdLst/>
            <a:ahLst/>
            <a:cxnLst/>
            <a:rect l="l" t="t" r="r" b="b"/>
            <a:pathLst>
              <a:path w="1920402" h="1272616">
                <a:moveTo>
                  <a:pt x="0" y="0"/>
                </a:moveTo>
                <a:lnTo>
                  <a:pt x="1920402" y="0"/>
                </a:lnTo>
                <a:lnTo>
                  <a:pt x="1920402" y="1272616"/>
                </a:lnTo>
                <a:lnTo>
                  <a:pt x="0" y="127261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TextBox 6"/>
          <p:cNvSpPr txBox="1"/>
          <p:nvPr/>
        </p:nvSpPr>
        <p:spPr>
          <a:xfrm>
            <a:off x="3766166" y="324326"/>
            <a:ext cx="10593143"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Comando de repetição </a:t>
            </a:r>
            <a:r>
              <a:rPr lang="en-US" sz="5964" b="1">
                <a:solidFill>
                  <a:srgbClr val="3C67BF"/>
                </a:solidFill>
                <a:latin typeface="Poppins Semi-Bold"/>
                <a:ea typeface="Poppins Semi-Bold"/>
                <a:cs typeface="Poppins Semi-Bold"/>
                <a:sym typeface="Poppins Semi-Bold"/>
              </a:rPr>
              <a:t>for</a:t>
            </a:r>
          </a:p>
        </p:txBody>
      </p:sp>
      <p:sp>
        <p:nvSpPr>
          <p:cNvPr id="7" name="TextBox 7"/>
          <p:cNvSpPr txBox="1"/>
          <p:nvPr/>
        </p:nvSpPr>
        <p:spPr>
          <a:xfrm>
            <a:off x="2070716" y="6071730"/>
            <a:ext cx="14333372" cy="1435027"/>
          </a:xfrm>
          <a:prstGeom prst="rect">
            <a:avLst/>
          </a:prstGeom>
        </p:spPr>
        <p:txBody>
          <a:bodyPr lIns="0" tIns="0" rIns="0" bIns="0" rtlCol="0" anchor="t">
            <a:spAutoFit/>
          </a:bodyPr>
          <a:lstStyle/>
          <a:p>
            <a:pPr algn="l">
              <a:lnSpc>
                <a:spcPts val="9751"/>
              </a:lnSpc>
            </a:pPr>
            <a:r>
              <a:rPr lang="en-US" sz="8167" b="1">
                <a:solidFill>
                  <a:srgbClr val="3C67BF"/>
                </a:solidFill>
                <a:latin typeface="Poppins Semi-Bold"/>
                <a:ea typeface="Poppins Semi-Bold"/>
                <a:cs typeface="Poppins Semi-Bold"/>
                <a:sym typeface="Poppins Semi-Bold"/>
              </a:rPr>
              <a:t>for</a:t>
            </a:r>
            <a:r>
              <a:rPr lang="en-US" sz="8167" b="1">
                <a:solidFill>
                  <a:srgbClr val="FFFFFF"/>
                </a:solidFill>
                <a:latin typeface="Poppins Semi-Bold"/>
                <a:ea typeface="Poppins Semi-Bold"/>
                <a:cs typeface="Poppins Semi-Bold"/>
                <a:sym typeface="Poppins Semi-Bold"/>
              </a:rPr>
              <a:t>(</a:t>
            </a:r>
            <a:r>
              <a:rPr lang="en-US" sz="8167" b="1">
                <a:solidFill>
                  <a:srgbClr val="FFCB85"/>
                </a:solidFill>
                <a:latin typeface="Poppins Semi-Bold"/>
                <a:ea typeface="Poppins Semi-Bold"/>
                <a:cs typeface="Poppins Semi-Bold"/>
                <a:sym typeface="Poppins Semi-Bold"/>
              </a:rPr>
              <a:t>parte1</a:t>
            </a:r>
            <a:r>
              <a:rPr lang="en-US" sz="8167" b="1">
                <a:solidFill>
                  <a:srgbClr val="FFFFFF"/>
                </a:solidFill>
                <a:latin typeface="Poppins Semi-Bold"/>
                <a:ea typeface="Poppins Semi-Bold"/>
                <a:cs typeface="Poppins Semi-Bold"/>
                <a:sym typeface="Poppins Semi-Bold"/>
              </a:rPr>
              <a:t>;</a:t>
            </a:r>
            <a:r>
              <a:rPr lang="en-US" sz="8167" b="1">
                <a:solidFill>
                  <a:srgbClr val="FF5757"/>
                </a:solidFill>
                <a:latin typeface="Poppins Semi-Bold"/>
                <a:ea typeface="Poppins Semi-Bold"/>
                <a:cs typeface="Poppins Semi-Bold"/>
                <a:sym typeface="Poppins Semi-Bold"/>
              </a:rPr>
              <a:t>parte2</a:t>
            </a:r>
            <a:r>
              <a:rPr lang="en-US" sz="8167" b="1">
                <a:solidFill>
                  <a:srgbClr val="FFFFFF"/>
                </a:solidFill>
                <a:latin typeface="Poppins Semi-Bold"/>
                <a:ea typeface="Poppins Semi-Bold"/>
                <a:cs typeface="Poppins Semi-Bold"/>
                <a:sym typeface="Poppins Semi-Bold"/>
              </a:rPr>
              <a:t>;</a:t>
            </a:r>
            <a:r>
              <a:rPr lang="en-US" sz="8167" b="1">
                <a:solidFill>
                  <a:srgbClr val="CB6CE6"/>
                </a:solidFill>
                <a:latin typeface="Poppins Semi-Bold"/>
                <a:ea typeface="Poppins Semi-Bold"/>
                <a:cs typeface="Poppins Semi-Bold"/>
                <a:sym typeface="Poppins Semi-Bold"/>
              </a:rPr>
              <a:t>parte3</a:t>
            </a:r>
            <a:r>
              <a:rPr lang="en-US" sz="8167" b="1">
                <a:solidFill>
                  <a:srgbClr val="FFFFFF"/>
                </a:solidFill>
                <a:latin typeface="Poppins Semi-Bold"/>
                <a:ea typeface="Poppins Semi-Bold"/>
                <a:cs typeface="Poppins Semi-Bold"/>
                <a:sym typeface="Poppins Semi-Bold"/>
              </a:rPr>
              <a:t>){</a:t>
            </a:r>
          </a:p>
        </p:txBody>
      </p:sp>
      <p:sp>
        <p:nvSpPr>
          <p:cNvPr id="8" name="TextBox 8"/>
          <p:cNvSpPr txBox="1"/>
          <p:nvPr/>
        </p:nvSpPr>
        <p:spPr>
          <a:xfrm>
            <a:off x="2070716" y="7309980"/>
            <a:ext cx="555460" cy="2673277"/>
          </a:xfrm>
          <a:prstGeom prst="rect">
            <a:avLst/>
          </a:prstGeom>
        </p:spPr>
        <p:txBody>
          <a:bodyPr lIns="0" tIns="0" rIns="0" bIns="0" rtlCol="0" anchor="t">
            <a:spAutoFit/>
          </a:bodyPr>
          <a:lstStyle/>
          <a:p>
            <a:pPr algn="l">
              <a:lnSpc>
                <a:spcPts val="9751"/>
              </a:lnSpc>
            </a:pPr>
            <a:r>
              <a:rPr lang="en-US" sz="8167" b="1">
                <a:solidFill>
                  <a:srgbClr val="FFFFFF"/>
                </a:solidFill>
                <a:latin typeface="Poppins Semi-Bold"/>
                <a:ea typeface="Poppins Semi-Bold"/>
                <a:cs typeface="Poppins Semi-Bold"/>
                <a:sym typeface="Poppins Semi-Bold"/>
              </a:rPr>
              <a:t> </a:t>
            </a:r>
          </a:p>
          <a:p>
            <a:pPr algn="l">
              <a:lnSpc>
                <a:spcPts val="9751"/>
              </a:lnSpc>
            </a:pPr>
            <a:r>
              <a:rPr lang="en-US" sz="8167" b="1">
                <a:solidFill>
                  <a:srgbClr val="FFFFFF"/>
                </a:solidFill>
                <a:latin typeface="Poppins Semi-Bold"/>
                <a:ea typeface="Poppins Semi-Bold"/>
                <a:cs typeface="Poppins Semi-Bold"/>
                <a:sym typeface="Poppins Semi-Bold"/>
              </a:rPr>
              <a:t>}</a:t>
            </a:r>
          </a:p>
        </p:txBody>
      </p:sp>
      <p:sp>
        <p:nvSpPr>
          <p:cNvPr id="9" name="TextBox 9"/>
          <p:cNvSpPr txBox="1"/>
          <p:nvPr/>
        </p:nvSpPr>
        <p:spPr>
          <a:xfrm>
            <a:off x="3626568" y="7309980"/>
            <a:ext cx="9805978" cy="1435027"/>
          </a:xfrm>
          <a:prstGeom prst="rect">
            <a:avLst/>
          </a:prstGeom>
        </p:spPr>
        <p:txBody>
          <a:bodyPr lIns="0" tIns="0" rIns="0" bIns="0" rtlCol="0" anchor="t">
            <a:spAutoFit/>
          </a:bodyPr>
          <a:lstStyle/>
          <a:p>
            <a:pPr algn="l">
              <a:lnSpc>
                <a:spcPts val="9751"/>
              </a:lnSpc>
            </a:pPr>
            <a:r>
              <a:rPr lang="en-US" sz="8167" b="1">
                <a:solidFill>
                  <a:srgbClr val="7ED957"/>
                </a:solidFill>
                <a:latin typeface="Poppins Semi-Bold"/>
                <a:ea typeface="Poppins Semi-Bold"/>
                <a:cs typeface="Poppins Semi-Bold"/>
                <a:sym typeface="Poppins Semi-Bold"/>
              </a:rPr>
              <a:t>//Bloco de código</a:t>
            </a:r>
          </a:p>
        </p:txBody>
      </p:sp>
      <p:sp>
        <p:nvSpPr>
          <p:cNvPr id="10" name="TextBox 10"/>
          <p:cNvSpPr txBox="1"/>
          <p:nvPr/>
        </p:nvSpPr>
        <p:spPr>
          <a:xfrm>
            <a:off x="13047812" y="9351512"/>
            <a:ext cx="85487" cy="385020"/>
          </a:xfrm>
          <a:prstGeom prst="rect">
            <a:avLst/>
          </a:prstGeom>
        </p:spPr>
        <p:txBody>
          <a:bodyPr lIns="0" tIns="0" rIns="0" bIns="0" rtlCol="0" anchor="t">
            <a:spAutoFit/>
          </a:bodyPr>
          <a:lstStyle/>
          <a:p>
            <a:pPr algn="l">
              <a:lnSpc>
                <a:spcPts val="2626"/>
              </a:lnSpc>
            </a:pPr>
            <a:r>
              <a:rPr lang="en-US" sz="2199" b="1" spc="1759">
                <a:solidFill>
                  <a:srgbClr val="7ED957"/>
                </a:solidFill>
                <a:latin typeface="Poppins Semi-Bold"/>
                <a:ea typeface="Poppins Semi-Bold"/>
                <a:cs typeface="Poppins Semi-Bold"/>
                <a:sym typeface="Poppins Semi-Bold"/>
              </a:rPr>
              <a:t> </a:t>
            </a:r>
          </a:p>
        </p:txBody>
      </p:sp>
      <p:sp>
        <p:nvSpPr>
          <p:cNvPr id="11" name="TextBox 11"/>
          <p:cNvSpPr txBox="1"/>
          <p:nvPr/>
        </p:nvSpPr>
        <p:spPr>
          <a:xfrm>
            <a:off x="873547" y="3849176"/>
            <a:ext cx="4152833" cy="644147"/>
          </a:xfrm>
          <a:prstGeom prst="rect">
            <a:avLst/>
          </a:prstGeom>
        </p:spPr>
        <p:txBody>
          <a:bodyPr lIns="0" tIns="0" rIns="0" bIns="0" rtlCol="0" anchor="t">
            <a:spAutoFit/>
          </a:bodyPr>
          <a:lstStyle/>
          <a:p>
            <a:pPr algn="l">
              <a:lnSpc>
                <a:spcPts val="4618"/>
              </a:lnSpc>
            </a:pPr>
            <a:r>
              <a:rPr lang="en-US" sz="3299" b="1">
                <a:solidFill>
                  <a:srgbClr val="FFCB85"/>
                </a:solidFill>
                <a:latin typeface="Poppins Semi-Bold"/>
                <a:ea typeface="Poppins Semi-Bold"/>
                <a:cs typeface="Poppins Semi-Bold"/>
                <a:sym typeface="Poppins Semi-Bold"/>
              </a:rPr>
              <a:t>Início da repetição</a:t>
            </a:r>
          </a:p>
        </p:txBody>
      </p:sp>
      <p:sp>
        <p:nvSpPr>
          <p:cNvPr id="12" name="TextBox 12"/>
          <p:cNvSpPr txBox="1"/>
          <p:nvPr/>
        </p:nvSpPr>
        <p:spPr>
          <a:xfrm>
            <a:off x="7039680" y="3849176"/>
            <a:ext cx="4292575" cy="644147"/>
          </a:xfrm>
          <a:prstGeom prst="rect">
            <a:avLst/>
          </a:prstGeom>
        </p:spPr>
        <p:txBody>
          <a:bodyPr lIns="0" tIns="0" rIns="0" bIns="0" rtlCol="0" anchor="t">
            <a:spAutoFit/>
          </a:bodyPr>
          <a:lstStyle/>
          <a:p>
            <a:pPr algn="l">
              <a:lnSpc>
                <a:spcPts val="4618"/>
              </a:lnSpc>
            </a:pPr>
            <a:r>
              <a:rPr lang="en-US" sz="3299" b="1">
                <a:solidFill>
                  <a:srgbClr val="FF5757"/>
                </a:solidFill>
                <a:latin typeface="Poppins Semi-Bold"/>
                <a:ea typeface="Poppins Semi-Bold"/>
                <a:cs typeface="Poppins Semi-Bold"/>
                <a:sym typeface="Poppins Semi-Bold"/>
              </a:rPr>
              <a:t>Limite da repetição</a:t>
            </a:r>
          </a:p>
        </p:txBody>
      </p:sp>
      <p:sp>
        <p:nvSpPr>
          <p:cNvPr id="13" name="TextBox 13"/>
          <p:cNvSpPr txBox="1"/>
          <p:nvPr/>
        </p:nvSpPr>
        <p:spPr>
          <a:xfrm>
            <a:off x="4666183" y="1857508"/>
            <a:ext cx="9134637" cy="1063247"/>
          </a:xfrm>
          <a:prstGeom prst="rect">
            <a:avLst/>
          </a:prstGeom>
        </p:spPr>
        <p:txBody>
          <a:bodyPr lIns="0" tIns="0" rIns="0" bIns="0" rtlCol="0" anchor="t">
            <a:spAutoFit/>
          </a:bodyPr>
          <a:lstStyle/>
          <a:p>
            <a:pPr algn="ctr">
              <a:lnSpc>
                <a:spcPts val="3899"/>
              </a:lnSpc>
            </a:pPr>
            <a:r>
              <a:rPr lang="en-US" sz="3299" b="1">
                <a:solidFill>
                  <a:srgbClr val="FFFFFF"/>
                </a:solidFill>
                <a:latin typeface="Poppins Semi-Bold"/>
                <a:ea typeface="Poppins Semi-Bold"/>
                <a:cs typeface="Poppins Semi-Bold"/>
                <a:sym typeface="Poppins Semi-Bold"/>
              </a:rPr>
              <a:t>Sintaxe do comando for. Podemos dividir o comando em 3 partes.</a:t>
            </a:r>
          </a:p>
        </p:txBody>
      </p:sp>
      <p:sp>
        <p:nvSpPr>
          <p:cNvPr id="14" name="TextBox 14"/>
          <p:cNvSpPr txBox="1"/>
          <p:nvPr/>
        </p:nvSpPr>
        <p:spPr>
          <a:xfrm>
            <a:off x="12500038" y="3849176"/>
            <a:ext cx="5054498" cy="644147"/>
          </a:xfrm>
          <a:prstGeom prst="rect">
            <a:avLst/>
          </a:prstGeom>
        </p:spPr>
        <p:txBody>
          <a:bodyPr lIns="0" tIns="0" rIns="0" bIns="0" rtlCol="0" anchor="t">
            <a:spAutoFit/>
          </a:bodyPr>
          <a:lstStyle/>
          <a:p>
            <a:pPr algn="l">
              <a:lnSpc>
                <a:spcPts val="4618"/>
              </a:lnSpc>
            </a:pPr>
            <a:r>
              <a:rPr lang="en-US" sz="3299" b="1">
                <a:solidFill>
                  <a:srgbClr val="CB6CE6"/>
                </a:solidFill>
                <a:latin typeface="Poppins Semi-Bold"/>
                <a:ea typeface="Poppins Semi-Bold"/>
                <a:cs typeface="Poppins Semi-Bold"/>
                <a:sym typeface="Poppins Semi-Bold"/>
              </a:rPr>
              <a:t>Contador da repetição</a:t>
            </a:r>
          </a:p>
        </p:txBody>
      </p:sp>
      <p:sp>
        <p:nvSpPr>
          <p:cNvPr id="15" name="TextBox 15"/>
          <p:cNvSpPr txBox="1"/>
          <p:nvPr/>
        </p:nvSpPr>
        <p:spPr>
          <a:xfrm>
            <a:off x="12324569" y="9351512"/>
            <a:ext cx="5867724" cy="718395"/>
          </a:xfrm>
          <a:prstGeom prst="rect">
            <a:avLst/>
          </a:prstGeom>
        </p:spPr>
        <p:txBody>
          <a:bodyPr lIns="0" tIns="0" rIns="0" bIns="0" rtlCol="0" anchor="t">
            <a:spAutoFit/>
          </a:bodyPr>
          <a:lstStyle/>
          <a:p>
            <a:pPr algn="ctr">
              <a:lnSpc>
                <a:spcPts val="2624"/>
              </a:lnSpc>
            </a:pPr>
            <a:r>
              <a:rPr lang="en-US" sz="2199" b="1">
                <a:solidFill>
                  <a:srgbClr val="7ED957"/>
                </a:solidFill>
                <a:latin typeface="Poppins Semi-Bold"/>
                <a:ea typeface="Poppins Semi-Bold"/>
                <a:cs typeface="Poppins Semi-Bold"/>
                <a:sym typeface="Poppins Semi-Bold"/>
              </a:rPr>
              <a:t>Tudoqueestivernesseblocode código será</a:t>
            </a:r>
            <a:r>
              <a:rPr lang="en-US" sz="2199" b="1">
                <a:solidFill>
                  <a:srgbClr val="FFFFFF"/>
                </a:solidFill>
                <a:latin typeface="Poppins Semi-Bold"/>
                <a:ea typeface="Poppins Semi-Bold"/>
                <a:cs typeface="Poppins Semi-Bold"/>
                <a:sym typeface="Poppins Semi-Bold"/>
              </a:rPr>
              <a:t> </a:t>
            </a:r>
            <a:r>
              <a:rPr lang="en-US" sz="2199" b="1">
                <a:solidFill>
                  <a:srgbClr val="7ED957"/>
                </a:solidFill>
                <a:latin typeface="Poppins Semi-Bold"/>
                <a:ea typeface="Poppins Semi-Bold"/>
                <a:cs typeface="Poppins Semi-Bold"/>
                <a:sym typeface="Poppins Semi-Bold"/>
              </a:rPr>
              <a:t>repetido</a:t>
            </a:r>
            <a:r>
              <a:rPr lang="en-US" sz="2199" b="1">
                <a:solidFill>
                  <a:srgbClr val="FFFFFF"/>
                </a:solidFill>
                <a:latin typeface="Poppins Semi-Bold"/>
                <a:ea typeface="Poppins Semi-Bold"/>
                <a:cs typeface="Poppins Semi-Bold"/>
                <a:sym typeface="Poppins Semi-Bold"/>
              </a:rPr>
              <a:t> </a:t>
            </a:r>
            <a:r>
              <a:rPr lang="en-US" sz="2199" b="1">
                <a:solidFill>
                  <a:srgbClr val="7ED957"/>
                </a:solidFill>
                <a:latin typeface="Poppins Semi-Bold"/>
                <a:ea typeface="Poppins Semi-Bold"/>
                <a:cs typeface="Poppins Semi-Bold"/>
                <a:sym typeface="Poppins Semi-Bold"/>
              </a:rPr>
              <a:t>até</a:t>
            </a:r>
            <a:r>
              <a:rPr lang="en-US" sz="2199" b="1">
                <a:solidFill>
                  <a:srgbClr val="FFFFFF"/>
                </a:solidFill>
                <a:latin typeface="Poppins Semi-Bold"/>
                <a:ea typeface="Poppins Semi-Bold"/>
                <a:cs typeface="Poppins Semi-Bold"/>
                <a:sym typeface="Poppins Semi-Bold"/>
              </a:rPr>
              <a:t> </a:t>
            </a:r>
            <a:r>
              <a:rPr lang="en-US" sz="2199" b="1">
                <a:solidFill>
                  <a:srgbClr val="7ED957"/>
                </a:solidFill>
                <a:latin typeface="Poppins Semi-Bold"/>
                <a:ea typeface="Poppins Semi-Bold"/>
                <a:cs typeface="Poppins Semi-Bold"/>
                <a:sym typeface="Poppins Semi-Bold"/>
              </a:rPr>
              <a:t>o</a:t>
            </a:r>
            <a:r>
              <a:rPr lang="en-US" sz="2199" b="1">
                <a:solidFill>
                  <a:srgbClr val="FFFFFF"/>
                </a:solidFill>
                <a:latin typeface="Poppins Semi-Bold"/>
                <a:ea typeface="Poppins Semi-Bold"/>
                <a:cs typeface="Poppins Semi-Bold"/>
                <a:sym typeface="Poppins Semi-Bold"/>
              </a:rPr>
              <a:t> </a:t>
            </a:r>
            <a:r>
              <a:rPr lang="en-US" sz="2199" b="1">
                <a:solidFill>
                  <a:srgbClr val="FF5757"/>
                </a:solidFill>
                <a:latin typeface="Poppins Semi-Bold"/>
                <a:ea typeface="Poppins Semi-Bold"/>
                <a:cs typeface="Poppins Semi-Bold"/>
                <a:sym typeface="Poppins Semi-Bold"/>
              </a:rPr>
              <a:t>limite</a:t>
            </a:r>
            <a:r>
              <a:rPr lang="en-US" sz="2199" b="1">
                <a:solidFill>
                  <a:srgbClr val="FFFFFF"/>
                </a:solidFill>
                <a:latin typeface="Poppins Semi-Bold"/>
                <a:ea typeface="Poppins Semi-Bold"/>
                <a:cs typeface="Poppins Semi-Bold"/>
                <a:sym typeface="Poppins Semi-Bold"/>
              </a:rPr>
              <a:t> </a:t>
            </a:r>
            <a:r>
              <a:rPr lang="en-US" sz="2199" b="1">
                <a:solidFill>
                  <a:srgbClr val="FF5757"/>
                </a:solidFill>
                <a:latin typeface="Poppins Semi-Bold"/>
                <a:ea typeface="Poppins Semi-Bold"/>
                <a:cs typeface="Poppins Semi-Bold"/>
                <a:sym typeface="Poppins Semi-Bold"/>
              </a:rPr>
              <a:t>estipulado</a:t>
            </a:r>
            <a:r>
              <a:rPr lang="en-US" sz="2199" b="1">
                <a:solidFill>
                  <a:srgbClr val="7ED957"/>
                </a:solidFill>
                <a:latin typeface="Poppins Semi-Bold"/>
                <a:ea typeface="Poppins Semi-Bold"/>
                <a:cs typeface="Poppins Semi-Bold"/>
                <a:sym typeface="Poppins Semi-Bold"/>
              </a:rPr>
              <a:t>.</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2639606" y="2153688"/>
            <a:ext cx="622306" cy="1484681"/>
          </a:xfrm>
          <a:custGeom>
            <a:avLst/>
            <a:gdLst/>
            <a:ahLst/>
            <a:cxnLst/>
            <a:rect l="l" t="t" r="r" b="b"/>
            <a:pathLst>
              <a:path w="622306" h="1484681">
                <a:moveTo>
                  <a:pt x="0" y="0"/>
                </a:moveTo>
                <a:lnTo>
                  <a:pt x="622306" y="0"/>
                </a:lnTo>
                <a:lnTo>
                  <a:pt x="622306" y="1484681"/>
                </a:lnTo>
                <a:lnTo>
                  <a:pt x="0" y="14846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871607" y="4373232"/>
            <a:ext cx="6829025" cy="2102282"/>
          </a:xfrm>
          <a:custGeom>
            <a:avLst/>
            <a:gdLst/>
            <a:ahLst/>
            <a:cxnLst/>
            <a:rect l="l" t="t" r="r" b="b"/>
            <a:pathLst>
              <a:path w="6829025" h="2102282">
                <a:moveTo>
                  <a:pt x="0" y="0"/>
                </a:moveTo>
                <a:lnTo>
                  <a:pt x="6829024" y="0"/>
                </a:lnTo>
                <a:lnTo>
                  <a:pt x="6829024" y="2102282"/>
                </a:lnTo>
                <a:lnTo>
                  <a:pt x="0" y="210228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8855135" y="6667319"/>
            <a:ext cx="1527343" cy="1357503"/>
          </a:xfrm>
          <a:custGeom>
            <a:avLst/>
            <a:gdLst/>
            <a:ahLst/>
            <a:cxnLst/>
            <a:rect l="l" t="t" r="r" b="b"/>
            <a:pathLst>
              <a:path w="1527343" h="1357503">
                <a:moveTo>
                  <a:pt x="0" y="0"/>
                </a:moveTo>
                <a:lnTo>
                  <a:pt x="1527344" y="0"/>
                </a:lnTo>
                <a:lnTo>
                  <a:pt x="1527344" y="1357503"/>
                </a:lnTo>
                <a:lnTo>
                  <a:pt x="0" y="135750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Freeform 5"/>
          <p:cNvSpPr/>
          <p:nvPr/>
        </p:nvSpPr>
        <p:spPr>
          <a:xfrm>
            <a:off x="11475072" y="6714163"/>
            <a:ext cx="622306" cy="1421854"/>
          </a:xfrm>
          <a:custGeom>
            <a:avLst/>
            <a:gdLst/>
            <a:ahLst/>
            <a:cxnLst/>
            <a:rect l="l" t="t" r="r" b="b"/>
            <a:pathLst>
              <a:path w="622306" h="1421854">
                <a:moveTo>
                  <a:pt x="0" y="0"/>
                </a:moveTo>
                <a:lnTo>
                  <a:pt x="622307" y="0"/>
                </a:lnTo>
                <a:lnTo>
                  <a:pt x="622307" y="1421854"/>
                </a:lnTo>
                <a:lnTo>
                  <a:pt x="0" y="142185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6" name="Freeform 6"/>
          <p:cNvSpPr/>
          <p:nvPr/>
        </p:nvSpPr>
        <p:spPr>
          <a:xfrm>
            <a:off x="13541350" y="4312015"/>
            <a:ext cx="1929136" cy="1521476"/>
          </a:xfrm>
          <a:custGeom>
            <a:avLst/>
            <a:gdLst/>
            <a:ahLst/>
            <a:cxnLst/>
            <a:rect l="l" t="t" r="r" b="b"/>
            <a:pathLst>
              <a:path w="1929136" h="1521476">
                <a:moveTo>
                  <a:pt x="0" y="0"/>
                </a:moveTo>
                <a:lnTo>
                  <a:pt x="1929136" y="0"/>
                </a:lnTo>
                <a:lnTo>
                  <a:pt x="1929136" y="1521476"/>
                </a:lnTo>
                <a:lnTo>
                  <a:pt x="0" y="152147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7" name="TextBox 7"/>
          <p:cNvSpPr txBox="1"/>
          <p:nvPr/>
        </p:nvSpPr>
        <p:spPr>
          <a:xfrm>
            <a:off x="3766166" y="324326"/>
            <a:ext cx="10593143"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Comando de repetição </a:t>
            </a:r>
            <a:r>
              <a:rPr lang="en-US" sz="5964" b="1">
                <a:solidFill>
                  <a:srgbClr val="3C67BF"/>
                </a:solidFill>
                <a:latin typeface="Poppins Semi-Bold"/>
                <a:ea typeface="Poppins Semi-Bold"/>
                <a:cs typeface="Poppins Semi-Bold"/>
                <a:sym typeface="Poppins Semi-Bold"/>
              </a:rPr>
              <a:t>for</a:t>
            </a:r>
          </a:p>
        </p:txBody>
      </p:sp>
      <p:sp>
        <p:nvSpPr>
          <p:cNvPr id="8" name="TextBox 8"/>
          <p:cNvSpPr txBox="1"/>
          <p:nvPr/>
        </p:nvSpPr>
        <p:spPr>
          <a:xfrm>
            <a:off x="418167" y="3593554"/>
            <a:ext cx="8774144" cy="869871"/>
          </a:xfrm>
          <a:prstGeom prst="rect">
            <a:avLst/>
          </a:prstGeom>
        </p:spPr>
        <p:txBody>
          <a:bodyPr lIns="0" tIns="0" rIns="0" bIns="0" rtlCol="0" anchor="t">
            <a:spAutoFit/>
          </a:bodyPr>
          <a:lstStyle/>
          <a:p>
            <a:pPr algn="l">
              <a:lnSpc>
                <a:spcPts val="5999"/>
              </a:lnSpc>
            </a:pPr>
            <a:r>
              <a:rPr lang="en-US" sz="4999" b="1">
                <a:solidFill>
                  <a:srgbClr val="3C67BF"/>
                </a:solidFill>
                <a:latin typeface="Poppins Semi-Bold"/>
                <a:ea typeface="Poppins Semi-Bold"/>
                <a:cs typeface="Poppins Semi-Bold"/>
                <a:sym typeface="Poppins Semi-Bold"/>
              </a:rPr>
              <a:t>for</a:t>
            </a:r>
            <a:r>
              <a:rPr lang="en-US" sz="4999" b="1">
                <a:solidFill>
                  <a:srgbClr val="FFFFFF"/>
                </a:solidFill>
                <a:latin typeface="Poppins Semi-Bold"/>
                <a:ea typeface="Poppins Semi-Bold"/>
                <a:cs typeface="Poppins Semi-Bold"/>
                <a:sym typeface="Poppins Semi-Bold"/>
              </a:rPr>
              <a:t>(</a:t>
            </a:r>
            <a:r>
              <a:rPr lang="en-US" sz="4999" b="1">
                <a:solidFill>
                  <a:srgbClr val="FFCB85"/>
                </a:solidFill>
                <a:latin typeface="Poppins Semi-Bold"/>
                <a:ea typeface="Poppins Semi-Bold"/>
                <a:cs typeface="Poppins Semi-Bold"/>
                <a:sym typeface="Poppins Semi-Bold"/>
              </a:rPr>
              <a:t>parte1</a:t>
            </a:r>
            <a:r>
              <a:rPr lang="en-US" sz="4999" b="1">
                <a:solidFill>
                  <a:srgbClr val="FFFFFF"/>
                </a:solidFill>
                <a:latin typeface="Poppins Semi-Bold"/>
                <a:ea typeface="Poppins Semi-Bold"/>
                <a:cs typeface="Poppins Semi-Bold"/>
                <a:sym typeface="Poppins Semi-Bold"/>
              </a:rPr>
              <a:t>;</a:t>
            </a:r>
            <a:r>
              <a:rPr lang="en-US" sz="4999" b="1">
                <a:solidFill>
                  <a:srgbClr val="FF5757"/>
                </a:solidFill>
                <a:latin typeface="Poppins Semi-Bold"/>
                <a:ea typeface="Poppins Semi-Bold"/>
                <a:cs typeface="Poppins Semi-Bold"/>
                <a:sym typeface="Poppins Semi-Bold"/>
              </a:rPr>
              <a:t>parte2</a:t>
            </a:r>
            <a:r>
              <a:rPr lang="en-US" sz="4999" b="1">
                <a:solidFill>
                  <a:srgbClr val="FFFFFF"/>
                </a:solidFill>
                <a:latin typeface="Poppins Semi-Bold"/>
                <a:ea typeface="Poppins Semi-Bold"/>
                <a:cs typeface="Poppins Semi-Bold"/>
                <a:sym typeface="Poppins Semi-Bold"/>
              </a:rPr>
              <a:t>;</a:t>
            </a:r>
            <a:r>
              <a:rPr lang="en-US" sz="4999" b="1">
                <a:solidFill>
                  <a:srgbClr val="CB6CE6"/>
                </a:solidFill>
                <a:latin typeface="Poppins Semi-Bold"/>
                <a:ea typeface="Poppins Semi-Bold"/>
                <a:cs typeface="Poppins Semi-Bold"/>
                <a:sym typeface="Poppins Semi-Bold"/>
              </a:rPr>
              <a:t>parte3</a:t>
            </a:r>
            <a:r>
              <a:rPr lang="en-US" sz="4999" b="1">
                <a:solidFill>
                  <a:srgbClr val="FFFFFF"/>
                </a:solidFill>
                <a:latin typeface="Poppins Semi-Bold"/>
                <a:ea typeface="Poppins Semi-Bold"/>
                <a:cs typeface="Poppins Semi-Bold"/>
                <a:sym typeface="Poppins Semi-Bold"/>
              </a:rPr>
              <a:t>){</a:t>
            </a:r>
          </a:p>
        </p:txBody>
      </p:sp>
      <p:sp>
        <p:nvSpPr>
          <p:cNvPr id="9" name="TextBox 9"/>
          <p:cNvSpPr txBox="1"/>
          <p:nvPr/>
        </p:nvSpPr>
        <p:spPr>
          <a:xfrm>
            <a:off x="418167" y="4355554"/>
            <a:ext cx="340004" cy="1631871"/>
          </a:xfrm>
          <a:prstGeom prst="rect">
            <a:avLst/>
          </a:prstGeom>
        </p:spPr>
        <p:txBody>
          <a:bodyPr lIns="0" tIns="0" rIns="0" bIns="0" rtlCol="0" anchor="t">
            <a:spAutoFit/>
          </a:bodyPr>
          <a:lstStyle/>
          <a:p>
            <a:pPr algn="l">
              <a:lnSpc>
                <a:spcPts val="5999"/>
              </a:lnSpc>
            </a:pPr>
            <a:r>
              <a:rPr lang="en-US" sz="4999" b="1">
                <a:solidFill>
                  <a:srgbClr val="FFFFFF"/>
                </a:solidFill>
                <a:latin typeface="Poppins Semi-Bold"/>
                <a:ea typeface="Poppins Semi-Bold"/>
                <a:cs typeface="Poppins Semi-Bold"/>
                <a:sym typeface="Poppins Semi-Bold"/>
              </a:rPr>
              <a:t> </a:t>
            </a:r>
          </a:p>
          <a:p>
            <a:pPr algn="l">
              <a:lnSpc>
                <a:spcPts val="7649"/>
              </a:lnSpc>
            </a:pPr>
            <a:r>
              <a:rPr lang="en-US" sz="4999" b="1">
                <a:solidFill>
                  <a:srgbClr val="FFFFFF"/>
                </a:solidFill>
                <a:latin typeface="Poppins Semi-Bold"/>
                <a:ea typeface="Poppins Semi-Bold"/>
                <a:cs typeface="Poppins Semi-Bold"/>
                <a:sym typeface="Poppins Semi-Bold"/>
              </a:rPr>
              <a:t>}</a:t>
            </a:r>
          </a:p>
        </p:txBody>
      </p:sp>
      <p:sp>
        <p:nvSpPr>
          <p:cNvPr id="10" name="TextBox 10"/>
          <p:cNvSpPr txBox="1"/>
          <p:nvPr/>
        </p:nvSpPr>
        <p:spPr>
          <a:xfrm>
            <a:off x="1370667" y="4355554"/>
            <a:ext cx="6002626" cy="869871"/>
          </a:xfrm>
          <a:prstGeom prst="rect">
            <a:avLst/>
          </a:prstGeom>
        </p:spPr>
        <p:txBody>
          <a:bodyPr lIns="0" tIns="0" rIns="0" bIns="0" rtlCol="0" anchor="t">
            <a:spAutoFit/>
          </a:bodyPr>
          <a:lstStyle/>
          <a:p>
            <a:pPr algn="l">
              <a:lnSpc>
                <a:spcPts val="5999"/>
              </a:lnSpc>
            </a:pPr>
            <a:r>
              <a:rPr lang="en-US" sz="4999" b="1">
                <a:solidFill>
                  <a:srgbClr val="7ED957"/>
                </a:solidFill>
                <a:latin typeface="Poppins Semi-Bold"/>
                <a:ea typeface="Poppins Semi-Bold"/>
                <a:cs typeface="Poppins Semi-Bold"/>
                <a:sym typeface="Poppins Semi-Bold"/>
              </a:rPr>
              <a:t>//Bloco de código</a:t>
            </a:r>
          </a:p>
        </p:txBody>
      </p:sp>
      <p:sp>
        <p:nvSpPr>
          <p:cNvPr id="11" name="TextBox 11"/>
          <p:cNvSpPr txBox="1"/>
          <p:nvPr/>
        </p:nvSpPr>
        <p:spPr>
          <a:xfrm>
            <a:off x="2766431" y="5517261"/>
            <a:ext cx="4109647" cy="811197"/>
          </a:xfrm>
          <a:prstGeom prst="rect">
            <a:avLst/>
          </a:prstGeom>
        </p:spPr>
        <p:txBody>
          <a:bodyPr lIns="0" tIns="0" rIns="0" bIns="0" rtlCol="0" anchor="t">
            <a:spAutoFit/>
          </a:bodyPr>
          <a:lstStyle/>
          <a:p>
            <a:pPr algn="just">
              <a:lnSpc>
                <a:spcPts val="3518"/>
              </a:lnSpc>
            </a:pPr>
            <a:r>
              <a:rPr lang="en-US" sz="2299" b="1">
                <a:solidFill>
                  <a:srgbClr val="FFFFFF"/>
                </a:solidFill>
                <a:latin typeface="Poppins Semi-Bold"/>
                <a:ea typeface="Poppins Semi-Bold"/>
                <a:cs typeface="Poppins Semi-Bold"/>
                <a:sym typeface="Poppins Semi-Bold"/>
              </a:rPr>
              <a:t>Para configurar o início da</a:t>
            </a:r>
          </a:p>
          <a:p>
            <a:pPr algn="just">
              <a:lnSpc>
                <a:spcPts val="1149"/>
              </a:lnSpc>
            </a:pPr>
            <a:r>
              <a:rPr lang="en-US" sz="2299" b="1">
                <a:solidFill>
                  <a:srgbClr val="FFFFFF"/>
                </a:solidFill>
                <a:latin typeface="Poppins Semi-Bold"/>
                <a:ea typeface="Poppins Semi-Bold"/>
                <a:cs typeface="Poppins Semi-Bold"/>
                <a:sym typeface="Poppins Semi-Bold"/>
              </a:rPr>
              <a:t>repetição, fazemos assim:</a:t>
            </a:r>
          </a:p>
        </p:txBody>
      </p:sp>
      <p:sp>
        <p:nvSpPr>
          <p:cNvPr id="12" name="TextBox 12"/>
          <p:cNvSpPr txBox="1"/>
          <p:nvPr/>
        </p:nvSpPr>
        <p:spPr>
          <a:xfrm>
            <a:off x="914981" y="1570006"/>
            <a:ext cx="4152833" cy="644147"/>
          </a:xfrm>
          <a:prstGeom prst="rect">
            <a:avLst/>
          </a:prstGeom>
        </p:spPr>
        <p:txBody>
          <a:bodyPr lIns="0" tIns="0" rIns="0" bIns="0" rtlCol="0" anchor="t">
            <a:spAutoFit/>
          </a:bodyPr>
          <a:lstStyle/>
          <a:p>
            <a:pPr algn="l">
              <a:lnSpc>
                <a:spcPts val="4618"/>
              </a:lnSpc>
            </a:pPr>
            <a:r>
              <a:rPr lang="en-US" sz="3299" b="1">
                <a:solidFill>
                  <a:srgbClr val="FFCB85"/>
                </a:solidFill>
                <a:latin typeface="Poppins Semi-Bold"/>
                <a:ea typeface="Poppins Semi-Bold"/>
                <a:cs typeface="Poppins Semi-Bold"/>
                <a:sym typeface="Poppins Semi-Bold"/>
              </a:rPr>
              <a:t>Início da repetição</a:t>
            </a:r>
          </a:p>
        </p:txBody>
      </p:sp>
      <p:sp>
        <p:nvSpPr>
          <p:cNvPr id="13" name="TextBox 13"/>
          <p:cNvSpPr txBox="1"/>
          <p:nvPr/>
        </p:nvSpPr>
        <p:spPr>
          <a:xfrm>
            <a:off x="9966503" y="5432450"/>
            <a:ext cx="3864302" cy="3565846"/>
          </a:xfrm>
          <a:prstGeom prst="rect">
            <a:avLst/>
          </a:prstGeom>
        </p:spPr>
        <p:txBody>
          <a:bodyPr lIns="0" tIns="0" rIns="0" bIns="0" rtlCol="0" anchor="t">
            <a:spAutoFit/>
          </a:bodyPr>
          <a:lstStyle/>
          <a:p>
            <a:pPr algn="ctr">
              <a:lnSpc>
                <a:spcPts val="9799"/>
              </a:lnSpc>
            </a:pPr>
            <a:r>
              <a:rPr lang="en-US" sz="6999" b="1">
                <a:solidFill>
                  <a:srgbClr val="3C67BF"/>
                </a:solidFill>
                <a:latin typeface="Poppins Semi-Bold"/>
                <a:ea typeface="Poppins Semi-Bold"/>
                <a:cs typeface="Poppins Semi-Bold"/>
                <a:sym typeface="Poppins Semi-Bold"/>
              </a:rPr>
              <a:t>int </a:t>
            </a:r>
            <a:r>
              <a:rPr lang="en-US" sz="6999" b="1">
                <a:solidFill>
                  <a:srgbClr val="FFFFFF"/>
                </a:solidFill>
                <a:latin typeface="Poppins Semi-Bold"/>
                <a:ea typeface="Poppins Semi-Bold"/>
                <a:cs typeface="Poppins Semi-Bold"/>
                <a:sym typeface="Poppins Semi-Bold"/>
              </a:rPr>
              <a:t>i = 0</a:t>
            </a:r>
          </a:p>
          <a:p>
            <a:pPr algn="ctr">
              <a:lnSpc>
                <a:spcPts val="2699"/>
              </a:lnSpc>
            </a:pPr>
            <a:r>
              <a:rPr lang="en-US" sz="2299" b="1">
                <a:solidFill>
                  <a:srgbClr val="FFFFFF"/>
                </a:solidFill>
                <a:latin typeface="Poppins Semi-Bold"/>
                <a:ea typeface="Poppins Semi-Bold"/>
                <a:cs typeface="Poppins Semi-Bold"/>
                <a:sym typeface="Poppins Semi-Bold"/>
              </a:rPr>
              <a:t>definimos o nome da variável, nesse exemplo chamada i</a:t>
            </a:r>
          </a:p>
        </p:txBody>
      </p:sp>
      <p:sp>
        <p:nvSpPr>
          <p:cNvPr id="14" name="TextBox 14"/>
          <p:cNvSpPr txBox="1"/>
          <p:nvPr/>
        </p:nvSpPr>
        <p:spPr>
          <a:xfrm>
            <a:off x="6041469" y="7527417"/>
            <a:ext cx="2888475" cy="725472"/>
          </a:xfrm>
          <a:prstGeom prst="rect">
            <a:avLst/>
          </a:prstGeom>
        </p:spPr>
        <p:txBody>
          <a:bodyPr lIns="0" tIns="0" rIns="0" bIns="0" rtlCol="0" anchor="t">
            <a:spAutoFit/>
          </a:bodyPr>
          <a:lstStyle/>
          <a:p>
            <a:pPr algn="just">
              <a:lnSpc>
                <a:spcPts val="2699"/>
              </a:lnSpc>
            </a:pPr>
            <a:r>
              <a:rPr lang="en-US" sz="2299" b="1">
                <a:solidFill>
                  <a:srgbClr val="FFFFFF"/>
                </a:solidFill>
                <a:latin typeface="Poppins Semi-Bold"/>
                <a:ea typeface="Poppins Semi-Bold"/>
                <a:cs typeface="Poppins Semi-Bold"/>
                <a:sym typeface="Poppins Semi-Bold"/>
              </a:rPr>
              <a:t>definimos um tipo de variável inteira.</a:t>
            </a:r>
          </a:p>
        </p:txBody>
      </p:sp>
      <p:sp>
        <p:nvSpPr>
          <p:cNvPr id="15" name="TextBox 15"/>
          <p:cNvSpPr txBox="1"/>
          <p:nvPr/>
        </p:nvSpPr>
        <p:spPr>
          <a:xfrm>
            <a:off x="12924834" y="3352257"/>
            <a:ext cx="4987681" cy="1068372"/>
          </a:xfrm>
          <a:prstGeom prst="rect">
            <a:avLst/>
          </a:prstGeom>
        </p:spPr>
        <p:txBody>
          <a:bodyPr lIns="0" tIns="0" rIns="0" bIns="0" rtlCol="0" anchor="t">
            <a:spAutoFit/>
          </a:bodyPr>
          <a:lstStyle/>
          <a:p>
            <a:pPr algn="ctr">
              <a:lnSpc>
                <a:spcPts val="2699"/>
              </a:lnSpc>
            </a:pPr>
            <a:r>
              <a:rPr lang="en-US" sz="2299" b="1">
                <a:solidFill>
                  <a:srgbClr val="FFFFFF"/>
                </a:solidFill>
                <a:latin typeface="Poppins Semi-Bold"/>
                <a:ea typeface="Poppins Semi-Bold"/>
                <a:cs typeface="Poppins Semi-Bold"/>
                <a:sym typeface="Poppins Semi-Bold"/>
              </a:rPr>
              <a:t>Dizemos que queremos iniciar a repetição algum número, nesse exemplo em 0.</a:t>
            </a: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5195983" y="2282876"/>
            <a:ext cx="622306" cy="1484681"/>
          </a:xfrm>
          <a:custGeom>
            <a:avLst/>
            <a:gdLst/>
            <a:ahLst/>
            <a:cxnLst/>
            <a:rect l="l" t="t" r="r" b="b"/>
            <a:pathLst>
              <a:path w="622306" h="1484681">
                <a:moveTo>
                  <a:pt x="0" y="0"/>
                </a:moveTo>
                <a:lnTo>
                  <a:pt x="622306" y="0"/>
                </a:lnTo>
                <a:lnTo>
                  <a:pt x="622306" y="1484681"/>
                </a:lnTo>
                <a:lnTo>
                  <a:pt x="0" y="14846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5416372" y="4372518"/>
            <a:ext cx="5513632" cy="2897134"/>
          </a:xfrm>
          <a:custGeom>
            <a:avLst/>
            <a:gdLst/>
            <a:ahLst/>
            <a:cxnLst/>
            <a:rect l="l" t="t" r="r" b="b"/>
            <a:pathLst>
              <a:path w="5513632" h="2897134">
                <a:moveTo>
                  <a:pt x="0" y="0"/>
                </a:moveTo>
                <a:lnTo>
                  <a:pt x="5513632" y="0"/>
                </a:lnTo>
                <a:lnTo>
                  <a:pt x="5513632" y="2897133"/>
                </a:lnTo>
                <a:lnTo>
                  <a:pt x="0" y="289713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3766166" y="410051"/>
            <a:ext cx="10593143" cy="1078078"/>
          </a:xfrm>
          <a:prstGeom prst="rect">
            <a:avLst/>
          </a:prstGeom>
        </p:spPr>
        <p:txBody>
          <a:bodyPr lIns="0" tIns="0" rIns="0" bIns="0" rtlCol="0" anchor="t">
            <a:spAutoFit/>
          </a:bodyPr>
          <a:lstStyle/>
          <a:p>
            <a:pPr algn="l">
              <a:lnSpc>
                <a:spcPts val="7444"/>
              </a:lnSpc>
            </a:pPr>
            <a:r>
              <a:rPr lang="en-US" sz="5964" b="1">
                <a:solidFill>
                  <a:srgbClr val="FFFFFF"/>
                </a:solidFill>
                <a:latin typeface="Poppins Semi-Bold"/>
                <a:ea typeface="Poppins Semi-Bold"/>
                <a:cs typeface="Poppins Semi-Bold"/>
                <a:sym typeface="Poppins Semi-Bold"/>
              </a:rPr>
              <a:t>Comando de repetição </a:t>
            </a:r>
            <a:r>
              <a:rPr lang="en-US" sz="5964" b="1">
                <a:solidFill>
                  <a:srgbClr val="3C67BF"/>
                </a:solidFill>
                <a:latin typeface="Poppins Semi-Bold"/>
                <a:ea typeface="Poppins Semi-Bold"/>
                <a:cs typeface="Poppins Semi-Bold"/>
                <a:sym typeface="Poppins Semi-Bold"/>
              </a:rPr>
              <a:t>for</a:t>
            </a:r>
          </a:p>
        </p:txBody>
      </p:sp>
      <p:sp>
        <p:nvSpPr>
          <p:cNvPr id="5" name="TextBox 5"/>
          <p:cNvSpPr txBox="1"/>
          <p:nvPr/>
        </p:nvSpPr>
        <p:spPr>
          <a:xfrm>
            <a:off x="4709179" y="1356284"/>
            <a:ext cx="128216" cy="987047"/>
          </a:xfrm>
          <a:prstGeom prst="rect">
            <a:avLst/>
          </a:prstGeom>
        </p:spPr>
        <p:txBody>
          <a:bodyPr lIns="0" tIns="0" rIns="0" bIns="0" rtlCol="0" anchor="t">
            <a:spAutoFit/>
          </a:bodyPr>
          <a:lstStyle/>
          <a:p>
            <a:pPr algn="l">
              <a:lnSpc>
                <a:spcPts val="8248"/>
              </a:lnSpc>
            </a:pPr>
            <a:r>
              <a:rPr lang="en-US" sz="3299" b="1">
                <a:solidFill>
                  <a:srgbClr val="FF5757"/>
                </a:solidFill>
                <a:latin typeface="Poppins Semi-Bold"/>
                <a:ea typeface="Poppins Semi-Bold"/>
                <a:cs typeface="Poppins Semi-Bold"/>
                <a:sym typeface="Poppins Semi-Bold"/>
              </a:rPr>
              <a:t> </a:t>
            </a:r>
          </a:p>
        </p:txBody>
      </p:sp>
      <p:sp>
        <p:nvSpPr>
          <p:cNvPr id="6" name="TextBox 6"/>
          <p:cNvSpPr txBox="1"/>
          <p:nvPr/>
        </p:nvSpPr>
        <p:spPr>
          <a:xfrm>
            <a:off x="418167" y="3593554"/>
            <a:ext cx="9288456" cy="869871"/>
          </a:xfrm>
          <a:prstGeom prst="rect">
            <a:avLst/>
          </a:prstGeom>
        </p:spPr>
        <p:txBody>
          <a:bodyPr lIns="0" tIns="0" rIns="0" bIns="0" rtlCol="0" anchor="t">
            <a:spAutoFit/>
          </a:bodyPr>
          <a:lstStyle/>
          <a:p>
            <a:pPr algn="l">
              <a:lnSpc>
                <a:spcPts val="5999"/>
              </a:lnSpc>
            </a:pPr>
            <a:r>
              <a:rPr lang="en-US" sz="4999" b="1">
                <a:solidFill>
                  <a:srgbClr val="3C67BF"/>
                </a:solidFill>
                <a:latin typeface="Poppins Semi-Bold"/>
                <a:ea typeface="Poppins Semi-Bold"/>
                <a:cs typeface="Poppins Semi-Bold"/>
                <a:sym typeface="Poppins Semi-Bold"/>
              </a:rPr>
              <a:t>for</a:t>
            </a:r>
            <a:r>
              <a:rPr lang="en-US" sz="4999" b="1">
                <a:solidFill>
                  <a:srgbClr val="FFFFFF"/>
                </a:solidFill>
                <a:latin typeface="Poppins Semi-Bold"/>
                <a:ea typeface="Poppins Semi-Bold"/>
                <a:cs typeface="Poppins Semi-Bold"/>
                <a:sym typeface="Poppins Semi-Bold"/>
              </a:rPr>
              <a:t>(</a:t>
            </a:r>
            <a:r>
              <a:rPr lang="en-US" sz="4999" b="1">
                <a:solidFill>
                  <a:srgbClr val="FFCB85"/>
                </a:solidFill>
                <a:latin typeface="Poppins Semi-Bold"/>
                <a:ea typeface="Poppins Semi-Bold"/>
                <a:cs typeface="Poppins Semi-Bold"/>
                <a:sym typeface="Poppins Semi-Bold"/>
              </a:rPr>
              <a:t>int i = 0</a:t>
            </a:r>
            <a:r>
              <a:rPr lang="en-US" sz="4999" b="1">
                <a:solidFill>
                  <a:srgbClr val="FFFFFF"/>
                </a:solidFill>
                <a:latin typeface="Poppins Semi-Bold"/>
                <a:ea typeface="Poppins Semi-Bold"/>
                <a:cs typeface="Poppins Semi-Bold"/>
                <a:sym typeface="Poppins Semi-Bold"/>
              </a:rPr>
              <a:t>;</a:t>
            </a:r>
            <a:r>
              <a:rPr lang="en-US" sz="4999" b="1">
                <a:solidFill>
                  <a:srgbClr val="FF5757"/>
                </a:solidFill>
                <a:latin typeface="Poppins Semi-Bold"/>
                <a:ea typeface="Poppins Semi-Bold"/>
                <a:cs typeface="Poppins Semi-Bold"/>
                <a:sym typeface="Poppins Semi-Bold"/>
              </a:rPr>
              <a:t>parte2</a:t>
            </a:r>
            <a:r>
              <a:rPr lang="en-US" sz="4999" b="1">
                <a:solidFill>
                  <a:srgbClr val="FFFFFF"/>
                </a:solidFill>
                <a:latin typeface="Poppins Semi-Bold"/>
                <a:ea typeface="Poppins Semi-Bold"/>
                <a:cs typeface="Poppins Semi-Bold"/>
                <a:sym typeface="Poppins Semi-Bold"/>
              </a:rPr>
              <a:t>;</a:t>
            </a:r>
            <a:r>
              <a:rPr lang="en-US" sz="4999" b="1">
                <a:solidFill>
                  <a:srgbClr val="CB6CE6"/>
                </a:solidFill>
                <a:latin typeface="Poppins Semi-Bold"/>
                <a:ea typeface="Poppins Semi-Bold"/>
                <a:cs typeface="Poppins Semi-Bold"/>
                <a:sym typeface="Poppins Semi-Bold"/>
              </a:rPr>
              <a:t>parte3</a:t>
            </a:r>
            <a:r>
              <a:rPr lang="en-US" sz="4999" b="1">
                <a:solidFill>
                  <a:srgbClr val="FFFFFF"/>
                </a:solidFill>
                <a:latin typeface="Poppins Semi-Bold"/>
                <a:ea typeface="Poppins Semi-Bold"/>
                <a:cs typeface="Poppins Semi-Bold"/>
                <a:sym typeface="Poppins Semi-Bold"/>
              </a:rPr>
              <a:t>){</a:t>
            </a:r>
          </a:p>
        </p:txBody>
      </p:sp>
      <p:sp>
        <p:nvSpPr>
          <p:cNvPr id="7" name="TextBox 7"/>
          <p:cNvSpPr txBox="1"/>
          <p:nvPr/>
        </p:nvSpPr>
        <p:spPr>
          <a:xfrm>
            <a:off x="418167" y="4355554"/>
            <a:ext cx="340004" cy="1631871"/>
          </a:xfrm>
          <a:prstGeom prst="rect">
            <a:avLst/>
          </a:prstGeom>
        </p:spPr>
        <p:txBody>
          <a:bodyPr lIns="0" tIns="0" rIns="0" bIns="0" rtlCol="0" anchor="t">
            <a:spAutoFit/>
          </a:bodyPr>
          <a:lstStyle/>
          <a:p>
            <a:pPr algn="l">
              <a:lnSpc>
                <a:spcPts val="5999"/>
              </a:lnSpc>
            </a:pPr>
            <a:r>
              <a:rPr lang="en-US" sz="4999" b="1">
                <a:solidFill>
                  <a:srgbClr val="FFFFFF"/>
                </a:solidFill>
                <a:latin typeface="Poppins Semi-Bold"/>
                <a:ea typeface="Poppins Semi-Bold"/>
                <a:cs typeface="Poppins Semi-Bold"/>
                <a:sym typeface="Poppins Semi-Bold"/>
              </a:rPr>
              <a:t> </a:t>
            </a:r>
          </a:p>
          <a:p>
            <a:pPr algn="l">
              <a:lnSpc>
                <a:spcPts val="5999"/>
              </a:lnSpc>
            </a:pPr>
            <a:r>
              <a:rPr lang="en-US" sz="4999" b="1">
                <a:solidFill>
                  <a:srgbClr val="FFFFFF"/>
                </a:solidFill>
                <a:latin typeface="Poppins Semi-Bold"/>
                <a:ea typeface="Poppins Semi-Bold"/>
                <a:cs typeface="Poppins Semi-Bold"/>
                <a:sym typeface="Poppins Semi-Bold"/>
              </a:rPr>
              <a:t>}</a:t>
            </a:r>
          </a:p>
        </p:txBody>
      </p:sp>
      <p:sp>
        <p:nvSpPr>
          <p:cNvPr id="8" name="TextBox 8"/>
          <p:cNvSpPr txBox="1"/>
          <p:nvPr/>
        </p:nvSpPr>
        <p:spPr>
          <a:xfrm>
            <a:off x="1370667" y="4355554"/>
            <a:ext cx="6002626" cy="869871"/>
          </a:xfrm>
          <a:prstGeom prst="rect">
            <a:avLst/>
          </a:prstGeom>
        </p:spPr>
        <p:txBody>
          <a:bodyPr lIns="0" tIns="0" rIns="0" bIns="0" rtlCol="0" anchor="t">
            <a:spAutoFit/>
          </a:bodyPr>
          <a:lstStyle/>
          <a:p>
            <a:pPr algn="l">
              <a:lnSpc>
                <a:spcPts val="5999"/>
              </a:lnSpc>
            </a:pPr>
            <a:r>
              <a:rPr lang="en-US" sz="4999" b="1">
                <a:solidFill>
                  <a:srgbClr val="7ED957"/>
                </a:solidFill>
                <a:latin typeface="Poppins Semi-Bold"/>
                <a:ea typeface="Poppins Semi-Bold"/>
                <a:cs typeface="Poppins Semi-Bold"/>
                <a:sym typeface="Poppins Semi-Bold"/>
              </a:rPr>
              <a:t>//Bloco de código</a:t>
            </a:r>
          </a:p>
        </p:txBody>
      </p:sp>
      <p:sp>
        <p:nvSpPr>
          <p:cNvPr id="9" name="TextBox 9"/>
          <p:cNvSpPr txBox="1"/>
          <p:nvPr/>
        </p:nvSpPr>
        <p:spPr>
          <a:xfrm>
            <a:off x="3402882" y="1699184"/>
            <a:ext cx="4292575" cy="644147"/>
          </a:xfrm>
          <a:prstGeom prst="rect">
            <a:avLst/>
          </a:prstGeom>
        </p:spPr>
        <p:txBody>
          <a:bodyPr lIns="0" tIns="0" rIns="0" bIns="0" rtlCol="0" anchor="t">
            <a:spAutoFit/>
          </a:bodyPr>
          <a:lstStyle/>
          <a:p>
            <a:pPr algn="l">
              <a:lnSpc>
                <a:spcPts val="4618"/>
              </a:lnSpc>
            </a:pPr>
            <a:r>
              <a:rPr lang="en-US" sz="3299" b="1">
                <a:solidFill>
                  <a:srgbClr val="FF5757"/>
                </a:solidFill>
                <a:latin typeface="Poppins Semi-Bold"/>
                <a:ea typeface="Poppins Semi-Bold"/>
                <a:cs typeface="Poppins Semi-Bold"/>
                <a:sym typeface="Poppins Semi-Bold"/>
              </a:rPr>
              <a:t>Limite</a:t>
            </a:r>
            <a:r>
              <a:rPr lang="en-US" sz="3299" b="1">
                <a:solidFill>
                  <a:srgbClr val="FFFFFF"/>
                </a:solidFill>
                <a:latin typeface="Poppins Semi-Bold"/>
                <a:ea typeface="Poppins Semi-Bold"/>
                <a:cs typeface="Poppins Semi-Bold"/>
                <a:sym typeface="Poppins Semi-Bold"/>
              </a:rPr>
              <a:t> </a:t>
            </a:r>
            <a:r>
              <a:rPr lang="en-US" sz="3299" b="1">
                <a:solidFill>
                  <a:srgbClr val="FF5757"/>
                </a:solidFill>
                <a:latin typeface="Poppins Semi-Bold"/>
                <a:ea typeface="Poppins Semi-Bold"/>
                <a:cs typeface="Poppins Semi-Bold"/>
                <a:sym typeface="Poppins Semi-Bold"/>
              </a:rPr>
              <a:t>da</a:t>
            </a:r>
            <a:r>
              <a:rPr lang="en-US" sz="3299" b="1">
                <a:solidFill>
                  <a:srgbClr val="FFFFFF"/>
                </a:solidFill>
                <a:latin typeface="Poppins Semi-Bold"/>
                <a:ea typeface="Poppins Semi-Bold"/>
                <a:cs typeface="Poppins Semi-Bold"/>
                <a:sym typeface="Poppins Semi-Bold"/>
              </a:rPr>
              <a:t> </a:t>
            </a:r>
            <a:r>
              <a:rPr lang="en-US" sz="3299" b="1">
                <a:solidFill>
                  <a:srgbClr val="FF5757"/>
                </a:solidFill>
                <a:latin typeface="Poppins Semi-Bold"/>
                <a:ea typeface="Poppins Semi-Bold"/>
                <a:cs typeface="Poppins Semi-Bold"/>
                <a:sym typeface="Poppins Semi-Bold"/>
              </a:rPr>
              <a:t>repetição</a:t>
            </a:r>
          </a:p>
        </p:txBody>
      </p:sp>
      <p:sp>
        <p:nvSpPr>
          <p:cNvPr id="10" name="TextBox 10"/>
          <p:cNvSpPr txBox="1"/>
          <p:nvPr/>
        </p:nvSpPr>
        <p:spPr>
          <a:xfrm>
            <a:off x="11041028" y="6946021"/>
            <a:ext cx="2975905" cy="783546"/>
          </a:xfrm>
          <a:prstGeom prst="rect">
            <a:avLst/>
          </a:prstGeom>
        </p:spPr>
        <p:txBody>
          <a:bodyPr lIns="0" tIns="0" rIns="0" bIns="0" rtlCol="0" anchor="t">
            <a:spAutoFit/>
          </a:bodyPr>
          <a:lstStyle/>
          <a:p>
            <a:pPr algn="l">
              <a:lnSpc>
                <a:spcPts val="3772"/>
              </a:lnSpc>
            </a:pPr>
            <a:r>
              <a:rPr lang="en-US" sz="6999" b="1">
                <a:solidFill>
                  <a:srgbClr val="FFFFFF"/>
                </a:solidFill>
                <a:latin typeface="Poppins Semi-Bold"/>
                <a:ea typeface="Poppins Semi-Bold"/>
                <a:cs typeface="Poppins Semi-Bold"/>
                <a:sym typeface="Poppins Semi-Bold"/>
              </a:rPr>
              <a:t>i &lt;= 10</a:t>
            </a:r>
          </a:p>
        </p:txBody>
      </p:sp>
      <p:sp>
        <p:nvSpPr>
          <p:cNvPr id="11" name="TextBox 11"/>
          <p:cNvSpPr txBox="1"/>
          <p:nvPr/>
        </p:nvSpPr>
        <p:spPr>
          <a:xfrm>
            <a:off x="13493734" y="7588568"/>
            <a:ext cx="116557" cy="889511"/>
          </a:xfrm>
          <a:prstGeom prst="rect">
            <a:avLst/>
          </a:prstGeom>
        </p:spPr>
        <p:txBody>
          <a:bodyPr lIns="0" tIns="0" rIns="0" bIns="0" rtlCol="0" anchor="t">
            <a:spAutoFit/>
          </a:bodyPr>
          <a:lstStyle/>
          <a:p>
            <a:pPr algn="l">
              <a:lnSpc>
                <a:spcPts val="7498"/>
              </a:lnSpc>
            </a:pPr>
            <a:r>
              <a:rPr lang="en-US" sz="2999" b="1">
                <a:solidFill>
                  <a:srgbClr val="FFFFFF"/>
                </a:solidFill>
                <a:latin typeface="Poppins Semi-Bold"/>
                <a:ea typeface="Poppins Semi-Bold"/>
                <a:cs typeface="Poppins Semi-Bold"/>
                <a:sym typeface="Poppins Semi-Bold"/>
              </a:rPr>
              <a:t> </a:t>
            </a:r>
          </a:p>
        </p:txBody>
      </p:sp>
      <p:sp>
        <p:nvSpPr>
          <p:cNvPr id="12" name="TextBox 12"/>
          <p:cNvSpPr txBox="1"/>
          <p:nvPr/>
        </p:nvSpPr>
        <p:spPr>
          <a:xfrm>
            <a:off x="1480776" y="7960043"/>
            <a:ext cx="15255469" cy="518036"/>
          </a:xfrm>
          <a:prstGeom prst="rect">
            <a:avLst/>
          </a:prstGeom>
        </p:spPr>
        <p:txBody>
          <a:bodyPr lIns="0" tIns="0" rIns="0" bIns="0" rtlCol="0" anchor="t">
            <a:spAutoFit/>
          </a:bodyPr>
          <a:lstStyle/>
          <a:p>
            <a:pPr algn="l">
              <a:lnSpc>
                <a:spcPts val="3524"/>
              </a:lnSpc>
            </a:pPr>
            <a:r>
              <a:rPr lang="en-US" sz="2999" b="1">
                <a:solidFill>
                  <a:srgbClr val="FFFFFF"/>
                </a:solidFill>
                <a:latin typeface="Poppins Semi-Bold"/>
                <a:ea typeface="Poppins Semi-Bold"/>
                <a:cs typeface="Poppins Semi-Bold"/>
                <a:sym typeface="Poppins Semi-Bold"/>
              </a:rPr>
              <a:t>Utilizamos uma comparação para ver se a variável </a:t>
            </a:r>
            <a:r>
              <a:rPr lang="en-US" sz="2999" b="1">
                <a:solidFill>
                  <a:srgbClr val="FF5757"/>
                </a:solidFill>
                <a:latin typeface="Poppins Semi-Bold"/>
                <a:ea typeface="Poppins Semi-Bold"/>
                <a:cs typeface="Poppins Semi-Bold"/>
                <a:sym typeface="Poppins Semi-Bold"/>
              </a:rPr>
              <a:t>i</a:t>
            </a:r>
            <a:r>
              <a:rPr lang="en-US" sz="2999" b="1">
                <a:solidFill>
                  <a:srgbClr val="FFFFFF"/>
                </a:solidFill>
                <a:latin typeface="Poppins Semi-Bold"/>
                <a:ea typeface="Poppins Semi-Bold"/>
                <a:cs typeface="Poppins Semi-Bold"/>
                <a:sym typeface="Poppins Semi-Bold"/>
              </a:rPr>
              <a:t> chegouno valor de </a:t>
            </a:r>
            <a:r>
              <a:rPr lang="en-US" sz="2999" b="1">
                <a:solidFill>
                  <a:srgbClr val="FF5757"/>
                </a:solidFill>
                <a:latin typeface="Poppins Semi-Bold"/>
                <a:ea typeface="Poppins Semi-Bold"/>
                <a:cs typeface="Poppins Semi-Bold"/>
                <a:sym typeface="Poppins Semi-Bold"/>
              </a:rPr>
              <a:t>10</a:t>
            </a:r>
            <a:r>
              <a:rPr lang="en-US" sz="2999" b="1">
                <a:solidFill>
                  <a:srgbClr val="FFFFFF"/>
                </a:solidFill>
                <a:latin typeface="Poppins Semi-Bold"/>
                <a:ea typeface="Poppins Semi-Bold"/>
                <a:cs typeface="Poppins Semi-Bold"/>
                <a:sym typeface="Poppins Semi-Bold"/>
              </a:rPr>
              <a:t>.</a:t>
            </a:r>
          </a:p>
        </p:txBody>
      </p:sp>
      <p:sp>
        <p:nvSpPr>
          <p:cNvPr id="13" name="TextBox 13"/>
          <p:cNvSpPr txBox="1"/>
          <p:nvPr/>
        </p:nvSpPr>
        <p:spPr>
          <a:xfrm>
            <a:off x="365017" y="8407718"/>
            <a:ext cx="17531772" cy="965711"/>
          </a:xfrm>
          <a:prstGeom prst="rect">
            <a:avLst/>
          </a:prstGeom>
        </p:spPr>
        <p:txBody>
          <a:bodyPr lIns="0" tIns="0" rIns="0" bIns="0" rtlCol="0" anchor="t">
            <a:spAutoFit/>
          </a:bodyPr>
          <a:lstStyle/>
          <a:p>
            <a:pPr algn="ctr">
              <a:lnSpc>
                <a:spcPts val="3524"/>
              </a:lnSpc>
            </a:pPr>
            <a:r>
              <a:rPr lang="en-US" sz="2999" b="1">
                <a:solidFill>
                  <a:srgbClr val="FFFFFF"/>
                </a:solidFill>
                <a:latin typeface="Poppins Semi-Bold"/>
                <a:ea typeface="Poppins Semi-Bold"/>
                <a:cs typeface="Poppins Semi-Bold"/>
                <a:sym typeface="Poppins Semi-Bold"/>
              </a:rPr>
              <a:t>Aqui podemos utilizar </a:t>
            </a:r>
            <a:r>
              <a:rPr lang="en-US" sz="2999" b="1">
                <a:solidFill>
                  <a:srgbClr val="FFCB85"/>
                </a:solidFill>
                <a:latin typeface="Poppins Semi-Bold"/>
                <a:ea typeface="Poppins Semi-Bold"/>
                <a:cs typeface="Poppins Semi-Bold"/>
                <a:sym typeface="Poppins Semi-Bold"/>
              </a:rPr>
              <a:t>qualquer tipo de comparação</a:t>
            </a:r>
            <a:r>
              <a:rPr lang="en-US" sz="2999" b="1">
                <a:solidFill>
                  <a:srgbClr val="FFFFFF"/>
                </a:solidFill>
                <a:latin typeface="Poppins Semi-Bold"/>
                <a:ea typeface="Poppins Semi-Bold"/>
                <a:cs typeface="Poppins Semi-Bold"/>
                <a:sym typeface="Poppins Semi-Bold"/>
              </a:rPr>
              <a:t> que aprendemos até o momento. No exemplo estamos verificando se </a:t>
            </a:r>
            <a:r>
              <a:rPr lang="en-US" sz="2999" b="1">
                <a:solidFill>
                  <a:srgbClr val="FF5757"/>
                </a:solidFill>
                <a:latin typeface="Poppins Semi-Bold"/>
                <a:ea typeface="Poppins Semi-Bold"/>
                <a:cs typeface="Poppins Semi-Bold"/>
                <a:sym typeface="Poppins Semi-Bold"/>
              </a:rPr>
              <a:t>i</a:t>
            </a:r>
            <a:r>
              <a:rPr lang="en-US" sz="2999" b="1">
                <a:solidFill>
                  <a:srgbClr val="FFFFFF"/>
                </a:solidFill>
                <a:latin typeface="Poppins Semi-Bold"/>
                <a:ea typeface="Poppins Semi-Bold"/>
                <a:cs typeface="Poppins Semi-Bold"/>
                <a:sym typeface="Poppins Semi-Bold"/>
              </a:rPr>
              <a:t> </a:t>
            </a:r>
            <a:r>
              <a:rPr lang="en-US" sz="2999" b="1">
                <a:solidFill>
                  <a:srgbClr val="7ED957"/>
                </a:solidFill>
                <a:latin typeface="Poppins Semi-Bold"/>
                <a:ea typeface="Poppins Semi-Bold"/>
                <a:cs typeface="Poppins Semi-Bold"/>
                <a:sym typeface="Poppins Semi-Bold"/>
              </a:rPr>
              <a:t>é menor ou igual a</a:t>
            </a:r>
            <a:r>
              <a:rPr lang="en-US" sz="2999" b="1">
                <a:solidFill>
                  <a:srgbClr val="FFFFFF"/>
                </a:solidFill>
                <a:latin typeface="Poppins Semi-Bold"/>
                <a:ea typeface="Poppins Semi-Bold"/>
                <a:cs typeface="Poppins Semi-Bold"/>
                <a:sym typeface="Poppins Semi-Bold"/>
              </a:rPr>
              <a:t> </a:t>
            </a:r>
            <a:r>
              <a:rPr lang="en-US" sz="2999" b="1">
                <a:solidFill>
                  <a:srgbClr val="FF5757"/>
                </a:solidFill>
                <a:latin typeface="Poppins Semi-Bold"/>
                <a:ea typeface="Poppins Semi-Bold"/>
                <a:cs typeface="Poppins Semi-Bold"/>
                <a:sym typeface="Poppins Semi-Bold"/>
              </a:rPr>
              <a:t>10</a:t>
            </a:r>
            <a:r>
              <a:rPr lang="en-US" sz="2999" b="1">
                <a:solidFill>
                  <a:srgbClr val="FFFFFF"/>
                </a:solidFill>
                <a:latin typeface="Poppins Semi-Bold"/>
                <a:ea typeface="Poppins Semi-Bold"/>
                <a:cs typeface="Poppins Semi-Bold"/>
                <a:sym typeface="Poppins Semi-Bold"/>
              </a:rPr>
              <a:t>.</a:t>
            </a: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7565060" y="2282876"/>
            <a:ext cx="622306" cy="1484681"/>
          </a:xfrm>
          <a:custGeom>
            <a:avLst/>
            <a:gdLst/>
            <a:ahLst/>
            <a:cxnLst/>
            <a:rect l="l" t="t" r="r" b="b"/>
            <a:pathLst>
              <a:path w="622306" h="1484681">
                <a:moveTo>
                  <a:pt x="0" y="0"/>
                </a:moveTo>
                <a:lnTo>
                  <a:pt x="622306" y="0"/>
                </a:lnTo>
                <a:lnTo>
                  <a:pt x="622306" y="1484681"/>
                </a:lnTo>
                <a:lnTo>
                  <a:pt x="0" y="148468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7845552" y="4514250"/>
            <a:ext cx="3875513" cy="2230298"/>
          </a:xfrm>
          <a:custGeom>
            <a:avLst/>
            <a:gdLst/>
            <a:ahLst/>
            <a:cxnLst/>
            <a:rect l="l" t="t" r="r" b="b"/>
            <a:pathLst>
              <a:path w="3875513" h="2230298">
                <a:moveTo>
                  <a:pt x="0" y="0"/>
                </a:moveTo>
                <a:lnTo>
                  <a:pt x="3875513" y="0"/>
                </a:lnTo>
                <a:lnTo>
                  <a:pt x="3875513" y="2230298"/>
                </a:lnTo>
                <a:lnTo>
                  <a:pt x="0" y="223029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3766166" y="410051"/>
            <a:ext cx="10593143" cy="1078078"/>
          </a:xfrm>
          <a:prstGeom prst="rect">
            <a:avLst/>
          </a:prstGeom>
        </p:spPr>
        <p:txBody>
          <a:bodyPr lIns="0" tIns="0" rIns="0" bIns="0" rtlCol="0" anchor="t">
            <a:spAutoFit/>
          </a:bodyPr>
          <a:lstStyle/>
          <a:p>
            <a:pPr algn="l">
              <a:lnSpc>
                <a:spcPts val="7444"/>
              </a:lnSpc>
            </a:pPr>
            <a:r>
              <a:rPr lang="en-US" sz="5964" b="1">
                <a:solidFill>
                  <a:srgbClr val="FFFFFF"/>
                </a:solidFill>
                <a:latin typeface="Poppins Semi-Bold"/>
                <a:ea typeface="Poppins Semi-Bold"/>
                <a:cs typeface="Poppins Semi-Bold"/>
                <a:sym typeface="Poppins Semi-Bold"/>
              </a:rPr>
              <a:t>Comando de repetição </a:t>
            </a:r>
            <a:r>
              <a:rPr lang="en-US" sz="5964" b="1">
                <a:solidFill>
                  <a:srgbClr val="3C67BF"/>
                </a:solidFill>
                <a:latin typeface="Poppins Semi-Bold"/>
                <a:ea typeface="Poppins Semi-Bold"/>
                <a:cs typeface="Poppins Semi-Bold"/>
                <a:sym typeface="Poppins Semi-Bold"/>
              </a:rPr>
              <a:t>for</a:t>
            </a:r>
          </a:p>
        </p:txBody>
      </p:sp>
      <p:sp>
        <p:nvSpPr>
          <p:cNvPr id="5" name="TextBox 5"/>
          <p:cNvSpPr txBox="1"/>
          <p:nvPr/>
        </p:nvSpPr>
        <p:spPr>
          <a:xfrm>
            <a:off x="7451846" y="1356284"/>
            <a:ext cx="128216" cy="987047"/>
          </a:xfrm>
          <a:prstGeom prst="rect">
            <a:avLst/>
          </a:prstGeom>
        </p:spPr>
        <p:txBody>
          <a:bodyPr lIns="0" tIns="0" rIns="0" bIns="0" rtlCol="0" anchor="t">
            <a:spAutoFit/>
          </a:bodyPr>
          <a:lstStyle/>
          <a:p>
            <a:pPr algn="l">
              <a:lnSpc>
                <a:spcPts val="8248"/>
              </a:lnSpc>
            </a:pPr>
            <a:r>
              <a:rPr lang="en-US" sz="3299" b="1">
                <a:solidFill>
                  <a:srgbClr val="CB6CE6"/>
                </a:solidFill>
                <a:latin typeface="Poppins Semi-Bold"/>
                <a:ea typeface="Poppins Semi-Bold"/>
                <a:cs typeface="Poppins Semi-Bold"/>
                <a:sym typeface="Poppins Semi-Bold"/>
              </a:rPr>
              <a:t> </a:t>
            </a:r>
          </a:p>
        </p:txBody>
      </p:sp>
      <p:sp>
        <p:nvSpPr>
          <p:cNvPr id="6" name="TextBox 6"/>
          <p:cNvSpPr txBox="1"/>
          <p:nvPr/>
        </p:nvSpPr>
        <p:spPr>
          <a:xfrm>
            <a:off x="418167" y="3593554"/>
            <a:ext cx="9233506" cy="869871"/>
          </a:xfrm>
          <a:prstGeom prst="rect">
            <a:avLst/>
          </a:prstGeom>
        </p:spPr>
        <p:txBody>
          <a:bodyPr lIns="0" tIns="0" rIns="0" bIns="0" rtlCol="0" anchor="t">
            <a:spAutoFit/>
          </a:bodyPr>
          <a:lstStyle/>
          <a:p>
            <a:pPr algn="l">
              <a:lnSpc>
                <a:spcPts val="5999"/>
              </a:lnSpc>
            </a:pPr>
            <a:r>
              <a:rPr lang="en-US" sz="4999" b="1">
                <a:solidFill>
                  <a:srgbClr val="3C67BF"/>
                </a:solidFill>
                <a:latin typeface="Poppins Semi-Bold"/>
                <a:ea typeface="Poppins Semi-Bold"/>
                <a:cs typeface="Poppins Semi-Bold"/>
                <a:sym typeface="Poppins Semi-Bold"/>
              </a:rPr>
              <a:t>for</a:t>
            </a:r>
            <a:r>
              <a:rPr lang="en-US" sz="4999" b="1">
                <a:solidFill>
                  <a:srgbClr val="FFFFFF"/>
                </a:solidFill>
                <a:latin typeface="Poppins Semi-Bold"/>
                <a:ea typeface="Poppins Semi-Bold"/>
                <a:cs typeface="Poppins Semi-Bold"/>
                <a:sym typeface="Poppins Semi-Bold"/>
              </a:rPr>
              <a:t>(</a:t>
            </a:r>
            <a:r>
              <a:rPr lang="en-US" sz="4999" b="1">
                <a:solidFill>
                  <a:srgbClr val="FFCB85"/>
                </a:solidFill>
                <a:latin typeface="Poppins Semi-Bold"/>
                <a:ea typeface="Poppins Semi-Bold"/>
                <a:cs typeface="Poppins Semi-Bold"/>
                <a:sym typeface="Poppins Semi-Bold"/>
              </a:rPr>
              <a:t>int i = 0</a:t>
            </a:r>
            <a:r>
              <a:rPr lang="en-US" sz="4999" b="1">
                <a:solidFill>
                  <a:srgbClr val="FFFFFF"/>
                </a:solidFill>
                <a:latin typeface="Poppins Semi-Bold"/>
                <a:ea typeface="Poppins Semi-Bold"/>
                <a:cs typeface="Poppins Semi-Bold"/>
                <a:sym typeface="Poppins Semi-Bold"/>
              </a:rPr>
              <a:t>;</a:t>
            </a:r>
            <a:r>
              <a:rPr lang="en-US" sz="4999" b="1">
                <a:solidFill>
                  <a:srgbClr val="FF5757"/>
                </a:solidFill>
                <a:latin typeface="Poppins Semi-Bold"/>
                <a:ea typeface="Poppins Semi-Bold"/>
                <a:cs typeface="Poppins Semi-Bold"/>
                <a:sym typeface="Poppins Semi-Bold"/>
              </a:rPr>
              <a:t>i &lt;= 10</a:t>
            </a:r>
            <a:r>
              <a:rPr lang="en-US" sz="4999" b="1">
                <a:solidFill>
                  <a:srgbClr val="FFFFFF"/>
                </a:solidFill>
                <a:latin typeface="Poppins Semi-Bold"/>
                <a:ea typeface="Poppins Semi-Bold"/>
                <a:cs typeface="Poppins Semi-Bold"/>
                <a:sym typeface="Poppins Semi-Bold"/>
              </a:rPr>
              <a:t>;</a:t>
            </a:r>
            <a:r>
              <a:rPr lang="en-US" sz="4999" b="1">
                <a:solidFill>
                  <a:srgbClr val="CB6CE6"/>
                </a:solidFill>
                <a:latin typeface="Poppins Semi-Bold"/>
                <a:ea typeface="Poppins Semi-Bold"/>
                <a:cs typeface="Poppins Semi-Bold"/>
                <a:sym typeface="Poppins Semi-Bold"/>
              </a:rPr>
              <a:t>parte3</a:t>
            </a:r>
            <a:r>
              <a:rPr lang="en-US" sz="4999" b="1">
                <a:solidFill>
                  <a:srgbClr val="FFFFFF"/>
                </a:solidFill>
                <a:latin typeface="Poppins Semi-Bold"/>
                <a:ea typeface="Poppins Semi-Bold"/>
                <a:cs typeface="Poppins Semi-Bold"/>
                <a:sym typeface="Poppins Semi-Bold"/>
              </a:rPr>
              <a:t>){</a:t>
            </a:r>
          </a:p>
        </p:txBody>
      </p:sp>
      <p:sp>
        <p:nvSpPr>
          <p:cNvPr id="7" name="TextBox 7"/>
          <p:cNvSpPr txBox="1"/>
          <p:nvPr/>
        </p:nvSpPr>
        <p:spPr>
          <a:xfrm>
            <a:off x="418167" y="4355554"/>
            <a:ext cx="340004" cy="1631871"/>
          </a:xfrm>
          <a:prstGeom prst="rect">
            <a:avLst/>
          </a:prstGeom>
        </p:spPr>
        <p:txBody>
          <a:bodyPr lIns="0" tIns="0" rIns="0" bIns="0" rtlCol="0" anchor="t">
            <a:spAutoFit/>
          </a:bodyPr>
          <a:lstStyle/>
          <a:p>
            <a:pPr algn="l">
              <a:lnSpc>
                <a:spcPts val="5999"/>
              </a:lnSpc>
            </a:pPr>
            <a:r>
              <a:rPr lang="en-US" sz="4999" b="1">
                <a:solidFill>
                  <a:srgbClr val="FFFFFF"/>
                </a:solidFill>
                <a:latin typeface="Poppins Semi-Bold"/>
                <a:ea typeface="Poppins Semi-Bold"/>
                <a:cs typeface="Poppins Semi-Bold"/>
                <a:sym typeface="Poppins Semi-Bold"/>
              </a:rPr>
              <a:t> </a:t>
            </a:r>
          </a:p>
          <a:p>
            <a:pPr algn="l">
              <a:lnSpc>
                <a:spcPts val="5999"/>
              </a:lnSpc>
            </a:pPr>
            <a:r>
              <a:rPr lang="en-US" sz="4999" b="1">
                <a:solidFill>
                  <a:srgbClr val="FFFFFF"/>
                </a:solidFill>
                <a:latin typeface="Poppins Semi-Bold"/>
                <a:ea typeface="Poppins Semi-Bold"/>
                <a:cs typeface="Poppins Semi-Bold"/>
                <a:sym typeface="Poppins Semi-Bold"/>
              </a:rPr>
              <a:t>}</a:t>
            </a:r>
          </a:p>
        </p:txBody>
      </p:sp>
      <p:sp>
        <p:nvSpPr>
          <p:cNvPr id="8" name="TextBox 8"/>
          <p:cNvSpPr txBox="1"/>
          <p:nvPr/>
        </p:nvSpPr>
        <p:spPr>
          <a:xfrm>
            <a:off x="1370667" y="4355554"/>
            <a:ext cx="6002626" cy="869871"/>
          </a:xfrm>
          <a:prstGeom prst="rect">
            <a:avLst/>
          </a:prstGeom>
        </p:spPr>
        <p:txBody>
          <a:bodyPr lIns="0" tIns="0" rIns="0" bIns="0" rtlCol="0" anchor="t">
            <a:spAutoFit/>
          </a:bodyPr>
          <a:lstStyle/>
          <a:p>
            <a:pPr algn="l">
              <a:lnSpc>
                <a:spcPts val="5999"/>
              </a:lnSpc>
            </a:pPr>
            <a:r>
              <a:rPr lang="en-US" sz="4999" b="1">
                <a:solidFill>
                  <a:srgbClr val="7ED957"/>
                </a:solidFill>
                <a:latin typeface="Poppins Semi-Bold"/>
                <a:ea typeface="Poppins Semi-Bold"/>
                <a:cs typeface="Poppins Semi-Bold"/>
                <a:sym typeface="Poppins Semi-Bold"/>
              </a:rPr>
              <a:t>//Bloco de código</a:t>
            </a:r>
          </a:p>
        </p:txBody>
      </p:sp>
      <p:sp>
        <p:nvSpPr>
          <p:cNvPr id="9" name="TextBox 9"/>
          <p:cNvSpPr txBox="1"/>
          <p:nvPr/>
        </p:nvSpPr>
        <p:spPr>
          <a:xfrm>
            <a:off x="5398570" y="1699184"/>
            <a:ext cx="5054498" cy="644147"/>
          </a:xfrm>
          <a:prstGeom prst="rect">
            <a:avLst/>
          </a:prstGeom>
        </p:spPr>
        <p:txBody>
          <a:bodyPr lIns="0" tIns="0" rIns="0" bIns="0" rtlCol="0" anchor="t">
            <a:spAutoFit/>
          </a:bodyPr>
          <a:lstStyle/>
          <a:p>
            <a:pPr algn="l">
              <a:lnSpc>
                <a:spcPts val="4618"/>
              </a:lnSpc>
            </a:pPr>
            <a:r>
              <a:rPr lang="en-US" sz="3299" b="1">
                <a:solidFill>
                  <a:srgbClr val="CB6CE6"/>
                </a:solidFill>
                <a:latin typeface="Poppins Semi-Bold"/>
                <a:ea typeface="Poppins Semi-Bold"/>
                <a:cs typeface="Poppins Semi-Bold"/>
                <a:sym typeface="Poppins Semi-Bold"/>
              </a:rPr>
              <a:t>Contador</a:t>
            </a:r>
            <a:r>
              <a:rPr lang="en-US" sz="3299" b="1">
                <a:solidFill>
                  <a:srgbClr val="FFFFFF"/>
                </a:solidFill>
                <a:latin typeface="Poppins Semi-Bold"/>
                <a:ea typeface="Poppins Semi-Bold"/>
                <a:cs typeface="Poppins Semi-Bold"/>
                <a:sym typeface="Poppins Semi-Bold"/>
              </a:rPr>
              <a:t> </a:t>
            </a:r>
            <a:r>
              <a:rPr lang="en-US" sz="3299" b="1">
                <a:solidFill>
                  <a:srgbClr val="CB6CE6"/>
                </a:solidFill>
                <a:latin typeface="Poppins Semi-Bold"/>
                <a:ea typeface="Poppins Semi-Bold"/>
                <a:cs typeface="Poppins Semi-Bold"/>
                <a:sym typeface="Poppins Semi-Bold"/>
              </a:rPr>
              <a:t>da</a:t>
            </a:r>
            <a:r>
              <a:rPr lang="en-US" sz="3299" b="1">
                <a:solidFill>
                  <a:srgbClr val="FFFFFF"/>
                </a:solidFill>
                <a:latin typeface="Poppins Semi-Bold"/>
                <a:ea typeface="Poppins Semi-Bold"/>
                <a:cs typeface="Poppins Semi-Bold"/>
                <a:sym typeface="Poppins Semi-Bold"/>
              </a:rPr>
              <a:t> </a:t>
            </a:r>
            <a:r>
              <a:rPr lang="en-US" sz="3299" b="1">
                <a:solidFill>
                  <a:srgbClr val="CB6CE6"/>
                </a:solidFill>
                <a:latin typeface="Poppins Semi-Bold"/>
                <a:ea typeface="Poppins Semi-Bold"/>
                <a:cs typeface="Poppins Semi-Bold"/>
                <a:sym typeface="Poppins Semi-Bold"/>
              </a:rPr>
              <a:t>repetição</a:t>
            </a:r>
          </a:p>
        </p:txBody>
      </p:sp>
      <p:sp>
        <p:nvSpPr>
          <p:cNvPr id="10" name="TextBox 10"/>
          <p:cNvSpPr txBox="1"/>
          <p:nvPr/>
        </p:nvSpPr>
        <p:spPr>
          <a:xfrm>
            <a:off x="11819458" y="5784285"/>
            <a:ext cx="1506093" cy="1355046"/>
          </a:xfrm>
          <a:prstGeom prst="rect">
            <a:avLst/>
          </a:prstGeom>
        </p:spPr>
        <p:txBody>
          <a:bodyPr lIns="0" tIns="0" rIns="0" bIns="0" rtlCol="0" anchor="t">
            <a:spAutoFit/>
          </a:bodyPr>
          <a:lstStyle/>
          <a:p>
            <a:pPr algn="l">
              <a:lnSpc>
                <a:spcPts val="9799"/>
              </a:lnSpc>
            </a:pPr>
            <a:r>
              <a:rPr lang="en-US" sz="6999" b="1">
                <a:solidFill>
                  <a:srgbClr val="FFFFFF"/>
                </a:solidFill>
                <a:latin typeface="Poppins Semi-Bold"/>
                <a:ea typeface="Poppins Semi-Bold"/>
                <a:cs typeface="Poppins Semi-Bold"/>
                <a:sym typeface="Poppins Semi-Bold"/>
              </a:rPr>
              <a:t>i++</a:t>
            </a:r>
          </a:p>
        </p:txBody>
      </p:sp>
      <p:sp>
        <p:nvSpPr>
          <p:cNvPr id="11" name="TextBox 11"/>
          <p:cNvSpPr txBox="1"/>
          <p:nvPr/>
        </p:nvSpPr>
        <p:spPr>
          <a:xfrm>
            <a:off x="185080" y="7960043"/>
            <a:ext cx="17898875" cy="1413386"/>
          </a:xfrm>
          <a:prstGeom prst="rect">
            <a:avLst/>
          </a:prstGeom>
        </p:spPr>
        <p:txBody>
          <a:bodyPr lIns="0" tIns="0" rIns="0" bIns="0" rtlCol="0" anchor="t">
            <a:spAutoFit/>
          </a:bodyPr>
          <a:lstStyle/>
          <a:p>
            <a:pPr algn="ctr">
              <a:lnSpc>
                <a:spcPts val="3524"/>
              </a:lnSpc>
            </a:pPr>
            <a:r>
              <a:rPr lang="en-US" sz="2999" b="1">
                <a:solidFill>
                  <a:srgbClr val="FFFFFF"/>
                </a:solidFill>
                <a:latin typeface="Poppins Semi-Bold"/>
                <a:ea typeface="Poppins Semi-Bold"/>
                <a:cs typeface="Poppins Semi-Bold"/>
                <a:sym typeface="Poppins Semi-Bold"/>
              </a:rPr>
              <a:t>Para contar, precisamos utilizar os operadores de </a:t>
            </a:r>
            <a:r>
              <a:rPr lang="en-US" sz="2999" b="1">
                <a:solidFill>
                  <a:srgbClr val="FF5757"/>
                </a:solidFill>
                <a:latin typeface="Poppins Semi-Bold"/>
                <a:ea typeface="Poppins Semi-Bold"/>
                <a:cs typeface="Poppins Semi-Bold"/>
                <a:sym typeface="Poppins Semi-Bold"/>
              </a:rPr>
              <a:t>incremento </a:t>
            </a:r>
            <a:r>
              <a:rPr lang="en-US" sz="2999" b="1">
                <a:solidFill>
                  <a:srgbClr val="FFFFFF"/>
                </a:solidFill>
                <a:latin typeface="Poppins Semi-Bold"/>
                <a:ea typeface="Poppins Semi-Bold"/>
                <a:cs typeface="Poppins Semi-Bold"/>
                <a:sym typeface="Poppins Semi-Bold"/>
              </a:rPr>
              <a:t>e </a:t>
            </a:r>
            <a:r>
              <a:rPr lang="en-US" sz="2999" b="1">
                <a:solidFill>
                  <a:srgbClr val="FF5757"/>
                </a:solidFill>
                <a:latin typeface="Poppins Semi-Bold"/>
                <a:ea typeface="Poppins Semi-Bold"/>
                <a:cs typeface="Poppins Semi-Bold"/>
                <a:sym typeface="Poppins Semi-Bold"/>
              </a:rPr>
              <a:t>decremento </a:t>
            </a:r>
            <a:r>
              <a:rPr lang="en-US" sz="2999" b="1">
                <a:solidFill>
                  <a:srgbClr val="FFFFFF"/>
                </a:solidFill>
                <a:latin typeface="Poppins Semi-Bold"/>
                <a:ea typeface="Poppins Semi-Bold"/>
                <a:cs typeface="Poppins Semi-Bold"/>
                <a:sym typeface="Poppins Semi-Bold"/>
              </a:rPr>
              <a:t>que aprendemos na variável definida como </a:t>
            </a:r>
            <a:r>
              <a:rPr lang="en-US" sz="2999" b="1">
                <a:solidFill>
                  <a:srgbClr val="FF5757"/>
                </a:solidFill>
                <a:latin typeface="Poppins Semi-Bold"/>
                <a:ea typeface="Poppins Semi-Bold"/>
                <a:cs typeface="Poppins Semi-Bold"/>
                <a:sym typeface="Poppins Semi-Bold"/>
              </a:rPr>
              <a:t>i</a:t>
            </a:r>
            <a:r>
              <a:rPr lang="en-US" sz="2999" b="1">
                <a:solidFill>
                  <a:srgbClr val="FFFFFF"/>
                </a:solidFill>
                <a:latin typeface="Poppins Semi-Bold"/>
                <a:ea typeface="Poppins Semi-Bold"/>
                <a:cs typeface="Poppins Semi-Bold"/>
                <a:sym typeface="Poppins Semi-Bold"/>
              </a:rPr>
              <a:t>. No nosso exemplo vamos incrementar de 1 em 1 até que chegue no valor de 10 a variável </a:t>
            </a:r>
            <a:r>
              <a:rPr lang="en-US" sz="2999" b="1">
                <a:solidFill>
                  <a:srgbClr val="FF5757"/>
                </a:solidFill>
                <a:latin typeface="Poppins Semi-Bold"/>
                <a:ea typeface="Poppins Semi-Bold"/>
                <a:cs typeface="Poppins Semi-Bold"/>
                <a:sym typeface="Poppins Semi-Bold"/>
              </a:rPr>
              <a:t>i</a:t>
            </a:r>
            <a:r>
              <a:rPr lang="en-US" sz="2999" b="1">
                <a:solidFill>
                  <a:srgbClr val="FFFFFF"/>
                </a:solidFill>
                <a:latin typeface="Poppins Semi-Bold"/>
                <a:ea typeface="Poppins Semi-Bold"/>
                <a:cs typeface="Poppins Semi-Bold"/>
                <a:sym typeface="Poppins Semi-Bold"/>
              </a:rPr>
              <a:t>.</a:t>
            </a: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3766166" y="324326"/>
            <a:ext cx="10593143"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Comando de repetição </a:t>
            </a:r>
            <a:r>
              <a:rPr lang="en-US" sz="5964" b="1">
                <a:solidFill>
                  <a:srgbClr val="3C67BF"/>
                </a:solidFill>
                <a:latin typeface="Poppins Semi-Bold"/>
                <a:ea typeface="Poppins Semi-Bold"/>
                <a:cs typeface="Poppins Semi-Bold"/>
                <a:sym typeface="Poppins Semi-Bold"/>
              </a:rPr>
              <a:t>for</a:t>
            </a:r>
          </a:p>
        </p:txBody>
      </p:sp>
      <p:sp>
        <p:nvSpPr>
          <p:cNvPr id="3" name="TextBox 3"/>
          <p:cNvSpPr txBox="1"/>
          <p:nvPr/>
        </p:nvSpPr>
        <p:spPr>
          <a:xfrm>
            <a:off x="2363152" y="3915756"/>
            <a:ext cx="13252218" cy="1435027"/>
          </a:xfrm>
          <a:prstGeom prst="rect">
            <a:avLst/>
          </a:prstGeom>
        </p:spPr>
        <p:txBody>
          <a:bodyPr lIns="0" tIns="0" rIns="0" bIns="0" rtlCol="0" anchor="t">
            <a:spAutoFit/>
          </a:bodyPr>
          <a:lstStyle/>
          <a:p>
            <a:pPr algn="l">
              <a:lnSpc>
                <a:spcPts val="9751"/>
              </a:lnSpc>
            </a:pPr>
            <a:r>
              <a:rPr lang="en-US" sz="8167" b="1">
                <a:solidFill>
                  <a:srgbClr val="3C67BF"/>
                </a:solidFill>
                <a:latin typeface="Poppins Semi-Bold"/>
                <a:ea typeface="Poppins Semi-Bold"/>
                <a:cs typeface="Poppins Semi-Bold"/>
                <a:sym typeface="Poppins Semi-Bold"/>
              </a:rPr>
              <a:t>for</a:t>
            </a:r>
            <a:r>
              <a:rPr lang="en-US" sz="8167" b="1">
                <a:solidFill>
                  <a:srgbClr val="FFFFFF"/>
                </a:solidFill>
                <a:latin typeface="Poppins Semi-Bold"/>
                <a:ea typeface="Poppins Semi-Bold"/>
                <a:cs typeface="Poppins Semi-Bold"/>
                <a:sym typeface="Poppins Semi-Bold"/>
              </a:rPr>
              <a:t>(</a:t>
            </a:r>
            <a:r>
              <a:rPr lang="en-US" sz="8167" b="1">
                <a:solidFill>
                  <a:srgbClr val="FFCB85"/>
                </a:solidFill>
                <a:latin typeface="Poppins Semi-Bold"/>
                <a:ea typeface="Poppins Semi-Bold"/>
                <a:cs typeface="Poppins Semi-Bold"/>
                <a:sym typeface="Poppins Semi-Bold"/>
              </a:rPr>
              <a:t>int i = 0</a:t>
            </a:r>
            <a:r>
              <a:rPr lang="en-US" sz="8167" b="1">
                <a:solidFill>
                  <a:srgbClr val="FFFFFF"/>
                </a:solidFill>
                <a:latin typeface="Poppins Semi-Bold"/>
                <a:ea typeface="Poppins Semi-Bold"/>
                <a:cs typeface="Poppins Semi-Bold"/>
                <a:sym typeface="Poppins Semi-Bold"/>
              </a:rPr>
              <a:t>;</a:t>
            </a:r>
            <a:r>
              <a:rPr lang="en-US" sz="8167" b="1">
                <a:solidFill>
                  <a:srgbClr val="FF5757"/>
                </a:solidFill>
                <a:latin typeface="Poppins Semi-Bold"/>
                <a:ea typeface="Poppins Semi-Bold"/>
                <a:cs typeface="Poppins Semi-Bold"/>
                <a:sym typeface="Poppins Semi-Bold"/>
              </a:rPr>
              <a:t>i &lt;= 10</a:t>
            </a:r>
            <a:r>
              <a:rPr lang="en-US" sz="8167" b="1">
                <a:solidFill>
                  <a:srgbClr val="FFFFFF"/>
                </a:solidFill>
                <a:latin typeface="Poppins Semi-Bold"/>
                <a:ea typeface="Poppins Semi-Bold"/>
                <a:cs typeface="Poppins Semi-Bold"/>
                <a:sym typeface="Poppins Semi-Bold"/>
              </a:rPr>
              <a:t>;</a:t>
            </a:r>
            <a:r>
              <a:rPr lang="en-US" sz="8167" b="1">
                <a:solidFill>
                  <a:srgbClr val="CB6CE6"/>
                </a:solidFill>
                <a:latin typeface="Poppins Semi-Bold"/>
                <a:ea typeface="Poppins Semi-Bold"/>
                <a:cs typeface="Poppins Semi-Bold"/>
                <a:sym typeface="Poppins Semi-Bold"/>
              </a:rPr>
              <a:t>i++</a:t>
            </a:r>
            <a:r>
              <a:rPr lang="en-US" sz="8167" b="1">
                <a:solidFill>
                  <a:srgbClr val="FFFFFF"/>
                </a:solidFill>
                <a:latin typeface="Poppins Semi-Bold"/>
                <a:ea typeface="Poppins Semi-Bold"/>
                <a:cs typeface="Poppins Semi-Bold"/>
                <a:sym typeface="Poppins Semi-Bold"/>
              </a:rPr>
              <a:t>){</a:t>
            </a:r>
          </a:p>
        </p:txBody>
      </p:sp>
      <p:sp>
        <p:nvSpPr>
          <p:cNvPr id="4" name="TextBox 4"/>
          <p:cNvSpPr txBox="1"/>
          <p:nvPr/>
        </p:nvSpPr>
        <p:spPr>
          <a:xfrm>
            <a:off x="2363152" y="5154006"/>
            <a:ext cx="555460" cy="2673277"/>
          </a:xfrm>
          <a:prstGeom prst="rect">
            <a:avLst/>
          </a:prstGeom>
        </p:spPr>
        <p:txBody>
          <a:bodyPr lIns="0" tIns="0" rIns="0" bIns="0" rtlCol="0" anchor="t">
            <a:spAutoFit/>
          </a:bodyPr>
          <a:lstStyle/>
          <a:p>
            <a:pPr algn="l">
              <a:lnSpc>
                <a:spcPts val="9751"/>
              </a:lnSpc>
            </a:pPr>
            <a:r>
              <a:rPr lang="en-US" sz="8167" b="1">
                <a:solidFill>
                  <a:srgbClr val="FFFFFF"/>
                </a:solidFill>
                <a:latin typeface="Poppins Semi-Bold"/>
                <a:ea typeface="Poppins Semi-Bold"/>
                <a:cs typeface="Poppins Semi-Bold"/>
                <a:sym typeface="Poppins Semi-Bold"/>
              </a:rPr>
              <a:t> </a:t>
            </a:r>
          </a:p>
          <a:p>
            <a:pPr algn="l">
              <a:lnSpc>
                <a:spcPts val="9751"/>
              </a:lnSpc>
            </a:pPr>
            <a:r>
              <a:rPr lang="en-US" sz="8167" b="1">
                <a:solidFill>
                  <a:srgbClr val="FFFFFF"/>
                </a:solidFill>
                <a:latin typeface="Poppins Semi-Bold"/>
                <a:ea typeface="Poppins Semi-Bold"/>
                <a:cs typeface="Poppins Semi-Bold"/>
                <a:sym typeface="Poppins Semi-Bold"/>
              </a:rPr>
              <a:t>}</a:t>
            </a:r>
          </a:p>
        </p:txBody>
      </p:sp>
      <p:sp>
        <p:nvSpPr>
          <p:cNvPr id="5" name="TextBox 5"/>
          <p:cNvSpPr txBox="1"/>
          <p:nvPr/>
        </p:nvSpPr>
        <p:spPr>
          <a:xfrm>
            <a:off x="3919004" y="5154006"/>
            <a:ext cx="9805978" cy="1435027"/>
          </a:xfrm>
          <a:prstGeom prst="rect">
            <a:avLst/>
          </a:prstGeom>
        </p:spPr>
        <p:txBody>
          <a:bodyPr lIns="0" tIns="0" rIns="0" bIns="0" rtlCol="0" anchor="t">
            <a:spAutoFit/>
          </a:bodyPr>
          <a:lstStyle/>
          <a:p>
            <a:pPr algn="l">
              <a:lnSpc>
                <a:spcPts val="9751"/>
              </a:lnSpc>
            </a:pPr>
            <a:r>
              <a:rPr lang="en-US" sz="8167" b="1">
                <a:solidFill>
                  <a:srgbClr val="7ED957"/>
                </a:solidFill>
                <a:latin typeface="Poppins Semi-Bold"/>
                <a:ea typeface="Poppins Semi-Bold"/>
                <a:cs typeface="Poppins Semi-Bold"/>
                <a:sym typeface="Poppins Semi-Bold"/>
              </a:rPr>
              <a:t>//Bloco de código</a:t>
            </a:r>
          </a:p>
        </p:txBody>
      </p:sp>
      <p:sp>
        <p:nvSpPr>
          <p:cNvPr id="6" name="TextBox 6"/>
          <p:cNvSpPr txBox="1"/>
          <p:nvPr/>
        </p:nvSpPr>
        <p:spPr>
          <a:xfrm>
            <a:off x="9084240" y="7552830"/>
            <a:ext cx="128216" cy="767972"/>
          </a:xfrm>
          <a:prstGeom prst="rect">
            <a:avLst/>
          </a:prstGeom>
        </p:spPr>
        <p:txBody>
          <a:bodyPr lIns="0" tIns="0" rIns="0" bIns="0" rtlCol="0" anchor="t">
            <a:spAutoFit/>
          </a:bodyPr>
          <a:lstStyle/>
          <a:p>
            <a:pPr algn="l">
              <a:lnSpc>
                <a:spcPts val="5918"/>
              </a:lnSpc>
            </a:pPr>
            <a:r>
              <a:rPr lang="en-US" sz="3299" b="1">
                <a:solidFill>
                  <a:srgbClr val="FFFFFF"/>
                </a:solidFill>
                <a:latin typeface="Poppins Semi-Bold"/>
                <a:ea typeface="Poppins Semi-Bold"/>
                <a:cs typeface="Poppins Semi-Bold"/>
                <a:sym typeface="Poppins Semi-Bold"/>
              </a:rPr>
              <a:t> </a:t>
            </a:r>
          </a:p>
        </p:txBody>
      </p:sp>
      <p:sp>
        <p:nvSpPr>
          <p:cNvPr id="7" name="TextBox 7"/>
          <p:cNvSpPr txBox="1"/>
          <p:nvPr/>
        </p:nvSpPr>
        <p:spPr>
          <a:xfrm>
            <a:off x="7111422" y="2028958"/>
            <a:ext cx="4146413" cy="644147"/>
          </a:xfrm>
          <a:prstGeom prst="rect">
            <a:avLst/>
          </a:prstGeom>
        </p:spPr>
        <p:txBody>
          <a:bodyPr lIns="0" tIns="0" rIns="0" bIns="0" rtlCol="0" anchor="t">
            <a:spAutoFit/>
          </a:bodyPr>
          <a:lstStyle/>
          <a:p>
            <a:pPr algn="l">
              <a:lnSpc>
                <a:spcPts val="4618"/>
              </a:lnSpc>
            </a:pPr>
            <a:r>
              <a:rPr lang="en-US" sz="3299" b="1">
                <a:solidFill>
                  <a:srgbClr val="FFFFFF"/>
                </a:solidFill>
                <a:latin typeface="Poppins Semi-Bold"/>
                <a:ea typeface="Poppins Semi-Bold"/>
                <a:cs typeface="Poppins Semi-Bold"/>
                <a:sym typeface="Poppins Semi-Bold"/>
              </a:rPr>
              <a:t>Sintaxe final do for</a:t>
            </a:r>
          </a:p>
        </p:txBody>
      </p:sp>
      <p:sp>
        <p:nvSpPr>
          <p:cNvPr id="8" name="TextBox 8"/>
          <p:cNvSpPr txBox="1"/>
          <p:nvPr/>
        </p:nvSpPr>
        <p:spPr>
          <a:xfrm>
            <a:off x="8011306" y="7752855"/>
            <a:ext cx="9583779" cy="1558547"/>
          </a:xfrm>
          <a:prstGeom prst="rect">
            <a:avLst/>
          </a:prstGeom>
        </p:spPr>
        <p:txBody>
          <a:bodyPr lIns="0" tIns="0" rIns="0" bIns="0" rtlCol="0" anchor="t">
            <a:spAutoFit/>
          </a:bodyPr>
          <a:lstStyle/>
          <a:p>
            <a:pPr algn="ctr">
              <a:lnSpc>
                <a:spcPts val="3899"/>
              </a:lnSpc>
            </a:pPr>
            <a:r>
              <a:rPr lang="en-US" sz="3299" b="1">
                <a:solidFill>
                  <a:srgbClr val="FFFFFF"/>
                </a:solidFill>
                <a:latin typeface="Poppins Semi-Bold"/>
                <a:ea typeface="Poppins Semi-Bold"/>
                <a:cs typeface="Poppins Semi-Bold"/>
                <a:sym typeface="Poppins Semi-Bold"/>
              </a:rPr>
              <a:t>Todoocomando nesse blocodecódigo irá serepetir11vezes, pois o </a:t>
            </a:r>
            <a:r>
              <a:rPr lang="en-US" sz="3299" b="1">
                <a:solidFill>
                  <a:srgbClr val="FF5757"/>
                </a:solidFill>
                <a:latin typeface="Poppins Semi-Bold"/>
                <a:ea typeface="Poppins Semi-Bold"/>
                <a:cs typeface="Poppins Semi-Bold"/>
                <a:sym typeface="Poppins Semi-Bold"/>
              </a:rPr>
              <a:t>i</a:t>
            </a:r>
            <a:r>
              <a:rPr lang="en-US" sz="3299" b="1">
                <a:solidFill>
                  <a:srgbClr val="FFFFFF"/>
                </a:solidFill>
                <a:latin typeface="Poppins Semi-Bold"/>
                <a:ea typeface="Poppins Semi-Bold"/>
                <a:cs typeface="Poppins Semi-Bold"/>
                <a:sym typeface="Poppins Semi-Bold"/>
              </a:rPr>
              <a:t> começacom </a:t>
            </a:r>
            <a:r>
              <a:rPr lang="en-US" sz="3299" b="1">
                <a:solidFill>
                  <a:srgbClr val="FF5757"/>
                </a:solidFill>
                <a:latin typeface="Poppins Semi-Bold"/>
                <a:ea typeface="Poppins Semi-Bold"/>
                <a:cs typeface="Poppins Semi-Bold"/>
                <a:sym typeface="Poppins Semi-Bold"/>
              </a:rPr>
              <a:t>0</a:t>
            </a:r>
            <a:r>
              <a:rPr lang="en-US" sz="3299" b="1">
                <a:solidFill>
                  <a:srgbClr val="FFFFFF"/>
                </a:solidFill>
                <a:latin typeface="Poppins Semi-Bold"/>
                <a:ea typeface="Poppins Semi-Bold"/>
                <a:cs typeface="Poppins Semi-Bold"/>
                <a:sym typeface="Poppins Semi-Bold"/>
              </a:rPr>
              <a:t> e vai até </a:t>
            </a:r>
            <a:r>
              <a:rPr lang="en-US" sz="3299" b="1">
                <a:solidFill>
                  <a:srgbClr val="FF5757"/>
                </a:solidFill>
                <a:latin typeface="Poppins Semi-Bold"/>
                <a:ea typeface="Poppins Semi-Bold"/>
                <a:cs typeface="Poppins Semi-Bold"/>
                <a:sym typeface="Poppins Semi-Bold"/>
              </a:rPr>
              <a:t>10</a:t>
            </a:r>
            <a:r>
              <a:rPr lang="en-US" sz="3299" b="1">
                <a:solidFill>
                  <a:srgbClr val="FFFFFF"/>
                </a:solidFill>
                <a:latin typeface="Poppins Semi-Bold"/>
                <a:ea typeface="Poppins Semi-Bold"/>
                <a:cs typeface="Poppins Semi-Bold"/>
                <a:sym typeface="Poppins Semi-Bold"/>
              </a:rPr>
              <a:t>.</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0883903" y="4140203"/>
            <a:ext cx="1905000" cy="863603"/>
          </a:xfrm>
          <a:custGeom>
            <a:avLst/>
            <a:gdLst/>
            <a:ahLst/>
            <a:cxnLst/>
            <a:rect l="l" t="t" r="r" b="b"/>
            <a:pathLst>
              <a:path w="1905000" h="863603">
                <a:moveTo>
                  <a:pt x="0" y="0"/>
                </a:moveTo>
                <a:lnTo>
                  <a:pt x="1905000" y="0"/>
                </a:lnTo>
                <a:lnTo>
                  <a:pt x="1905000" y="863603"/>
                </a:lnTo>
                <a:lnTo>
                  <a:pt x="0" y="863603"/>
                </a:lnTo>
                <a:lnTo>
                  <a:pt x="0" y="0"/>
                </a:lnTo>
                <a:close/>
              </a:path>
            </a:pathLst>
          </a:custGeom>
          <a:blipFill>
            <a:blip r:embed="rId2"/>
            <a:stretch>
              <a:fillRect/>
            </a:stretch>
          </a:blipFill>
        </p:spPr>
      </p:sp>
      <p:grpSp>
        <p:nvGrpSpPr>
          <p:cNvPr id="3" name="Group 3"/>
          <p:cNvGrpSpPr>
            <a:grpSpLocks noChangeAspect="1"/>
          </p:cNvGrpSpPr>
          <p:nvPr/>
        </p:nvGrpSpPr>
        <p:grpSpPr>
          <a:xfrm>
            <a:off x="12421019" y="4609605"/>
            <a:ext cx="378952" cy="364426"/>
            <a:chOff x="0" y="0"/>
            <a:chExt cx="378955" cy="364426"/>
          </a:xfrm>
        </p:grpSpPr>
        <p:sp>
          <p:nvSpPr>
            <p:cNvPr id="4" name="Freeform 4"/>
            <p:cNvSpPr/>
            <p:nvPr/>
          </p:nvSpPr>
          <p:spPr>
            <a:xfrm>
              <a:off x="-7239" y="-3302"/>
              <a:ext cx="389509" cy="369824"/>
            </a:xfrm>
            <a:custGeom>
              <a:avLst/>
              <a:gdLst/>
              <a:ahLst/>
              <a:cxnLst/>
              <a:rect l="l" t="t" r="r" b="b"/>
              <a:pathLst>
                <a:path w="389509" h="369824">
                  <a:moveTo>
                    <a:pt x="385699" y="62611"/>
                  </a:moveTo>
                  <a:lnTo>
                    <a:pt x="351155" y="322199"/>
                  </a:lnTo>
                  <a:cubicBezTo>
                    <a:pt x="348996" y="338582"/>
                    <a:pt x="339217" y="352933"/>
                    <a:pt x="324866" y="360934"/>
                  </a:cubicBezTo>
                  <a:cubicBezTo>
                    <a:pt x="310515" y="368935"/>
                    <a:pt x="293116" y="369824"/>
                    <a:pt x="278003" y="363093"/>
                  </a:cubicBezTo>
                  <a:lnTo>
                    <a:pt x="38481" y="257302"/>
                  </a:lnTo>
                  <a:cubicBezTo>
                    <a:pt x="11938" y="245618"/>
                    <a:pt x="0" y="214757"/>
                    <a:pt x="11684" y="188214"/>
                  </a:cubicBezTo>
                  <a:cubicBezTo>
                    <a:pt x="23368" y="161671"/>
                    <a:pt x="54356" y="149733"/>
                    <a:pt x="80772" y="161417"/>
                  </a:cubicBezTo>
                  <a:lnTo>
                    <a:pt x="320421" y="267462"/>
                  </a:lnTo>
                  <a:lnTo>
                    <a:pt x="299212" y="315341"/>
                  </a:lnTo>
                  <a:lnTo>
                    <a:pt x="247269" y="308483"/>
                  </a:lnTo>
                  <a:lnTo>
                    <a:pt x="281813" y="48768"/>
                  </a:lnTo>
                  <a:cubicBezTo>
                    <a:pt x="285750" y="20066"/>
                    <a:pt x="312039" y="0"/>
                    <a:pt x="340741" y="3810"/>
                  </a:cubicBezTo>
                  <a:cubicBezTo>
                    <a:pt x="369443" y="7620"/>
                    <a:pt x="389509" y="33909"/>
                    <a:pt x="385699" y="62611"/>
                  </a:cubicBezTo>
                  <a:close/>
                </a:path>
              </a:pathLst>
            </a:custGeom>
            <a:solidFill>
              <a:srgbClr val="FF5757"/>
            </a:solidFill>
          </p:spPr>
        </p:sp>
      </p:grpSp>
      <p:sp>
        <p:nvSpPr>
          <p:cNvPr id="5" name="Freeform 5"/>
          <p:cNvSpPr/>
          <p:nvPr/>
        </p:nvSpPr>
        <p:spPr>
          <a:xfrm>
            <a:off x="9779003" y="5740403"/>
            <a:ext cx="3073403" cy="1435103"/>
          </a:xfrm>
          <a:custGeom>
            <a:avLst/>
            <a:gdLst/>
            <a:ahLst/>
            <a:cxnLst/>
            <a:rect l="l" t="t" r="r" b="b"/>
            <a:pathLst>
              <a:path w="3073403" h="1435103">
                <a:moveTo>
                  <a:pt x="0" y="0"/>
                </a:moveTo>
                <a:lnTo>
                  <a:pt x="3073403" y="0"/>
                </a:lnTo>
                <a:lnTo>
                  <a:pt x="3073403" y="1435103"/>
                </a:lnTo>
                <a:lnTo>
                  <a:pt x="0" y="1435103"/>
                </a:lnTo>
                <a:lnTo>
                  <a:pt x="0" y="0"/>
                </a:lnTo>
                <a:close/>
              </a:path>
            </a:pathLst>
          </a:custGeom>
          <a:blipFill>
            <a:blip r:embed="rId3"/>
            <a:stretch>
              <a:fillRect/>
            </a:stretch>
          </a:blipFill>
        </p:spPr>
      </p:sp>
      <p:grpSp>
        <p:nvGrpSpPr>
          <p:cNvPr id="6" name="Group 6"/>
          <p:cNvGrpSpPr>
            <a:grpSpLocks noChangeAspect="1"/>
          </p:cNvGrpSpPr>
          <p:nvPr/>
        </p:nvGrpSpPr>
        <p:grpSpPr>
          <a:xfrm>
            <a:off x="9773955" y="6908597"/>
            <a:ext cx="317497" cy="419043"/>
            <a:chOff x="0" y="0"/>
            <a:chExt cx="317500" cy="419036"/>
          </a:xfrm>
        </p:grpSpPr>
        <p:sp>
          <p:nvSpPr>
            <p:cNvPr id="7" name="Freeform 7"/>
            <p:cNvSpPr/>
            <p:nvPr/>
          </p:nvSpPr>
          <p:spPr>
            <a:xfrm>
              <a:off x="-381" y="-6985"/>
              <a:ext cx="324993" cy="432689"/>
            </a:xfrm>
            <a:custGeom>
              <a:avLst/>
              <a:gdLst/>
              <a:ahLst/>
              <a:cxnLst/>
              <a:rect l="l" t="t" r="r" b="b"/>
              <a:pathLst>
                <a:path w="324993" h="432689">
                  <a:moveTo>
                    <a:pt x="226822" y="414909"/>
                  </a:moveTo>
                  <a:lnTo>
                    <a:pt x="20447" y="253492"/>
                  </a:lnTo>
                  <a:cubicBezTo>
                    <a:pt x="7493" y="243332"/>
                    <a:pt x="0" y="227584"/>
                    <a:pt x="381" y="211201"/>
                  </a:cubicBezTo>
                  <a:cubicBezTo>
                    <a:pt x="762" y="194818"/>
                    <a:pt x="8763" y="179324"/>
                    <a:pt x="22225" y="169672"/>
                  </a:cubicBezTo>
                  <a:lnTo>
                    <a:pt x="234950" y="16891"/>
                  </a:lnTo>
                  <a:cubicBezTo>
                    <a:pt x="258445" y="0"/>
                    <a:pt x="291211" y="5334"/>
                    <a:pt x="308102" y="28829"/>
                  </a:cubicBezTo>
                  <a:cubicBezTo>
                    <a:pt x="324993" y="52324"/>
                    <a:pt x="319659" y="85090"/>
                    <a:pt x="296164" y="101981"/>
                  </a:cubicBezTo>
                  <a:lnTo>
                    <a:pt x="83312" y="254762"/>
                  </a:lnTo>
                  <a:lnTo>
                    <a:pt x="52832" y="212217"/>
                  </a:lnTo>
                  <a:lnTo>
                    <a:pt x="85090" y="170942"/>
                  </a:lnTo>
                  <a:lnTo>
                    <a:pt x="291338" y="332359"/>
                  </a:lnTo>
                  <a:cubicBezTo>
                    <a:pt x="314071" y="350139"/>
                    <a:pt x="318135" y="383159"/>
                    <a:pt x="300355" y="405892"/>
                  </a:cubicBezTo>
                  <a:cubicBezTo>
                    <a:pt x="282575" y="428625"/>
                    <a:pt x="249555" y="432689"/>
                    <a:pt x="226822" y="414909"/>
                  </a:cubicBezTo>
                  <a:close/>
                </a:path>
              </a:pathLst>
            </a:custGeom>
            <a:solidFill>
              <a:srgbClr val="7ED957"/>
            </a:solidFill>
          </p:spPr>
        </p:sp>
      </p:grpSp>
      <p:sp>
        <p:nvSpPr>
          <p:cNvPr id="8" name="Freeform 8"/>
          <p:cNvSpPr/>
          <p:nvPr/>
        </p:nvSpPr>
        <p:spPr>
          <a:xfrm>
            <a:off x="9131303" y="5753100"/>
            <a:ext cx="5219700" cy="2705100"/>
          </a:xfrm>
          <a:custGeom>
            <a:avLst/>
            <a:gdLst/>
            <a:ahLst/>
            <a:cxnLst/>
            <a:rect l="l" t="t" r="r" b="b"/>
            <a:pathLst>
              <a:path w="5219700" h="2705100">
                <a:moveTo>
                  <a:pt x="0" y="0"/>
                </a:moveTo>
                <a:lnTo>
                  <a:pt x="5219700" y="0"/>
                </a:lnTo>
                <a:lnTo>
                  <a:pt x="5219700" y="2705100"/>
                </a:lnTo>
                <a:lnTo>
                  <a:pt x="0" y="2705100"/>
                </a:lnTo>
                <a:lnTo>
                  <a:pt x="0" y="0"/>
                </a:lnTo>
                <a:close/>
              </a:path>
            </a:pathLst>
          </a:custGeom>
          <a:blipFill>
            <a:blip r:embed="rId4"/>
            <a:stretch>
              <a:fillRect/>
            </a:stretch>
          </a:blipFill>
        </p:spPr>
      </p:sp>
      <p:grpSp>
        <p:nvGrpSpPr>
          <p:cNvPr id="9" name="Group 9"/>
          <p:cNvGrpSpPr>
            <a:grpSpLocks noChangeAspect="1"/>
          </p:cNvGrpSpPr>
          <p:nvPr/>
        </p:nvGrpSpPr>
        <p:grpSpPr>
          <a:xfrm>
            <a:off x="14083465" y="5750843"/>
            <a:ext cx="417500" cy="329136"/>
            <a:chOff x="0" y="0"/>
            <a:chExt cx="417500" cy="329146"/>
          </a:xfrm>
        </p:grpSpPr>
        <p:sp>
          <p:nvSpPr>
            <p:cNvPr id="10" name="Freeform 10"/>
            <p:cNvSpPr/>
            <p:nvPr/>
          </p:nvSpPr>
          <p:spPr>
            <a:xfrm>
              <a:off x="-7366" y="-1397"/>
              <a:ext cx="430530" cy="337947"/>
            </a:xfrm>
            <a:custGeom>
              <a:avLst/>
              <a:gdLst/>
              <a:ahLst/>
              <a:cxnLst/>
              <a:rect l="l" t="t" r="r" b="b"/>
              <a:pathLst>
                <a:path w="430530" h="337947">
                  <a:moveTo>
                    <a:pt x="14859" y="251079"/>
                  </a:moveTo>
                  <a:lnTo>
                    <a:pt x="150114" y="26797"/>
                  </a:lnTo>
                  <a:cubicBezTo>
                    <a:pt x="158623" y="12573"/>
                    <a:pt x="173228" y="3302"/>
                    <a:pt x="189611" y="1651"/>
                  </a:cubicBezTo>
                  <a:cubicBezTo>
                    <a:pt x="205994" y="0"/>
                    <a:pt x="222250" y="6096"/>
                    <a:pt x="233426" y="18288"/>
                  </a:cubicBezTo>
                  <a:lnTo>
                    <a:pt x="410972" y="210820"/>
                  </a:lnTo>
                  <a:cubicBezTo>
                    <a:pt x="430530" y="232156"/>
                    <a:pt x="429260" y="265176"/>
                    <a:pt x="407924" y="284861"/>
                  </a:cubicBezTo>
                  <a:cubicBezTo>
                    <a:pt x="386588" y="304546"/>
                    <a:pt x="353568" y="303149"/>
                    <a:pt x="333883" y="281813"/>
                  </a:cubicBezTo>
                  <a:lnTo>
                    <a:pt x="156464" y="89281"/>
                  </a:lnTo>
                  <a:lnTo>
                    <a:pt x="194945" y="53721"/>
                  </a:lnTo>
                  <a:lnTo>
                    <a:pt x="239776" y="80772"/>
                  </a:lnTo>
                  <a:lnTo>
                    <a:pt x="104648" y="305181"/>
                  </a:lnTo>
                  <a:cubicBezTo>
                    <a:pt x="89662" y="329946"/>
                    <a:pt x="57531" y="337947"/>
                    <a:pt x="32766" y="322961"/>
                  </a:cubicBezTo>
                  <a:cubicBezTo>
                    <a:pt x="8001" y="307975"/>
                    <a:pt x="0" y="275844"/>
                    <a:pt x="14859" y="251079"/>
                  </a:cubicBezTo>
                  <a:close/>
                </a:path>
              </a:pathLst>
            </a:custGeom>
            <a:solidFill>
              <a:srgbClr val="795AC6"/>
            </a:solidFill>
          </p:spPr>
        </p:sp>
      </p:grpSp>
      <p:sp>
        <p:nvSpPr>
          <p:cNvPr id="11" name="Freeform 11"/>
          <p:cNvSpPr/>
          <p:nvPr/>
        </p:nvSpPr>
        <p:spPr>
          <a:xfrm>
            <a:off x="9753600" y="3136897"/>
            <a:ext cx="4241797" cy="1676400"/>
          </a:xfrm>
          <a:custGeom>
            <a:avLst/>
            <a:gdLst/>
            <a:ahLst/>
            <a:cxnLst/>
            <a:rect l="l" t="t" r="r" b="b"/>
            <a:pathLst>
              <a:path w="4241797" h="1676400">
                <a:moveTo>
                  <a:pt x="0" y="0"/>
                </a:moveTo>
                <a:lnTo>
                  <a:pt x="4241797" y="0"/>
                </a:lnTo>
                <a:lnTo>
                  <a:pt x="4241797" y="1676400"/>
                </a:lnTo>
                <a:lnTo>
                  <a:pt x="0" y="1676400"/>
                </a:lnTo>
                <a:lnTo>
                  <a:pt x="0" y="0"/>
                </a:lnTo>
                <a:close/>
              </a:path>
            </a:pathLst>
          </a:custGeom>
          <a:blipFill>
            <a:blip r:embed="rId5"/>
            <a:stretch>
              <a:fillRect/>
            </a:stretch>
          </a:blipFill>
        </p:spPr>
      </p:sp>
      <p:grpSp>
        <p:nvGrpSpPr>
          <p:cNvPr id="12" name="Group 12"/>
          <p:cNvGrpSpPr>
            <a:grpSpLocks noChangeAspect="1"/>
          </p:cNvGrpSpPr>
          <p:nvPr/>
        </p:nvGrpSpPr>
        <p:grpSpPr>
          <a:xfrm>
            <a:off x="9036225" y="5623189"/>
            <a:ext cx="6077502" cy="4261542"/>
            <a:chOff x="0" y="0"/>
            <a:chExt cx="6077496" cy="4261536"/>
          </a:xfrm>
        </p:grpSpPr>
        <p:sp>
          <p:nvSpPr>
            <p:cNvPr id="13" name="Freeform 13"/>
            <p:cNvSpPr/>
            <p:nvPr/>
          </p:nvSpPr>
          <p:spPr>
            <a:xfrm>
              <a:off x="697357" y="63500"/>
              <a:ext cx="3465322" cy="2335403"/>
            </a:xfrm>
            <a:custGeom>
              <a:avLst/>
              <a:gdLst/>
              <a:ahLst/>
              <a:cxnLst/>
              <a:rect l="l" t="t" r="r" b="b"/>
              <a:pathLst>
                <a:path w="3465322" h="2335403">
                  <a:moveTo>
                    <a:pt x="0" y="2335403"/>
                  </a:moveTo>
                  <a:lnTo>
                    <a:pt x="3465322" y="2335403"/>
                  </a:lnTo>
                  <a:lnTo>
                    <a:pt x="3465322" y="0"/>
                  </a:lnTo>
                  <a:lnTo>
                    <a:pt x="0" y="0"/>
                  </a:lnTo>
                  <a:close/>
                </a:path>
              </a:pathLst>
            </a:custGeom>
            <a:solidFill>
              <a:srgbClr val="000000">
                <a:alpha val="0"/>
              </a:srgbClr>
            </a:solidFill>
          </p:spPr>
        </p:sp>
        <p:sp>
          <p:nvSpPr>
            <p:cNvPr id="14" name="Freeform 14"/>
            <p:cNvSpPr/>
            <p:nvPr/>
          </p:nvSpPr>
          <p:spPr>
            <a:xfrm>
              <a:off x="63500" y="65659"/>
              <a:ext cx="5950458" cy="4132326"/>
            </a:xfrm>
            <a:custGeom>
              <a:avLst/>
              <a:gdLst/>
              <a:ahLst/>
              <a:cxnLst/>
              <a:rect l="l" t="t" r="r" b="b"/>
              <a:pathLst>
                <a:path w="5950458" h="4132326">
                  <a:moveTo>
                    <a:pt x="0" y="4132326"/>
                  </a:moveTo>
                  <a:lnTo>
                    <a:pt x="5950458" y="4132326"/>
                  </a:lnTo>
                  <a:lnTo>
                    <a:pt x="5950458" y="0"/>
                  </a:lnTo>
                  <a:lnTo>
                    <a:pt x="0" y="0"/>
                  </a:lnTo>
                  <a:close/>
                </a:path>
              </a:pathLst>
            </a:custGeom>
            <a:solidFill>
              <a:srgbClr val="000000">
                <a:alpha val="0"/>
              </a:srgbClr>
            </a:solidFill>
          </p:spPr>
        </p:sp>
      </p:grpSp>
      <p:grpSp>
        <p:nvGrpSpPr>
          <p:cNvPr id="15" name="Group 15"/>
          <p:cNvGrpSpPr>
            <a:grpSpLocks noChangeAspect="1"/>
          </p:cNvGrpSpPr>
          <p:nvPr/>
        </p:nvGrpSpPr>
        <p:grpSpPr>
          <a:xfrm>
            <a:off x="9666275" y="2746896"/>
            <a:ext cx="4456433" cy="2843603"/>
            <a:chOff x="0" y="0"/>
            <a:chExt cx="4456430" cy="2843606"/>
          </a:xfrm>
        </p:grpSpPr>
        <p:sp>
          <p:nvSpPr>
            <p:cNvPr id="16" name="Freeform 16"/>
            <p:cNvSpPr/>
            <p:nvPr/>
          </p:nvSpPr>
          <p:spPr>
            <a:xfrm>
              <a:off x="81788" y="1543939"/>
              <a:ext cx="365633" cy="369570"/>
            </a:xfrm>
            <a:custGeom>
              <a:avLst/>
              <a:gdLst/>
              <a:ahLst/>
              <a:cxnLst/>
              <a:rect l="l" t="t" r="r" b="b"/>
              <a:pathLst>
                <a:path w="365633" h="369570">
                  <a:moveTo>
                    <a:pt x="322453" y="287528"/>
                  </a:moveTo>
                  <a:lnTo>
                    <a:pt x="72136" y="364744"/>
                  </a:lnTo>
                  <a:cubicBezTo>
                    <a:pt x="56388" y="369570"/>
                    <a:pt x="39243" y="366776"/>
                    <a:pt x="25908" y="357124"/>
                  </a:cubicBezTo>
                  <a:cubicBezTo>
                    <a:pt x="12573" y="347472"/>
                    <a:pt x="4572" y="331978"/>
                    <a:pt x="4318" y="315595"/>
                  </a:cubicBezTo>
                  <a:lnTo>
                    <a:pt x="381" y="53721"/>
                  </a:lnTo>
                  <a:cubicBezTo>
                    <a:pt x="0" y="24765"/>
                    <a:pt x="22987" y="1016"/>
                    <a:pt x="51943" y="508"/>
                  </a:cubicBezTo>
                  <a:cubicBezTo>
                    <a:pt x="80899" y="0"/>
                    <a:pt x="104648" y="23114"/>
                    <a:pt x="105156" y="52070"/>
                  </a:cubicBezTo>
                  <a:lnTo>
                    <a:pt x="109093" y="313944"/>
                  </a:lnTo>
                  <a:lnTo>
                    <a:pt x="56769" y="314706"/>
                  </a:lnTo>
                  <a:lnTo>
                    <a:pt x="41275" y="264668"/>
                  </a:lnTo>
                  <a:lnTo>
                    <a:pt x="291592" y="187452"/>
                  </a:lnTo>
                  <a:cubicBezTo>
                    <a:pt x="319278" y="178943"/>
                    <a:pt x="348615" y="194437"/>
                    <a:pt x="357124" y="222123"/>
                  </a:cubicBezTo>
                  <a:cubicBezTo>
                    <a:pt x="365633" y="249809"/>
                    <a:pt x="350139" y="279146"/>
                    <a:pt x="322453" y="287655"/>
                  </a:cubicBezTo>
                  <a:close/>
                </a:path>
              </a:pathLst>
            </a:custGeom>
            <a:solidFill>
              <a:srgbClr val="FFDE59"/>
            </a:solidFill>
          </p:spPr>
        </p:sp>
        <p:sp>
          <p:nvSpPr>
            <p:cNvPr id="17" name="Freeform 17"/>
            <p:cNvSpPr/>
            <p:nvPr/>
          </p:nvSpPr>
          <p:spPr>
            <a:xfrm>
              <a:off x="63500" y="63500"/>
              <a:ext cx="4329430" cy="2000885"/>
            </a:xfrm>
            <a:custGeom>
              <a:avLst/>
              <a:gdLst/>
              <a:ahLst/>
              <a:cxnLst/>
              <a:rect l="l" t="t" r="r" b="b"/>
              <a:pathLst>
                <a:path w="4329430" h="2000885">
                  <a:moveTo>
                    <a:pt x="0" y="2000885"/>
                  </a:moveTo>
                  <a:lnTo>
                    <a:pt x="4329430" y="2000885"/>
                  </a:lnTo>
                  <a:lnTo>
                    <a:pt x="4329430" y="0"/>
                  </a:lnTo>
                  <a:lnTo>
                    <a:pt x="0" y="0"/>
                  </a:lnTo>
                  <a:close/>
                </a:path>
              </a:pathLst>
            </a:custGeom>
            <a:solidFill>
              <a:srgbClr val="000000">
                <a:alpha val="0"/>
              </a:srgbClr>
            </a:solidFill>
          </p:spPr>
        </p:sp>
        <p:sp>
          <p:nvSpPr>
            <p:cNvPr id="18" name="Freeform 18"/>
            <p:cNvSpPr/>
            <p:nvPr/>
          </p:nvSpPr>
          <p:spPr>
            <a:xfrm>
              <a:off x="1251966" y="1660779"/>
              <a:ext cx="708279" cy="1119378"/>
            </a:xfrm>
            <a:custGeom>
              <a:avLst/>
              <a:gdLst/>
              <a:ahLst/>
              <a:cxnLst/>
              <a:rect l="l" t="t" r="r" b="b"/>
              <a:pathLst>
                <a:path w="708279" h="1119378">
                  <a:moveTo>
                    <a:pt x="0" y="1119378"/>
                  </a:moveTo>
                  <a:lnTo>
                    <a:pt x="708279" y="1119378"/>
                  </a:lnTo>
                  <a:lnTo>
                    <a:pt x="708279" y="0"/>
                  </a:lnTo>
                  <a:lnTo>
                    <a:pt x="0" y="0"/>
                  </a:lnTo>
                  <a:close/>
                </a:path>
              </a:pathLst>
            </a:custGeom>
            <a:solidFill>
              <a:srgbClr val="000000">
                <a:alpha val="0"/>
              </a:srgbClr>
            </a:solidFill>
          </p:spPr>
        </p:sp>
      </p:grpSp>
      <p:sp>
        <p:nvSpPr>
          <p:cNvPr id="19" name="TextBox 19"/>
          <p:cNvSpPr txBox="1"/>
          <p:nvPr/>
        </p:nvSpPr>
        <p:spPr>
          <a:xfrm>
            <a:off x="3766166" y="324326"/>
            <a:ext cx="10593143"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Comando de repetição </a:t>
            </a:r>
            <a:r>
              <a:rPr lang="en-US" sz="5964" b="1">
                <a:solidFill>
                  <a:srgbClr val="3C67BF"/>
                </a:solidFill>
                <a:latin typeface="Poppins Semi-Bold"/>
                <a:ea typeface="Poppins Semi-Bold"/>
                <a:cs typeface="Poppins Semi-Bold"/>
                <a:sym typeface="Poppins Semi-Bold"/>
              </a:rPr>
              <a:t>for</a:t>
            </a:r>
          </a:p>
        </p:txBody>
      </p:sp>
      <p:sp>
        <p:nvSpPr>
          <p:cNvPr id="20" name="TextBox 20"/>
          <p:cNvSpPr txBox="1"/>
          <p:nvPr/>
        </p:nvSpPr>
        <p:spPr>
          <a:xfrm>
            <a:off x="7826226" y="4855188"/>
            <a:ext cx="7618886" cy="828875"/>
          </a:xfrm>
          <a:prstGeom prst="rect">
            <a:avLst/>
          </a:prstGeom>
        </p:spPr>
        <p:txBody>
          <a:bodyPr lIns="0" tIns="0" rIns="0" bIns="0" rtlCol="0" anchor="t">
            <a:spAutoFit/>
          </a:bodyPr>
          <a:lstStyle/>
          <a:p>
            <a:pPr algn="l">
              <a:lnSpc>
                <a:spcPts val="5630"/>
              </a:lnSpc>
            </a:pPr>
            <a:r>
              <a:rPr lang="en-US" sz="4695" b="1">
                <a:solidFill>
                  <a:srgbClr val="3C67BF"/>
                </a:solidFill>
                <a:latin typeface="Poppins Semi-Bold"/>
                <a:ea typeface="Poppins Semi-Bold"/>
                <a:cs typeface="Poppins Semi-Bold"/>
                <a:sym typeface="Poppins Semi-Bold"/>
              </a:rPr>
              <a:t>for</a:t>
            </a:r>
            <a:r>
              <a:rPr lang="en-US" sz="4695" b="1">
                <a:solidFill>
                  <a:srgbClr val="FFFFFF"/>
                </a:solidFill>
                <a:latin typeface="Poppins Semi-Bold"/>
                <a:ea typeface="Poppins Semi-Bold"/>
                <a:cs typeface="Poppins Semi-Bold"/>
                <a:sym typeface="Poppins Semi-Bold"/>
              </a:rPr>
              <a:t>(</a:t>
            </a:r>
            <a:r>
              <a:rPr lang="en-US" sz="4695" b="1">
                <a:solidFill>
                  <a:srgbClr val="3C67BF"/>
                </a:solidFill>
                <a:latin typeface="Poppins Semi-Bold"/>
                <a:ea typeface="Poppins Semi-Bold"/>
                <a:cs typeface="Poppins Semi-Bold"/>
                <a:sym typeface="Poppins Semi-Bold"/>
              </a:rPr>
              <a:t>int </a:t>
            </a:r>
            <a:r>
              <a:rPr lang="en-US" sz="4695" b="1">
                <a:solidFill>
                  <a:srgbClr val="FFFFFF"/>
                </a:solidFill>
                <a:latin typeface="Poppins Semi-Bold"/>
                <a:ea typeface="Poppins Semi-Bold"/>
                <a:cs typeface="Poppins Semi-Bold"/>
                <a:sym typeface="Poppins Semi-Bold"/>
              </a:rPr>
              <a:t>i = 0;i </a:t>
            </a:r>
            <a:r>
              <a:rPr lang="en-US" sz="4695" b="1">
                <a:solidFill>
                  <a:srgbClr val="7ED957"/>
                </a:solidFill>
                <a:latin typeface="Poppins Semi-Bold"/>
                <a:ea typeface="Poppins Semi-Bold"/>
                <a:cs typeface="Poppins Semi-Bold"/>
                <a:sym typeface="Poppins Semi-Bold"/>
              </a:rPr>
              <a:t>&lt;=</a:t>
            </a:r>
            <a:r>
              <a:rPr lang="en-US" sz="4695" b="1">
                <a:solidFill>
                  <a:srgbClr val="FFFFFF"/>
                </a:solidFill>
                <a:latin typeface="Poppins Semi-Bold"/>
                <a:ea typeface="Poppins Semi-Bold"/>
                <a:cs typeface="Poppins Semi-Bold"/>
                <a:sym typeface="Poppins Semi-Bold"/>
              </a:rPr>
              <a:t> 10;i++){</a:t>
            </a:r>
          </a:p>
        </p:txBody>
      </p:sp>
      <p:sp>
        <p:nvSpPr>
          <p:cNvPr id="21" name="TextBox 21"/>
          <p:cNvSpPr txBox="1"/>
          <p:nvPr/>
        </p:nvSpPr>
        <p:spPr>
          <a:xfrm>
            <a:off x="7826226" y="5570353"/>
            <a:ext cx="319364" cy="3689518"/>
          </a:xfrm>
          <a:prstGeom prst="rect">
            <a:avLst/>
          </a:prstGeom>
        </p:spPr>
        <p:txBody>
          <a:bodyPr lIns="0" tIns="0" rIns="0" bIns="0" rtlCol="0" anchor="t">
            <a:spAutoFit/>
          </a:bodyPr>
          <a:lstStyle/>
          <a:p>
            <a:pPr algn="just">
              <a:lnSpc>
                <a:spcPts val="5630"/>
              </a:lnSpc>
            </a:pPr>
            <a:r>
              <a:rPr lang="en-US" sz="4695" b="1" spc="3756">
                <a:solidFill>
                  <a:srgbClr val="FFFFFF"/>
                </a:solidFill>
                <a:latin typeface="Poppins Semi-Bold"/>
                <a:ea typeface="Poppins Semi-Bold"/>
                <a:cs typeface="Poppins Semi-Bold"/>
                <a:sym typeface="Poppins Semi-Bold"/>
              </a:rPr>
              <a:t> </a:t>
            </a:r>
          </a:p>
          <a:p>
            <a:pPr algn="just">
              <a:lnSpc>
                <a:spcPts val="5630"/>
              </a:lnSpc>
            </a:pPr>
            <a:r>
              <a:rPr lang="en-US" sz="4695" b="1" spc="3756">
                <a:solidFill>
                  <a:srgbClr val="FFFFFF"/>
                </a:solidFill>
                <a:latin typeface="Poppins Semi-Bold"/>
                <a:ea typeface="Poppins Semi-Bold"/>
                <a:cs typeface="Poppins Semi-Bold"/>
                <a:sym typeface="Poppins Semi-Bold"/>
              </a:rPr>
              <a:t> </a:t>
            </a:r>
          </a:p>
          <a:p>
            <a:pPr algn="just">
              <a:lnSpc>
                <a:spcPts val="5630"/>
              </a:lnSpc>
            </a:pPr>
            <a:r>
              <a:rPr lang="en-US" sz="4695" b="1" spc="3756">
                <a:solidFill>
                  <a:srgbClr val="FFFFFF"/>
                </a:solidFill>
                <a:latin typeface="Poppins Semi-Bold"/>
                <a:ea typeface="Poppins Semi-Bold"/>
                <a:cs typeface="Poppins Semi-Bold"/>
                <a:sym typeface="Poppins Semi-Bold"/>
              </a:rPr>
              <a:t> </a:t>
            </a:r>
          </a:p>
          <a:p>
            <a:pPr algn="just">
              <a:lnSpc>
                <a:spcPts val="5630"/>
              </a:lnSpc>
            </a:pPr>
            <a:r>
              <a:rPr lang="en-US" sz="4695" b="1" spc="3756">
                <a:solidFill>
                  <a:srgbClr val="FFFFFF"/>
                </a:solidFill>
                <a:latin typeface="Poppins Semi-Bold"/>
                <a:ea typeface="Poppins Semi-Bold"/>
                <a:cs typeface="Poppins Semi-Bold"/>
                <a:sym typeface="Poppins Semi-Bold"/>
              </a:rPr>
              <a:t> </a:t>
            </a:r>
          </a:p>
          <a:p>
            <a:pPr algn="just">
              <a:lnSpc>
                <a:spcPts val="5630"/>
              </a:lnSpc>
            </a:pPr>
            <a:r>
              <a:rPr lang="en-US" sz="4695" b="1" spc="3756">
                <a:solidFill>
                  <a:srgbClr val="FFFFFF"/>
                </a:solidFill>
                <a:latin typeface="Poppins Semi-Bold"/>
                <a:ea typeface="Poppins Semi-Bold"/>
                <a:cs typeface="Poppins Semi-Bold"/>
                <a:sym typeface="Poppins Semi-Bold"/>
              </a:rPr>
              <a:t>}</a:t>
            </a:r>
          </a:p>
        </p:txBody>
      </p:sp>
      <p:sp>
        <p:nvSpPr>
          <p:cNvPr id="22" name="TextBox 22"/>
          <p:cNvSpPr txBox="1"/>
          <p:nvPr/>
        </p:nvSpPr>
        <p:spPr>
          <a:xfrm>
            <a:off x="8720709" y="5570353"/>
            <a:ext cx="149038" cy="2974362"/>
          </a:xfrm>
          <a:prstGeom prst="rect">
            <a:avLst/>
          </a:prstGeom>
        </p:spPr>
        <p:txBody>
          <a:bodyPr lIns="0" tIns="0" rIns="0" bIns="0" rtlCol="0" anchor="t">
            <a:spAutoFit/>
          </a:bodyPr>
          <a:lstStyle/>
          <a:p>
            <a:pPr algn="just">
              <a:lnSpc>
                <a:spcPts val="5630"/>
              </a:lnSpc>
            </a:pPr>
            <a:r>
              <a:rPr lang="en-US" sz="4695" b="1" spc="3756">
                <a:solidFill>
                  <a:srgbClr val="FFFFFF"/>
                </a:solidFill>
                <a:latin typeface="Poppins Semi-Bold"/>
                <a:ea typeface="Poppins Semi-Bold"/>
                <a:cs typeface="Poppins Semi-Bold"/>
                <a:sym typeface="Poppins Semi-Bold"/>
              </a:rPr>
              <a:t>. . . .</a:t>
            </a:r>
          </a:p>
        </p:txBody>
      </p:sp>
      <p:sp>
        <p:nvSpPr>
          <p:cNvPr id="23" name="TextBox 23"/>
          <p:cNvSpPr txBox="1"/>
          <p:nvPr/>
        </p:nvSpPr>
        <p:spPr>
          <a:xfrm>
            <a:off x="6027811" y="2028958"/>
            <a:ext cx="6357004" cy="644147"/>
          </a:xfrm>
          <a:prstGeom prst="rect">
            <a:avLst/>
          </a:prstGeom>
        </p:spPr>
        <p:txBody>
          <a:bodyPr lIns="0" tIns="0" rIns="0" bIns="0" rtlCol="0" anchor="t">
            <a:spAutoFit/>
          </a:bodyPr>
          <a:lstStyle/>
          <a:p>
            <a:pPr algn="l">
              <a:lnSpc>
                <a:spcPts val="4618"/>
              </a:lnSpc>
            </a:pPr>
            <a:r>
              <a:rPr lang="en-US" sz="3299" b="1">
                <a:solidFill>
                  <a:srgbClr val="FFFFFF"/>
                </a:solidFill>
                <a:latin typeface="Poppins Semi-Bold"/>
                <a:ea typeface="Poppins Semi-Bold"/>
                <a:cs typeface="Poppins Semi-Bold"/>
                <a:sym typeface="Poppins Semi-Bold"/>
              </a:rPr>
              <a:t>Como a repetição funciona?</a:t>
            </a:r>
          </a:p>
        </p:txBody>
      </p:sp>
      <p:sp>
        <p:nvSpPr>
          <p:cNvPr id="24" name="TextBox 24"/>
          <p:cNvSpPr txBox="1"/>
          <p:nvPr/>
        </p:nvSpPr>
        <p:spPr>
          <a:xfrm rot="2280">
            <a:off x="11705990" y="3823649"/>
            <a:ext cx="244011" cy="586549"/>
          </a:xfrm>
          <a:prstGeom prst="rect">
            <a:avLst/>
          </a:prstGeom>
        </p:spPr>
        <p:txBody>
          <a:bodyPr lIns="0" tIns="0" rIns="0" bIns="0" rtlCol="0" anchor="t">
            <a:spAutoFit/>
          </a:bodyPr>
          <a:lstStyle/>
          <a:p>
            <a:pPr algn="l">
              <a:lnSpc>
                <a:spcPts val="4620"/>
              </a:lnSpc>
            </a:pPr>
            <a:r>
              <a:rPr lang="en-US" sz="3300" b="1">
                <a:solidFill>
                  <a:srgbClr val="FF5757"/>
                </a:solidFill>
                <a:latin typeface="Open Sans Bold"/>
                <a:ea typeface="Open Sans Bold"/>
                <a:cs typeface="Open Sans Bold"/>
                <a:sym typeface="Open Sans Bold"/>
              </a:rPr>
              <a:t>1</a:t>
            </a:r>
          </a:p>
        </p:txBody>
      </p:sp>
      <p:sp>
        <p:nvSpPr>
          <p:cNvPr id="25" name="TextBox 25"/>
          <p:cNvSpPr txBox="1"/>
          <p:nvPr/>
        </p:nvSpPr>
        <p:spPr>
          <a:xfrm rot="-740760">
            <a:off x="11523942" y="6651326"/>
            <a:ext cx="244011" cy="586549"/>
          </a:xfrm>
          <a:prstGeom prst="rect">
            <a:avLst/>
          </a:prstGeom>
        </p:spPr>
        <p:txBody>
          <a:bodyPr lIns="0" tIns="0" rIns="0" bIns="0" rtlCol="0" anchor="t">
            <a:spAutoFit/>
          </a:bodyPr>
          <a:lstStyle/>
          <a:p>
            <a:pPr algn="l">
              <a:lnSpc>
                <a:spcPts val="4620"/>
              </a:lnSpc>
            </a:pPr>
            <a:r>
              <a:rPr lang="en-US" sz="3300" b="1">
                <a:solidFill>
                  <a:srgbClr val="7ED957"/>
                </a:solidFill>
                <a:latin typeface="Open Sans Bold"/>
                <a:ea typeface="Open Sans Bold"/>
                <a:cs typeface="Open Sans Bold"/>
                <a:sym typeface="Open Sans Bold"/>
              </a:rPr>
              <a:t>2</a:t>
            </a:r>
          </a:p>
        </p:txBody>
      </p:sp>
      <p:sp>
        <p:nvSpPr>
          <p:cNvPr id="26" name="TextBox 26"/>
          <p:cNvSpPr txBox="1"/>
          <p:nvPr/>
        </p:nvSpPr>
        <p:spPr>
          <a:xfrm rot="-935220">
            <a:off x="12322117" y="7817651"/>
            <a:ext cx="244011" cy="586549"/>
          </a:xfrm>
          <a:prstGeom prst="rect">
            <a:avLst/>
          </a:prstGeom>
        </p:spPr>
        <p:txBody>
          <a:bodyPr lIns="0" tIns="0" rIns="0" bIns="0" rtlCol="0" anchor="t">
            <a:spAutoFit/>
          </a:bodyPr>
          <a:lstStyle/>
          <a:p>
            <a:pPr algn="l">
              <a:lnSpc>
                <a:spcPts val="4620"/>
              </a:lnSpc>
            </a:pPr>
            <a:r>
              <a:rPr lang="en-US" sz="3300" b="1">
                <a:solidFill>
                  <a:srgbClr val="795AC6"/>
                </a:solidFill>
                <a:latin typeface="Open Sans Bold"/>
                <a:ea typeface="Open Sans Bold"/>
                <a:cs typeface="Open Sans Bold"/>
                <a:sym typeface="Open Sans Bold"/>
              </a:rPr>
              <a:t>3</a:t>
            </a:r>
          </a:p>
        </p:txBody>
      </p:sp>
      <p:sp>
        <p:nvSpPr>
          <p:cNvPr id="27" name="TextBox 27"/>
          <p:cNvSpPr txBox="1"/>
          <p:nvPr/>
        </p:nvSpPr>
        <p:spPr>
          <a:xfrm rot="108000">
            <a:off x="11798274" y="2839933"/>
            <a:ext cx="244011" cy="586549"/>
          </a:xfrm>
          <a:prstGeom prst="rect">
            <a:avLst/>
          </a:prstGeom>
        </p:spPr>
        <p:txBody>
          <a:bodyPr lIns="0" tIns="0" rIns="0" bIns="0" rtlCol="0" anchor="t">
            <a:spAutoFit/>
          </a:bodyPr>
          <a:lstStyle/>
          <a:p>
            <a:pPr algn="l">
              <a:lnSpc>
                <a:spcPts val="4619"/>
              </a:lnSpc>
            </a:pPr>
            <a:r>
              <a:rPr lang="en-US" sz="3299" b="1">
                <a:solidFill>
                  <a:srgbClr val="FFDE59"/>
                </a:solidFill>
                <a:latin typeface="Open Sans Bold"/>
                <a:ea typeface="Open Sans Bold"/>
                <a:cs typeface="Open Sans Bold"/>
                <a:sym typeface="Open Sans Bold"/>
              </a:rPr>
              <a:t>4</a:t>
            </a:r>
          </a:p>
        </p:txBody>
      </p:sp>
      <p:sp>
        <p:nvSpPr>
          <p:cNvPr id="28" name="TextBox 28"/>
          <p:cNvSpPr txBox="1"/>
          <p:nvPr/>
        </p:nvSpPr>
        <p:spPr>
          <a:xfrm>
            <a:off x="394183" y="4894736"/>
            <a:ext cx="7176687" cy="4444794"/>
          </a:xfrm>
          <a:prstGeom prst="rect">
            <a:avLst/>
          </a:prstGeom>
        </p:spPr>
        <p:txBody>
          <a:bodyPr lIns="0" tIns="0" rIns="0" bIns="0" rtlCol="0" anchor="t">
            <a:spAutoFit/>
          </a:bodyPr>
          <a:lstStyle/>
          <a:p>
            <a:pPr algn="l">
              <a:lnSpc>
                <a:spcPts val="3450"/>
              </a:lnSpc>
            </a:pPr>
            <a:r>
              <a:rPr lang="en-US" sz="2899" b="1">
                <a:solidFill>
                  <a:srgbClr val="FF5757"/>
                </a:solidFill>
                <a:latin typeface="Poppins Semi-Bold"/>
                <a:ea typeface="Poppins Semi-Bold"/>
                <a:cs typeface="Poppins Semi-Bold"/>
                <a:sym typeface="Poppins Semi-Bold"/>
              </a:rPr>
              <a:t>1 - Verifico se i é menor ou igual a 10 </a:t>
            </a:r>
            <a:r>
              <a:rPr lang="en-US" sz="2899" b="1">
                <a:solidFill>
                  <a:srgbClr val="7ED957"/>
                </a:solidFill>
                <a:latin typeface="Poppins Semi-Bold"/>
                <a:ea typeface="Poppins Semi-Bold"/>
                <a:cs typeface="Poppins Semi-Bold"/>
                <a:sym typeface="Poppins Semi-Bold"/>
              </a:rPr>
              <a:t>2 - Executo o bloco de código caso seja verdadeiro a comparação </a:t>
            </a:r>
            <a:r>
              <a:rPr lang="en-US" sz="2899" b="1">
                <a:solidFill>
                  <a:srgbClr val="795AC6"/>
                </a:solidFill>
                <a:latin typeface="Poppins Semi-Bold"/>
                <a:ea typeface="Poppins Semi-Bold"/>
                <a:cs typeface="Poppins Semi-Bold"/>
                <a:sym typeface="Poppins Semi-Bold"/>
              </a:rPr>
              <a:t>3 - Incremento mais 1 ao valor de i após o final do bloco de código </a:t>
            </a:r>
            <a:r>
              <a:rPr lang="en-US" sz="2899" b="1">
                <a:solidFill>
                  <a:srgbClr val="FFDE59"/>
                </a:solidFill>
                <a:latin typeface="Poppins Semi-Bold"/>
                <a:ea typeface="Poppins Semi-Bold"/>
                <a:cs typeface="Poppins Semi-Bold"/>
                <a:sym typeface="Poppins Semi-Bold"/>
              </a:rPr>
              <a:t>4 - Atualizo o valor de i e começo o ciclo novamente</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3951237" y="324326"/>
            <a:ext cx="10593143"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Comando de repetição </a:t>
            </a:r>
            <a:r>
              <a:rPr lang="en-US" sz="5964" b="1">
                <a:solidFill>
                  <a:srgbClr val="3C67BF"/>
                </a:solidFill>
                <a:latin typeface="Poppins Semi-Bold"/>
                <a:ea typeface="Poppins Semi-Bold"/>
                <a:cs typeface="Poppins Semi-Bold"/>
                <a:sym typeface="Poppins Semi-Bold"/>
              </a:rPr>
              <a:t>for</a:t>
            </a:r>
          </a:p>
        </p:txBody>
      </p:sp>
      <p:sp>
        <p:nvSpPr>
          <p:cNvPr id="3" name="TextBox 3"/>
          <p:cNvSpPr txBox="1"/>
          <p:nvPr/>
        </p:nvSpPr>
        <p:spPr>
          <a:xfrm>
            <a:off x="164983" y="2079469"/>
            <a:ext cx="13612901" cy="7166439"/>
          </a:xfrm>
          <a:prstGeom prst="rect">
            <a:avLst/>
          </a:prstGeom>
        </p:spPr>
        <p:txBody>
          <a:bodyPr lIns="0" tIns="0" rIns="0" bIns="0" rtlCol="0" anchor="t">
            <a:spAutoFit/>
          </a:bodyPr>
          <a:lstStyle/>
          <a:p>
            <a:pPr algn="l">
              <a:lnSpc>
                <a:spcPts val="8101"/>
              </a:lnSpc>
            </a:pPr>
            <a:r>
              <a:rPr lang="en-US" sz="3399" b="1">
                <a:solidFill>
                  <a:srgbClr val="FFFFFF"/>
                </a:solidFill>
                <a:latin typeface="Poppins Semi-Bold"/>
                <a:ea typeface="Poppins Semi-Bold"/>
                <a:cs typeface="Poppins Semi-Bold"/>
                <a:sym typeface="Poppins Semi-Bold"/>
              </a:rPr>
              <a:t>Agora vamos refazer esse código utilizando o comando </a:t>
            </a:r>
            <a:r>
              <a:rPr lang="en-US" sz="3399" b="1">
                <a:solidFill>
                  <a:srgbClr val="3C67BF"/>
                </a:solidFill>
                <a:latin typeface="Poppins Semi-Bold"/>
                <a:ea typeface="Poppins Semi-Bold"/>
                <a:cs typeface="Poppins Semi-Bold"/>
                <a:sym typeface="Poppins Semi-Bold"/>
              </a:rPr>
              <a:t>for</a:t>
            </a:r>
            <a:r>
              <a:rPr lang="en-US" sz="3399" b="1">
                <a:solidFill>
                  <a:srgbClr val="FFFFFF"/>
                </a:solidFill>
                <a:latin typeface="Poppins Semi-Bold"/>
                <a:ea typeface="Poppins Semi-Bold"/>
                <a:cs typeface="Poppins Semi-Bold"/>
                <a:sym typeface="Poppins Semi-Bold"/>
              </a:rPr>
              <a:t>. </a:t>
            </a: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(0);</a:t>
            </a:r>
          </a:p>
          <a:p>
            <a:pPr algn="l">
              <a:lnSpc>
                <a:spcPts val="1699"/>
              </a:lnSpc>
            </a:pP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(1);</a:t>
            </a:r>
          </a:p>
          <a:p>
            <a:pPr algn="l">
              <a:lnSpc>
                <a:spcPts val="6401"/>
              </a:lnSpc>
            </a:pP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(2);</a:t>
            </a:r>
          </a:p>
          <a:p>
            <a:pPr algn="l">
              <a:lnSpc>
                <a:spcPts val="1699"/>
              </a:lnSpc>
            </a:pP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(3);</a:t>
            </a:r>
          </a:p>
          <a:p>
            <a:pPr algn="l">
              <a:lnSpc>
                <a:spcPts val="6401"/>
              </a:lnSpc>
            </a:pP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(4);</a:t>
            </a:r>
          </a:p>
          <a:p>
            <a:pPr algn="l">
              <a:lnSpc>
                <a:spcPts val="1699"/>
              </a:lnSpc>
            </a:pP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(5); </a:t>
            </a:r>
          </a:p>
          <a:p>
            <a:pPr algn="l">
              <a:lnSpc>
                <a:spcPts val="7578"/>
              </a:lnSpc>
            </a:pP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(6);</a:t>
            </a:r>
          </a:p>
          <a:p>
            <a:pPr algn="l">
              <a:lnSpc>
                <a:spcPts val="1699"/>
              </a:lnSpc>
            </a:pP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(7);</a:t>
            </a:r>
          </a:p>
          <a:p>
            <a:pPr algn="l">
              <a:lnSpc>
                <a:spcPts val="5521"/>
              </a:lnSpc>
            </a:pP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(8);</a:t>
            </a:r>
          </a:p>
          <a:p>
            <a:pPr algn="l">
              <a:lnSpc>
                <a:spcPts val="2580"/>
              </a:lnSpc>
            </a:pP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(9);</a:t>
            </a:r>
          </a:p>
          <a:p>
            <a:pPr algn="l">
              <a:lnSpc>
                <a:spcPts val="5521"/>
              </a:lnSpc>
            </a:pP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(10);</a:t>
            </a:r>
          </a:p>
        </p:txBody>
      </p:sp>
      <p:sp>
        <p:nvSpPr>
          <p:cNvPr id="4" name="TextBox 4"/>
          <p:cNvSpPr txBox="1"/>
          <p:nvPr/>
        </p:nvSpPr>
        <p:spPr>
          <a:xfrm>
            <a:off x="9880663" y="4988528"/>
            <a:ext cx="5781075" cy="375114"/>
          </a:xfrm>
          <a:prstGeom prst="rect">
            <a:avLst/>
          </a:prstGeom>
        </p:spPr>
        <p:txBody>
          <a:bodyPr lIns="0" tIns="0" rIns="0" bIns="0" rtlCol="0" anchor="t">
            <a:spAutoFit/>
          </a:bodyPr>
          <a:lstStyle/>
          <a:p>
            <a:pPr algn="l">
              <a:lnSpc>
                <a:spcPts val="1699"/>
              </a:lnSpc>
            </a:pPr>
            <a:r>
              <a:rPr lang="en-US" sz="3399" b="1">
                <a:solidFill>
                  <a:srgbClr val="3C67BF"/>
                </a:solidFill>
                <a:latin typeface="Poppins Semi-Bold"/>
                <a:ea typeface="Poppins Semi-Bold"/>
                <a:cs typeface="Poppins Semi-Bold"/>
                <a:sym typeface="Poppins Semi-Bold"/>
              </a:rPr>
              <a:t>for</a:t>
            </a:r>
            <a:r>
              <a:rPr lang="en-US" sz="3399" b="1">
                <a:solidFill>
                  <a:srgbClr val="FFFFFF"/>
                </a:solidFill>
                <a:latin typeface="Poppins Semi-Bold"/>
                <a:ea typeface="Poppins Semi-Bold"/>
                <a:cs typeface="Poppins Semi-Bold"/>
                <a:sym typeface="Poppins Semi-Bold"/>
              </a:rPr>
              <a:t>(</a:t>
            </a:r>
            <a:r>
              <a:rPr lang="en-US" sz="3399" b="1">
                <a:solidFill>
                  <a:srgbClr val="3C67BF"/>
                </a:solidFill>
                <a:latin typeface="Poppins Semi-Bold"/>
                <a:ea typeface="Poppins Semi-Bold"/>
                <a:cs typeface="Poppins Semi-Bold"/>
                <a:sym typeface="Poppins Semi-Bold"/>
              </a:rPr>
              <a:t>int </a:t>
            </a:r>
            <a:r>
              <a:rPr lang="en-US" sz="3399" b="1">
                <a:solidFill>
                  <a:srgbClr val="FFFFFF"/>
                </a:solidFill>
                <a:latin typeface="Poppins Semi-Bold"/>
                <a:ea typeface="Poppins Semi-Bold"/>
                <a:cs typeface="Poppins Semi-Bold"/>
                <a:sym typeface="Poppins Semi-Bold"/>
              </a:rPr>
              <a:t>i = 0; i </a:t>
            </a:r>
            <a:r>
              <a:rPr lang="en-US" sz="3399" b="1">
                <a:solidFill>
                  <a:srgbClr val="7ED957"/>
                </a:solidFill>
                <a:latin typeface="Poppins Semi-Bold"/>
                <a:ea typeface="Poppins Semi-Bold"/>
                <a:cs typeface="Poppins Semi-Bold"/>
                <a:sym typeface="Poppins Semi-Bold"/>
              </a:rPr>
              <a:t>&lt;=</a:t>
            </a:r>
            <a:r>
              <a:rPr lang="en-US" sz="3399" b="1">
                <a:solidFill>
                  <a:srgbClr val="FFFFFF"/>
                </a:solidFill>
                <a:latin typeface="Poppins Semi-Bold"/>
                <a:ea typeface="Poppins Semi-Bold"/>
                <a:cs typeface="Poppins Semi-Bold"/>
                <a:sym typeface="Poppins Semi-Bold"/>
              </a:rPr>
              <a:t> 10; i++){</a:t>
            </a:r>
          </a:p>
        </p:txBody>
      </p:sp>
      <p:sp>
        <p:nvSpPr>
          <p:cNvPr id="5" name="TextBox 5"/>
          <p:cNvSpPr txBox="1"/>
          <p:nvPr/>
        </p:nvSpPr>
        <p:spPr>
          <a:xfrm>
            <a:off x="9880663" y="5045678"/>
            <a:ext cx="231210" cy="1346664"/>
          </a:xfrm>
          <a:prstGeom prst="rect">
            <a:avLst/>
          </a:prstGeom>
        </p:spPr>
        <p:txBody>
          <a:bodyPr lIns="0" tIns="0" rIns="0" bIns="0" rtlCol="0" anchor="t">
            <a:spAutoFit/>
          </a:bodyPr>
          <a:lstStyle/>
          <a:p>
            <a:pPr algn="l">
              <a:lnSpc>
                <a:spcPts val="6401"/>
              </a:lnSpc>
            </a:pPr>
            <a:r>
              <a:rPr lang="en-US" sz="3399" b="1">
                <a:solidFill>
                  <a:srgbClr val="FFFFFF"/>
                </a:solidFill>
                <a:latin typeface="Poppins Semi-Bold"/>
                <a:ea typeface="Poppins Semi-Bold"/>
                <a:cs typeface="Poppins Semi-Bold"/>
                <a:sym typeface="Poppins Semi-Bold"/>
              </a:rPr>
              <a:t> </a:t>
            </a:r>
          </a:p>
          <a:p>
            <a:pPr algn="l">
              <a:lnSpc>
                <a:spcPts val="1699"/>
              </a:lnSpc>
            </a:pPr>
            <a:r>
              <a:rPr lang="en-US" sz="3399" b="1">
                <a:solidFill>
                  <a:srgbClr val="FFFFFF"/>
                </a:solidFill>
                <a:latin typeface="Poppins Semi-Bold"/>
                <a:ea typeface="Poppins Semi-Bold"/>
                <a:cs typeface="Poppins Semi-Bold"/>
                <a:sym typeface="Poppins Semi-Bold"/>
              </a:rPr>
              <a:t>}</a:t>
            </a:r>
          </a:p>
        </p:txBody>
      </p:sp>
      <p:sp>
        <p:nvSpPr>
          <p:cNvPr id="6" name="TextBox 6"/>
          <p:cNvSpPr txBox="1"/>
          <p:nvPr/>
        </p:nvSpPr>
        <p:spPr>
          <a:xfrm>
            <a:off x="10528363" y="5045678"/>
            <a:ext cx="4784531" cy="832314"/>
          </a:xfrm>
          <a:prstGeom prst="rect">
            <a:avLst/>
          </a:prstGeom>
        </p:spPr>
        <p:txBody>
          <a:bodyPr lIns="0" tIns="0" rIns="0" bIns="0" rtlCol="0" anchor="t">
            <a:spAutoFit/>
          </a:bodyPr>
          <a:lstStyle/>
          <a:p>
            <a:pPr algn="l">
              <a:lnSpc>
                <a:spcPts val="6401"/>
              </a:lnSpc>
            </a:pP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(i);</a:t>
            </a:r>
          </a:p>
        </p:txBody>
      </p:sp>
      <p:sp>
        <p:nvSpPr>
          <p:cNvPr id="7" name="TextBox 7"/>
          <p:cNvSpPr txBox="1"/>
          <p:nvPr/>
        </p:nvSpPr>
        <p:spPr>
          <a:xfrm>
            <a:off x="13184857" y="6358109"/>
            <a:ext cx="128216" cy="901322"/>
          </a:xfrm>
          <a:prstGeom prst="rect">
            <a:avLst/>
          </a:prstGeom>
        </p:spPr>
        <p:txBody>
          <a:bodyPr lIns="0" tIns="0" rIns="0" bIns="0" rtlCol="0" anchor="t">
            <a:spAutoFit/>
          </a:bodyPr>
          <a:lstStyle/>
          <a:p>
            <a:pPr algn="l">
              <a:lnSpc>
                <a:spcPts val="7354"/>
              </a:lnSpc>
            </a:pPr>
            <a:r>
              <a:rPr lang="en-US" sz="3299" b="1">
                <a:solidFill>
                  <a:srgbClr val="FF5757"/>
                </a:solidFill>
                <a:latin typeface="Poppins Semi-Bold"/>
                <a:ea typeface="Poppins Semi-Bold"/>
                <a:cs typeface="Poppins Semi-Bold"/>
                <a:sym typeface="Poppins Semi-Bold"/>
              </a:rPr>
              <a:t> </a:t>
            </a:r>
          </a:p>
        </p:txBody>
      </p:sp>
      <p:sp>
        <p:nvSpPr>
          <p:cNvPr id="8" name="TextBox 8"/>
          <p:cNvSpPr txBox="1"/>
          <p:nvPr/>
        </p:nvSpPr>
        <p:spPr>
          <a:xfrm>
            <a:off x="11341979" y="7396334"/>
            <a:ext cx="128216" cy="358397"/>
          </a:xfrm>
          <a:prstGeom prst="rect">
            <a:avLst/>
          </a:prstGeom>
        </p:spPr>
        <p:txBody>
          <a:bodyPr lIns="0" tIns="0" rIns="0" bIns="0" rtlCol="0" anchor="t">
            <a:spAutoFit/>
          </a:bodyPr>
          <a:lstStyle/>
          <a:p>
            <a:pPr algn="l">
              <a:lnSpc>
                <a:spcPts val="1649"/>
              </a:lnSpc>
            </a:pPr>
            <a:r>
              <a:rPr lang="en-US" sz="3299" b="1">
                <a:solidFill>
                  <a:srgbClr val="FF5757"/>
                </a:solidFill>
                <a:latin typeface="Poppins Semi-Bold"/>
                <a:ea typeface="Poppins Semi-Bold"/>
                <a:cs typeface="Poppins Semi-Bold"/>
                <a:sym typeface="Poppins Semi-Bold"/>
              </a:rPr>
              <a:t> </a:t>
            </a:r>
          </a:p>
        </p:txBody>
      </p:sp>
      <p:sp>
        <p:nvSpPr>
          <p:cNvPr id="9" name="TextBox 9"/>
          <p:cNvSpPr txBox="1"/>
          <p:nvPr/>
        </p:nvSpPr>
        <p:spPr>
          <a:xfrm>
            <a:off x="9624698" y="6691484"/>
            <a:ext cx="6351432" cy="1063247"/>
          </a:xfrm>
          <a:prstGeom prst="rect">
            <a:avLst/>
          </a:prstGeom>
        </p:spPr>
        <p:txBody>
          <a:bodyPr lIns="0" tIns="0" rIns="0" bIns="0" rtlCol="0" anchor="t">
            <a:spAutoFit/>
          </a:bodyPr>
          <a:lstStyle/>
          <a:p>
            <a:pPr algn="ctr">
              <a:lnSpc>
                <a:spcPts val="3899"/>
              </a:lnSpc>
            </a:pPr>
            <a:r>
              <a:rPr lang="en-US" sz="3299" b="1">
                <a:solidFill>
                  <a:srgbClr val="FF5757"/>
                </a:solidFill>
                <a:latin typeface="Poppins Semi-Bold"/>
                <a:ea typeface="Poppins Semi-Bold"/>
                <a:cs typeface="Poppins Semi-Bold"/>
                <a:sym typeface="Poppins Semi-Bold"/>
              </a:rPr>
              <a:t>Transformamos</a:t>
            </a:r>
            <a:r>
              <a:rPr lang="en-US" sz="3299" b="1">
                <a:solidFill>
                  <a:srgbClr val="FFFFFF"/>
                </a:solidFill>
                <a:latin typeface="Poppins Semi-Bold"/>
                <a:ea typeface="Poppins Semi-Bold"/>
                <a:cs typeface="Poppins Semi-Bold"/>
                <a:sym typeface="Poppins Semi-Bold"/>
              </a:rPr>
              <a:t> </a:t>
            </a:r>
            <a:r>
              <a:rPr lang="en-US" sz="3299" b="1">
                <a:solidFill>
                  <a:srgbClr val="FF5757"/>
                </a:solidFill>
                <a:latin typeface="Poppins Semi-Bold"/>
                <a:ea typeface="Poppins Semi-Bold"/>
                <a:cs typeface="Poppins Semi-Bold"/>
                <a:sym typeface="Poppins Semi-Bold"/>
              </a:rPr>
              <a:t>11</a:t>
            </a:r>
            <a:r>
              <a:rPr lang="en-US" sz="3299" b="1">
                <a:solidFill>
                  <a:srgbClr val="FFFFFF"/>
                </a:solidFill>
                <a:latin typeface="Poppins Semi-Bold"/>
                <a:ea typeface="Poppins Semi-Bold"/>
                <a:cs typeface="Poppins Semi-Bold"/>
                <a:sym typeface="Poppins Semi-Bold"/>
              </a:rPr>
              <a:t> </a:t>
            </a:r>
            <a:r>
              <a:rPr lang="en-US" sz="3299" b="1">
                <a:solidFill>
                  <a:srgbClr val="FF5757"/>
                </a:solidFill>
                <a:latin typeface="Poppins Semi-Bold"/>
                <a:ea typeface="Poppins Semi-Bold"/>
                <a:cs typeface="Poppins Semi-Bold"/>
                <a:sym typeface="Poppins Semi-Bold"/>
              </a:rPr>
              <a:t>linhas</a:t>
            </a:r>
            <a:r>
              <a:rPr lang="en-US" sz="3299" b="1">
                <a:solidFill>
                  <a:srgbClr val="FFFFFF"/>
                </a:solidFill>
                <a:latin typeface="Poppins Semi-Bold"/>
                <a:ea typeface="Poppins Semi-Bold"/>
                <a:cs typeface="Poppins Semi-Bold"/>
                <a:sym typeface="Poppins Semi-Bold"/>
              </a:rPr>
              <a:t> </a:t>
            </a:r>
            <a:r>
              <a:rPr lang="en-US" sz="3299" b="1">
                <a:solidFill>
                  <a:srgbClr val="FF5757"/>
                </a:solidFill>
                <a:latin typeface="Poppins Semi-Bold"/>
                <a:ea typeface="Poppins Semi-Bold"/>
                <a:cs typeface="Poppins Semi-Bold"/>
                <a:sym typeface="Poppins Semi-Bold"/>
              </a:rPr>
              <a:t>de códigos</a:t>
            </a:r>
            <a:r>
              <a:rPr lang="en-US" sz="3299" b="1">
                <a:solidFill>
                  <a:srgbClr val="FFFFFF"/>
                </a:solidFill>
                <a:latin typeface="Poppins Semi-Bold"/>
                <a:ea typeface="Poppins Semi-Bold"/>
                <a:cs typeface="Poppins Semi-Bold"/>
                <a:sym typeface="Poppins Semi-Bold"/>
              </a:rPr>
              <a:t> </a:t>
            </a:r>
            <a:r>
              <a:rPr lang="en-US" sz="3299" b="1">
                <a:solidFill>
                  <a:srgbClr val="FF5757"/>
                </a:solidFill>
                <a:latin typeface="Poppins Semi-Bold"/>
                <a:ea typeface="Poppins Semi-Bold"/>
                <a:cs typeface="Poppins Semi-Bold"/>
                <a:sym typeface="Poppins Semi-Bold"/>
              </a:rPr>
              <a:t>em</a:t>
            </a:r>
            <a:r>
              <a:rPr lang="en-US" sz="3299" b="1">
                <a:solidFill>
                  <a:srgbClr val="FFFFFF"/>
                </a:solidFill>
                <a:latin typeface="Poppins Semi-Bold"/>
                <a:ea typeface="Poppins Semi-Bold"/>
                <a:cs typeface="Poppins Semi-Bold"/>
                <a:sym typeface="Poppins Semi-Bold"/>
              </a:rPr>
              <a:t> </a:t>
            </a:r>
            <a:r>
              <a:rPr lang="en-US" sz="3299" b="1">
                <a:solidFill>
                  <a:srgbClr val="FF5757"/>
                </a:solidFill>
                <a:latin typeface="Poppins Semi-Bold"/>
                <a:ea typeface="Poppins Semi-Bold"/>
                <a:cs typeface="Poppins Semi-Bold"/>
                <a:sym typeface="Poppins Semi-Bold"/>
              </a:rPr>
              <a:t>2</a:t>
            </a:r>
            <a:r>
              <a:rPr lang="en-US" sz="3299" b="1">
                <a:solidFill>
                  <a:srgbClr val="FFFFFF"/>
                </a:solidFill>
                <a:latin typeface="Poppins Semi-Bold"/>
                <a:ea typeface="Poppins Semi-Bold"/>
                <a:cs typeface="Poppins Semi-Bold"/>
                <a:sym typeface="Poppins Semi-Bold"/>
              </a:rPr>
              <a:t> </a:t>
            </a:r>
            <a:r>
              <a:rPr lang="en-US" sz="3299" b="1">
                <a:solidFill>
                  <a:srgbClr val="FF5757"/>
                </a:solidFill>
                <a:latin typeface="Poppins Semi-Bold"/>
                <a:ea typeface="Poppins Semi-Bold"/>
                <a:cs typeface="Poppins Semi-Bold"/>
                <a:sym typeface="Poppins Semi-Bold"/>
              </a:rPr>
              <a:t>linhas</a:t>
            </a:r>
            <a:r>
              <a:rPr lang="en-US" sz="3299" b="1">
                <a:solidFill>
                  <a:srgbClr val="FFFFFF"/>
                </a:solidFill>
                <a:latin typeface="Poppins Semi-Bold"/>
                <a:ea typeface="Poppins Semi-Bold"/>
                <a:cs typeface="Poppins Semi-Bold"/>
                <a:sym typeface="Poppins Semi-Bold"/>
              </a:rPr>
              <a:t> </a:t>
            </a:r>
            <a:r>
              <a:rPr lang="en-US" sz="3299" b="1">
                <a:solidFill>
                  <a:srgbClr val="FF5757"/>
                </a:solidFill>
                <a:latin typeface="Poppins Semi-Bold"/>
                <a:ea typeface="Poppins Semi-Bold"/>
                <a:cs typeface="Poppins Semi-Bold"/>
                <a:sym typeface="Poppins Semi-Bold"/>
              </a:rPr>
              <a:t>apenas.</a:t>
            </a: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848012" y="3230870"/>
            <a:ext cx="12819698" cy="2760564"/>
          </a:xfrm>
          <a:prstGeom prst="rect">
            <a:avLst/>
          </a:prstGeom>
        </p:spPr>
        <p:txBody>
          <a:bodyPr lIns="0" tIns="0" rIns="0" bIns="0" rtlCol="0" anchor="t">
            <a:spAutoFit/>
          </a:bodyPr>
          <a:lstStyle/>
          <a:p>
            <a:pPr algn="l">
              <a:lnSpc>
                <a:spcPts val="11102"/>
              </a:lnSpc>
            </a:pPr>
            <a:r>
              <a:rPr lang="en-US" sz="4684" b="1">
                <a:solidFill>
                  <a:srgbClr val="FF5757"/>
                </a:solidFill>
                <a:latin typeface="Poppins Semi-Bold"/>
                <a:ea typeface="Poppins Semi-Bold"/>
                <a:cs typeface="Poppins Semi-Bold"/>
                <a:sym typeface="Poppins Semi-Bold"/>
              </a:rPr>
              <a:t>Atividade #31 </a:t>
            </a:r>
            <a:r>
              <a:rPr lang="en-US" sz="4684" b="1">
                <a:solidFill>
                  <a:srgbClr val="FFFFFF"/>
                </a:solidFill>
                <a:latin typeface="Poppins Semi-Bold"/>
                <a:ea typeface="Poppins Semi-Bold"/>
                <a:cs typeface="Poppins Semi-Bold"/>
                <a:sym typeface="Poppins Semi-Bold"/>
              </a:rPr>
              <a:t>Faça um programa que conte de 1 a 100.</a:t>
            </a: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848012" y="3411845"/>
            <a:ext cx="14777714" cy="293201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#32 </a:t>
            </a:r>
            <a:r>
              <a:rPr lang="en-US" sz="4684" b="1">
                <a:solidFill>
                  <a:srgbClr val="FFFFFF"/>
                </a:solidFill>
                <a:latin typeface="Poppins Semi-Bold"/>
                <a:ea typeface="Poppins Semi-Bold"/>
                <a:cs typeface="Poppins Semi-Bold"/>
                <a:sym typeface="Poppins Semi-Bold"/>
              </a:rPr>
              <a:t>Faça um programa que leia dois números 3 vezes e informe na tela a soma deles toda vez.</a:t>
            </a: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848012" y="3411845"/>
            <a:ext cx="14986502" cy="293201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#33 </a:t>
            </a:r>
            <a:r>
              <a:rPr lang="en-US" sz="4684" b="1">
                <a:solidFill>
                  <a:srgbClr val="FFFFFF"/>
                </a:solidFill>
                <a:latin typeface="Poppins Semi-Bold"/>
                <a:ea typeface="Poppins Semi-Bold"/>
                <a:cs typeface="Poppins Semi-Bold"/>
                <a:sym typeface="Poppins Semi-Bold"/>
              </a:rPr>
              <a:t>Faça um programa que exiba 20 vezes a frase: “Eu não sou um robô.”</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848012" y="3059420"/>
            <a:ext cx="13546626" cy="363686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#34 </a:t>
            </a:r>
            <a:r>
              <a:rPr lang="en-US" sz="4684" b="1">
                <a:solidFill>
                  <a:srgbClr val="FFFFFF"/>
                </a:solidFill>
                <a:latin typeface="Poppins Semi-Bold"/>
                <a:ea typeface="Poppins Semi-Bold"/>
                <a:cs typeface="Poppins Semi-Bold"/>
                <a:sym typeface="Poppins Semi-Bold"/>
              </a:rPr>
              <a:t>Faça um programa que leia um número 10 vezes e diga se ele é positivo, negativo ou neutro.</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848012" y="3059420"/>
            <a:ext cx="14744976" cy="363686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#34.1 </a:t>
            </a:r>
            <a:r>
              <a:rPr lang="en-US" sz="4684" b="1">
                <a:solidFill>
                  <a:srgbClr val="FFFFFF"/>
                </a:solidFill>
                <a:latin typeface="Poppins Semi-Bold"/>
                <a:ea typeface="Poppins Semi-Bold"/>
                <a:cs typeface="Poppins Semi-Bold"/>
                <a:sym typeface="Poppins Semi-Bold"/>
              </a:rPr>
              <a:t>Faça um programa que sorteie os números da mega-sena, os números sorteados não podem se repetir.</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848012" y="2706995"/>
            <a:ext cx="14717049" cy="363686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#35 </a:t>
            </a:r>
            <a:r>
              <a:rPr lang="en-US" sz="4684" b="1">
                <a:solidFill>
                  <a:srgbClr val="FFFFFF"/>
                </a:solidFill>
                <a:latin typeface="Poppins Semi-Bold"/>
                <a:ea typeface="Poppins Semi-Bold"/>
                <a:cs typeface="Poppins Semi-Bold"/>
                <a:sym typeface="Poppins Semi-Bold"/>
              </a:rPr>
              <a:t>Faça um programa que leia o código e preço de um produto 5 vezes. No final mostre o valor total em reais desses 5 produtos.</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1028700" y="1739570"/>
            <a:ext cx="16947090" cy="4784903"/>
          </a:xfrm>
          <a:prstGeom prst="rect">
            <a:avLst/>
          </a:prstGeom>
        </p:spPr>
        <p:txBody>
          <a:bodyPr lIns="0" tIns="0" rIns="0" bIns="0" rtlCol="0" anchor="t">
            <a:spAutoFit/>
          </a:bodyPr>
          <a:lstStyle/>
          <a:p>
            <a:pPr algn="l">
              <a:lnSpc>
                <a:spcPts val="4125"/>
              </a:lnSpc>
            </a:pPr>
            <a:r>
              <a:rPr lang="en-US" sz="3499" b="1">
                <a:solidFill>
                  <a:srgbClr val="FF5757"/>
                </a:solidFill>
                <a:latin typeface="Poppins Semi-Bold"/>
                <a:ea typeface="Poppins Semi-Bold"/>
                <a:cs typeface="Poppins Semi-Bold"/>
                <a:sym typeface="Poppins Semi-Bold"/>
              </a:rPr>
              <a:t>Atividade #36 </a:t>
            </a:r>
            <a:r>
              <a:rPr lang="en-US" sz="3499" b="1">
                <a:solidFill>
                  <a:srgbClr val="FFFFFF"/>
                </a:solidFill>
                <a:latin typeface="Poppins Medium"/>
                <a:ea typeface="Poppins Medium"/>
                <a:cs typeface="Poppins Medium"/>
                <a:sym typeface="Poppins Medium"/>
              </a:rPr>
              <a:t>Durante uma corrida de automóveis foram informados para um piloto os tempos registrados em cada volta, foram no total 5 voltas. Elabore um programa para ler os tempos de cada volta, calcular e imprimir:</a:t>
            </a:r>
          </a:p>
          <a:p>
            <a:pPr algn="l">
              <a:lnSpc>
                <a:spcPts val="4125"/>
              </a:lnSpc>
            </a:pPr>
            <a:r>
              <a:rPr lang="en-US" sz="3499" b="1">
                <a:solidFill>
                  <a:srgbClr val="FFFFFF"/>
                </a:solidFill>
                <a:latin typeface="Poppins Medium"/>
                <a:ea typeface="Poppins Medium"/>
                <a:cs typeface="Poppins Medium"/>
                <a:sym typeface="Poppins Medium"/>
              </a:rPr>
              <a:t> </a:t>
            </a:r>
          </a:p>
          <a:p>
            <a:pPr algn="l">
              <a:lnSpc>
                <a:spcPts val="4125"/>
              </a:lnSpc>
            </a:pPr>
            <a:r>
              <a:rPr lang="en-US" sz="3499" b="1">
                <a:solidFill>
                  <a:srgbClr val="FFFFFF"/>
                </a:solidFill>
                <a:latin typeface="Poppins Medium"/>
                <a:ea typeface="Poppins Medium"/>
                <a:cs typeface="Poppins Medium"/>
                <a:sym typeface="Poppins Medium"/>
              </a:rPr>
              <a:t>• o melhor tempo; • a volta em que o melhor tempo ocorreu; • tempo médio das 5 voltas.</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400431" y="2170624"/>
            <a:ext cx="16932583" cy="5832653"/>
          </a:xfrm>
          <a:prstGeom prst="rect">
            <a:avLst/>
          </a:prstGeom>
        </p:spPr>
        <p:txBody>
          <a:bodyPr lIns="0" tIns="0" rIns="0" bIns="0" rtlCol="0" anchor="t">
            <a:spAutoFit/>
          </a:bodyPr>
          <a:lstStyle/>
          <a:p>
            <a:pPr algn="l">
              <a:lnSpc>
                <a:spcPts val="4125"/>
              </a:lnSpc>
            </a:pPr>
            <a:r>
              <a:rPr lang="en-US" sz="3499" b="1">
                <a:solidFill>
                  <a:srgbClr val="FF5757"/>
                </a:solidFill>
                <a:latin typeface="Poppins Semi-Bold"/>
                <a:ea typeface="Poppins Semi-Bold"/>
                <a:cs typeface="Poppins Semi-Bold"/>
                <a:sym typeface="Poppins Semi-Bold"/>
              </a:rPr>
              <a:t>Atividade #37 </a:t>
            </a:r>
            <a:r>
              <a:rPr lang="en-US" sz="3499" b="1">
                <a:solidFill>
                  <a:srgbClr val="FFFFFF"/>
                </a:solidFill>
                <a:latin typeface="Poppins Medium"/>
                <a:ea typeface="Poppins Medium"/>
                <a:cs typeface="Poppins Medium"/>
                <a:sym typeface="Poppins Medium"/>
              </a:rPr>
              <a:t>Foi feita uma pesquisa entre os habitantes de uma região. Foram coletados 10 dados de idade, sexo (0 – Masculino / 1- Feminino) e salário. Faça um programa que informe: ·a média de salário masculino; ·a média de salário feminino; ·quantidade de mulheres com salário até R$1000,00. ·a quantidade de homens com salários até R$1000,00.</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Freeform 3"/>
          <p:cNvSpPr/>
          <p:nvPr/>
        </p:nvSpPr>
        <p:spPr>
          <a:xfrm>
            <a:off x="14225845" y="6685464"/>
            <a:ext cx="2114550" cy="2152650"/>
          </a:xfrm>
          <a:custGeom>
            <a:avLst/>
            <a:gdLst/>
            <a:ahLst/>
            <a:cxnLst/>
            <a:rect l="l" t="t" r="r" b="b"/>
            <a:pathLst>
              <a:path w="2114550" h="2152650">
                <a:moveTo>
                  <a:pt x="0" y="0"/>
                </a:moveTo>
                <a:lnTo>
                  <a:pt x="2114550" y="0"/>
                </a:lnTo>
                <a:lnTo>
                  <a:pt x="2114550" y="2152650"/>
                </a:lnTo>
                <a:lnTo>
                  <a:pt x="0" y="2152650"/>
                </a:lnTo>
                <a:lnTo>
                  <a:pt x="0" y="0"/>
                </a:lnTo>
                <a:close/>
              </a:path>
            </a:pathLst>
          </a:custGeom>
          <a:blipFill>
            <a:blip r:embed="rId3"/>
            <a:stretch>
              <a:fillRect/>
            </a:stretch>
          </a:blipFill>
        </p:spPr>
      </p:sp>
      <p:sp>
        <p:nvSpPr>
          <p:cNvPr id="4" name="TextBox 4"/>
          <p:cNvSpPr txBox="1"/>
          <p:nvPr/>
        </p:nvSpPr>
        <p:spPr>
          <a:xfrm>
            <a:off x="400431" y="598999"/>
            <a:ext cx="16562699" cy="8992791"/>
          </a:xfrm>
          <a:prstGeom prst="rect">
            <a:avLst/>
          </a:prstGeom>
        </p:spPr>
        <p:txBody>
          <a:bodyPr lIns="0" tIns="0" rIns="0" bIns="0" rtlCol="0" anchor="t">
            <a:spAutoFit/>
          </a:bodyPr>
          <a:lstStyle/>
          <a:p>
            <a:pPr algn="l">
              <a:lnSpc>
                <a:spcPts val="4125"/>
              </a:lnSpc>
            </a:pPr>
            <a:r>
              <a:rPr lang="en-US" sz="3499" b="1">
                <a:solidFill>
                  <a:srgbClr val="FF5757"/>
                </a:solidFill>
                <a:latin typeface="Poppins Semi-Bold"/>
                <a:ea typeface="Poppins Semi-Bold"/>
                <a:cs typeface="Poppins Semi-Bold"/>
                <a:sym typeface="Poppins Semi-Bold"/>
              </a:rPr>
              <a:t>Atividade #38 </a:t>
            </a:r>
            <a:r>
              <a:rPr lang="en-US" sz="3499" b="1">
                <a:solidFill>
                  <a:srgbClr val="FFFFFF"/>
                </a:solidFill>
                <a:latin typeface="Poppins Semi-Bold"/>
                <a:ea typeface="Poppins Semi-Bold"/>
                <a:cs typeface="Poppins Semi-Bold"/>
                <a:sym typeface="Poppins Semi-Bold"/>
              </a:rPr>
              <a:t>Em uma eleição presidencial existem quatro candidatos. Os votos são informados através de códigos. Os dados utilizados para a contagem dos votos obedecem à seguinte codificação: ·1,2,3,4 = voto para os respectivos candidatos; ·5 = voto nulo; ·6 = voto em branco; Elabore um programa que leia o código de cada voto, calcule e escreva: ·total de votos para cada candidato; ·total de votos nulos; ·total de votos em branco; Leia um total de 100 votos para poder calcular os dados pedidos</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610173" y="324326"/>
            <a:ext cx="15368978"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Comando de repetição </a:t>
            </a:r>
            <a:r>
              <a:rPr lang="en-US" sz="5964" b="1">
                <a:solidFill>
                  <a:srgbClr val="3C67BF"/>
                </a:solidFill>
                <a:latin typeface="Poppins Semi-Bold"/>
                <a:ea typeface="Poppins Semi-Bold"/>
                <a:cs typeface="Poppins Semi-Bold"/>
                <a:sym typeface="Poppins Semi-Bold"/>
              </a:rPr>
              <a:t>while/do while</a:t>
            </a:r>
          </a:p>
        </p:txBody>
      </p:sp>
      <p:sp>
        <p:nvSpPr>
          <p:cNvPr id="3" name="TextBox 3"/>
          <p:cNvSpPr txBox="1"/>
          <p:nvPr/>
        </p:nvSpPr>
        <p:spPr>
          <a:xfrm>
            <a:off x="164983" y="2727169"/>
            <a:ext cx="18126275" cy="5747214"/>
          </a:xfrm>
          <a:prstGeom prst="rect">
            <a:avLst/>
          </a:prstGeom>
        </p:spPr>
        <p:txBody>
          <a:bodyPr lIns="0" tIns="0" rIns="0" bIns="0" rtlCol="0" anchor="t">
            <a:spAutoFit/>
          </a:bodyPr>
          <a:lstStyle/>
          <a:p>
            <a:pPr algn="l">
              <a:lnSpc>
                <a:spcPts val="4049"/>
              </a:lnSpc>
            </a:pPr>
            <a:r>
              <a:rPr lang="en-US" sz="3399" b="1">
                <a:solidFill>
                  <a:srgbClr val="FFFFFF"/>
                </a:solidFill>
                <a:latin typeface="Poppins Semi-Bold"/>
                <a:ea typeface="Poppins Semi-Bold"/>
                <a:cs typeface="Poppins Semi-Bold"/>
                <a:sym typeface="Poppins Semi-Bold"/>
              </a:rPr>
              <a:t>O comando </a:t>
            </a:r>
            <a:r>
              <a:rPr lang="en-US" sz="3399" b="1">
                <a:solidFill>
                  <a:srgbClr val="3C67BF"/>
                </a:solidFill>
                <a:latin typeface="Poppins Semi-Bold"/>
                <a:ea typeface="Poppins Semi-Bold"/>
                <a:cs typeface="Poppins Semi-Bold"/>
                <a:sym typeface="Poppins Semi-Bold"/>
              </a:rPr>
              <a:t>while </a:t>
            </a:r>
            <a:r>
              <a:rPr lang="en-US" sz="3399" b="1">
                <a:solidFill>
                  <a:srgbClr val="FFFFFF"/>
                </a:solidFill>
                <a:latin typeface="Poppins Semi-Bold"/>
                <a:ea typeface="Poppins Semi-Bold"/>
                <a:cs typeface="Poppins Semi-Bold"/>
                <a:sym typeface="Poppins Semi-Bold"/>
              </a:rPr>
              <a:t>é outro comando de repetição que nós podemos utilizar em nossos programas. Ele funciona como se fosse o comando </a:t>
            </a:r>
            <a:r>
              <a:rPr lang="en-US" sz="3399" b="1">
                <a:solidFill>
                  <a:srgbClr val="FF5757"/>
                </a:solidFill>
                <a:latin typeface="Poppins Semi-Bold"/>
                <a:ea typeface="Poppins Semi-Bold"/>
                <a:cs typeface="Poppins Semi-Bold"/>
                <a:sym typeface="Poppins Semi-Bold"/>
              </a:rPr>
              <a:t>if</a:t>
            </a:r>
            <a:r>
              <a:rPr lang="en-US" sz="3399" b="1">
                <a:solidFill>
                  <a:srgbClr val="FFFFFF"/>
                </a:solidFill>
                <a:latin typeface="Poppins Semi-Bold"/>
                <a:ea typeface="Poppins Semi-Bold"/>
                <a:cs typeface="Poppins Semi-Bold"/>
                <a:sym typeface="Poppins Semi-Bold"/>
              </a:rPr>
              <a:t>, ou seja, ele precisa ter uma condicional para poder executar os seus blocos de códigos. A diferença é que, enquanto(while) a condicional for verdadeira, ele vai repetir o bloco de código. Exemplo: </a:t>
            </a:r>
            <a:r>
              <a:rPr lang="en-US" sz="3399" b="1">
                <a:solidFill>
                  <a:srgbClr val="3C67BF"/>
                </a:solidFill>
                <a:latin typeface="Poppins Semi-Bold"/>
                <a:ea typeface="Poppins Semi-Bold"/>
                <a:cs typeface="Poppins Semi-Bold"/>
                <a:sym typeface="Poppins Semi-Bold"/>
              </a:rPr>
              <a:t>while</a:t>
            </a:r>
            <a:r>
              <a:rPr lang="en-US" sz="3399" b="1">
                <a:solidFill>
                  <a:srgbClr val="FFFFFF"/>
                </a:solidFill>
                <a:latin typeface="Poppins Semi-Bold"/>
                <a:ea typeface="Poppins Semi-Bold"/>
                <a:cs typeface="Poppins Semi-Bold"/>
                <a:sym typeface="Poppins Semi-Bold"/>
              </a:rPr>
              <a:t>( qualquer condicional ){</a:t>
            </a:r>
          </a:p>
        </p:txBody>
      </p:sp>
      <p:sp>
        <p:nvSpPr>
          <p:cNvPr id="4" name="TextBox 4"/>
          <p:cNvSpPr txBox="1"/>
          <p:nvPr/>
        </p:nvSpPr>
        <p:spPr>
          <a:xfrm>
            <a:off x="164983" y="8385019"/>
            <a:ext cx="231210" cy="1118064"/>
          </a:xfrm>
          <a:prstGeom prst="rect">
            <a:avLst/>
          </a:prstGeom>
        </p:spPr>
        <p:txBody>
          <a:bodyPr lIns="0" tIns="0" rIns="0" bIns="0" rtlCol="0" anchor="t">
            <a:spAutoFit/>
          </a:bodyPr>
          <a:lstStyle/>
          <a:p>
            <a:pPr algn="l">
              <a:lnSpc>
                <a:spcPts val="4049"/>
              </a:lnSpc>
            </a:pPr>
            <a:r>
              <a:rPr lang="en-US" sz="3399" b="1">
                <a:solidFill>
                  <a:srgbClr val="FFFFFF"/>
                </a:solidFill>
                <a:latin typeface="Poppins Semi-Bold"/>
                <a:ea typeface="Poppins Semi-Bold"/>
                <a:cs typeface="Poppins Semi-Bold"/>
                <a:sym typeface="Poppins Semi-Bold"/>
              </a:rPr>
              <a:t> </a:t>
            </a:r>
          </a:p>
          <a:p>
            <a:pPr algn="l">
              <a:lnSpc>
                <a:spcPts val="4049"/>
              </a:lnSpc>
            </a:pPr>
            <a:r>
              <a:rPr lang="en-US" sz="3399" b="1">
                <a:solidFill>
                  <a:srgbClr val="FFFFFF"/>
                </a:solidFill>
                <a:latin typeface="Poppins Semi-Bold"/>
                <a:ea typeface="Poppins Semi-Bold"/>
                <a:cs typeface="Poppins Semi-Bold"/>
                <a:sym typeface="Poppins Semi-Bold"/>
              </a:rPr>
              <a:t>}</a:t>
            </a:r>
          </a:p>
        </p:txBody>
      </p:sp>
      <p:sp>
        <p:nvSpPr>
          <p:cNvPr id="5" name="TextBox 5"/>
          <p:cNvSpPr txBox="1"/>
          <p:nvPr/>
        </p:nvSpPr>
        <p:spPr>
          <a:xfrm>
            <a:off x="812683" y="8385019"/>
            <a:ext cx="4098236" cy="603714"/>
          </a:xfrm>
          <a:prstGeom prst="rect">
            <a:avLst/>
          </a:prstGeom>
        </p:spPr>
        <p:txBody>
          <a:bodyPr lIns="0" tIns="0" rIns="0" bIns="0" rtlCol="0" anchor="t">
            <a:spAutoFit/>
          </a:bodyPr>
          <a:lstStyle/>
          <a:p>
            <a:pPr algn="l">
              <a:lnSpc>
                <a:spcPts val="4049"/>
              </a:lnSpc>
            </a:pPr>
            <a:r>
              <a:rPr lang="en-US" sz="3399" b="1">
                <a:solidFill>
                  <a:srgbClr val="7ED957"/>
                </a:solidFill>
                <a:latin typeface="Poppins Semi-Bold"/>
                <a:ea typeface="Poppins Semi-Bold"/>
                <a:cs typeface="Poppins Semi-Bold"/>
                <a:sym typeface="Poppins Semi-Bold"/>
              </a:rPr>
              <a:t>//bloco de código</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561348" y="391001"/>
            <a:ext cx="15418784" cy="1857442"/>
          </a:xfrm>
          <a:prstGeom prst="rect">
            <a:avLst/>
          </a:prstGeom>
        </p:spPr>
        <p:txBody>
          <a:bodyPr lIns="0" tIns="0" rIns="0" bIns="0" rtlCol="0" anchor="t">
            <a:spAutoFit/>
          </a:bodyPr>
          <a:lstStyle/>
          <a:p>
            <a:pPr algn="l">
              <a:lnSpc>
                <a:spcPts val="7605"/>
              </a:lnSpc>
            </a:pPr>
            <a:r>
              <a:rPr lang="en-US" sz="5964" b="1">
                <a:solidFill>
                  <a:srgbClr val="FFFFFF"/>
                </a:solidFill>
                <a:latin typeface="Poppins Semi-Bold"/>
                <a:ea typeface="Poppins Semi-Bold"/>
                <a:cs typeface="Poppins Semi-Bold"/>
                <a:sym typeface="Poppins Semi-Bold"/>
              </a:rPr>
              <a:t>Comando de repetição </a:t>
            </a:r>
            <a:r>
              <a:rPr lang="en-US" sz="5964" b="1">
                <a:solidFill>
                  <a:srgbClr val="3C67BF"/>
                </a:solidFill>
                <a:latin typeface="Poppins Semi-Bold"/>
                <a:ea typeface="Poppins Semi-Bold"/>
                <a:cs typeface="Poppins Semi-Bold"/>
                <a:sym typeface="Poppins Semi-Bold"/>
              </a:rPr>
              <a:t>while/do while</a:t>
            </a:r>
          </a:p>
          <a:p>
            <a:pPr algn="l">
              <a:lnSpc>
                <a:spcPts val="8499"/>
              </a:lnSpc>
            </a:pPr>
            <a:r>
              <a:rPr lang="en-US" sz="3399" b="1">
                <a:solidFill>
                  <a:srgbClr val="FFFFFF"/>
                </a:solidFill>
                <a:latin typeface="Poppins Semi-Bold"/>
                <a:ea typeface="Poppins Semi-Bold"/>
                <a:cs typeface="Poppins Semi-Bold"/>
                <a:sym typeface="Poppins Semi-Bold"/>
              </a:rPr>
              <a:t> </a:t>
            </a:r>
          </a:p>
        </p:txBody>
      </p:sp>
      <p:sp>
        <p:nvSpPr>
          <p:cNvPr id="3" name="TextBox 3"/>
          <p:cNvSpPr txBox="1"/>
          <p:nvPr/>
        </p:nvSpPr>
        <p:spPr>
          <a:xfrm>
            <a:off x="164983" y="1698469"/>
            <a:ext cx="7041861" cy="603714"/>
          </a:xfrm>
          <a:prstGeom prst="rect">
            <a:avLst/>
          </a:prstGeom>
        </p:spPr>
        <p:txBody>
          <a:bodyPr lIns="0" tIns="0" rIns="0" bIns="0" rtlCol="0" anchor="t">
            <a:spAutoFit/>
          </a:bodyPr>
          <a:lstStyle/>
          <a:p>
            <a:pPr algn="l">
              <a:lnSpc>
                <a:spcPts val="4049"/>
              </a:lnSpc>
            </a:pPr>
            <a:r>
              <a:rPr lang="en-US" sz="3399" b="1">
                <a:solidFill>
                  <a:srgbClr val="3C67BF"/>
                </a:solidFill>
                <a:latin typeface="Poppins Semi-Bold"/>
                <a:ea typeface="Poppins Semi-Bold"/>
                <a:cs typeface="Poppins Semi-Bold"/>
                <a:sym typeface="Poppins Semi-Bold"/>
              </a:rPr>
              <a:t>while</a:t>
            </a:r>
            <a:r>
              <a:rPr lang="en-US" sz="3399" b="1">
                <a:solidFill>
                  <a:srgbClr val="FFFFFF"/>
                </a:solidFill>
                <a:latin typeface="Poppins Semi-Bold"/>
                <a:ea typeface="Poppins Semi-Bold"/>
                <a:cs typeface="Poppins Semi-Bold"/>
                <a:sym typeface="Poppins Semi-Bold"/>
              </a:rPr>
              <a:t>( qualquer condicional ){</a:t>
            </a:r>
          </a:p>
        </p:txBody>
      </p:sp>
      <p:sp>
        <p:nvSpPr>
          <p:cNvPr id="4" name="TextBox 4"/>
          <p:cNvSpPr txBox="1"/>
          <p:nvPr/>
        </p:nvSpPr>
        <p:spPr>
          <a:xfrm>
            <a:off x="164983" y="2212819"/>
            <a:ext cx="17378944" cy="6775914"/>
          </a:xfrm>
          <a:prstGeom prst="rect">
            <a:avLst/>
          </a:prstGeom>
        </p:spPr>
        <p:txBody>
          <a:bodyPr lIns="0" tIns="0" rIns="0" bIns="0" rtlCol="0" anchor="t">
            <a:spAutoFit/>
          </a:bodyPr>
          <a:lstStyle/>
          <a:p>
            <a:pPr algn="l">
              <a:lnSpc>
                <a:spcPts val="4049"/>
              </a:lnSpc>
            </a:pPr>
            <a:r>
              <a:rPr lang="en-US" sz="3399" b="1">
                <a:solidFill>
                  <a:srgbClr val="FFFFFF"/>
                </a:solidFill>
                <a:latin typeface="Poppins Semi-Bold"/>
                <a:ea typeface="Poppins Semi-Bold"/>
                <a:cs typeface="Poppins Semi-Bold"/>
                <a:sym typeface="Poppins Semi-Bold"/>
              </a:rPr>
              <a:t> </a:t>
            </a:r>
          </a:p>
          <a:p>
            <a:pPr algn="l">
              <a:lnSpc>
                <a:spcPts val="4049"/>
              </a:lnSpc>
            </a:pPr>
            <a:r>
              <a:rPr lang="en-US" sz="3399" b="1">
                <a:solidFill>
                  <a:srgbClr val="FFFFFF"/>
                </a:solidFill>
                <a:latin typeface="Poppins Semi-Bold"/>
                <a:ea typeface="Poppins Semi-Bold"/>
                <a:cs typeface="Poppins Semi-Bold"/>
                <a:sym typeface="Poppins Semi-Bold"/>
              </a:rPr>
              <a:t>}</a:t>
            </a:r>
          </a:p>
          <a:p>
            <a:pPr algn="l">
              <a:lnSpc>
                <a:spcPts val="8499"/>
              </a:lnSpc>
            </a:pPr>
            <a:r>
              <a:rPr lang="en-US" sz="3399" b="1">
                <a:solidFill>
                  <a:srgbClr val="FFFFFF"/>
                </a:solidFill>
                <a:latin typeface="Poppins Semi-Bold"/>
                <a:ea typeface="Poppins Semi-Bold"/>
                <a:cs typeface="Poppins Semi-Bold"/>
                <a:sym typeface="Poppins Semi-Bold"/>
              </a:rPr>
              <a:t>Dentro dos parenteses vão existir as nossas condicionais, ou seja, vamos</a:t>
            </a:r>
          </a:p>
          <a:p>
            <a:pPr algn="l">
              <a:lnSpc>
                <a:spcPts val="1699"/>
              </a:lnSpc>
            </a:pPr>
            <a:r>
              <a:rPr lang="en-US" sz="3399" b="1">
                <a:solidFill>
                  <a:srgbClr val="FFFFFF"/>
                </a:solidFill>
                <a:latin typeface="Poppins Semi-Bold"/>
                <a:ea typeface="Poppins Semi-Bold"/>
                <a:cs typeface="Poppins Semi-Bold"/>
                <a:sym typeface="Poppins Semi-Bold"/>
              </a:rPr>
              <a:t>utilizar &gt;, &lt;, &gt;=, &lt;=, == e !=.</a:t>
            </a:r>
          </a:p>
          <a:p>
            <a:pPr algn="l">
              <a:lnSpc>
                <a:spcPts val="8499"/>
              </a:lnSpc>
            </a:pPr>
            <a:r>
              <a:rPr lang="en-US" sz="3399" b="1">
                <a:solidFill>
                  <a:srgbClr val="FFFFFF"/>
                </a:solidFill>
                <a:latin typeface="Poppins Semi-Bold"/>
                <a:ea typeface="Poppins Semi-Bold"/>
                <a:cs typeface="Poppins Semi-Bold"/>
                <a:sym typeface="Poppins Semi-Bold"/>
              </a:rPr>
              <a:t>Diferente do for, o while não tem um limite pré definido, ele vai executar até</a:t>
            </a:r>
          </a:p>
          <a:p>
            <a:pPr algn="l">
              <a:lnSpc>
                <a:spcPts val="1699"/>
              </a:lnSpc>
            </a:pPr>
            <a:r>
              <a:rPr lang="en-US" sz="3399" b="1">
                <a:solidFill>
                  <a:srgbClr val="FFFFFF"/>
                </a:solidFill>
                <a:latin typeface="Poppins Semi-Bold"/>
                <a:ea typeface="Poppins Semi-Bold"/>
                <a:cs typeface="Poppins Semi-Bold"/>
                <a:sym typeface="Poppins Semi-Bold"/>
              </a:rPr>
              <a:t>que a conficional seja falsa. </a:t>
            </a:r>
          </a:p>
          <a:p>
            <a:pPr algn="l">
              <a:lnSpc>
                <a:spcPts val="8499"/>
              </a:lnSpc>
            </a:pPr>
            <a:r>
              <a:rPr lang="en-US" sz="3399" b="1">
                <a:solidFill>
                  <a:srgbClr val="FFFFFF"/>
                </a:solidFill>
                <a:latin typeface="Poppins Semi-Bold"/>
                <a:ea typeface="Poppins Semi-Bold"/>
                <a:cs typeface="Poppins Semi-Bold"/>
                <a:sym typeface="Poppins Semi-Bold"/>
              </a:rPr>
              <a:t>Olhe o código abaixo:</a:t>
            </a:r>
          </a:p>
          <a:p>
            <a:pPr algn="l">
              <a:lnSpc>
                <a:spcPts val="2488"/>
              </a:lnSpc>
            </a:pPr>
            <a:r>
              <a:rPr lang="en-US" sz="3399" b="1">
                <a:solidFill>
                  <a:srgbClr val="3C67BF"/>
                </a:solidFill>
                <a:latin typeface="Poppins Semi-Bold"/>
                <a:ea typeface="Poppins Semi-Bold"/>
                <a:cs typeface="Poppins Semi-Bold"/>
                <a:sym typeface="Poppins Semi-Bold"/>
              </a:rPr>
              <a:t>string </a:t>
            </a:r>
            <a:r>
              <a:rPr lang="en-US" sz="3399" b="1">
                <a:solidFill>
                  <a:srgbClr val="FFFFFF"/>
                </a:solidFill>
                <a:latin typeface="Poppins Semi-Bold"/>
                <a:ea typeface="Poppins Semi-Bold"/>
                <a:cs typeface="Poppins Semi-Bold"/>
                <a:sym typeface="Poppins Semi-Bold"/>
              </a:rPr>
              <a:t>nome = </a:t>
            </a:r>
            <a:r>
              <a:rPr lang="en-US" sz="3399" b="1">
                <a:solidFill>
                  <a:srgbClr val="FFCB85"/>
                </a:solidFill>
                <a:latin typeface="Poppins Semi-Bold"/>
                <a:ea typeface="Poppins Semi-Bold"/>
                <a:cs typeface="Poppins Semi-Bold"/>
                <a:sym typeface="Poppins Semi-Bold"/>
              </a:rPr>
              <a:t>""</a:t>
            </a:r>
            <a:r>
              <a:rPr lang="en-US" sz="3399" b="1">
                <a:solidFill>
                  <a:srgbClr val="FFFFFF"/>
                </a:solidFill>
                <a:latin typeface="Poppins Semi-Bold"/>
                <a:ea typeface="Poppins Semi-Bold"/>
                <a:cs typeface="Poppins Semi-Bold"/>
                <a:sym typeface="Poppins Semi-Bold"/>
              </a:rPr>
              <a:t>;</a:t>
            </a:r>
          </a:p>
          <a:p>
            <a:pPr algn="l">
              <a:lnSpc>
                <a:spcPts val="5099"/>
              </a:lnSpc>
            </a:pPr>
            <a:r>
              <a:rPr lang="en-US" sz="3399" b="1">
                <a:solidFill>
                  <a:srgbClr val="3C67BF"/>
                </a:solidFill>
                <a:latin typeface="Poppins Semi-Bold"/>
                <a:ea typeface="Poppins Semi-Bold"/>
                <a:cs typeface="Poppins Semi-Bold"/>
                <a:sym typeface="Poppins Semi-Bold"/>
              </a:rPr>
              <a:t>while</a:t>
            </a:r>
            <a:r>
              <a:rPr lang="en-US" sz="3399" b="1">
                <a:solidFill>
                  <a:srgbClr val="FFFFFF"/>
                </a:solidFill>
                <a:latin typeface="Poppins Semi-Bold"/>
                <a:ea typeface="Poppins Semi-Bold"/>
                <a:cs typeface="Poppins Semi-Bold"/>
                <a:sym typeface="Poppins Semi-Bold"/>
              </a:rPr>
              <a:t>(nome </a:t>
            </a:r>
            <a:r>
              <a:rPr lang="en-US" sz="3399" b="1">
                <a:solidFill>
                  <a:srgbClr val="7ED957"/>
                </a:solidFill>
                <a:latin typeface="Poppins Semi-Bold"/>
                <a:ea typeface="Poppins Semi-Bold"/>
                <a:cs typeface="Poppins Semi-Bold"/>
                <a:sym typeface="Poppins Semi-Bold"/>
              </a:rPr>
              <a:t>!= </a:t>
            </a:r>
            <a:r>
              <a:rPr lang="en-US" sz="3399" b="1">
                <a:solidFill>
                  <a:srgbClr val="FFCB85"/>
                </a:solidFill>
                <a:latin typeface="Poppins Semi-Bold"/>
                <a:ea typeface="Poppins Semi-Bold"/>
                <a:cs typeface="Poppins Semi-Bold"/>
                <a:sym typeface="Poppins Semi-Bold"/>
              </a:rPr>
              <a:t>"Rodolfo"</a:t>
            </a:r>
            <a:r>
              <a:rPr lang="en-US" sz="3399" b="1">
                <a:solidFill>
                  <a:srgbClr val="FFFFFF"/>
                </a:solidFill>
                <a:latin typeface="Poppins Semi-Bold"/>
                <a:ea typeface="Poppins Semi-Bold"/>
                <a:cs typeface="Poppins Semi-Bold"/>
                <a:sym typeface="Poppins Semi-Bold"/>
              </a:rPr>
              <a:t>){</a:t>
            </a:r>
          </a:p>
        </p:txBody>
      </p:sp>
      <p:sp>
        <p:nvSpPr>
          <p:cNvPr id="5" name="TextBox 5"/>
          <p:cNvSpPr txBox="1"/>
          <p:nvPr/>
        </p:nvSpPr>
        <p:spPr>
          <a:xfrm>
            <a:off x="812683" y="2212819"/>
            <a:ext cx="4098236" cy="603714"/>
          </a:xfrm>
          <a:prstGeom prst="rect">
            <a:avLst/>
          </a:prstGeom>
        </p:spPr>
        <p:txBody>
          <a:bodyPr lIns="0" tIns="0" rIns="0" bIns="0" rtlCol="0" anchor="t">
            <a:spAutoFit/>
          </a:bodyPr>
          <a:lstStyle/>
          <a:p>
            <a:pPr algn="l">
              <a:lnSpc>
                <a:spcPts val="4049"/>
              </a:lnSpc>
            </a:pPr>
            <a:r>
              <a:rPr lang="en-US" sz="3399" b="1">
                <a:solidFill>
                  <a:srgbClr val="7ED957"/>
                </a:solidFill>
                <a:latin typeface="Poppins Semi-Bold"/>
                <a:ea typeface="Poppins Semi-Bold"/>
                <a:cs typeface="Poppins Semi-Bold"/>
                <a:sym typeface="Poppins Semi-Bold"/>
              </a:rPr>
              <a:t>//bloco de código</a:t>
            </a:r>
          </a:p>
        </p:txBody>
      </p:sp>
      <p:sp>
        <p:nvSpPr>
          <p:cNvPr id="6" name="TextBox 6"/>
          <p:cNvSpPr txBox="1"/>
          <p:nvPr/>
        </p:nvSpPr>
        <p:spPr>
          <a:xfrm>
            <a:off x="8450485" y="7661672"/>
            <a:ext cx="101022" cy="422958"/>
          </a:xfrm>
          <a:prstGeom prst="rect">
            <a:avLst/>
          </a:prstGeom>
        </p:spPr>
        <p:txBody>
          <a:bodyPr lIns="0" tIns="0" rIns="0" bIns="0" rtlCol="0" anchor="t">
            <a:spAutoFit/>
          </a:bodyPr>
          <a:lstStyle/>
          <a:p>
            <a:pPr algn="l">
              <a:lnSpc>
                <a:spcPts val="2859"/>
              </a:lnSpc>
            </a:pPr>
            <a:r>
              <a:rPr lang="en-US" sz="2599" b="1">
                <a:solidFill>
                  <a:srgbClr val="FFFFFF"/>
                </a:solidFill>
                <a:latin typeface="Poppins Semi-Bold"/>
                <a:ea typeface="Poppins Semi-Bold"/>
                <a:cs typeface="Poppins Semi-Bold"/>
                <a:sym typeface="Poppins Semi-Bold"/>
              </a:rPr>
              <a:t> </a:t>
            </a:r>
          </a:p>
        </p:txBody>
      </p:sp>
      <p:sp>
        <p:nvSpPr>
          <p:cNvPr id="7" name="TextBox 7"/>
          <p:cNvSpPr txBox="1"/>
          <p:nvPr/>
        </p:nvSpPr>
        <p:spPr>
          <a:xfrm>
            <a:off x="9238155" y="8137922"/>
            <a:ext cx="101022" cy="337233"/>
          </a:xfrm>
          <a:prstGeom prst="rect">
            <a:avLst/>
          </a:prstGeom>
        </p:spPr>
        <p:txBody>
          <a:bodyPr lIns="0" tIns="0" rIns="0" bIns="0" rtlCol="0" anchor="t">
            <a:spAutoFit/>
          </a:bodyPr>
          <a:lstStyle/>
          <a:p>
            <a:pPr algn="l">
              <a:lnSpc>
                <a:spcPts val="1902"/>
              </a:lnSpc>
            </a:pPr>
            <a:r>
              <a:rPr lang="en-US" sz="2599" b="1">
                <a:solidFill>
                  <a:srgbClr val="FFFFFF"/>
                </a:solidFill>
                <a:latin typeface="Poppins Semi-Bold"/>
                <a:ea typeface="Poppins Semi-Bold"/>
                <a:cs typeface="Poppins Semi-Bold"/>
                <a:sym typeface="Poppins Semi-Bold"/>
              </a:rPr>
              <a:t> </a:t>
            </a:r>
          </a:p>
        </p:txBody>
      </p:sp>
      <p:sp>
        <p:nvSpPr>
          <p:cNvPr id="8" name="TextBox 8"/>
          <p:cNvSpPr txBox="1"/>
          <p:nvPr/>
        </p:nvSpPr>
        <p:spPr>
          <a:xfrm>
            <a:off x="7765380" y="8347472"/>
            <a:ext cx="101022" cy="518208"/>
          </a:xfrm>
          <a:prstGeom prst="rect">
            <a:avLst/>
          </a:prstGeom>
        </p:spPr>
        <p:txBody>
          <a:bodyPr lIns="0" tIns="0" rIns="0" bIns="0" rtlCol="0" anchor="t">
            <a:spAutoFit/>
          </a:bodyPr>
          <a:lstStyle/>
          <a:p>
            <a:pPr algn="l">
              <a:lnSpc>
                <a:spcPts val="3899"/>
              </a:lnSpc>
            </a:pPr>
            <a:r>
              <a:rPr lang="en-US" sz="2599" b="1">
                <a:solidFill>
                  <a:srgbClr val="FFFFFF"/>
                </a:solidFill>
                <a:latin typeface="Poppins Semi-Bold"/>
                <a:ea typeface="Poppins Semi-Bold"/>
                <a:cs typeface="Poppins Semi-Bold"/>
                <a:sym typeface="Poppins Semi-Bold"/>
              </a:rPr>
              <a:t> </a:t>
            </a:r>
          </a:p>
        </p:txBody>
      </p:sp>
      <p:sp>
        <p:nvSpPr>
          <p:cNvPr id="9" name="TextBox 9"/>
          <p:cNvSpPr txBox="1"/>
          <p:nvPr/>
        </p:nvSpPr>
        <p:spPr>
          <a:xfrm>
            <a:off x="812683" y="9004144"/>
            <a:ext cx="6548476" cy="498939"/>
          </a:xfrm>
          <a:prstGeom prst="rect">
            <a:avLst/>
          </a:prstGeom>
        </p:spPr>
        <p:txBody>
          <a:bodyPr lIns="0" tIns="0" rIns="0" bIns="0" rtlCol="0" anchor="t">
            <a:spAutoFit/>
          </a:bodyPr>
          <a:lstStyle/>
          <a:p>
            <a:pPr algn="l">
              <a:lnSpc>
                <a:spcPts val="2998"/>
              </a:lnSpc>
            </a:pPr>
            <a:r>
              <a:rPr lang="en-US" sz="3399" b="1">
                <a:solidFill>
                  <a:srgbClr val="FFFFFF"/>
                </a:solidFill>
                <a:latin typeface="Poppins Semi-Bold"/>
                <a:ea typeface="Poppins Semi-Bold"/>
                <a:cs typeface="Poppins Semi-Bold"/>
                <a:sym typeface="Poppins Semi-Bold"/>
              </a:rPr>
              <a:t>nome = </a:t>
            </a: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ReadLine</a:t>
            </a:r>
            <a:r>
              <a:rPr lang="en-US" sz="3399" b="1">
                <a:solidFill>
                  <a:srgbClr val="FFFFFF"/>
                </a:solidFill>
                <a:latin typeface="Poppins Semi-Bold"/>
                <a:ea typeface="Poppins Semi-Bold"/>
                <a:cs typeface="Poppins Semi-Bold"/>
                <a:sym typeface="Poppins Semi-Bold"/>
              </a:rPr>
              <a:t>();</a:t>
            </a:r>
          </a:p>
        </p:txBody>
      </p:sp>
      <p:sp>
        <p:nvSpPr>
          <p:cNvPr id="10" name="TextBox 10"/>
          <p:cNvSpPr txBox="1"/>
          <p:nvPr/>
        </p:nvSpPr>
        <p:spPr>
          <a:xfrm>
            <a:off x="9693192" y="8890397"/>
            <a:ext cx="101022" cy="365808"/>
          </a:xfrm>
          <a:prstGeom prst="rect">
            <a:avLst/>
          </a:prstGeom>
        </p:spPr>
        <p:txBody>
          <a:bodyPr lIns="0" tIns="0" rIns="0" bIns="0" rtlCol="0" anchor="t">
            <a:spAutoFit/>
          </a:bodyPr>
          <a:lstStyle/>
          <a:p>
            <a:pPr algn="l">
              <a:lnSpc>
                <a:spcPts val="2292"/>
              </a:lnSpc>
            </a:pPr>
            <a:r>
              <a:rPr lang="en-US" sz="2599" b="1">
                <a:solidFill>
                  <a:srgbClr val="FFFFFF"/>
                </a:solidFill>
                <a:latin typeface="Poppins Semi-Bold"/>
                <a:ea typeface="Poppins Semi-Bold"/>
                <a:cs typeface="Poppins Semi-Bold"/>
                <a:sym typeface="Poppins Semi-Bold"/>
              </a:rPr>
              <a:t> </a:t>
            </a:r>
          </a:p>
        </p:txBody>
      </p:sp>
      <p:sp>
        <p:nvSpPr>
          <p:cNvPr id="11" name="TextBox 11"/>
          <p:cNvSpPr txBox="1"/>
          <p:nvPr/>
        </p:nvSpPr>
        <p:spPr>
          <a:xfrm>
            <a:off x="164983" y="9318469"/>
            <a:ext cx="231210" cy="698964"/>
          </a:xfrm>
          <a:prstGeom prst="rect">
            <a:avLst/>
          </a:prstGeom>
        </p:spPr>
        <p:txBody>
          <a:bodyPr lIns="0" tIns="0" rIns="0" bIns="0" rtlCol="0" anchor="t">
            <a:spAutoFit/>
          </a:bodyPr>
          <a:lstStyle/>
          <a:p>
            <a:pPr algn="l">
              <a:lnSpc>
                <a:spcPts val="5099"/>
              </a:lnSpc>
            </a:pPr>
            <a:r>
              <a:rPr lang="en-US" sz="3399" b="1">
                <a:solidFill>
                  <a:srgbClr val="FFFFFF"/>
                </a:solidFill>
                <a:latin typeface="Poppins Semi-Bold"/>
                <a:ea typeface="Poppins Semi-Bold"/>
                <a:cs typeface="Poppins Semi-Bold"/>
                <a:sym typeface="Poppins Semi-Bold"/>
              </a:rPr>
              <a:t>}</a:t>
            </a:r>
          </a:p>
        </p:txBody>
      </p:sp>
      <p:sp>
        <p:nvSpPr>
          <p:cNvPr id="12" name="TextBox 12"/>
          <p:cNvSpPr txBox="1"/>
          <p:nvPr/>
        </p:nvSpPr>
        <p:spPr>
          <a:xfrm>
            <a:off x="6807565" y="7642622"/>
            <a:ext cx="11269304" cy="442008"/>
          </a:xfrm>
          <a:prstGeom prst="rect">
            <a:avLst/>
          </a:prstGeom>
        </p:spPr>
        <p:txBody>
          <a:bodyPr lIns="0" tIns="0" rIns="0" bIns="0" rtlCol="0" anchor="t">
            <a:spAutoFit/>
          </a:bodyPr>
          <a:lstStyle/>
          <a:p>
            <a:pPr algn="l">
              <a:lnSpc>
                <a:spcPts val="3075"/>
              </a:lnSpc>
            </a:pPr>
            <a:r>
              <a:rPr lang="en-US" sz="2599" b="1">
                <a:solidFill>
                  <a:srgbClr val="FFFFFF"/>
                </a:solidFill>
                <a:latin typeface="Poppins Semi-Bold"/>
                <a:ea typeface="Poppins Semi-Bold"/>
                <a:cs typeface="Poppins Semi-Bold"/>
                <a:sym typeface="Poppins Semi-Bold"/>
              </a:rPr>
              <a:t>Enquanto o nome for diferente de </a:t>
            </a:r>
            <a:r>
              <a:rPr lang="en-US" sz="2599" b="1">
                <a:solidFill>
                  <a:srgbClr val="FF5757"/>
                </a:solidFill>
                <a:latin typeface="Poppins Semi-Bold"/>
                <a:ea typeface="Poppins Semi-Bold"/>
                <a:cs typeface="Poppins Semi-Bold"/>
                <a:sym typeface="Poppins Semi-Bold"/>
              </a:rPr>
              <a:t>Rodolfo</a:t>
            </a:r>
            <a:r>
              <a:rPr lang="en-US" sz="2599" b="1">
                <a:solidFill>
                  <a:srgbClr val="FFFFFF"/>
                </a:solidFill>
                <a:latin typeface="Poppins Semi-Bold"/>
                <a:ea typeface="Poppins Semi-Bold"/>
                <a:cs typeface="Poppins Semi-Bold"/>
                <a:sym typeface="Poppins Semi-Bold"/>
              </a:rPr>
              <a:t>, ele vai ficar lendo um</a:t>
            </a:r>
          </a:p>
        </p:txBody>
      </p:sp>
      <p:sp>
        <p:nvSpPr>
          <p:cNvPr id="13" name="TextBox 13"/>
          <p:cNvSpPr txBox="1"/>
          <p:nvPr/>
        </p:nvSpPr>
        <p:spPr>
          <a:xfrm>
            <a:off x="8392439" y="8033147"/>
            <a:ext cx="7935087" cy="442008"/>
          </a:xfrm>
          <a:prstGeom prst="rect">
            <a:avLst/>
          </a:prstGeom>
        </p:spPr>
        <p:txBody>
          <a:bodyPr lIns="0" tIns="0" rIns="0" bIns="0" rtlCol="0" anchor="t">
            <a:spAutoFit/>
          </a:bodyPr>
          <a:lstStyle/>
          <a:p>
            <a:pPr algn="l">
              <a:lnSpc>
                <a:spcPts val="3075"/>
              </a:lnSpc>
            </a:pPr>
            <a:r>
              <a:rPr lang="en-US" sz="2599" b="1">
                <a:solidFill>
                  <a:srgbClr val="FFFFFF"/>
                </a:solidFill>
                <a:latin typeface="Poppins Semi-Bold"/>
                <a:ea typeface="Poppins Semi-Bold"/>
                <a:cs typeface="Poppins Semi-Bold"/>
                <a:sym typeface="Poppins Semi-Bold"/>
              </a:rPr>
              <a:t>novo nome toda vez que o bloco for repetido.</a:t>
            </a:r>
          </a:p>
        </p:txBody>
      </p:sp>
      <p:sp>
        <p:nvSpPr>
          <p:cNvPr id="14" name="TextBox 14"/>
          <p:cNvSpPr txBox="1"/>
          <p:nvPr/>
        </p:nvSpPr>
        <p:spPr>
          <a:xfrm>
            <a:off x="7305542" y="8423672"/>
            <a:ext cx="10253462" cy="442008"/>
          </a:xfrm>
          <a:prstGeom prst="rect">
            <a:avLst/>
          </a:prstGeom>
        </p:spPr>
        <p:txBody>
          <a:bodyPr lIns="0" tIns="0" rIns="0" bIns="0" rtlCol="0" anchor="t">
            <a:spAutoFit/>
          </a:bodyPr>
          <a:lstStyle/>
          <a:p>
            <a:pPr algn="l">
              <a:lnSpc>
                <a:spcPts val="3075"/>
              </a:lnSpc>
            </a:pPr>
            <a:r>
              <a:rPr lang="en-US" sz="2599" b="1">
                <a:solidFill>
                  <a:srgbClr val="FFFFFF"/>
                </a:solidFill>
                <a:latin typeface="Poppins Semi-Bold"/>
                <a:ea typeface="Poppins Semi-Bold"/>
                <a:cs typeface="Poppins Semi-Bold"/>
                <a:sym typeface="Poppins Semi-Bold"/>
              </a:rPr>
              <a:t>No momento que o programa ler </a:t>
            </a:r>
            <a:r>
              <a:rPr lang="en-US" sz="2599" b="1">
                <a:solidFill>
                  <a:srgbClr val="FF5757"/>
                </a:solidFill>
                <a:latin typeface="Poppins Semi-Bold"/>
                <a:ea typeface="Poppins Semi-Bold"/>
                <a:cs typeface="Poppins Semi-Bold"/>
                <a:sym typeface="Poppins Semi-Bold"/>
              </a:rPr>
              <a:t>Rodolfo</a:t>
            </a:r>
            <a:r>
              <a:rPr lang="en-US" sz="2599" b="1">
                <a:solidFill>
                  <a:srgbClr val="FFFFFF"/>
                </a:solidFill>
                <a:latin typeface="Poppins Semi-Bold"/>
                <a:ea typeface="Poppins Semi-Bold"/>
                <a:cs typeface="Poppins Semi-Bold"/>
                <a:sym typeface="Poppins Semi-Bold"/>
              </a:rPr>
              <a:t>, a condicional se</a:t>
            </a:r>
          </a:p>
        </p:txBody>
      </p:sp>
      <p:sp>
        <p:nvSpPr>
          <p:cNvPr id="15" name="TextBox 15"/>
          <p:cNvSpPr txBox="1"/>
          <p:nvPr/>
        </p:nvSpPr>
        <p:spPr>
          <a:xfrm>
            <a:off x="8560613" y="8814197"/>
            <a:ext cx="7693076" cy="442008"/>
          </a:xfrm>
          <a:prstGeom prst="rect">
            <a:avLst/>
          </a:prstGeom>
        </p:spPr>
        <p:txBody>
          <a:bodyPr lIns="0" tIns="0" rIns="0" bIns="0" rtlCol="0" anchor="t">
            <a:spAutoFit/>
          </a:bodyPr>
          <a:lstStyle/>
          <a:p>
            <a:pPr algn="l">
              <a:lnSpc>
                <a:spcPts val="3075"/>
              </a:lnSpc>
            </a:pPr>
            <a:r>
              <a:rPr lang="en-US" sz="2599" b="1">
                <a:solidFill>
                  <a:srgbClr val="FFFFFF"/>
                </a:solidFill>
                <a:latin typeface="Poppins Semi-Bold"/>
                <a:ea typeface="Poppins Semi-Bold"/>
                <a:cs typeface="Poppins Semi-Bold"/>
                <a:sym typeface="Poppins Semi-Bold"/>
              </a:rPr>
              <a:t>tornou falsa e ele não repetirá mais o </a:t>
            </a:r>
            <a:r>
              <a:rPr lang="en-US" sz="2599" b="1">
                <a:solidFill>
                  <a:srgbClr val="3C67BF"/>
                </a:solidFill>
                <a:latin typeface="Poppins Semi-Bold"/>
                <a:ea typeface="Poppins Semi-Bold"/>
                <a:cs typeface="Poppins Semi-Bold"/>
                <a:sym typeface="Poppins Semi-Bold"/>
              </a:rPr>
              <a:t>while</a:t>
            </a:r>
            <a:r>
              <a:rPr lang="en-US" sz="2599" b="1">
                <a:solidFill>
                  <a:srgbClr val="FFFFFF"/>
                </a:solidFill>
                <a:latin typeface="Poppins Semi-Bold"/>
                <a:ea typeface="Poppins Semi-Bold"/>
                <a:cs typeface="Poppins Semi-Bold"/>
                <a:sym typeface="Poppins Semi-Bold"/>
              </a:rPr>
              <a:t>.</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610173" y="324326"/>
            <a:ext cx="15368978"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Comando de repetição </a:t>
            </a:r>
            <a:r>
              <a:rPr lang="en-US" sz="5964" b="1">
                <a:solidFill>
                  <a:srgbClr val="3C67BF"/>
                </a:solidFill>
                <a:latin typeface="Poppins Semi-Bold"/>
                <a:ea typeface="Poppins Semi-Bold"/>
                <a:cs typeface="Poppins Semi-Bold"/>
                <a:sym typeface="Poppins Semi-Bold"/>
              </a:rPr>
              <a:t>while/do while</a:t>
            </a:r>
          </a:p>
        </p:txBody>
      </p:sp>
      <p:sp>
        <p:nvSpPr>
          <p:cNvPr id="3" name="TextBox 3"/>
          <p:cNvSpPr txBox="1"/>
          <p:nvPr/>
        </p:nvSpPr>
        <p:spPr>
          <a:xfrm>
            <a:off x="2336359" y="4176312"/>
            <a:ext cx="5781075" cy="603714"/>
          </a:xfrm>
          <a:prstGeom prst="rect">
            <a:avLst/>
          </a:prstGeom>
        </p:spPr>
        <p:txBody>
          <a:bodyPr lIns="0" tIns="0" rIns="0" bIns="0" rtlCol="0" anchor="t">
            <a:spAutoFit/>
          </a:bodyPr>
          <a:lstStyle/>
          <a:p>
            <a:pPr algn="l">
              <a:lnSpc>
                <a:spcPts val="4049"/>
              </a:lnSpc>
            </a:pPr>
            <a:r>
              <a:rPr lang="en-US" sz="3399" b="1">
                <a:solidFill>
                  <a:srgbClr val="3C67BF"/>
                </a:solidFill>
                <a:latin typeface="Poppins Semi-Bold"/>
                <a:ea typeface="Poppins Semi-Bold"/>
                <a:cs typeface="Poppins Semi-Bold"/>
                <a:sym typeface="Poppins Semi-Bold"/>
              </a:rPr>
              <a:t>for</a:t>
            </a:r>
            <a:r>
              <a:rPr lang="en-US" sz="3399" b="1">
                <a:solidFill>
                  <a:srgbClr val="FFFFFF"/>
                </a:solidFill>
                <a:latin typeface="Poppins Semi-Bold"/>
                <a:ea typeface="Poppins Semi-Bold"/>
                <a:cs typeface="Poppins Semi-Bold"/>
                <a:sym typeface="Poppins Semi-Bold"/>
              </a:rPr>
              <a:t>(</a:t>
            </a:r>
            <a:r>
              <a:rPr lang="en-US" sz="3399" b="1">
                <a:solidFill>
                  <a:srgbClr val="3C67BF"/>
                </a:solidFill>
                <a:latin typeface="Poppins Semi-Bold"/>
                <a:ea typeface="Poppins Semi-Bold"/>
                <a:cs typeface="Poppins Semi-Bold"/>
                <a:sym typeface="Poppins Semi-Bold"/>
              </a:rPr>
              <a:t>int </a:t>
            </a:r>
            <a:r>
              <a:rPr lang="en-US" sz="3399" b="1">
                <a:solidFill>
                  <a:srgbClr val="FFFFFF"/>
                </a:solidFill>
                <a:latin typeface="Poppins Semi-Bold"/>
                <a:ea typeface="Poppins Semi-Bold"/>
                <a:cs typeface="Poppins Semi-Bold"/>
                <a:sym typeface="Poppins Semi-Bold"/>
              </a:rPr>
              <a:t>i = 0; i </a:t>
            </a:r>
            <a:r>
              <a:rPr lang="en-US" sz="3399" b="1">
                <a:solidFill>
                  <a:srgbClr val="7ED957"/>
                </a:solidFill>
                <a:latin typeface="Poppins Semi-Bold"/>
                <a:ea typeface="Poppins Semi-Bold"/>
                <a:cs typeface="Poppins Semi-Bold"/>
                <a:sym typeface="Poppins Semi-Bold"/>
              </a:rPr>
              <a:t>&lt;=</a:t>
            </a:r>
            <a:r>
              <a:rPr lang="en-US" sz="3399" b="1">
                <a:solidFill>
                  <a:srgbClr val="FFFFFF"/>
                </a:solidFill>
                <a:latin typeface="Poppins Semi-Bold"/>
                <a:ea typeface="Poppins Semi-Bold"/>
                <a:cs typeface="Poppins Semi-Bold"/>
                <a:sym typeface="Poppins Semi-Bold"/>
              </a:rPr>
              <a:t> 10; i++){</a:t>
            </a:r>
          </a:p>
        </p:txBody>
      </p:sp>
      <p:sp>
        <p:nvSpPr>
          <p:cNvPr id="4" name="TextBox 4"/>
          <p:cNvSpPr txBox="1"/>
          <p:nvPr/>
        </p:nvSpPr>
        <p:spPr>
          <a:xfrm>
            <a:off x="2336359" y="4690662"/>
            <a:ext cx="231210" cy="1118064"/>
          </a:xfrm>
          <a:prstGeom prst="rect">
            <a:avLst/>
          </a:prstGeom>
        </p:spPr>
        <p:txBody>
          <a:bodyPr lIns="0" tIns="0" rIns="0" bIns="0" rtlCol="0" anchor="t">
            <a:spAutoFit/>
          </a:bodyPr>
          <a:lstStyle/>
          <a:p>
            <a:pPr algn="l">
              <a:lnSpc>
                <a:spcPts val="4049"/>
              </a:lnSpc>
            </a:pPr>
            <a:r>
              <a:rPr lang="en-US" sz="3399" b="1">
                <a:solidFill>
                  <a:srgbClr val="FFFFFF"/>
                </a:solidFill>
                <a:latin typeface="Poppins Semi-Bold"/>
                <a:ea typeface="Poppins Semi-Bold"/>
                <a:cs typeface="Poppins Semi-Bold"/>
                <a:sym typeface="Poppins Semi-Bold"/>
              </a:rPr>
              <a:t> </a:t>
            </a:r>
          </a:p>
          <a:p>
            <a:pPr algn="l">
              <a:lnSpc>
                <a:spcPts val="4049"/>
              </a:lnSpc>
            </a:pPr>
            <a:r>
              <a:rPr lang="en-US" sz="3399" b="1">
                <a:solidFill>
                  <a:srgbClr val="FFFFFF"/>
                </a:solidFill>
                <a:latin typeface="Poppins Semi-Bold"/>
                <a:ea typeface="Poppins Semi-Bold"/>
                <a:cs typeface="Poppins Semi-Bold"/>
                <a:sym typeface="Poppins Semi-Bold"/>
              </a:rPr>
              <a:t>}</a:t>
            </a:r>
          </a:p>
        </p:txBody>
      </p:sp>
      <p:sp>
        <p:nvSpPr>
          <p:cNvPr id="5" name="TextBox 5"/>
          <p:cNvSpPr txBox="1"/>
          <p:nvPr/>
        </p:nvSpPr>
        <p:spPr>
          <a:xfrm>
            <a:off x="2984059" y="4690662"/>
            <a:ext cx="4784531" cy="603714"/>
          </a:xfrm>
          <a:prstGeom prst="rect">
            <a:avLst/>
          </a:prstGeom>
        </p:spPr>
        <p:txBody>
          <a:bodyPr lIns="0" tIns="0" rIns="0" bIns="0" rtlCol="0" anchor="t">
            <a:spAutoFit/>
          </a:bodyPr>
          <a:lstStyle/>
          <a:p>
            <a:pPr algn="l">
              <a:lnSpc>
                <a:spcPts val="4049"/>
              </a:lnSpc>
            </a:pP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(i);</a:t>
            </a:r>
          </a:p>
        </p:txBody>
      </p:sp>
      <p:sp>
        <p:nvSpPr>
          <p:cNvPr id="6" name="TextBox 6"/>
          <p:cNvSpPr txBox="1"/>
          <p:nvPr/>
        </p:nvSpPr>
        <p:spPr>
          <a:xfrm>
            <a:off x="9849869" y="4176312"/>
            <a:ext cx="3067126" cy="1118064"/>
          </a:xfrm>
          <a:prstGeom prst="rect">
            <a:avLst/>
          </a:prstGeom>
        </p:spPr>
        <p:txBody>
          <a:bodyPr lIns="0" tIns="0" rIns="0" bIns="0" rtlCol="0" anchor="t">
            <a:spAutoFit/>
          </a:bodyPr>
          <a:lstStyle/>
          <a:p>
            <a:pPr algn="l">
              <a:lnSpc>
                <a:spcPts val="4049"/>
              </a:lnSpc>
            </a:pPr>
            <a:r>
              <a:rPr lang="en-US" sz="3399" b="1">
                <a:solidFill>
                  <a:srgbClr val="3C67BF"/>
                </a:solidFill>
                <a:latin typeface="Poppins Semi-Bold"/>
                <a:ea typeface="Poppins Semi-Bold"/>
                <a:cs typeface="Poppins Semi-Bold"/>
                <a:sym typeface="Poppins Semi-Bold"/>
              </a:rPr>
              <a:t>int</a:t>
            </a:r>
            <a:r>
              <a:rPr lang="en-US" sz="3399" b="1">
                <a:solidFill>
                  <a:srgbClr val="FFFFFF"/>
                </a:solidFill>
                <a:latin typeface="Poppins Semi-Bold"/>
                <a:ea typeface="Poppins Semi-Bold"/>
                <a:cs typeface="Poppins Semi-Bold"/>
                <a:sym typeface="Poppins Semi-Bold"/>
              </a:rPr>
              <a:t> i= 0; </a:t>
            </a:r>
            <a:r>
              <a:rPr lang="en-US" sz="3399" b="1">
                <a:solidFill>
                  <a:srgbClr val="3C67BF"/>
                </a:solidFill>
                <a:latin typeface="Poppins Semi-Bold"/>
                <a:ea typeface="Poppins Semi-Bold"/>
                <a:cs typeface="Poppins Semi-Bold"/>
                <a:sym typeface="Poppins Semi-Bold"/>
              </a:rPr>
              <a:t>while</a:t>
            </a:r>
            <a:r>
              <a:rPr lang="en-US" sz="3399" b="1">
                <a:solidFill>
                  <a:srgbClr val="FFFFFF"/>
                </a:solidFill>
                <a:latin typeface="Poppins Semi-Bold"/>
                <a:ea typeface="Poppins Semi-Bold"/>
                <a:cs typeface="Poppins Semi-Bold"/>
                <a:sym typeface="Poppins Semi-Bold"/>
              </a:rPr>
              <a:t>(i</a:t>
            </a:r>
            <a:r>
              <a:rPr lang="en-US" sz="3399" b="1">
                <a:solidFill>
                  <a:srgbClr val="7ED957"/>
                </a:solidFill>
                <a:latin typeface="Poppins Semi-Bold"/>
                <a:ea typeface="Poppins Semi-Bold"/>
                <a:cs typeface="Poppins Semi-Bold"/>
                <a:sym typeface="Poppins Semi-Bold"/>
              </a:rPr>
              <a:t>&lt;=</a:t>
            </a:r>
            <a:r>
              <a:rPr lang="en-US" sz="3399" b="1">
                <a:solidFill>
                  <a:srgbClr val="FFFFFF"/>
                </a:solidFill>
                <a:latin typeface="Poppins Semi-Bold"/>
                <a:ea typeface="Poppins Semi-Bold"/>
                <a:cs typeface="Poppins Semi-Bold"/>
                <a:sym typeface="Poppins Semi-Bold"/>
              </a:rPr>
              <a:t>10){</a:t>
            </a:r>
          </a:p>
        </p:txBody>
      </p:sp>
      <p:sp>
        <p:nvSpPr>
          <p:cNvPr id="7" name="TextBox 7"/>
          <p:cNvSpPr txBox="1"/>
          <p:nvPr/>
        </p:nvSpPr>
        <p:spPr>
          <a:xfrm>
            <a:off x="9849869" y="5205012"/>
            <a:ext cx="231210" cy="1632414"/>
          </a:xfrm>
          <a:prstGeom prst="rect">
            <a:avLst/>
          </a:prstGeom>
        </p:spPr>
        <p:txBody>
          <a:bodyPr lIns="0" tIns="0" rIns="0" bIns="0" rtlCol="0" anchor="t">
            <a:spAutoFit/>
          </a:bodyPr>
          <a:lstStyle/>
          <a:p>
            <a:pPr algn="just">
              <a:lnSpc>
                <a:spcPts val="4049"/>
              </a:lnSpc>
            </a:pPr>
            <a:r>
              <a:rPr lang="en-US" sz="3399" b="1">
                <a:solidFill>
                  <a:srgbClr val="FFFFFF"/>
                </a:solidFill>
                <a:latin typeface="Poppins Semi-Bold"/>
                <a:ea typeface="Poppins Semi-Bold"/>
                <a:cs typeface="Poppins Semi-Bold"/>
                <a:sym typeface="Poppins Semi-Bold"/>
              </a:rPr>
              <a:t> </a:t>
            </a:r>
          </a:p>
          <a:p>
            <a:pPr algn="just">
              <a:lnSpc>
                <a:spcPts val="4049"/>
              </a:lnSpc>
            </a:pPr>
            <a:r>
              <a:rPr lang="en-US" sz="3399" b="1">
                <a:solidFill>
                  <a:srgbClr val="FFFFFF"/>
                </a:solidFill>
                <a:latin typeface="Poppins Semi-Bold"/>
                <a:ea typeface="Poppins Semi-Bold"/>
                <a:cs typeface="Poppins Semi-Bold"/>
                <a:sym typeface="Poppins Semi-Bold"/>
              </a:rPr>
              <a:t> </a:t>
            </a:r>
          </a:p>
          <a:p>
            <a:pPr algn="just">
              <a:lnSpc>
                <a:spcPts val="4049"/>
              </a:lnSpc>
            </a:pPr>
            <a:r>
              <a:rPr lang="en-US" sz="3399" b="1">
                <a:solidFill>
                  <a:srgbClr val="FFFFFF"/>
                </a:solidFill>
                <a:latin typeface="Poppins Semi-Bold"/>
                <a:ea typeface="Poppins Semi-Bold"/>
                <a:cs typeface="Poppins Semi-Bold"/>
                <a:sym typeface="Poppins Semi-Bold"/>
              </a:rPr>
              <a:t>}</a:t>
            </a:r>
          </a:p>
        </p:txBody>
      </p:sp>
      <p:sp>
        <p:nvSpPr>
          <p:cNvPr id="8" name="TextBox 8"/>
          <p:cNvSpPr txBox="1"/>
          <p:nvPr/>
        </p:nvSpPr>
        <p:spPr>
          <a:xfrm>
            <a:off x="10497569" y="5205012"/>
            <a:ext cx="4784531" cy="1118064"/>
          </a:xfrm>
          <a:prstGeom prst="rect">
            <a:avLst/>
          </a:prstGeom>
        </p:spPr>
        <p:txBody>
          <a:bodyPr lIns="0" tIns="0" rIns="0" bIns="0" rtlCol="0" anchor="t">
            <a:spAutoFit/>
          </a:bodyPr>
          <a:lstStyle/>
          <a:p>
            <a:pPr algn="l">
              <a:lnSpc>
                <a:spcPts val="4049"/>
              </a:lnSpc>
            </a:pP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(i); i++;</a:t>
            </a:r>
          </a:p>
        </p:txBody>
      </p:sp>
      <p:sp>
        <p:nvSpPr>
          <p:cNvPr id="9" name="TextBox 9"/>
          <p:cNvSpPr txBox="1"/>
          <p:nvPr/>
        </p:nvSpPr>
        <p:spPr>
          <a:xfrm>
            <a:off x="164983" y="2014137"/>
            <a:ext cx="17829295" cy="1118064"/>
          </a:xfrm>
          <a:prstGeom prst="rect">
            <a:avLst/>
          </a:prstGeom>
        </p:spPr>
        <p:txBody>
          <a:bodyPr lIns="0" tIns="0" rIns="0" bIns="0" rtlCol="0" anchor="t">
            <a:spAutoFit/>
          </a:bodyPr>
          <a:lstStyle/>
          <a:p>
            <a:pPr algn="l">
              <a:lnSpc>
                <a:spcPts val="4049"/>
              </a:lnSpc>
            </a:pPr>
            <a:r>
              <a:rPr lang="en-US" sz="3399" b="1">
                <a:solidFill>
                  <a:srgbClr val="FFFFFF"/>
                </a:solidFill>
                <a:latin typeface="Poppins Semi-Bold"/>
                <a:ea typeface="Poppins Semi-Bold"/>
                <a:cs typeface="Poppins Semi-Bold"/>
                <a:sym typeface="Poppins Semi-Bold"/>
              </a:rPr>
              <a:t>Vamos transformar o programa que conta até 10 feito no comando </a:t>
            </a:r>
            <a:r>
              <a:rPr lang="en-US" sz="3399" b="1">
                <a:solidFill>
                  <a:srgbClr val="3C67BF"/>
                </a:solidFill>
                <a:latin typeface="Poppins Semi-Bold"/>
                <a:ea typeface="Poppins Semi-Bold"/>
                <a:cs typeface="Poppins Semi-Bold"/>
                <a:sym typeface="Poppins Semi-Bold"/>
              </a:rPr>
              <a:t>for</a:t>
            </a:r>
            <a:r>
              <a:rPr lang="en-US" sz="3399" b="1">
                <a:solidFill>
                  <a:srgbClr val="FFFFFF"/>
                </a:solidFill>
                <a:latin typeface="Poppins Semi-Bold"/>
                <a:ea typeface="Poppins Semi-Bold"/>
                <a:cs typeface="Poppins Semi-Bold"/>
                <a:sym typeface="Poppins Semi-Bold"/>
              </a:rPr>
              <a:t> para o comando </a:t>
            </a:r>
            <a:r>
              <a:rPr lang="en-US" sz="3399" b="1">
                <a:solidFill>
                  <a:srgbClr val="3C67BF"/>
                </a:solidFill>
                <a:latin typeface="Poppins Semi-Bold"/>
                <a:ea typeface="Poppins Semi-Bold"/>
                <a:cs typeface="Poppins Semi-Bold"/>
                <a:sym typeface="Poppins Semi-Bold"/>
              </a:rPr>
              <a:t>while</a:t>
            </a:r>
            <a:r>
              <a:rPr lang="en-US" sz="3399" b="1">
                <a:solidFill>
                  <a:srgbClr val="FFFFFF"/>
                </a:solidFill>
                <a:latin typeface="Poppins Semi-Bold"/>
                <a:ea typeface="Poppins Semi-Bold"/>
                <a:cs typeface="Poppins Semi-Bold"/>
                <a:sym typeface="Poppins Semi-Bold"/>
              </a:rPr>
              <a:t>.</a:t>
            </a:r>
          </a:p>
        </p:txBody>
      </p:sp>
      <p:sp>
        <p:nvSpPr>
          <p:cNvPr id="10" name="TextBox 10"/>
          <p:cNvSpPr txBox="1"/>
          <p:nvPr/>
        </p:nvSpPr>
        <p:spPr>
          <a:xfrm>
            <a:off x="936231" y="8014059"/>
            <a:ext cx="16743778" cy="1063247"/>
          </a:xfrm>
          <a:prstGeom prst="rect">
            <a:avLst/>
          </a:prstGeom>
        </p:spPr>
        <p:txBody>
          <a:bodyPr lIns="0" tIns="0" rIns="0" bIns="0" rtlCol="0" anchor="t">
            <a:spAutoFit/>
          </a:bodyPr>
          <a:lstStyle/>
          <a:p>
            <a:pPr algn="ctr">
              <a:lnSpc>
                <a:spcPts val="3899"/>
              </a:lnSpc>
            </a:pPr>
            <a:r>
              <a:rPr lang="en-US" sz="3299" b="1">
                <a:solidFill>
                  <a:srgbClr val="FFFFFF"/>
                </a:solidFill>
                <a:latin typeface="Poppins Semi-Bold"/>
                <a:ea typeface="Poppins Semi-Bold"/>
                <a:cs typeface="Poppins Semi-Bold"/>
                <a:sym typeface="Poppins Semi-Bold"/>
              </a:rPr>
              <a:t> O programa vai escrever na tela o número 0 até 10 pois a condicional está dizendo para repetir o bloco de código enquanto </a:t>
            </a:r>
            <a:r>
              <a:rPr lang="en-US" sz="3299" b="1">
                <a:solidFill>
                  <a:srgbClr val="FF5757"/>
                </a:solidFill>
                <a:latin typeface="Poppins Semi-Bold"/>
                <a:ea typeface="Poppins Semi-Bold"/>
                <a:cs typeface="Poppins Semi-Bold"/>
                <a:sym typeface="Poppins Semi-Bold"/>
              </a:rPr>
              <a:t>i</a:t>
            </a:r>
            <a:r>
              <a:rPr lang="en-US" sz="3299" b="1">
                <a:solidFill>
                  <a:srgbClr val="FFFFFF"/>
                </a:solidFill>
                <a:latin typeface="Poppins Semi-Bold"/>
                <a:ea typeface="Poppins Semi-Bold"/>
                <a:cs typeface="Poppins Semi-Bold"/>
                <a:sym typeface="Poppins Semi-Bold"/>
              </a:rPr>
              <a:t> </a:t>
            </a:r>
            <a:r>
              <a:rPr lang="en-US" sz="3299" b="1">
                <a:solidFill>
                  <a:srgbClr val="7ED957"/>
                </a:solidFill>
                <a:latin typeface="Poppins Semi-Bold"/>
                <a:ea typeface="Poppins Semi-Bold"/>
                <a:cs typeface="Poppins Semi-Bold"/>
                <a:sym typeface="Poppins Semi-Bold"/>
              </a:rPr>
              <a:t>for menor ou igual</a:t>
            </a:r>
            <a:r>
              <a:rPr lang="en-US" sz="3299" b="1">
                <a:solidFill>
                  <a:srgbClr val="FFFFFF"/>
                </a:solidFill>
                <a:latin typeface="Poppins Semi-Bold"/>
                <a:ea typeface="Poppins Semi-Bold"/>
                <a:cs typeface="Poppins Semi-Bold"/>
                <a:sym typeface="Poppins Semi-Bold"/>
              </a:rPr>
              <a:t> </a:t>
            </a:r>
            <a:r>
              <a:rPr lang="en-US" sz="3299" b="1">
                <a:solidFill>
                  <a:srgbClr val="FF5757"/>
                </a:solidFill>
                <a:latin typeface="Poppins Semi-Bold"/>
                <a:ea typeface="Poppins Semi-Bold"/>
                <a:cs typeface="Poppins Semi-Bold"/>
                <a:sym typeface="Poppins Semi-Bold"/>
              </a:rPr>
              <a:t>10</a:t>
            </a:r>
            <a:r>
              <a:rPr lang="en-US" sz="3299" b="1">
                <a:solidFill>
                  <a:srgbClr val="FFFFFF"/>
                </a:solidFill>
                <a:latin typeface="Poppins Semi-Bold"/>
                <a:ea typeface="Poppins Semi-Bold"/>
                <a:cs typeface="Poppins Semi-Bold"/>
                <a:sym typeface="Poppins Semi-Bold"/>
              </a:rPr>
              <a:t>.</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610173" y="324326"/>
            <a:ext cx="15368978"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Comando de repetição </a:t>
            </a:r>
            <a:r>
              <a:rPr lang="en-US" sz="5964" b="1">
                <a:solidFill>
                  <a:srgbClr val="3C67BF"/>
                </a:solidFill>
                <a:latin typeface="Poppins Semi-Bold"/>
                <a:ea typeface="Poppins Semi-Bold"/>
                <a:cs typeface="Poppins Semi-Bold"/>
                <a:sym typeface="Poppins Semi-Bold"/>
              </a:rPr>
              <a:t>while/do while</a:t>
            </a:r>
          </a:p>
        </p:txBody>
      </p:sp>
      <p:sp>
        <p:nvSpPr>
          <p:cNvPr id="3" name="TextBox 3"/>
          <p:cNvSpPr txBox="1"/>
          <p:nvPr/>
        </p:nvSpPr>
        <p:spPr>
          <a:xfrm>
            <a:off x="164983" y="2147602"/>
            <a:ext cx="18232669" cy="7290264"/>
          </a:xfrm>
          <a:prstGeom prst="rect">
            <a:avLst/>
          </a:prstGeom>
        </p:spPr>
        <p:txBody>
          <a:bodyPr lIns="0" tIns="0" rIns="0" bIns="0" rtlCol="0" anchor="t">
            <a:spAutoFit/>
          </a:bodyPr>
          <a:lstStyle/>
          <a:p>
            <a:pPr algn="l">
              <a:lnSpc>
                <a:spcPts val="4049"/>
              </a:lnSpc>
            </a:pPr>
            <a:r>
              <a:rPr lang="en-US" sz="3399" b="1">
                <a:solidFill>
                  <a:srgbClr val="FFFFFF"/>
                </a:solidFill>
                <a:latin typeface="Poppins Semi-Bold"/>
                <a:ea typeface="Poppins Semi-Bold"/>
                <a:cs typeface="Poppins Semi-Bold"/>
                <a:sym typeface="Poppins Semi-Bold"/>
              </a:rPr>
              <a:t>Agora toda vez que você utilizar o </a:t>
            </a:r>
            <a:r>
              <a:rPr lang="en-US" sz="3399" b="1">
                <a:solidFill>
                  <a:srgbClr val="3C67BF"/>
                </a:solidFill>
                <a:latin typeface="Poppins Semi-Bold"/>
                <a:ea typeface="Poppins Semi-Bold"/>
                <a:cs typeface="Poppins Semi-Bold"/>
                <a:sym typeface="Poppins Semi-Bold"/>
              </a:rPr>
              <a:t>while </a:t>
            </a:r>
            <a:r>
              <a:rPr lang="en-US" sz="3399" b="1">
                <a:solidFill>
                  <a:srgbClr val="FFFFFF"/>
                </a:solidFill>
                <a:latin typeface="Poppins Semi-Bold"/>
                <a:ea typeface="Poppins Semi-Bold"/>
                <a:cs typeface="Poppins Semi-Bold"/>
                <a:sym typeface="Poppins Semi-Bold"/>
              </a:rPr>
              <a:t>você vai saber que ele vai repetir o bloco de código enquanto sua </a:t>
            </a:r>
            <a:r>
              <a:rPr lang="en-US" sz="3399" b="1">
                <a:solidFill>
                  <a:srgbClr val="7ED957"/>
                </a:solidFill>
                <a:latin typeface="Poppins Semi-Bold"/>
                <a:ea typeface="Poppins Semi-Bold"/>
                <a:cs typeface="Poppins Semi-Bold"/>
                <a:sym typeface="Poppins Semi-Bold"/>
              </a:rPr>
              <a:t>condicional</a:t>
            </a:r>
            <a:r>
              <a:rPr lang="en-US" sz="3399" b="1">
                <a:solidFill>
                  <a:srgbClr val="FFFFFF"/>
                </a:solidFill>
                <a:latin typeface="Poppins Semi-Bold"/>
                <a:ea typeface="Poppins Semi-Bold"/>
                <a:cs typeface="Poppins Semi-Bold"/>
                <a:sym typeface="Poppins Semi-Bold"/>
              </a:rPr>
              <a:t> resultar em </a:t>
            </a:r>
            <a:r>
              <a:rPr lang="en-US" sz="3399" b="1">
                <a:solidFill>
                  <a:srgbClr val="FF5757"/>
                </a:solidFill>
                <a:latin typeface="Poppins Semi-Bold"/>
                <a:ea typeface="Poppins Semi-Bold"/>
                <a:cs typeface="Poppins Semi-Bold"/>
                <a:sym typeface="Poppins Semi-Bold"/>
              </a:rPr>
              <a:t>verdadeiro</a:t>
            </a:r>
            <a:r>
              <a:rPr lang="en-US" sz="3399" b="1">
                <a:solidFill>
                  <a:srgbClr val="FFFFFF"/>
                </a:solidFill>
                <a:latin typeface="Poppins Semi-Bold"/>
                <a:ea typeface="Poppins Semi-Bold"/>
                <a:cs typeface="Poppins Semi-Bold"/>
                <a:sym typeface="Poppins Semi-Bold"/>
              </a:rPr>
              <a:t>. No </a:t>
            </a:r>
            <a:r>
              <a:rPr lang="en-US" sz="3399" b="1">
                <a:solidFill>
                  <a:srgbClr val="3C67BF"/>
                </a:solidFill>
                <a:latin typeface="Poppins Semi-Bold"/>
                <a:ea typeface="Poppins Semi-Bold"/>
                <a:cs typeface="Poppins Semi-Bold"/>
                <a:sym typeface="Poppins Semi-Bold"/>
              </a:rPr>
              <a:t>while </a:t>
            </a:r>
            <a:r>
              <a:rPr lang="en-US" sz="3399" b="1">
                <a:solidFill>
                  <a:srgbClr val="FFFFFF"/>
                </a:solidFill>
                <a:latin typeface="Poppins Semi-Bold"/>
                <a:ea typeface="Poppins Semi-Bold"/>
                <a:cs typeface="Poppins Semi-Bold"/>
                <a:sym typeface="Poppins Semi-Bold"/>
              </a:rPr>
              <a:t>ele começa verificando se aquela condicional resulta em verdadeiro para poder executar seu bloco de código. Mas veremos também que existe uma variação do comando </a:t>
            </a:r>
            <a:r>
              <a:rPr lang="en-US" sz="3399" b="1">
                <a:solidFill>
                  <a:srgbClr val="3C67BF"/>
                </a:solidFill>
                <a:latin typeface="Poppins Semi-Bold"/>
                <a:ea typeface="Poppins Semi-Bold"/>
                <a:cs typeface="Poppins Semi-Bold"/>
                <a:sym typeface="Poppins Semi-Bold"/>
              </a:rPr>
              <a:t>while </a:t>
            </a:r>
            <a:r>
              <a:rPr lang="en-US" sz="3399" b="1">
                <a:solidFill>
                  <a:srgbClr val="FFFFFF"/>
                </a:solidFill>
                <a:latin typeface="Poppins Semi-Bold"/>
                <a:ea typeface="Poppins Semi-Bold"/>
                <a:cs typeface="Poppins Semi-Bold"/>
                <a:sym typeface="Poppins Semi-Bold"/>
              </a:rPr>
              <a:t>em que você não precisa começar verificando, deixando essa verificação no final do bloco. Esse vai ser o comando </a:t>
            </a:r>
            <a:r>
              <a:rPr lang="en-US" sz="3399" b="1">
                <a:solidFill>
                  <a:srgbClr val="3C67BF"/>
                </a:solidFill>
                <a:latin typeface="Poppins Semi-Bold"/>
                <a:ea typeface="Poppins Semi-Bold"/>
                <a:cs typeface="Poppins Semi-Bold"/>
                <a:sym typeface="Poppins Semi-Bold"/>
              </a:rPr>
              <a:t>do while</a:t>
            </a:r>
            <a:r>
              <a:rPr lang="en-US" sz="3399" b="1">
                <a:solidFill>
                  <a:srgbClr val="FFFFFF"/>
                </a:solidFill>
                <a:latin typeface="Poppins Semi-Bold"/>
                <a:ea typeface="Poppins Semi-Bold"/>
                <a:cs typeface="Poppins Semi-Bold"/>
                <a:sym typeface="Poppins Semi-Bold"/>
              </a:rPr>
              <a:t>. Conhecendo o comando </a:t>
            </a:r>
            <a:r>
              <a:rPr lang="en-US" sz="3399" b="1">
                <a:solidFill>
                  <a:srgbClr val="3C67BF"/>
                </a:solidFill>
                <a:latin typeface="Poppins Semi-Bold"/>
                <a:ea typeface="Poppins Semi-Bold"/>
                <a:cs typeface="Poppins Semi-Bold"/>
                <a:sym typeface="Poppins Semi-Bold"/>
              </a:rPr>
              <a:t>while </a:t>
            </a:r>
            <a:r>
              <a:rPr lang="en-US" sz="3399" b="1">
                <a:solidFill>
                  <a:srgbClr val="FFFFFF"/>
                </a:solidFill>
                <a:latin typeface="Poppins Semi-Bold"/>
                <a:ea typeface="Poppins Semi-Bold"/>
                <a:cs typeface="Poppins Semi-Bold"/>
                <a:sym typeface="Poppins Semi-Bold"/>
              </a:rPr>
              <a:t>e entendendo como ele funciona, o </a:t>
            </a:r>
            <a:r>
              <a:rPr lang="en-US" sz="3399" b="1">
                <a:solidFill>
                  <a:srgbClr val="3C67BF"/>
                </a:solidFill>
                <a:latin typeface="Poppins Semi-Bold"/>
                <a:ea typeface="Poppins Semi-Bold"/>
                <a:cs typeface="Poppins Semi-Bold"/>
                <a:sym typeface="Poppins Semi-Bold"/>
              </a:rPr>
              <a:t>do while</a:t>
            </a:r>
            <a:r>
              <a:rPr lang="en-US" sz="3399" b="1">
                <a:solidFill>
                  <a:srgbClr val="FFFFFF"/>
                </a:solidFill>
                <a:latin typeface="Poppins Semi-Bold"/>
                <a:ea typeface="Poppins Semi-Bold"/>
                <a:cs typeface="Poppins Semi-Bold"/>
                <a:sym typeface="Poppins Semi-Bold"/>
              </a:rPr>
              <a:t> fica bem simples. O </a:t>
            </a:r>
            <a:r>
              <a:rPr lang="en-US" sz="3399" b="1">
                <a:solidFill>
                  <a:srgbClr val="3C67BF"/>
                </a:solidFill>
                <a:latin typeface="Poppins Semi-Bold"/>
                <a:ea typeface="Poppins Semi-Bold"/>
                <a:cs typeface="Poppins Semi-Bold"/>
                <a:sym typeface="Poppins Semi-Bold"/>
              </a:rPr>
              <a:t>do while</a:t>
            </a:r>
            <a:r>
              <a:rPr lang="en-US" sz="3399" b="1">
                <a:solidFill>
                  <a:srgbClr val="FFFFFF"/>
                </a:solidFill>
                <a:latin typeface="Poppins Semi-Bold"/>
                <a:ea typeface="Poppins Semi-Bold"/>
                <a:cs typeface="Poppins Semi-Bold"/>
                <a:sym typeface="Poppins Semi-Bold"/>
              </a:rPr>
              <a:t> funciona da mesma maneira que o </a:t>
            </a:r>
            <a:r>
              <a:rPr lang="en-US" sz="3399" b="1">
                <a:solidFill>
                  <a:srgbClr val="3C67BF"/>
                </a:solidFill>
                <a:latin typeface="Poppins Semi-Bold"/>
                <a:ea typeface="Poppins Semi-Bold"/>
                <a:cs typeface="Poppins Semi-Bold"/>
                <a:sym typeface="Poppins Semi-Bold"/>
              </a:rPr>
              <a:t>while</a:t>
            </a:r>
            <a:r>
              <a:rPr lang="en-US" sz="3399" b="1">
                <a:solidFill>
                  <a:srgbClr val="FFFFFF"/>
                </a:solidFill>
                <a:latin typeface="Poppins Semi-Bold"/>
                <a:ea typeface="Poppins Semi-Bold"/>
                <a:cs typeface="Poppins Semi-Bold"/>
                <a:sym typeface="Poppins Semi-Bold"/>
              </a:rPr>
              <a:t>, ele também precisa de uma condicional que retorne verdadeiro para poder executar seus blocos de códigos, a diferença é que o comando fica no final do bloco. </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9051941" y="6072911"/>
            <a:ext cx="2460860" cy="1449476"/>
          </a:xfrm>
          <a:custGeom>
            <a:avLst/>
            <a:gdLst/>
            <a:ahLst/>
            <a:cxnLst/>
            <a:rect l="l" t="t" r="r" b="b"/>
            <a:pathLst>
              <a:path w="2460860" h="1449476">
                <a:moveTo>
                  <a:pt x="0" y="0"/>
                </a:moveTo>
                <a:lnTo>
                  <a:pt x="2460860" y="0"/>
                </a:lnTo>
                <a:lnTo>
                  <a:pt x="2460860" y="1449477"/>
                </a:lnTo>
                <a:lnTo>
                  <a:pt x="0" y="14494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610173" y="324326"/>
            <a:ext cx="15368978"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Comando de repetição </a:t>
            </a:r>
            <a:r>
              <a:rPr lang="en-US" sz="5964" b="1">
                <a:solidFill>
                  <a:srgbClr val="3C67BF"/>
                </a:solidFill>
                <a:latin typeface="Poppins Semi-Bold"/>
                <a:ea typeface="Poppins Semi-Bold"/>
                <a:cs typeface="Poppins Semi-Bold"/>
                <a:sym typeface="Poppins Semi-Bold"/>
              </a:rPr>
              <a:t>while/do while</a:t>
            </a:r>
          </a:p>
        </p:txBody>
      </p:sp>
      <p:sp>
        <p:nvSpPr>
          <p:cNvPr id="4" name="TextBox 4"/>
          <p:cNvSpPr txBox="1"/>
          <p:nvPr/>
        </p:nvSpPr>
        <p:spPr>
          <a:xfrm>
            <a:off x="3397091" y="3467233"/>
            <a:ext cx="85487" cy="470745"/>
          </a:xfrm>
          <a:prstGeom prst="rect">
            <a:avLst/>
          </a:prstGeom>
        </p:spPr>
        <p:txBody>
          <a:bodyPr lIns="0" tIns="0" rIns="0" bIns="0" rtlCol="0" anchor="t">
            <a:spAutoFit/>
          </a:bodyPr>
          <a:lstStyle/>
          <a:p>
            <a:pPr algn="l">
              <a:lnSpc>
                <a:spcPts val="3515"/>
              </a:lnSpc>
            </a:pPr>
            <a:r>
              <a:rPr lang="en-US" sz="2199" b="1">
                <a:solidFill>
                  <a:srgbClr val="FF5757"/>
                </a:solidFill>
                <a:latin typeface="Poppins Semi-Bold"/>
                <a:ea typeface="Poppins Semi-Bold"/>
                <a:cs typeface="Poppins Semi-Bold"/>
                <a:sym typeface="Poppins Semi-Bold"/>
              </a:rPr>
              <a:t> </a:t>
            </a:r>
          </a:p>
        </p:txBody>
      </p:sp>
      <p:sp>
        <p:nvSpPr>
          <p:cNvPr id="5" name="TextBox 5"/>
          <p:cNvSpPr txBox="1"/>
          <p:nvPr/>
        </p:nvSpPr>
        <p:spPr>
          <a:xfrm>
            <a:off x="1427093" y="3888543"/>
            <a:ext cx="2941110" cy="1251414"/>
          </a:xfrm>
          <a:prstGeom prst="rect">
            <a:avLst/>
          </a:prstGeom>
        </p:spPr>
        <p:txBody>
          <a:bodyPr lIns="0" tIns="0" rIns="0" bIns="0" rtlCol="0" anchor="t">
            <a:spAutoFit/>
          </a:bodyPr>
          <a:lstStyle/>
          <a:p>
            <a:pPr algn="l">
              <a:lnSpc>
                <a:spcPts val="5432"/>
              </a:lnSpc>
            </a:pPr>
            <a:r>
              <a:rPr lang="en-US" sz="3399" b="1">
                <a:solidFill>
                  <a:srgbClr val="3C67BF"/>
                </a:solidFill>
                <a:latin typeface="Poppins Semi-Bold"/>
                <a:ea typeface="Poppins Semi-Bold"/>
                <a:cs typeface="Poppins Semi-Bold"/>
                <a:sym typeface="Poppins Semi-Bold"/>
              </a:rPr>
              <a:t>int</a:t>
            </a:r>
            <a:r>
              <a:rPr lang="en-US" sz="3399" b="1">
                <a:solidFill>
                  <a:srgbClr val="FFFFFF"/>
                </a:solidFill>
                <a:latin typeface="Poppins Semi-Bold"/>
                <a:ea typeface="Poppins Semi-Bold"/>
                <a:cs typeface="Poppins Semi-Bold"/>
                <a:sym typeface="Poppins Semi-Bold"/>
              </a:rPr>
              <a:t> i = 20;</a:t>
            </a:r>
          </a:p>
          <a:p>
            <a:pPr algn="l">
              <a:lnSpc>
                <a:spcPts val="2855"/>
              </a:lnSpc>
            </a:pPr>
            <a:r>
              <a:rPr lang="en-US" sz="3399" b="1">
                <a:solidFill>
                  <a:srgbClr val="3C67BF"/>
                </a:solidFill>
                <a:latin typeface="Poppins Semi-Bold"/>
                <a:ea typeface="Poppins Semi-Bold"/>
                <a:cs typeface="Poppins Semi-Bold"/>
                <a:sym typeface="Poppins Semi-Bold"/>
              </a:rPr>
              <a:t>while</a:t>
            </a:r>
            <a:r>
              <a:rPr lang="en-US" sz="3399" b="1">
                <a:solidFill>
                  <a:srgbClr val="FFFFFF"/>
                </a:solidFill>
                <a:latin typeface="Poppins Semi-Bold"/>
                <a:ea typeface="Poppins Semi-Bold"/>
                <a:cs typeface="Poppins Semi-Bold"/>
                <a:sym typeface="Poppins Semi-Bold"/>
              </a:rPr>
              <a:t>(i&lt;20){ </a:t>
            </a:r>
          </a:p>
        </p:txBody>
      </p:sp>
      <p:sp>
        <p:nvSpPr>
          <p:cNvPr id="6" name="TextBox 6"/>
          <p:cNvSpPr txBox="1"/>
          <p:nvPr/>
        </p:nvSpPr>
        <p:spPr>
          <a:xfrm>
            <a:off x="2074793" y="4936293"/>
            <a:ext cx="4784531" cy="718014"/>
          </a:xfrm>
          <a:prstGeom prst="rect">
            <a:avLst/>
          </a:prstGeom>
        </p:spPr>
        <p:txBody>
          <a:bodyPr lIns="0" tIns="0" rIns="0" bIns="0" rtlCol="0" anchor="t">
            <a:spAutoFit/>
          </a:bodyPr>
          <a:lstStyle/>
          <a:p>
            <a:pPr algn="l">
              <a:lnSpc>
                <a:spcPts val="5245"/>
              </a:lnSpc>
            </a:pP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(i);</a:t>
            </a:r>
          </a:p>
        </p:txBody>
      </p:sp>
      <p:sp>
        <p:nvSpPr>
          <p:cNvPr id="7" name="TextBox 7"/>
          <p:cNvSpPr txBox="1"/>
          <p:nvPr/>
        </p:nvSpPr>
        <p:spPr>
          <a:xfrm>
            <a:off x="1427093" y="5679243"/>
            <a:ext cx="231210" cy="489414"/>
          </a:xfrm>
          <a:prstGeom prst="rect">
            <a:avLst/>
          </a:prstGeom>
        </p:spPr>
        <p:txBody>
          <a:bodyPr lIns="0" tIns="0" rIns="0" bIns="0" rtlCol="0" anchor="t">
            <a:spAutoFit/>
          </a:bodyPr>
          <a:lstStyle/>
          <a:p>
            <a:pPr algn="l">
              <a:lnSpc>
                <a:spcPts val="2855"/>
              </a:lnSpc>
            </a:pPr>
            <a:r>
              <a:rPr lang="en-US" sz="3399" b="1">
                <a:solidFill>
                  <a:srgbClr val="FFFFFF"/>
                </a:solidFill>
                <a:latin typeface="Poppins Semi-Bold"/>
                <a:ea typeface="Poppins Semi-Bold"/>
                <a:cs typeface="Poppins Semi-Bold"/>
                <a:sym typeface="Poppins Semi-Bold"/>
              </a:rPr>
              <a:t>}</a:t>
            </a:r>
          </a:p>
        </p:txBody>
      </p:sp>
      <p:sp>
        <p:nvSpPr>
          <p:cNvPr id="8" name="TextBox 8"/>
          <p:cNvSpPr txBox="1"/>
          <p:nvPr/>
        </p:nvSpPr>
        <p:spPr>
          <a:xfrm>
            <a:off x="164983" y="2204637"/>
            <a:ext cx="6888556" cy="670389"/>
          </a:xfrm>
          <a:prstGeom prst="rect">
            <a:avLst/>
          </a:prstGeom>
        </p:spPr>
        <p:txBody>
          <a:bodyPr lIns="0" tIns="0" rIns="0" bIns="0" rtlCol="0" anchor="t">
            <a:spAutoFit/>
          </a:bodyPr>
          <a:lstStyle/>
          <a:p>
            <a:pPr algn="l">
              <a:lnSpc>
                <a:spcPts val="4759"/>
              </a:lnSpc>
            </a:pPr>
            <a:r>
              <a:rPr lang="en-US" sz="3399" b="1">
                <a:solidFill>
                  <a:srgbClr val="FFFFFF"/>
                </a:solidFill>
                <a:latin typeface="Poppins Semi-Bold"/>
                <a:ea typeface="Poppins Semi-Bold"/>
                <a:cs typeface="Poppins Semi-Bold"/>
                <a:sym typeface="Poppins Semi-Bold"/>
              </a:rPr>
              <a:t>Sintaxe do comando </a:t>
            </a:r>
            <a:r>
              <a:rPr lang="en-US" sz="3399" b="1">
                <a:solidFill>
                  <a:srgbClr val="3C67BF"/>
                </a:solidFill>
                <a:latin typeface="Poppins Semi-Bold"/>
                <a:ea typeface="Poppins Semi-Bold"/>
                <a:cs typeface="Poppins Semi-Bold"/>
                <a:sym typeface="Poppins Semi-Bold"/>
              </a:rPr>
              <a:t>do while</a:t>
            </a:r>
            <a:r>
              <a:rPr lang="en-US" sz="3399" b="1">
                <a:solidFill>
                  <a:srgbClr val="FFFFFF"/>
                </a:solidFill>
                <a:latin typeface="Poppins Semi-Bold"/>
                <a:ea typeface="Poppins Semi-Bold"/>
                <a:cs typeface="Poppins Semi-Bold"/>
                <a:sym typeface="Poppins Semi-Bold"/>
              </a:rPr>
              <a:t>.</a:t>
            </a:r>
          </a:p>
        </p:txBody>
      </p:sp>
      <p:sp>
        <p:nvSpPr>
          <p:cNvPr id="9" name="TextBox 9"/>
          <p:cNvSpPr txBox="1"/>
          <p:nvPr/>
        </p:nvSpPr>
        <p:spPr>
          <a:xfrm>
            <a:off x="13768140" y="3467233"/>
            <a:ext cx="85487" cy="470745"/>
          </a:xfrm>
          <a:prstGeom prst="rect">
            <a:avLst/>
          </a:prstGeom>
        </p:spPr>
        <p:txBody>
          <a:bodyPr lIns="0" tIns="0" rIns="0" bIns="0" rtlCol="0" anchor="t">
            <a:spAutoFit/>
          </a:bodyPr>
          <a:lstStyle/>
          <a:p>
            <a:pPr algn="l">
              <a:lnSpc>
                <a:spcPts val="3515"/>
              </a:lnSpc>
            </a:pPr>
            <a:r>
              <a:rPr lang="en-US" sz="2199" b="1">
                <a:solidFill>
                  <a:srgbClr val="FF5757"/>
                </a:solidFill>
                <a:latin typeface="Poppins Semi-Bold"/>
                <a:ea typeface="Poppins Semi-Bold"/>
                <a:cs typeface="Poppins Semi-Bold"/>
                <a:sym typeface="Poppins Semi-Bold"/>
              </a:rPr>
              <a:t> </a:t>
            </a:r>
          </a:p>
        </p:txBody>
      </p:sp>
      <p:sp>
        <p:nvSpPr>
          <p:cNvPr id="10" name="TextBox 10"/>
          <p:cNvSpPr txBox="1"/>
          <p:nvPr/>
        </p:nvSpPr>
        <p:spPr>
          <a:xfrm>
            <a:off x="10760983" y="3888543"/>
            <a:ext cx="2149126" cy="1251414"/>
          </a:xfrm>
          <a:prstGeom prst="rect">
            <a:avLst/>
          </a:prstGeom>
        </p:spPr>
        <p:txBody>
          <a:bodyPr lIns="0" tIns="0" rIns="0" bIns="0" rtlCol="0" anchor="t">
            <a:spAutoFit/>
          </a:bodyPr>
          <a:lstStyle/>
          <a:p>
            <a:pPr algn="l">
              <a:lnSpc>
                <a:spcPts val="5432"/>
              </a:lnSpc>
            </a:pPr>
            <a:r>
              <a:rPr lang="en-US" sz="3399" b="1">
                <a:solidFill>
                  <a:srgbClr val="3C67BF"/>
                </a:solidFill>
                <a:latin typeface="Poppins Semi-Bold"/>
                <a:ea typeface="Poppins Semi-Bold"/>
                <a:cs typeface="Poppins Semi-Bold"/>
                <a:sym typeface="Poppins Semi-Bold"/>
              </a:rPr>
              <a:t>int</a:t>
            </a:r>
            <a:r>
              <a:rPr lang="en-US" sz="3399" b="1">
                <a:solidFill>
                  <a:srgbClr val="FFFFFF"/>
                </a:solidFill>
                <a:latin typeface="Poppins Semi-Bold"/>
                <a:ea typeface="Poppins Semi-Bold"/>
                <a:cs typeface="Poppins Semi-Bold"/>
                <a:sym typeface="Poppins Semi-Bold"/>
              </a:rPr>
              <a:t> i = 20;</a:t>
            </a:r>
          </a:p>
          <a:p>
            <a:pPr algn="l">
              <a:lnSpc>
                <a:spcPts val="2855"/>
              </a:lnSpc>
            </a:pPr>
            <a:r>
              <a:rPr lang="en-US" sz="3399" b="1">
                <a:solidFill>
                  <a:srgbClr val="3C67BF"/>
                </a:solidFill>
                <a:latin typeface="Poppins Semi-Bold"/>
                <a:ea typeface="Poppins Semi-Bold"/>
                <a:cs typeface="Poppins Semi-Bold"/>
                <a:sym typeface="Poppins Semi-Bold"/>
              </a:rPr>
              <a:t>do</a:t>
            </a:r>
            <a:r>
              <a:rPr lang="en-US" sz="3399" b="1">
                <a:solidFill>
                  <a:srgbClr val="FFFFFF"/>
                </a:solidFill>
                <a:latin typeface="Poppins Semi-Bold"/>
                <a:ea typeface="Poppins Semi-Bold"/>
                <a:cs typeface="Poppins Semi-Bold"/>
                <a:sym typeface="Poppins Semi-Bold"/>
              </a:rPr>
              <a:t>{ </a:t>
            </a:r>
          </a:p>
        </p:txBody>
      </p:sp>
      <p:sp>
        <p:nvSpPr>
          <p:cNvPr id="11" name="TextBox 11"/>
          <p:cNvSpPr txBox="1"/>
          <p:nvPr/>
        </p:nvSpPr>
        <p:spPr>
          <a:xfrm>
            <a:off x="11408683" y="4936293"/>
            <a:ext cx="4784531" cy="718014"/>
          </a:xfrm>
          <a:prstGeom prst="rect">
            <a:avLst/>
          </a:prstGeom>
        </p:spPr>
        <p:txBody>
          <a:bodyPr lIns="0" tIns="0" rIns="0" bIns="0" rtlCol="0" anchor="t">
            <a:spAutoFit/>
          </a:bodyPr>
          <a:lstStyle/>
          <a:p>
            <a:pPr algn="l">
              <a:lnSpc>
                <a:spcPts val="5245"/>
              </a:lnSpc>
            </a:pPr>
            <a:r>
              <a:rPr lang="en-US" sz="3399" b="1">
                <a:solidFill>
                  <a:srgbClr val="7ED957"/>
                </a:solidFill>
                <a:latin typeface="Poppins Semi-Bold"/>
                <a:ea typeface="Poppins Semi-Bold"/>
                <a:cs typeface="Poppins Semi-Bold"/>
                <a:sym typeface="Poppins Semi-Bold"/>
              </a:rPr>
              <a:t>Console</a:t>
            </a:r>
            <a:r>
              <a:rPr lang="en-US" sz="3399" b="1">
                <a:solidFill>
                  <a:srgbClr val="FFFFFF"/>
                </a:solidFill>
                <a:latin typeface="Poppins Semi-Bold"/>
                <a:ea typeface="Poppins Semi-Bold"/>
                <a:cs typeface="Poppins Semi-Bold"/>
                <a:sym typeface="Poppins Semi-Bold"/>
              </a:rPr>
              <a:t>.</a:t>
            </a:r>
            <a:r>
              <a:rPr lang="en-US" sz="3399" b="1">
                <a:solidFill>
                  <a:srgbClr val="FFCB85"/>
                </a:solidFill>
                <a:latin typeface="Poppins Semi-Bold"/>
                <a:ea typeface="Poppins Semi-Bold"/>
                <a:cs typeface="Poppins Semi-Bold"/>
                <a:sym typeface="Poppins Semi-Bold"/>
              </a:rPr>
              <a:t>WriteLine</a:t>
            </a:r>
            <a:r>
              <a:rPr lang="en-US" sz="3399" b="1">
                <a:solidFill>
                  <a:srgbClr val="FFFFFF"/>
                </a:solidFill>
                <a:latin typeface="Poppins Semi-Bold"/>
                <a:ea typeface="Poppins Semi-Bold"/>
                <a:cs typeface="Poppins Semi-Bold"/>
                <a:sym typeface="Poppins Semi-Bold"/>
              </a:rPr>
              <a:t>(i);</a:t>
            </a:r>
          </a:p>
        </p:txBody>
      </p:sp>
      <p:sp>
        <p:nvSpPr>
          <p:cNvPr id="12" name="TextBox 12"/>
          <p:cNvSpPr txBox="1"/>
          <p:nvPr/>
        </p:nvSpPr>
        <p:spPr>
          <a:xfrm>
            <a:off x="10760983" y="5679243"/>
            <a:ext cx="2952140" cy="489414"/>
          </a:xfrm>
          <a:prstGeom prst="rect">
            <a:avLst/>
          </a:prstGeom>
        </p:spPr>
        <p:txBody>
          <a:bodyPr lIns="0" tIns="0" rIns="0" bIns="0" rtlCol="0" anchor="t">
            <a:spAutoFit/>
          </a:bodyPr>
          <a:lstStyle/>
          <a:p>
            <a:pPr algn="l">
              <a:lnSpc>
                <a:spcPts val="2855"/>
              </a:lnSpc>
            </a:pPr>
            <a:r>
              <a:rPr lang="en-US" sz="3399" b="1">
                <a:solidFill>
                  <a:srgbClr val="FFFFFF"/>
                </a:solidFill>
                <a:latin typeface="Poppins Semi-Bold"/>
                <a:ea typeface="Poppins Semi-Bold"/>
                <a:cs typeface="Poppins Semi-Bold"/>
                <a:sym typeface="Poppins Semi-Bold"/>
              </a:rPr>
              <a:t>}</a:t>
            </a:r>
            <a:r>
              <a:rPr lang="en-US" sz="3399" b="1">
                <a:solidFill>
                  <a:srgbClr val="3C67BF"/>
                </a:solidFill>
                <a:latin typeface="Poppins Semi-Bold"/>
                <a:ea typeface="Poppins Semi-Bold"/>
                <a:cs typeface="Poppins Semi-Bold"/>
                <a:sym typeface="Poppins Semi-Bold"/>
              </a:rPr>
              <a:t>while</a:t>
            </a:r>
            <a:r>
              <a:rPr lang="en-US" sz="3399" b="1">
                <a:solidFill>
                  <a:srgbClr val="FFFFFF"/>
                </a:solidFill>
                <a:latin typeface="Poppins Semi-Bold"/>
                <a:ea typeface="Poppins Semi-Bold"/>
                <a:cs typeface="Poppins Semi-Bold"/>
                <a:sym typeface="Poppins Semi-Bold"/>
              </a:rPr>
              <a:t>(i&lt;20);</a:t>
            </a:r>
          </a:p>
        </p:txBody>
      </p:sp>
      <p:sp>
        <p:nvSpPr>
          <p:cNvPr id="13" name="TextBox 13"/>
          <p:cNvSpPr txBox="1"/>
          <p:nvPr/>
        </p:nvSpPr>
        <p:spPr>
          <a:xfrm>
            <a:off x="164983" y="7299760"/>
            <a:ext cx="18317013" cy="2458469"/>
          </a:xfrm>
          <a:prstGeom prst="rect">
            <a:avLst/>
          </a:prstGeom>
        </p:spPr>
        <p:txBody>
          <a:bodyPr lIns="0" tIns="0" rIns="0" bIns="0" rtlCol="0" anchor="t">
            <a:spAutoFit/>
          </a:bodyPr>
          <a:lstStyle/>
          <a:p>
            <a:pPr algn="l">
              <a:lnSpc>
                <a:spcPts val="4651"/>
              </a:lnSpc>
            </a:pPr>
            <a:r>
              <a:rPr lang="en-US" sz="3899" b="1">
                <a:solidFill>
                  <a:srgbClr val="FFFFFF"/>
                </a:solidFill>
                <a:latin typeface="Poppins Semi-Bold"/>
                <a:ea typeface="Poppins Semi-Bold"/>
                <a:cs typeface="Poppins Semi-Bold"/>
                <a:sym typeface="Poppins Semi-Bold"/>
              </a:rPr>
              <a:t>Note que agora o comando </a:t>
            </a:r>
            <a:r>
              <a:rPr lang="en-US" sz="3899" b="1">
                <a:solidFill>
                  <a:srgbClr val="3C67BF"/>
                </a:solidFill>
                <a:latin typeface="Poppins Semi-Bold"/>
                <a:ea typeface="Poppins Semi-Bold"/>
                <a:cs typeface="Poppins Semi-Bold"/>
                <a:sym typeface="Poppins Semi-Bold"/>
              </a:rPr>
              <a:t>while </a:t>
            </a:r>
            <a:r>
              <a:rPr lang="en-US" sz="3899" b="1">
                <a:solidFill>
                  <a:srgbClr val="FFFFFF"/>
                </a:solidFill>
                <a:latin typeface="Poppins Semi-Bold"/>
                <a:ea typeface="Poppins Semi-Bold"/>
                <a:cs typeface="Poppins Semi-Bold"/>
                <a:sym typeface="Poppins Semi-Bold"/>
              </a:rPr>
              <a:t>está no final do bloco. Pra que utilizar o </a:t>
            </a:r>
            <a:r>
              <a:rPr lang="en-US" sz="3899" b="1">
                <a:solidFill>
                  <a:srgbClr val="3C67BF"/>
                </a:solidFill>
                <a:latin typeface="Poppins Semi-Bold"/>
                <a:ea typeface="Poppins Semi-Bold"/>
                <a:cs typeface="Poppins Semi-Bold"/>
                <a:sym typeface="Poppins Semi-Bold"/>
              </a:rPr>
              <a:t>do while</a:t>
            </a:r>
            <a:r>
              <a:rPr lang="en-US" sz="3899" b="1">
                <a:solidFill>
                  <a:srgbClr val="FFFFFF"/>
                </a:solidFill>
                <a:latin typeface="Poppins Semi-Bold"/>
                <a:ea typeface="Poppins Semi-Bold"/>
                <a:cs typeface="Poppins Semi-Bold"/>
                <a:sym typeface="Poppins Semi-Bold"/>
              </a:rPr>
              <a:t>? Para caso você queira executar o bloco de código primeiro antes de verificar a sua condicional.</a:t>
            </a:r>
          </a:p>
        </p:txBody>
      </p:sp>
      <p:sp>
        <p:nvSpPr>
          <p:cNvPr id="14" name="TextBox 14"/>
          <p:cNvSpPr txBox="1"/>
          <p:nvPr/>
        </p:nvSpPr>
        <p:spPr>
          <a:xfrm>
            <a:off x="2156774" y="3219583"/>
            <a:ext cx="4340733" cy="718395"/>
          </a:xfrm>
          <a:prstGeom prst="rect">
            <a:avLst/>
          </a:prstGeom>
        </p:spPr>
        <p:txBody>
          <a:bodyPr lIns="0" tIns="0" rIns="0" bIns="0" rtlCol="0" anchor="t">
            <a:spAutoFit/>
          </a:bodyPr>
          <a:lstStyle/>
          <a:p>
            <a:pPr algn="just">
              <a:lnSpc>
                <a:spcPts val="2624"/>
              </a:lnSpc>
            </a:pPr>
            <a:r>
              <a:rPr lang="en-US" sz="2199" b="1">
                <a:solidFill>
                  <a:srgbClr val="FF5757"/>
                </a:solidFill>
                <a:latin typeface="Poppins Semi-Bold"/>
                <a:ea typeface="Poppins Semi-Bold"/>
                <a:cs typeface="Poppins Semi-Bold"/>
                <a:sym typeface="Poppins Semi-Bold"/>
              </a:rPr>
              <a:t>Vai verificar se i é menor que 20 antesde executarobloco.</a:t>
            </a:r>
          </a:p>
        </p:txBody>
      </p:sp>
      <p:sp>
        <p:nvSpPr>
          <p:cNvPr id="15" name="TextBox 15"/>
          <p:cNvSpPr txBox="1"/>
          <p:nvPr/>
        </p:nvSpPr>
        <p:spPr>
          <a:xfrm>
            <a:off x="11027559" y="3219583"/>
            <a:ext cx="5285308" cy="385020"/>
          </a:xfrm>
          <a:prstGeom prst="rect">
            <a:avLst/>
          </a:prstGeom>
        </p:spPr>
        <p:txBody>
          <a:bodyPr lIns="0" tIns="0" rIns="0" bIns="0" rtlCol="0" anchor="t">
            <a:spAutoFit/>
          </a:bodyPr>
          <a:lstStyle/>
          <a:p>
            <a:pPr algn="l">
              <a:lnSpc>
                <a:spcPts val="2624"/>
              </a:lnSpc>
            </a:pPr>
            <a:r>
              <a:rPr lang="en-US" sz="2199" b="1">
                <a:solidFill>
                  <a:srgbClr val="FF5757"/>
                </a:solidFill>
                <a:latin typeface="Poppins Semi-Bold"/>
                <a:ea typeface="Poppins Semi-Bold"/>
                <a:cs typeface="Poppins Semi-Bold"/>
                <a:sym typeface="Poppins Semi-Bold"/>
              </a:rPr>
              <a:t>Vai executar o bloco primeiro antes</a:t>
            </a:r>
          </a:p>
        </p:txBody>
      </p:sp>
      <p:sp>
        <p:nvSpPr>
          <p:cNvPr id="16" name="TextBox 16"/>
          <p:cNvSpPr txBox="1"/>
          <p:nvPr/>
        </p:nvSpPr>
        <p:spPr>
          <a:xfrm>
            <a:off x="11302594" y="3552958"/>
            <a:ext cx="4724267" cy="385020"/>
          </a:xfrm>
          <a:prstGeom prst="rect">
            <a:avLst/>
          </a:prstGeom>
        </p:spPr>
        <p:txBody>
          <a:bodyPr lIns="0" tIns="0" rIns="0" bIns="0" rtlCol="0" anchor="t">
            <a:spAutoFit/>
          </a:bodyPr>
          <a:lstStyle/>
          <a:p>
            <a:pPr algn="l">
              <a:lnSpc>
                <a:spcPts val="2624"/>
              </a:lnSpc>
            </a:pPr>
            <a:r>
              <a:rPr lang="en-US" sz="2199" b="1">
                <a:solidFill>
                  <a:srgbClr val="FF5757"/>
                </a:solidFill>
                <a:latin typeface="Poppins Semi-Bold"/>
                <a:ea typeface="Poppins Semi-Bold"/>
                <a:cs typeface="Poppins Semi-Bold"/>
                <a:sym typeface="Poppins Semi-Bold"/>
              </a:rPr>
              <a:t>de verificar se i émenorque 20.</a:t>
            </a: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400431" y="3742249"/>
            <a:ext cx="16595788" cy="2182416"/>
          </a:xfrm>
          <a:prstGeom prst="rect">
            <a:avLst/>
          </a:prstGeom>
        </p:spPr>
        <p:txBody>
          <a:bodyPr lIns="0" tIns="0" rIns="0" bIns="0" rtlCol="0" anchor="t">
            <a:spAutoFit/>
          </a:bodyPr>
          <a:lstStyle/>
          <a:p>
            <a:pPr algn="l">
              <a:lnSpc>
                <a:spcPts val="4125"/>
              </a:lnSpc>
            </a:pPr>
            <a:r>
              <a:rPr lang="en-US" sz="3499" b="1">
                <a:solidFill>
                  <a:srgbClr val="FF5757"/>
                </a:solidFill>
                <a:latin typeface="Poppins Semi-Bold"/>
                <a:ea typeface="Poppins Semi-Bold"/>
                <a:cs typeface="Poppins Semi-Bold"/>
                <a:sym typeface="Poppins Semi-Bold"/>
              </a:rPr>
              <a:t>Atividade #39 </a:t>
            </a:r>
            <a:r>
              <a:rPr lang="en-US" sz="3499" b="1">
                <a:solidFill>
                  <a:srgbClr val="FFFFFF"/>
                </a:solidFill>
                <a:latin typeface="Poppins Semi-Bold"/>
                <a:ea typeface="Poppins Semi-Bold"/>
                <a:cs typeface="Poppins Semi-Bold"/>
                <a:sym typeface="Poppins Semi-Bold"/>
              </a:rPr>
              <a:t>Faça um programa que conte de 2 em 2 até 100 utilizando o comando while, exibindo essa contagem na tela.</a:t>
            </a: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400431" y="3218374"/>
            <a:ext cx="17662827" cy="3230166"/>
          </a:xfrm>
          <a:prstGeom prst="rect">
            <a:avLst/>
          </a:prstGeom>
        </p:spPr>
        <p:txBody>
          <a:bodyPr lIns="0" tIns="0" rIns="0" bIns="0" rtlCol="0" anchor="t">
            <a:spAutoFit/>
          </a:bodyPr>
          <a:lstStyle/>
          <a:p>
            <a:pPr algn="l">
              <a:lnSpc>
                <a:spcPts val="4125"/>
              </a:lnSpc>
            </a:pPr>
            <a:r>
              <a:rPr lang="en-US" sz="3499" b="1">
                <a:solidFill>
                  <a:srgbClr val="FF5757"/>
                </a:solidFill>
                <a:latin typeface="Poppins Semi-Bold"/>
                <a:ea typeface="Poppins Semi-Bold"/>
                <a:cs typeface="Poppins Semi-Bold"/>
                <a:sym typeface="Poppins Semi-Bold"/>
              </a:rPr>
              <a:t>Atividade #40 </a:t>
            </a:r>
            <a:r>
              <a:rPr lang="en-US" sz="3499" b="1">
                <a:solidFill>
                  <a:srgbClr val="FFFFFF"/>
                </a:solidFill>
                <a:latin typeface="Poppins Semi-Bold"/>
                <a:ea typeface="Poppins Semi-Bold"/>
                <a:cs typeface="Poppins Semi-Bold"/>
                <a:sym typeface="Poppins Semi-Bold"/>
              </a:rPr>
              <a:t>Faça um programa que leia um número repetidamente até que o usuário informe o número 0. O programa deve pedir para que o usuário informe esse número, se ele for 0 o programa deve parar a repetição e informar ao usuário que o programa foi finalizado.</a:t>
            </a: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400431" y="3218374"/>
            <a:ext cx="17332404" cy="3230166"/>
          </a:xfrm>
          <a:prstGeom prst="rect">
            <a:avLst/>
          </a:prstGeom>
        </p:spPr>
        <p:txBody>
          <a:bodyPr lIns="0" tIns="0" rIns="0" bIns="0" rtlCol="0" anchor="t">
            <a:spAutoFit/>
          </a:bodyPr>
          <a:lstStyle/>
          <a:p>
            <a:pPr algn="l">
              <a:lnSpc>
                <a:spcPts val="4125"/>
              </a:lnSpc>
            </a:pPr>
            <a:r>
              <a:rPr lang="en-US" sz="3499" b="1">
                <a:solidFill>
                  <a:srgbClr val="FF5757"/>
                </a:solidFill>
                <a:latin typeface="Poppins Semi-Bold"/>
                <a:ea typeface="Poppins Semi-Bold"/>
                <a:cs typeface="Poppins Semi-Bold"/>
                <a:sym typeface="Poppins Semi-Bold"/>
              </a:rPr>
              <a:t>Atividade #41 </a:t>
            </a:r>
            <a:r>
              <a:rPr lang="en-US" sz="3499" b="1">
                <a:solidFill>
                  <a:srgbClr val="FFFFFF"/>
                </a:solidFill>
                <a:latin typeface="Poppins Semi-Bold"/>
                <a:ea typeface="Poppins Semi-Bold"/>
                <a:cs typeface="Poppins Semi-Bold"/>
                <a:sym typeface="Poppins Semi-Bold"/>
              </a:rPr>
              <a:t>Faça um programa que leia um número repetidamente e incremente em uma variável. O programa deve parar a repetição quando o valor dessa variável por maior que 1000. No final o programa deve mostrar o valor dessa variável.</a:t>
            </a: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400431" y="3480311"/>
            <a:ext cx="17263481" cy="3230166"/>
          </a:xfrm>
          <a:prstGeom prst="rect">
            <a:avLst/>
          </a:prstGeom>
        </p:spPr>
        <p:txBody>
          <a:bodyPr lIns="0" tIns="0" rIns="0" bIns="0" rtlCol="0" anchor="t">
            <a:spAutoFit/>
          </a:bodyPr>
          <a:lstStyle/>
          <a:p>
            <a:pPr algn="l">
              <a:lnSpc>
                <a:spcPts val="4125"/>
              </a:lnSpc>
            </a:pPr>
            <a:r>
              <a:rPr lang="en-US" sz="3499" b="1">
                <a:solidFill>
                  <a:srgbClr val="FF5757"/>
                </a:solidFill>
                <a:latin typeface="Poppins Semi-Bold"/>
                <a:ea typeface="Poppins Semi-Bold"/>
                <a:cs typeface="Poppins Semi-Bold"/>
                <a:sym typeface="Poppins Semi-Bold"/>
              </a:rPr>
              <a:t>Atividade #42 </a:t>
            </a:r>
            <a:r>
              <a:rPr lang="en-US" sz="3499" b="1">
                <a:solidFill>
                  <a:srgbClr val="FFFFFF"/>
                </a:solidFill>
                <a:latin typeface="Poppins Semi-Bold"/>
                <a:ea typeface="Poppins Semi-Bold"/>
                <a:cs typeface="Poppins Semi-Bold"/>
                <a:sym typeface="Poppins Semi-Bold"/>
              </a:rPr>
              <a:t>Escreva um programa no qual o usuário vai entrando sucessivamente com valores positivos. Quando o usuário entrar com um valor negativo o programa para de pedir valores e calcula a média dos valores já fornecidos.</a:t>
            </a: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400431" y="3480311"/>
            <a:ext cx="17076277" cy="2706291"/>
          </a:xfrm>
          <a:prstGeom prst="rect">
            <a:avLst/>
          </a:prstGeom>
        </p:spPr>
        <p:txBody>
          <a:bodyPr lIns="0" tIns="0" rIns="0" bIns="0" rtlCol="0" anchor="t">
            <a:spAutoFit/>
          </a:bodyPr>
          <a:lstStyle/>
          <a:p>
            <a:pPr algn="l">
              <a:lnSpc>
                <a:spcPts val="4125"/>
              </a:lnSpc>
            </a:pPr>
            <a:r>
              <a:rPr lang="en-US" sz="3499" b="1">
                <a:solidFill>
                  <a:srgbClr val="FF5757"/>
                </a:solidFill>
                <a:latin typeface="Poppins Semi-Bold"/>
                <a:ea typeface="Poppins Semi-Bold"/>
                <a:cs typeface="Poppins Semi-Bold"/>
                <a:sym typeface="Poppins Semi-Bold"/>
              </a:rPr>
              <a:t>Atividade #43 </a:t>
            </a:r>
            <a:r>
              <a:rPr lang="en-US" sz="3499" b="1">
                <a:solidFill>
                  <a:srgbClr val="FFFFFF"/>
                </a:solidFill>
                <a:latin typeface="Poppins Semi-Bold"/>
                <a:ea typeface="Poppins Semi-Bold"/>
                <a:cs typeface="Poppins Semi-Bold"/>
                <a:sym typeface="Poppins Semi-Bold"/>
              </a:rPr>
              <a:t>Faça um programa que leia números inteiros positivos ou negativos até que o número 0 seja digitado e que indique: quantos são positivos e quantos são negativos.</a:t>
            </a: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5017741" y="324326"/>
            <a:ext cx="8417585"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Repetições “Infinitas”</a:t>
            </a:r>
          </a:p>
        </p:txBody>
      </p:sp>
      <p:sp>
        <p:nvSpPr>
          <p:cNvPr id="3" name="TextBox 3"/>
          <p:cNvSpPr txBox="1"/>
          <p:nvPr/>
        </p:nvSpPr>
        <p:spPr>
          <a:xfrm>
            <a:off x="164983" y="2863767"/>
            <a:ext cx="17878073" cy="6480429"/>
          </a:xfrm>
          <a:prstGeom prst="rect">
            <a:avLst/>
          </a:prstGeom>
        </p:spPr>
        <p:txBody>
          <a:bodyPr lIns="0" tIns="0" rIns="0" bIns="0" rtlCol="0" anchor="t">
            <a:spAutoFit/>
          </a:bodyPr>
          <a:lstStyle/>
          <a:p>
            <a:pPr algn="l">
              <a:lnSpc>
                <a:spcPts val="5023"/>
              </a:lnSpc>
            </a:pPr>
            <a:r>
              <a:rPr lang="en-US" sz="4200" b="1">
                <a:solidFill>
                  <a:srgbClr val="FFFFFF"/>
                </a:solidFill>
                <a:latin typeface="Poppins Semi-Bold"/>
                <a:ea typeface="Poppins Semi-Bold"/>
                <a:cs typeface="Poppins Semi-Bold"/>
                <a:sym typeface="Poppins Semi-Bold"/>
              </a:rPr>
              <a:t>É possivel utilizar tanto o comando </a:t>
            </a:r>
            <a:r>
              <a:rPr lang="en-US" sz="4200" b="1">
                <a:solidFill>
                  <a:srgbClr val="FF5757"/>
                </a:solidFill>
                <a:latin typeface="Poppins Semi-Bold"/>
                <a:ea typeface="Poppins Semi-Bold"/>
                <a:cs typeface="Poppins Semi-Bold"/>
                <a:sym typeface="Poppins Semi-Bold"/>
              </a:rPr>
              <a:t>for </a:t>
            </a:r>
            <a:r>
              <a:rPr lang="en-US" sz="4200" b="1">
                <a:solidFill>
                  <a:srgbClr val="FFFFFF"/>
                </a:solidFill>
                <a:latin typeface="Poppins Semi-Bold"/>
                <a:ea typeface="Poppins Semi-Bold"/>
                <a:cs typeface="Poppins Semi-Bold"/>
                <a:sym typeface="Poppins Semi-Bold"/>
              </a:rPr>
              <a:t>quanto o comano </a:t>
            </a:r>
            <a:r>
              <a:rPr lang="en-US" sz="4200" b="1">
                <a:solidFill>
                  <a:srgbClr val="FF5757"/>
                </a:solidFill>
                <a:latin typeface="Poppins Semi-Bold"/>
                <a:ea typeface="Poppins Semi-Bold"/>
                <a:cs typeface="Poppins Semi-Bold"/>
                <a:sym typeface="Poppins Semi-Bold"/>
              </a:rPr>
              <a:t>while </a:t>
            </a:r>
            <a:r>
              <a:rPr lang="en-US" sz="4200" b="1">
                <a:solidFill>
                  <a:srgbClr val="FFFFFF"/>
                </a:solidFill>
                <a:latin typeface="Poppins Semi-Bold"/>
                <a:ea typeface="Poppins Semi-Bold"/>
                <a:cs typeface="Poppins Semi-Bold"/>
                <a:sym typeface="Poppins Semi-Bold"/>
              </a:rPr>
              <a:t>para criar repetições infinitas. Foi mostrado as regrinhas para cada comando, onde o </a:t>
            </a:r>
            <a:r>
              <a:rPr lang="en-US" sz="4200" b="1">
                <a:solidFill>
                  <a:srgbClr val="3C67BF"/>
                </a:solidFill>
                <a:latin typeface="Poppins Semi-Bold"/>
                <a:ea typeface="Poppins Semi-Bold"/>
                <a:cs typeface="Poppins Semi-Bold"/>
                <a:sym typeface="Poppins Semi-Bold"/>
              </a:rPr>
              <a:t>for </a:t>
            </a:r>
            <a:r>
              <a:rPr lang="en-US" sz="4200" b="1">
                <a:solidFill>
                  <a:srgbClr val="FFFFFF"/>
                </a:solidFill>
                <a:latin typeface="Poppins Semi-Bold"/>
                <a:ea typeface="Poppins Semi-Bold"/>
                <a:cs typeface="Poppins Semi-Bold"/>
                <a:sym typeface="Poppins Semi-Bold"/>
              </a:rPr>
              <a:t>tem um limite estipulado e o </a:t>
            </a:r>
            <a:r>
              <a:rPr lang="en-US" sz="4200" b="1">
                <a:solidFill>
                  <a:srgbClr val="3C67BF"/>
                </a:solidFill>
                <a:latin typeface="Poppins Semi-Bold"/>
                <a:ea typeface="Poppins Semi-Bold"/>
                <a:cs typeface="Poppins Semi-Bold"/>
                <a:sym typeface="Poppins Semi-Bold"/>
              </a:rPr>
              <a:t>while </a:t>
            </a:r>
            <a:r>
              <a:rPr lang="en-US" sz="4200" b="1">
                <a:solidFill>
                  <a:srgbClr val="FFFFFF"/>
                </a:solidFill>
                <a:latin typeface="Poppins Semi-Bold"/>
                <a:ea typeface="Poppins Semi-Bold"/>
                <a:cs typeface="Poppins Semi-Bold"/>
                <a:sym typeface="Poppins Semi-Bold"/>
              </a:rPr>
              <a:t>uma condicional. Agora eu vou te mostrar um jeito de fazer com que esses comandos possam repetir os blocos de códigos infinitamente. Vale lembrar que se você não utilizar de maneira correta esse conceito de repetições infinitas, você pode travar o vscode, até mesmo o seu computador em alguns casos.</a:t>
            </a: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5017741" y="324326"/>
            <a:ext cx="8417585"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Repetições “Infinitas”</a:t>
            </a:r>
          </a:p>
        </p:txBody>
      </p:sp>
      <p:sp>
        <p:nvSpPr>
          <p:cNvPr id="3" name="TextBox 3"/>
          <p:cNvSpPr txBox="1"/>
          <p:nvPr/>
        </p:nvSpPr>
        <p:spPr>
          <a:xfrm>
            <a:off x="164983" y="2544680"/>
            <a:ext cx="17336472" cy="2651379"/>
          </a:xfrm>
          <a:prstGeom prst="rect">
            <a:avLst/>
          </a:prstGeom>
        </p:spPr>
        <p:txBody>
          <a:bodyPr lIns="0" tIns="0" rIns="0" bIns="0" rtlCol="0" anchor="t">
            <a:spAutoFit/>
          </a:bodyPr>
          <a:lstStyle/>
          <a:p>
            <a:pPr algn="l">
              <a:lnSpc>
                <a:spcPts val="5023"/>
              </a:lnSpc>
            </a:pPr>
            <a:r>
              <a:rPr lang="en-US" sz="4200" b="1">
                <a:solidFill>
                  <a:srgbClr val="FFFFFF"/>
                </a:solidFill>
                <a:latin typeface="Poppins Semi-Bold"/>
                <a:ea typeface="Poppins Semi-Bold"/>
                <a:cs typeface="Poppins Semi-Bold"/>
                <a:sym typeface="Poppins Semi-Bold"/>
              </a:rPr>
              <a:t>Para que o bloco de código se repita infinitamente com o </a:t>
            </a:r>
            <a:r>
              <a:rPr lang="en-US" sz="4200" b="1">
                <a:solidFill>
                  <a:srgbClr val="3C67BF"/>
                </a:solidFill>
                <a:latin typeface="Poppins Semi-Bold"/>
                <a:ea typeface="Poppins Semi-Bold"/>
                <a:cs typeface="Poppins Semi-Bold"/>
                <a:sym typeface="Poppins Semi-Bold"/>
              </a:rPr>
              <a:t>for</a:t>
            </a:r>
            <a:r>
              <a:rPr lang="en-US" sz="4200" b="1">
                <a:solidFill>
                  <a:srgbClr val="FFFFFF"/>
                </a:solidFill>
                <a:latin typeface="Poppins Semi-Bold"/>
                <a:ea typeface="Poppins Semi-Bold"/>
                <a:cs typeface="Poppins Semi-Bold"/>
                <a:sym typeface="Poppins Semi-Bold"/>
              </a:rPr>
              <a:t>, podemos fazer dessa maneira: </a:t>
            </a:r>
            <a:r>
              <a:rPr lang="en-US" sz="4200" b="1">
                <a:solidFill>
                  <a:srgbClr val="3C67BF"/>
                </a:solidFill>
                <a:latin typeface="Poppins Semi-Bold"/>
                <a:ea typeface="Poppins Semi-Bold"/>
                <a:cs typeface="Poppins Semi-Bold"/>
                <a:sym typeface="Poppins Semi-Bold"/>
              </a:rPr>
              <a:t>for</a:t>
            </a:r>
            <a:r>
              <a:rPr lang="en-US" sz="4200" b="1">
                <a:solidFill>
                  <a:srgbClr val="FFFFFF"/>
                </a:solidFill>
                <a:latin typeface="Poppins Semi-Bold"/>
                <a:ea typeface="Poppins Semi-Bold"/>
                <a:cs typeface="Poppins Semi-Bold"/>
                <a:sym typeface="Poppins Semi-Bold"/>
              </a:rPr>
              <a:t>(;;){</a:t>
            </a:r>
          </a:p>
        </p:txBody>
      </p:sp>
      <p:sp>
        <p:nvSpPr>
          <p:cNvPr id="4" name="TextBox 4"/>
          <p:cNvSpPr txBox="1"/>
          <p:nvPr/>
        </p:nvSpPr>
        <p:spPr>
          <a:xfrm>
            <a:off x="164983" y="5735555"/>
            <a:ext cx="17837267" cy="3927729"/>
          </a:xfrm>
          <a:prstGeom prst="rect">
            <a:avLst/>
          </a:prstGeom>
        </p:spPr>
        <p:txBody>
          <a:bodyPr lIns="0" tIns="0" rIns="0" bIns="0" rtlCol="0" anchor="t">
            <a:spAutoFit/>
          </a:bodyPr>
          <a:lstStyle/>
          <a:p>
            <a:pPr algn="l">
              <a:lnSpc>
                <a:spcPts val="5023"/>
              </a:lnSpc>
            </a:pPr>
            <a:r>
              <a:rPr lang="en-US" sz="4200" b="1">
                <a:solidFill>
                  <a:srgbClr val="FFFFFF"/>
                </a:solidFill>
                <a:latin typeface="Poppins Semi-Bold"/>
                <a:ea typeface="Poppins Semi-Bold"/>
                <a:cs typeface="Poppins Semi-Bold"/>
                <a:sym typeface="Poppins Semi-Bold"/>
              </a:rPr>
              <a:t> </a:t>
            </a:r>
          </a:p>
          <a:p>
            <a:pPr algn="l">
              <a:lnSpc>
                <a:spcPts val="5023"/>
              </a:lnSpc>
            </a:pPr>
            <a:r>
              <a:rPr lang="en-US" sz="4200" b="1">
                <a:solidFill>
                  <a:srgbClr val="FFFFFF"/>
                </a:solidFill>
                <a:latin typeface="Poppins Semi-Bold"/>
                <a:ea typeface="Poppins Semi-Bold"/>
                <a:cs typeface="Poppins Semi-Bold"/>
                <a:sym typeface="Poppins Semi-Bold"/>
              </a:rPr>
              <a:t>} Se você não colocar os parâmentros do comando, ele não terá um limite, logo o bloco se repetirá infinitamente.</a:t>
            </a:r>
          </a:p>
        </p:txBody>
      </p:sp>
      <p:sp>
        <p:nvSpPr>
          <p:cNvPr id="5" name="TextBox 5"/>
          <p:cNvSpPr txBox="1"/>
          <p:nvPr/>
        </p:nvSpPr>
        <p:spPr>
          <a:xfrm>
            <a:off x="965225" y="5735555"/>
            <a:ext cx="5042964" cy="736854"/>
          </a:xfrm>
          <a:prstGeom prst="rect">
            <a:avLst/>
          </a:prstGeom>
        </p:spPr>
        <p:txBody>
          <a:bodyPr lIns="0" tIns="0" rIns="0" bIns="0" rtlCol="0" anchor="t">
            <a:spAutoFit/>
          </a:bodyPr>
          <a:lstStyle/>
          <a:p>
            <a:pPr algn="l">
              <a:lnSpc>
                <a:spcPts val="5023"/>
              </a:lnSpc>
            </a:pPr>
            <a:r>
              <a:rPr lang="en-US" sz="4200" b="1">
                <a:solidFill>
                  <a:srgbClr val="7ED957"/>
                </a:solidFill>
                <a:latin typeface="Poppins Semi-Bold"/>
                <a:ea typeface="Poppins Semi-Bold"/>
                <a:cs typeface="Poppins Semi-Bold"/>
                <a:sym typeface="Poppins Semi-Bold"/>
              </a:rPr>
              <a:t>//Bloco de código</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5017741" y="324326"/>
            <a:ext cx="8417585"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Repetições “Infinitas”</a:t>
            </a:r>
          </a:p>
        </p:txBody>
      </p:sp>
      <p:sp>
        <p:nvSpPr>
          <p:cNvPr id="3" name="TextBox 3"/>
          <p:cNvSpPr txBox="1"/>
          <p:nvPr/>
        </p:nvSpPr>
        <p:spPr>
          <a:xfrm>
            <a:off x="164983" y="2225592"/>
            <a:ext cx="18066048" cy="2651379"/>
          </a:xfrm>
          <a:prstGeom prst="rect">
            <a:avLst/>
          </a:prstGeom>
        </p:spPr>
        <p:txBody>
          <a:bodyPr lIns="0" tIns="0" rIns="0" bIns="0" rtlCol="0" anchor="t">
            <a:spAutoFit/>
          </a:bodyPr>
          <a:lstStyle/>
          <a:p>
            <a:pPr algn="l">
              <a:lnSpc>
                <a:spcPts val="5023"/>
              </a:lnSpc>
            </a:pPr>
            <a:r>
              <a:rPr lang="en-US" sz="4200" b="1">
                <a:solidFill>
                  <a:srgbClr val="FFFFFF"/>
                </a:solidFill>
                <a:latin typeface="Poppins Semi-Bold"/>
                <a:ea typeface="Poppins Semi-Bold"/>
                <a:cs typeface="Poppins Semi-Bold"/>
                <a:sym typeface="Poppins Semi-Bold"/>
              </a:rPr>
              <a:t>Para que o bloco de código se repita infinitamente com o </a:t>
            </a:r>
            <a:r>
              <a:rPr lang="en-US" sz="4200" b="1">
                <a:solidFill>
                  <a:srgbClr val="3C67BF"/>
                </a:solidFill>
                <a:latin typeface="Poppins Semi-Bold"/>
                <a:ea typeface="Poppins Semi-Bold"/>
                <a:cs typeface="Poppins Semi-Bold"/>
                <a:sym typeface="Poppins Semi-Bold"/>
              </a:rPr>
              <a:t>while</a:t>
            </a:r>
            <a:r>
              <a:rPr lang="en-US" sz="4200" b="1">
                <a:solidFill>
                  <a:srgbClr val="FFFFFF"/>
                </a:solidFill>
                <a:latin typeface="Poppins Semi-Bold"/>
                <a:ea typeface="Poppins Semi-Bold"/>
                <a:cs typeface="Poppins Semi-Bold"/>
                <a:sym typeface="Poppins Semi-Bold"/>
              </a:rPr>
              <a:t>, podemos fazer dessa maneira: </a:t>
            </a:r>
            <a:r>
              <a:rPr lang="en-US" sz="4200" b="1">
                <a:solidFill>
                  <a:srgbClr val="3C67BF"/>
                </a:solidFill>
                <a:latin typeface="Poppins Semi-Bold"/>
                <a:ea typeface="Poppins Semi-Bold"/>
                <a:cs typeface="Poppins Semi-Bold"/>
                <a:sym typeface="Poppins Semi-Bold"/>
              </a:rPr>
              <a:t>while</a:t>
            </a:r>
            <a:r>
              <a:rPr lang="en-US" sz="4200" b="1">
                <a:solidFill>
                  <a:srgbClr val="FFFFFF"/>
                </a:solidFill>
                <a:latin typeface="Poppins Semi-Bold"/>
                <a:ea typeface="Poppins Semi-Bold"/>
                <a:cs typeface="Poppins Semi-Bold"/>
                <a:sym typeface="Poppins Semi-Bold"/>
              </a:rPr>
              <a:t>(</a:t>
            </a:r>
            <a:r>
              <a:rPr lang="en-US" sz="4200" b="1">
                <a:solidFill>
                  <a:srgbClr val="3C67BF"/>
                </a:solidFill>
                <a:latin typeface="Poppins Semi-Bold"/>
                <a:ea typeface="Poppins Semi-Bold"/>
                <a:cs typeface="Poppins Semi-Bold"/>
                <a:sym typeface="Poppins Semi-Bold"/>
              </a:rPr>
              <a:t>true</a:t>
            </a:r>
            <a:r>
              <a:rPr lang="en-US" sz="4200" b="1">
                <a:solidFill>
                  <a:srgbClr val="FFFFFF"/>
                </a:solidFill>
                <a:latin typeface="Poppins Semi-Bold"/>
                <a:ea typeface="Poppins Semi-Bold"/>
                <a:cs typeface="Poppins Semi-Bold"/>
                <a:sym typeface="Poppins Semi-Bold"/>
              </a:rPr>
              <a:t>){</a:t>
            </a:r>
          </a:p>
        </p:txBody>
      </p:sp>
      <p:sp>
        <p:nvSpPr>
          <p:cNvPr id="4" name="TextBox 4"/>
          <p:cNvSpPr txBox="1"/>
          <p:nvPr/>
        </p:nvSpPr>
        <p:spPr>
          <a:xfrm>
            <a:off x="164983" y="5416467"/>
            <a:ext cx="17802111" cy="4565904"/>
          </a:xfrm>
          <a:prstGeom prst="rect">
            <a:avLst/>
          </a:prstGeom>
        </p:spPr>
        <p:txBody>
          <a:bodyPr lIns="0" tIns="0" rIns="0" bIns="0" rtlCol="0" anchor="t">
            <a:spAutoFit/>
          </a:bodyPr>
          <a:lstStyle/>
          <a:p>
            <a:pPr algn="l">
              <a:lnSpc>
                <a:spcPts val="5023"/>
              </a:lnSpc>
            </a:pPr>
            <a:r>
              <a:rPr lang="en-US" sz="4200" b="1">
                <a:solidFill>
                  <a:srgbClr val="FFFFFF"/>
                </a:solidFill>
                <a:latin typeface="Poppins Semi-Bold"/>
                <a:ea typeface="Poppins Semi-Bold"/>
                <a:cs typeface="Poppins Semi-Bold"/>
                <a:sym typeface="Poppins Semi-Bold"/>
              </a:rPr>
              <a:t> </a:t>
            </a:r>
          </a:p>
          <a:p>
            <a:pPr algn="l">
              <a:lnSpc>
                <a:spcPts val="5023"/>
              </a:lnSpc>
            </a:pPr>
            <a:r>
              <a:rPr lang="en-US" sz="4200" b="1">
                <a:solidFill>
                  <a:srgbClr val="FFFFFF"/>
                </a:solidFill>
                <a:latin typeface="Poppins Semi-Bold"/>
                <a:ea typeface="Poppins Semi-Bold"/>
                <a:cs typeface="Poppins Semi-Bold"/>
                <a:sym typeface="Poppins Semi-Bold"/>
              </a:rPr>
              <a:t>} Se você colocar o valor de </a:t>
            </a:r>
            <a:r>
              <a:rPr lang="en-US" sz="4200" b="1">
                <a:solidFill>
                  <a:srgbClr val="3C67BF"/>
                </a:solidFill>
                <a:latin typeface="Poppins Semi-Bold"/>
                <a:ea typeface="Poppins Semi-Bold"/>
                <a:cs typeface="Poppins Semi-Bold"/>
                <a:sym typeface="Poppins Semi-Bold"/>
              </a:rPr>
              <a:t>true </a:t>
            </a:r>
            <a:r>
              <a:rPr lang="en-US" sz="4200" b="1">
                <a:solidFill>
                  <a:srgbClr val="FFFFFF"/>
                </a:solidFill>
                <a:latin typeface="Poppins Semi-Bold"/>
                <a:ea typeface="Poppins Semi-Bold"/>
                <a:cs typeface="Poppins Semi-Bold"/>
                <a:sym typeface="Poppins Semi-Bold"/>
              </a:rPr>
              <a:t>direto na condicional do comando </a:t>
            </a:r>
            <a:r>
              <a:rPr lang="en-US" sz="4200" b="1">
                <a:solidFill>
                  <a:srgbClr val="3C67BF"/>
                </a:solidFill>
                <a:latin typeface="Poppins Semi-Bold"/>
                <a:ea typeface="Poppins Semi-Bold"/>
                <a:cs typeface="Poppins Semi-Bold"/>
                <a:sym typeface="Poppins Semi-Bold"/>
              </a:rPr>
              <a:t>while</a:t>
            </a:r>
            <a:r>
              <a:rPr lang="en-US" sz="4200" b="1">
                <a:solidFill>
                  <a:srgbClr val="FFFFFF"/>
                </a:solidFill>
                <a:latin typeface="Poppins Semi-Bold"/>
                <a:ea typeface="Poppins Semi-Bold"/>
                <a:cs typeface="Poppins Semi-Bold"/>
                <a:sym typeface="Poppins Semi-Bold"/>
              </a:rPr>
              <a:t>, ele executará infinitamente o bloco de código. (O mesmo vale para o </a:t>
            </a:r>
            <a:r>
              <a:rPr lang="en-US" sz="4200" b="1">
                <a:solidFill>
                  <a:srgbClr val="3C67BF"/>
                </a:solidFill>
                <a:latin typeface="Poppins Semi-Bold"/>
                <a:ea typeface="Poppins Semi-Bold"/>
                <a:cs typeface="Poppins Semi-Bold"/>
                <a:sym typeface="Poppins Semi-Bold"/>
              </a:rPr>
              <a:t>do while</a:t>
            </a:r>
            <a:r>
              <a:rPr lang="en-US" sz="4200" b="1">
                <a:solidFill>
                  <a:srgbClr val="FFFFFF"/>
                </a:solidFill>
                <a:latin typeface="Poppins Semi-Bold"/>
                <a:ea typeface="Poppins Semi-Bold"/>
                <a:cs typeface="Poppins Semi-Bold"/>
                <a:sym typeface="Poppins Semi-Bold"/>
              </a:rPr>
              <a:t> :D)</a:t>
            </a:r>
          </a:p>
        </p:txBody>
      </p:sp>
      <p:sp>
        <p:nvSpPr>
          <p:cNvPr id="5" name="TextBox 5"/>
          <p:cNvSpPr txBox="1"/>
          <p:nvPr/>
        </p:nvSpPr>
        <p:spPr>
          <a:xfrm>
            <a:off x="965225" y="5416467"/>
            <a:ext cx="5042964" cy="736854"/>
          </a:xfrm>
          <a:prstGeom prst="rect">
            <a:avLst/>
          </a:prstGeom>
        </p:spPr>
        <p:txBody>
          <a:bodyPr lIns="0" tIns="0" rIns="0" bIns="0" rtlCol="0" anchor="t">
            <a:spAutoFit/>
          </a:bodyPr>
          <a:lstStyle/>
          <a:p>
            <a:pPr algn="l">
              <a:lnSpc>
                <a:spcPts val="5023"/>
              </a:lnSpc>
            </a:pPr>
            <a:r>
              <a:rPr lang="en-US" sz="4200" b="1">
                <a:solidFill>
                  <a:srgbClr val="7ED957"/>
                </a:solidFill>
                <a:latin typeface="Poppins Semi-Bold"/>
                <a:ea typeface="Poppins Semi-Bold"/>
                <a:cs typeface="Poppins Semi-Bold"/>
                <a:sym typeface="Poppins Semi-Bold"/>
              </a:rPr>
              <a:t>//Bloco de código</a:t>
            </a: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5017741" y="324326"/>
            <a:ext cx="8417585"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Repetições “Infinitas”</a:t>
            </a:r>
          </a:p>
        </p:txBody>
      </p:sp>
      <p:sp>
        <p:nvSpPr>
          <p:cNvPr id="3" name="TextBox 3"/>
          <p:cNvSpPr txBox="1"/>
          <p:nvPr/>
        </p:nvSpPr>
        <p:spPr>
          <a:xfrm>
            <a:off x="164983" y="3182855"/>
            <a:ext cx="17962407" cy="5842254"/>
          </a:xfrm>
          <a:prstGeom prst="rect">
            <a:avLst/>
          </a:prstGeom>
        </p:spPr>
        <p:txBody>
          <a:bodyPr lIns="0" tIns="0" rIns="0" bIns="0" rtlCol="0" anchor="t">
            <a:spAutoFit/>
          </a:bodyPr>
          <a:lstStyle/>
          <a:p>
            <a:pPr algn="l">
              <a:lnSpc>
                <a:spcPts val="5023"/>
              </a:lnSpc>
            </a:pPr>
            <a:r>
              <a:rPr lang="en-US" sz="4200" b="1">
                <a:solidFill>
                  <a:srgbClr val="FFFFFF"/>
                </a:solidFill>
                <a:latin typeface="Poppins Semi-Bold"/>
                <a:ea typeface="Poppins Semi-Bold"/>
                <a:cs typeface="Poppins Semi-Bold"/>
                <a:sym typeface="Poppins Semi-Bold"/>
              </a:rPr>
              <a:t>Como foi dito, é importante saber usar o comando e utilizar ele com cuidado para não ter consequências drásticas. É interessante ter no bloco de código alguma lógica que venha interromper essa repetição infinita. Podemos utilizar alguns comandos para poder interromper a repetição, o primeiro deles é o comando </a:t>
            </a:r>
            <a:r>
              <a:rPr lang="en-US" sz="4200" b="1">
                <a:solidFill>
                  <a:srgbClr val="3C67BF"/>
                </a:solidFill>
                <a:latin typeface="Poppins Semi-Bold"/>
                <a:ea typeface="Poppins Semi-Bold"/>
                <a:cs typeface="Poppins Semi-Bold"/>
                <a:sym typeface="Poppins Semi-Bold"/>
              </a:rPr>
              <a:t>break</a:t>
            </a:r>
            <a:r>
              <a:rPr lang="en-US" sz="4200" b="1">
                <a:solidFill>
                  <a:srgbClr val="FFFFFF"/>
                </a:solidFill>
                <a:latin typeface="Poppins Semi-Bold"/>
                <a:ea typeface="Poppins Semi-Bold"/>
                <a:cs typeface="Poppins Semi-Bold"/>
                <a:sym typeface="Poppins Semi-Bold"/>
              </a:rPr>
              <a:t>, o mesmo utilizado no comando switch, lembra?</a:t>
            </a: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5017741" y="324326"/>
            <a:ext cx="8417585"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Repetições “Infinitas”</a:t>
            </a:r>
          </a:p>
        </p:txBody>
      </p:sp>
      <p:sp>
        <p:nvSpPr>
          <p:cNvPr id="3" name="TextBox 3"/>
          <p:cNvSpPr txBox="1"/>
          <p:nvPr/>
        </p:nvSpPr>
        <p:spPr>
          <a:xfrm>
            <a:off x="164983" y="1906505"/>
            <a:ext cx="6605530" cy="2013204"/>
          </a:xfrm>
          <a:prstGeom prst="rect">
            <a:avLst/>
          </a:prstGeom>
        </p:spPr>
        <p:txBody>
          <a:bodyPr lIns="0" tIns="0" rIns="0" bIns="0" rtlCol="0" anchor="t">
            <a:spAutoFit/>
          </a:bodyPr>
          <a:lstStyle/>
          <a:p>
            <a:pPr algn="l">
              <a:lnSpc>
                <a:spcPts val="5023"/>
              </a:lnSpc>
            </a:pPr>
            <a:r>
              <a:rPr lang="en-US" sz="4200" b="1">
                <a:solidFill>
                  <a:srgbClr val="FFFFFF"/>
                </a:solidFill>
                <a:latin typeface="Poppins Semi-Bold"/>
                <a:ea typeface="Poppins Semi-Bold"/>
                <a:cs typeface="Poppins Semi-Bold"/>
                <a:sym typeface="Poppins Semi-Bold"/>
              </a:rPr>
              <a:t>Veja o exemplo abaixo: </a:t>
            </a:r>
            <a:r>
              <a:rPr lang="en-US" sz="4200" b="1">
                <a:solidFill>
                  <a:srgbClr val="3C67BF"/>
                </a:solidFill>
                <a:latin typeface="Poppins Semi-Bold"/>
                <a:ea typeface="Poppins Semi-Bold"/>
                <a:cs typeface="Poppins Semi-Bold"/>
                <a:sym typeface="Poppins Semi-Bold"/>
              </a:rPr>
              <a:t>for</a:t>
            </a:r>
            <a:r>
              <a:rPr lang="en-US" sz="4200" b="1">
                <a:solidFill>
                  <a:srgbClr val="FFFFFF"/>
                </a:solidFill>
                <a:latin typeface="Poppins Semi-Bold"/>
                <a:ea typeface="Poppins Semi-Bold"/>
                <a:cs typeface="Poppins Semi-Bold"/>
                <a:sym typeface="Poppins Semi-Bold"/>
              </a:rPr>
              <a:t>(;;){</a:t>
            </a:r>
          </a:p>
        </p:txBody>
      </p:sp>
      <p:sp>
        <p:nvSpPr>
          <p:cNvPr id="4" name="TextBox 4"/>
          <p:cNvSpPr txBox="1"/>
          <p:nvPr/>
        </p:nvSpPr>
        <p:spPr>
          <a:xfrm>
            <a:off x="164983" y="3821030"/>
            <a:ext cx="17536601" cy="6480429"/>
          </a:xfrm>
          <a:prstGeom prst="rect">
            <a:avLst/>
          </a:prstGeom>
        </p:spPr>
        <p:txBody>
          <a:bodyPr lIns="0" tIns="0" rIns="0" bIns="0" rtlCol="0" anchor="t">
            <a:spAutoFit/>
          </a:bodyPr>
          <a:lstStyle/>
          <a:p>
            <a:pPr algn="just">
              <a:lnSpc>
                <a:spcPts val="5023"/>
              </a:lnSpc>
            </a:pPr>
            <a:r>
              <a:rPr lang="en-US" sz="4200" b="1">
                <a:solidFill>
                  <a:srgbClr val="FFFFFF"/>
                </a:solidFill>
                <a:latin typeface="Poppins Semi-Bold"/>
                <a:ea typeface="Poppins Semi-Bold"/>
                <a:cs typeface="Poppins Semi-Bold"/>
                <a:sym typeface="Poppins Semi-Bold"/>
              </a:rPr>
              <a:t> </a:t>
            </a:r>
          </a:p>
          <a:p>
            <a:pPr algn="just">
              <a:lnSpc>
                <a:spcPts val="5023"/>
              </a:lnSpc>
            </a:pPr>
            <a:r>
              <a:rPr lang="en-US" sz="4200" b="1">
                <a:solidFill>
                  <a:srgbClr val="FFFFFF"/>
                </a:solidFill>
                <a:latin typeface="Poppins Semi-Bold"/>
                <a:ea typeface="Poppins Semi-Bold"/>
                <a:cs typeface="Poppins Semi-Bold"/>
                <a:sym typeface="Poppins Semi-Bold"/>
              </a:rPr>
              <a:t> </a:t>
            </a:r>
          </a:p>
          <a:p>
            <a:pPr algn="just">
              <a:lnSpc>
                <a:spcPts val="5023"/>
              </a:lnSpc>
            </a:pPr>
            <a:r>
              <a:rPr lang="en-US" sz="4200" b="1">
                <a:solidFill>
                  <a:srgbClr val="FFFFFF"/>
                </a:solidFill>
                <a:latin typeface="Poppins Semi-Bold"/>
                <a:ea typeface="Poppins Semi-Bold"/>
                <a:cs typeface="Poppins Semi-Bold"/>
                <a:sym typeface="Poppins Semi-Bold"/>
              </a:rPr>
              <a:t> </a:t>
            </a:r>
          </a:p>
          <a:p>
            <a:pPr algn="just">
              <a:lnSpc>
                <a:spcPts val="5023"/>
              </a:lnSpc>
            </a:pPr>
            <a:r>
              <a:rPr lang="en-US" sz="4200" b="1">
                <a:solidFill>
                  <a:srgbClr val="FFFFFF"/>
                </a:solidFill>
                <a:latin typeface="Poppins Semi-Bold"/>
                <a:ea typeface="Poppins Semi-Bold"/>
                <a:cs typeface="Poppins Semi-Bold"/>
                <a:sym typeface="Poppins Semi-Bold"/>
              </a:rPr>
              <a:t> </a:t>
            </a:r>
          </a:p>
          <a:p>
            <a:pPr algn="just">
              <a:lnSpc>
                <a:spcPts val="5023"/>
              </a:lnSpc>
            </a:pPr>
            <a:r>
              <a:rPr lang="en-US" sz="4200" b="1" spc="3360">
                <a:solidFill>
                  <a:srgbClr val="FFFFFF"/>
                </a:solidFill>
                <a:latin typeface="Poppins Semi-Bold"/>
                <a:ea typeface="Poppins Semi-Bold"/>
                <a:cs typeface="Poppins Semi-Bold"/>
                <a:sym typeface="Poppins Semi-Bold"/>
              </a:rPr>
              <a:t> </a:t>
            </a:r>
          </a:p>
          <a:p>
            <a:pPr algn="just">
              <a:lnSpc>
                <a:spcPts val="5023"/>
              </a:lnSpc>
            </a:pPr>
            <a:r>
              <a:rPr lang="en-US" sz="4200" b="1" spc="3360">
                <a:solidFill>
                  <a:srgbClr val="FFFFFF"/>
                </a:solidFill>
                <a:latin typeface="Poppins Semi-Bold"/>
                <a:ea typeface="Poppins Semi-Bold"/>
                <a:cs typeface="Poppins Semi-Bold"/>
                <a:sym typeface="Poppins Semi-Bold"/>
              </a:rPr>
              <a:t>} </a:t>
            </a:r>
            <a:r>
              <a:rPr lang="en-US" sz="4200" b="1" spc="3360">
                <a:solidFill>
                  <a:srgbClr val="7ED957"/>
                </a:solidFill>
                <a:latin typeface="Poppins Semi-Bold"/>
                <a:ea typeface="Poppins Semi-Bold"/>
                <a:cs typeface="Poppins Semi-Bold"/>
                <a:sym typeface="Poppins Semi-Bold"/>
              </a:rPr>
              <a:t>Console</a:t>
            </a:r>
            <a:r>
              <a:rPr lang="en-US" sz="4200" b="1" spc="3360">
                <a:solidFill>
                  <a:srgbClr val="FFFFFF"/>
                </a:solidFill>
                <a:latin typeface="Poppins Semi-Bold"/>
                <a:ea typeface="Poppins Semi-Bold"/>
                <a:cs typeface="Poppins Semi-Bold"/>
                <a:sym typeface="Poppins Semi-Bold"/>
              </a:rPr>
              <a:t>.</a:t>
            </a:r>
            <a:r>
              <a:rPr lang="en-US" sz="4200" b="1" spc="3360">
                <a:solidFill>
                  <a:srgbClr val="FFCB85"/>
                </a:solidFill>
                <a:latin typeface="Poppins Semi-Bold"/>
                <a:ea typeface="Poppins Semi-Bold"/>
                <a:cs typeface="Poppins Semi-Bold"/>
                <a:sym typeface="Poppins Semi-Bold"/>
              </a:rPr>
              <a:t>WriteLine</a:t>
            </a:r>
            <a:r>
              <a:rPr lang="en-US" sz="4200" b="1" spc="3360">
                <a:solidFill>
                  <a:srgbClr val="FFFFFF"/>
                </a:solidFill>
                <a:latin typeface="Poppins Semi-Bold"/>
                <a:ea typeface="Poppins Semi-Bold"/>
                <a:cs typeface="Poppins Semi-Bold"/>
                <a:sym typeface="Poppins Semi-Bold"/>
              </a:rPr>
              <a:t>(</a:t>
            </a:r>
            <a:r>
              <a:rPr lang="en-US" sz="4200" b="1" spc="3360">
                <a:solidFill>
                  <a:srgbClr val="FFCB85"/>
                </a:solidFill>
                <a:latin typeface="Poppins Semi-Bold"/>
                <a:ea typeface="Poppins Semi-Bold"/>
                <a:cs typeface="Poppins Semi-Bold"/>
                <a:sym typeface="Poppins Semi-Bold"/>
              </a:rPr>
              <a:t>"Fim do programa."</a:t>
            </a:r>
            <a:r>
              <a:rPr lang="en-US" sz="4200" b="1" spc="3360">
                <a:solidFill>
                  <a:srgbClr val="FFFFFF"/>
                </a:solidFill>
                <a:latin typeface="Poppins Semi-Bold"/>
                <a:ea typeface="Poppins Semi-Bold"/>
                <a:cs typeface="Poppins Semi-Bold"/>
                <a:sym typeface="Poppins Semi-Bold"/>
              </a:rPr>
              <a:t>); Nesse exemplo, o </a:t>
            </a:r>
            <a:r>
              <a:rPr lang="en-US" sz="4200" b="1" spc="3360">
                <a:solidFill>
                  <a:srgbClr val="3C67BF"/>
                </a:solidFill>
                <a:latin typeface="Poppins Semi-Bold"/>
                <a:ea typeface="Poppins Semi-Bold"/>
                <a:cs typeface="Poppins Semi-Bold"/>
                <a:sym typeface="Poppins Semi-Bold"/>
              </a:rPr>
              <a:t>for </a:t>
            </a:r>
            <a:r>
              <a:rPr lang="en-US" sz="4200" b="1" spc="3360">
                <a:solidFill>
                  <a:srgbClr val="FFFFFF"/>
                </a:solidFill>
                <a:latin typeface="Poppins Semi-Bold"/>
                <a:ea typeface="Poppins Semi-Bold"/>
                <a:cs typeface="Poppins Semi-Bold"/>
                <a:sym typeface="Poppins Semi-Bold"/>
              </a:rPr>
              <a:t>será interrompido quando o número lido for igual a 0.</a:t>
            </a:r>
          </a:p>
        </p:txBody>
      </p:sp>
      <p:sp>
        <p:nvSpPr>
          <p:cNvPr id="5" name="TextBox 5"/>
          <p:cNvSpPr txBox="1"/>
          <p:nvPr/>
        </p:nvSpPr>
        <p:spPr>
          <a:xfrm>
            <a:off x="1125217" y="3821030"/>
            <a:ext cx="12567552" cy="2013204"/>
          </a:xfrm>
          <a:prstGeom prst="rect">
            <a:avLst/>
          </a:prstGeom>
        </p:spPr>
        <p:txBody>
          <a:bodyPr lIns="0" tIns="0" rIns="0" bIns="0" rtlCol="0" anchor="t">
            <a:spAutoFit/>
          </a:bodyPr>
          <a:lstStyle/>
          <a:p>
            <a:pPr algn="l">
              <a:lnSpc>
                <a:spcPts val="5023"/>
              </a:lnSpc>
            </a:pPr>
            <a:r>
              <a:rPr lang="en-US" sz="4200" b="1">
                <a:solidFill>
                  <a:srgbClr val="7ED957"/>
                </a:solidFill>
                <a:latin typeface="Poppins Semi-Bold"/>
                <a:ea typeface="Poppins Semi-Bold"/>
                <a:cs typeface="Poppins Semi-Bold"/>
                <a:sym typeface="Poppins Semi-Bold"/>
              </a:rPr>
              <a:t>Console</a:t>
            </a:r>
            <a:r>
              <a:rPr lang="en-US" sz="4200" b="1">
                <a:solidFill>
                  <a:srgbClr val="FFFFFF"/>
                </a:solidFill>
                <a:latin typeface="Poppins Semi-Bold"/>
                <a:ea typeface="Poppins Semi-Bold"/>
                <a:cs typeface="Poppins Semi-Bold"/>
                <a:sym typeface="Poppins Semi-Bold"/>
              </a:rPr>
              <a:t>.</a:t>
            </a:r>
            <a:r>
              <a:rPr lang="en-US" sz="4200" b="1">
                <a:solidFill>
                  <a:srgbClr val="FFCB85"/>
                </a:solidFill>
                <a:latin typeface="Poppins Semi-Bold"/>
                <a:ea typeface="Poppins Semi-Bold"/>
                <a:cs typeface="Poppins Semi-Bold"/>
                <a:sym typeface="Poppins Semi-Bold"/>
              </a:rPr>
              <a:t>WriteLine</a:t>
            </a:r>
            <a:r>
              <a:rPr lang="en-US" sz="4200" b="1">
                <a:solidFill>
                  <a:srgbClr val="FFFFFF"/>
                </a:solidFill>
                <a:latin typeface="Poppins Semi-Bold"/>
                <a:ea typeface="Poppins Semi-Bold"/>
                <a:cs typeface="Poppins Semi-Bold"/>
                <a:sym typeface="Poppins Semi-Bold"/>
              </a:rPr>
              <a:t>(</a:t>
            </a:r>
            <a:r>
              <a:rPr lang="en-US" sz="4200" b="1">
                <a:solidFill>
                  <a:srgbClr val="FFCB85"/>
                </a:solidFill>
                <a:latin typeface="Poppins Semi-Bold"/>
                <a:ea typeface="Poppins Semi-Bold"/>
                <a:cs typeface="Poppins Semi-Bold"/>
                <a:sym typeface="Poppins Semi-Bold"/>
              </a:rPr>
              <a:t>"Informe um número: "</a:t>
            </a:r>
            <a:r>
              <a:rPr lang="en-US" sz="4200" b="1">
                <a:solidFill>
                  <a:srgbClr val="FFFFFF"/>
                </a:solidFill>
                <a:latin typeface="Poppins Semi-Bold"/>
                <a:ea typeface="Poppins Semi-Bold"/>
                <a:cs typeface="Poppins Semi-Bold"/>
                <a:sym typeface="Poppins Semi-Bold"/>
              </a:rPr>
              <a:t>); </a:t>
            </a:r>
            <a:r>
              <a:rPr lang="en-US" sz="4200" b="1">
                <a:solidFill>
                  <a:srgbClr val="3C67BF"/>
                </a:solidFill>
                <a:latin typeface="Poppins Semi-Bold"/>
                <a:ea typeface="Poppins Semi-Bold"/>
                <a:cs typeface="Poppins Semi-Bold"/>
                <a:sym typeface="Poppins Semi-Bold"/>
              </a:rPr>
              <a:t>int </a:t>
            </a:r>
            <a:r>
              <a:rPr lang="en-US" sz="4200" b="1">
                <a:solidFill>
                  <a:srgbClr val="FFFFFF"/>
                </a:solidFill>
                <a:latin typeface="Poppins Semi-Bold"/>
                <a:ea typeface="Poppins Semi-Bold"/>
                <a:cs typeface="Poppins Semi-Bold"/>
                <a:sym typeface="Poppins Semi-Bold"/>
              </a:rPr>
              <a:t>numero = </a:t>
            </a:r>
            <a:r>
              <a:rPr lang="en-US" sz="4200" b="1">
                <a:solidFill>
                  <a:srgbClr val="3C67BF"/>
                </a:solidFill>
                <a:latin typeface="Poppins Semi-Bold"/>
                <a:ea typeface="Poppins Semi-Bold"/>
                <a:cs typeface="Poppins Semi-Bold"/>
                <a:sym typeface="Poppins Semi-Bold"/>
              </a:rPr>
              <a:t>int</a:t>
            </a:r>
            <a:r>
              <a:rPr lang="en-US" sz="4200" b="1">
                <a:solidFill>
                  <a:srgbClr val="FFFFFF"/>
                </a:solidFill>
                <a:latin typeface="Poppins Semi-Bold"/>
                <a:ea typeface="Poppins Semi-Bold"/>
                <a:cs typeface="Poppins Semi-Bold"/>
                <a:sym typeface="Poppins Semi-Bold"/>
              </a:rPr>
              <a:t>.</a:t>
            </a:r>
            <a:r>
              <a:rPr lang="en-US" sz="4200" b="1">
                <a:solidFill>
                  <a:srgbClr val="FFCB85"/>
                </a:solidFill>
                <a:latin typeface="Poppins Semi-Bold"/>
                <a:ea typeface="Poppins Semi-Bold"/>
                <a:cs typeface="Poppins Semi-Bold"/>
                <a:sym typeface="Poppins Semi-Bold"/>
              </a:rPr>
              <a:t>Parse</a:t>
            </a:r>
            <a:r>
              <a:rPr lang="en-US" sz="4200" b="1">
                <a:solidFill>
                  <a:srgbClr val="FFFFFF"/>
                </a:solidFill>
                <a:latin typeface="Poppins Semi-Bold"/>
                <a:ea typeface="Poppins Semi-Bold"/>
                <a:cs typeface="Poppins Semi-Bold"/>
                <a:sym typeface="Poppins Semi-Bold"/>
              </a:rPr>
              <a:t>(</a:t>
            </a:r>
            <a:r>
              <a:rPr lang="en-US" sz="4200" b="1">
                <a:solidFill>
                  <a:srgbClr val="7ED957"/>
                </a:solidFill>
                <a:latin typeface="Poppins Semi-Bold"/>
                <a:ea typeface="Poppins Semi-Bold"/>
                <a:cs typeface="Poppins Semi-Bold"/>
                <a:sym typeface="Poppins Semi-Bold"/>
              </a:rPr>
              <a:t>Console</a:t>
            </a:r>
            <a:r>
              <a:rPr lang="en-US" sz="4200" b="1">
                <a:solidFill>
                  <a:srgbClr val="FFFFFF"/>
                </a:solidFill>
                <a:latin typeface="Poppins Semi-Bold"/>
                <a:ea typeface="Poppins Semi-Bold"/>
                <a:cs typeface="Poppins Semi-Bold"/>
                <a:sym typeface="Poppins Semi-Bold"/>
              </a:rPr>
              <a:t>.</a:t>
            </a:r>
            <a:r>
              <a:rPr lang="en-US" sz="4200" b="1">
                <a:solidFill>
                  <a:srgbClr val="FFCB85"/>
                </a:solidFill>
                <a:latin typeface="Poppins Semi-Bold"/>
                <a:ea typeface="Poppins Semi-Bold"/>
                <a:cs typeface="Poppins Semi-Bold"/>
                <a:sym typeface="Poppins Semi-Bold"/>
              </a:rPr>
              <a:t>ReadLine</a:t>
            </a:r>
            <a:r>
              <a:rPr lang="en-US" sz="4200" b="1">
                <a:solidFill>
                  <a:srgbClr val="FFFFFF"/>
                </a:solidFill>
                <a:latin typeface="Poppins Semi-Bold"/>
                <a:ea typeface="Poppins Semi-Bold"/>
                <a:cs typeface="Poppins Semi-Bold"/>
                <a:sym typeface="Poppins Semi-Bold"/>
              </a:rPr>
              <a:t>()); </a:t>
            </a:r>
            <a:r>
              <a:rPr lang="en-US" sz="4200" b="1">
                <a:solidFill>
                  <a:srgbClr val="3C67BF"/>
                </a:solidFill>
                <a:latin typeface="Poppins Semi-Bold"/>
                <a:ea typeface="Poppins Semi-Bold"/>
                <a:cs typeface="Poppins Semi-Bold"/>
                <a:sym typeface="Poppins Semi-Bold"/>
              </a:rPr>
              <a:t>if</a:t>
            </a:r>
            <a:r>
              <a:rPr lang="en-US" sz="4200" b="1">
                <a:solidFill>
                  <a:srgbClr val="FFFFFF"/>
                </a:solidFill>
                <a:latin typeface="Poppins Semi-Bold"/>
                <a:ea typeface="Poppins Semi-Bold"/>
                <a:cs typeface="Poppins Semi-Bold"/>
                <a:sym typeface="Poppins Semi-Bold"/>
              </a:rPr>
              <a:t>(numero == 0){</a:t>
            </a:r>
          </a:p>
        </p:txBody>
      </p:sp>
      <p:sp>
        <p:nvSpPr>
          <p:cNvPr id="6" name="TextBox 6"/>
          <p:cNvSpPr txBox="1"/>
          <p:nvPr/>
        </p:nvSpPr>
        <p:spPr>
          <a:xfrm>
            <a:off x="2085308" y="5735555"/>
            <a:ext cx="1815617" cy="736854"/>
          </a:xfrm>
          <a:prstGeom prst="rect">
            <a:avLst/>
          </a:prstGeom>
        </p:spPr>
        <p:txBody>
          <a:bodyPr lIns="0" tIns="0" rIns="0" bIns="0" rtlCol="0" anchor="t">
            <a:spAutoFit/>
          </a:bodyPr>
          <a:lstStyle/>
          <a:p>
            <a:pPr algn="l">
              <a:lnSpc>
                <a:spcPts val="5023"/>
              </a:lnSpc>
            </a:pPr>
            <a:r>
              <a:rPr lang="en-US" sz="4200" b="1">
                <a:solidFill>
                  <a:srgbClr val="3C67BF"/>
                </a:solidFill>
                <a:latin typeface="Poppins Semi-Bold"/>
                <a:ea typeface="Poppins Semi-Bold"/>
                <a:cs typeface="Poppins Semi-Bold"/>
                <a:sym typeface="Poppins Semi-Bold"/>
              </a:rPr>
              <a:t>break</a:t>
            </a:r>
            <a:r>
              <a:rPr lang="en-US" sz="4200" b="1">
                <a:solidFill>
                  <a:srgbClr val="FFFFFF"/>
                </a:solidFill>
                <a:latin typeface="Poppins Semi-Bold"/>
                <a:ea typeface="Poppins Semi-Bold"/>
                <a:cs typeface="Poppins Semi-Bold"/>
                <a:sym typeface="Poppins Semi-Bold"/>
              </a:rPr>
              <a:t>;</a:t>
            </a:r>
          </a:p>
        </p:txBody>
      </p:sp>
      <p:sp>
        <p:nvSpPr>
          <p:cNvPr id="7" name="TextBox 7"/>
          <p:cNvSpPr txBox="1"/>
          <p:nvPr/>
        </p:nvSpPr>
        <p:spPr>
          <a:xfrm>
            <a:off x="1125217" y="6373730"/>
            <a:ext cx="285636" cy="736854"/>
          </a:xfrm>
          <a:prstGeom prst="rect">
            <a:avLst/>
          </a:prstGeom>
        </p:spPr>
        <p:txBody>
          <a:bodyPr lIns="0" tIns="0" rIns="0" bIns="0" rtlCol="0" anchor="t">
            <a:spAutoFit/>
          </a:bodyPr>
          <a:lstStyle/>
          <a:p>
            <a:pPr algn="l">
              <a:lnSpc>
                <a:spcPts val="5023"/>
              </a:lnSpc>
            </a:pPr>
            <a:r>
              <a:rPr lang="en-US" sz="4200" b="1" spc="3360">
                <a:solidFill>
                  <a:srgbClr val="FFFFFF"/>
                </a:solidFill>
                <a:latin typeface="Poppins Semi-Bold"/>
                <a:ea typeface="Poppins Semi-Bold"/>
                <a:cs typeface="Poppins Semi-Bold"/>
                <a:sym typeface="Poppins Semi-Bold"/>
              </a:rPr>
              <a:t>}</a:t>
            </a: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5017741" y="324326"/>
            <a:ext cx="8417585"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Repetições “Infinitas”</a:t>
            </a:r>
          </a:p>
        </p:txBody>
      </p:sp>
      <p:sp>
        <p:nvSpPr>
          <p:cNvPr id="3" name="TextBox 3"/>
          <p:cNvSpPr txBox="1"/>
          <p:nvPr/>
        </p:nvSpPr>
        <p:spPr>
          <a:xfrm>
            <a:off x="164983" y="2225592"/>
            <a:ext cx="13090274" cy="1375029"/>
          </a:xfrm>
          <a:prstGeom prst="rect">
            <a:avLst/>
          </a:prstGeom>
        </p:spPr>
        <p:txBody>
          <a:bodyPr lIns="0" tIns="0" rIns="0" bIns="0" rtlCol="0" anchor="t">
            <a:spAutoFit/>
          </a:bodyPr>
          <a:lstStyle/>
          <a:p>
            <a:pPr algn="l">
              <a:lnSpc>
                <a:spcPts val="5023"/>
              </a:lnSpc>
            </a:pPr>
            <a:r>
              <a:rPr lang="en-US" sz="4200" b="1">
                <a:solidFill>
                  <a:srgbClr val="FFFFFF"/>
                </a:solidFill>
                <a:latin typeface="Poppins Semi-Bold"/>
                <a:ea typeface="Poppins Semi-Bold"/>
                <a:cs typeface="Poppins Semi-Bold"/>
                <a:sym typeface="Poppins Semi-Bold"/>
              </a:rPr>
              <a:t>O mesmo exemplo, só que com o while agora: </a:t>
            </a:r>
            <a:r>
              <a:rPr lang="en-US" sz="4200" b="1">
                <a:solidFill>
                  <a:srgbClr val="3C67BF"/>
                </a:solidFill>
                <a:latin typeface="Poppins Semi-Bold"/>
                <a:ea typeface="Poppins Semi-Bold"/>
                <a:cs typeface="Poppins Semi-Bold"/>
                <a:sym typeface="Poppins Semi-Bold"/>
              </a:rPr>
              <a:t>while</a:t>
            </a:r>
            <a:r>
              <a:rPr lang="en-US" sz="4200" b="1">
                <a:solidFill>
                  <a:srgbClr val="FFFFFF"/>
                </a:solidFill>
                <a:latin typeface="Poppins Semi-Bold"/>
                <a:ea typeface="Poppins Semi-Bold"/>
                <a:cs typeface="Poppins Semi-Bold"/>
                <a:sym typeface="Poppins Semi-Bold"/>
              </a:rPr>
              <a:t>(</a:t>
            </a:r>
            <a:r>
              <a:rPr lang="en-US" sz="4200" b="1">
                <a:solidFill>
                  <a:srgbClr val="3C67BF"/>
                </a:solidFill>
                <a:latin typeface="Poppins Semi-Bold"/>
                <a:ea typeface="Poppins Semi-Bold"/>
                <a:cs typeface="Poppins Semi-Bold"/>
                <a:sym typeface="Poppins Semi-Bold"/>
              </a:rPr>
              <a:t>true</a:t>
            </a:r>
            <a:r>
              <a:rPr lang="en-US" sz="4200" b="1">
                <a:solidFill>
                  <a:srgbClr val="FFFFFF"/>
                </a:solidFill>
                <a:latin typeface="Poppins Semi-Bold"/>
                <a:ea typeface="Poppins Semi-Bold"/>
                <a:cs typeface="Poppins Semi-Bold"/>
                <a:sym typeface="Poppins Semi-Bold"/>
              </a:rPr>
              <a:t>){</a:t>
            </a:r>
          </a:p>
        </p:txBody>
      </p:sp>
      <p:sp>
        <p:nvSpPr>
          <p:cNvPr id="4" name="TextBox 4"/>
          <p:cNvSpPr txBox="1"/>
          <p:nvPr/>
        </p:nvSpPr>
        <p:spPr>
          <a:xfrm>
            <a:off x="164983" y="3501942"/>
            <a:ext cx="17152830" cy="6480429"/>
          </a:xfrm>
          <a:prstGeom prst="rect">
            <a:avLst/>
          </a:prstGeom>
        </p:spPr>
        <p:txBody>
          <a:bodyPr lIns="0" tIns="0" rIns="0" bIns="0" rtlCol="0" anchor="t">
            <a:spAutoFit/>
          </a:bodyPr>
          <a:lstStyle/>
          <a:p>
            <a:pPr algn="just">
              <a:lnSpc>
                <a:spcPts val="5023"/>
              </a:lnSpc>
            </a:pPr>
            <a:r>
              <a:rPr lang="en-US" sz="4200" b="1">
                <a:solidFill>
                  <a:srgbClr val="FFFFFF"/>
                </a:solidFill>
                <a:latin typeface="Poppins Semi-Bold"/>
                <a:ea typeface="Poppins Semi-Bold"/>
                <a:cs typeface="Poppins Semi-Bold"/>
                <a:sym typeface="Poppins Semi-Bold"/>
              </a:rPr>
              <a:t> </a:t>
            </a:r>
          </a:p>
          <a:p>
            <a:pPr algn="just">
              <a:lnSpc>
                <a:spcPts val="5023"/>
              </a:lnSpc>
            </a:pPr>
            <a:r>
              <a:rPr lang="en-US" sz="4200" b="1">
                <a:solidFill>
                  <a:srgbClr val="FFFFFF"/>
                </a:solidFill>
                <a:latin typeface="Poppins Semi-Bold"/>
                <a:ea typeface="Poppins Semi-Bold"/>
                <a:cs typeface="Poppins Semi-Bold"/>
                <a:sym typeface="Poppins Semi-Bold"/>
              </a:rPr>
              <a:t> </a:t>
            </a:r>
          </a:p>
          <a:p>
            <a:pPr algn="just">
              <a:lnSpc>
                <a:spcPts val="5023"/>
              </a:lnSpc>
            </a:pPr>
            <a:r>
              <a:rPr lang="en-US" sz="4200" b="1">
                <a:solidFill>
                  <a:srgbClr val="FFFFFF"/>
                </a:solidFill>
                <a:latin typeface="Poppins Semi-Bold"/>
                <a:ea typeface="Poppins Semi-Bold"/>
                <a:cs typeface="Poppins Semi-Bold"/>
                <a:sym typeface="Poppins Semi-Bold"/>
              </a:rPr>
              <a:t> </a:t>
            </a:r>
          </a:p>
          <a:p>
            <a:pPr algn="just">
              <a:lnSpc>
                <a:spcPts val="5023"/>
              </a:lnSpc>
            </a:pPr>
            <a:r>
              <a:rPr lang="en-US" sz="4200" b="1">
                <a:solidFill>
                  <a:srgbClr val="FFFFFF"/>
                </a:solidFill>
                <a:latin typeface="Poppins Semi-Bold"/>
                <a:ea typeface="Poppins Semi-Bold"/>
                <a:cs typeface="Poppins Semi-Bold"/>
                <a:sym typeface="Poppins Semi-Bold"/>
              </a:rPr>
              <a:t> </a:t>
            </a:r>
          </a:p>
          <a:p>
            <a:pPr algn="just">
              <a:lnSpc>
                <a:spcPts val="5023"/>
              </a:lnSpc>
            </a:pPr>
            <a:r>
              <a:rPr lang="en-US" sz="4200" b="1" spc="3360">
                <a:solidFill>
                  <a:srgbClr val="FFFFFF"/>
                </a:solidFill>
                <a:latin typeface="Poppins Semi-Bold"/>
                <a:ea typeface="Poppins Semi-Bold"/>
                <a:cs typeface="Poppins Semi-Bold"/>
                <a:sym typeface="Poppins Semi-Bold"/>
              </a:rPr>
              <a:t> </a:t>
            </a:r>
          </a:p>
          <a:p>
            <a:pPr algn="just">
              <a:lnSpc>
                <a:spcPts val="5023"/>
              </a:lnSpc>
            </a:pPr>
            <a:r>
              <a:rPr lang="en-US" sz="4200" b="1" spc="3360">
                <a:solidFill>
                  <a:srgbClr val="FFFFFF"/>
                </a:solidFill>
                <a:latin typeface="Poppins Semi-Bold"/>
                <a:ea typeface="Poppins Semi-Bold"/>
                <a:cs typeface="Poppins Semi-Bold"/>
                <a:sym typeface="Poppins Semi-Bold"/>
              </a:rPr>
              <a:t>} </a:t>
            </a:r>
            <a:r>
              <a:rPr lang="en-US" sz="4200" b="1" spc="3360">
                <a:solidFill>
                  <a:srgbClr val="7ED957"/>
                </a:solidFill>
                <a:latin typeface="Poppins Semi-Bold"/>
                <a:ea typeface="Poppins Semi-Bold"/>
                <a:cs typeface="Poppins Semi-Bold"/>
                <a:sym typeface="Poppins Semi-Bold"/>
              </a:rPr>
              <a:t>Console</a:t>
            </a:r>
            <a:r>
              <a:rPr lang="en-US" sz="4200" b="1" spc="3360">
                <a:solidFill>
                  <a:srgbClr val="FFFFFF"/>
                </a:solidFill>
                <a:latin typeface="Poppins Semi-Bold"/>
                <a:ea typeface="Poppins Semi-Bold"/>
                <a:cs typeface="Poppins Semi-Bold"/>
                <a:sym typeface="Poppins Semi-Bold"/>
              </a:rPr>
              <a:t>.</a:t>
            </a:r>
            <a:r>
              <a:rPr lang="en-US" sz="4200" b="1" spc="3360">
                <a:solidFill>
                  <a:srgbClr val="FFCB85"/>
                </a:solidFill>
                <a:latin typeface="Poppins Semi-Bold"/>
                <a:ea typeface="Poppins Semi-Bold"/>
                <a:cs typeface="Poppins Semi-Bold"/>
                <a:sym typeface="Poppins Semi-Bold"/>
              </a:rPr>
              <a:t>WriteLine</a:t>
            </a:r>
            <a:r>
              <a:rPr lang="en-US" sz="4200" b="1" spc="3360">
                <a:solidFill>
                  <a:srgbClr val="FFFFFF"/>
                </a:solidFill>
                <a:latin typeface="Poppins Semi-Bold"/>
                <a:ea typeface="Poppins Semi-Bold"/>
                <a:cs typeface="Poppins Semi-Bold"/>
                <a:sym typeface="Poppins Semi-Bold"/>
              </a:rPr>
              <a:t>(</a:t>
            </a:r>
            <a:r>
              <a:rPr lang="en-US" sz="4200" b="1" spc="3360">
                <a:solidFill>
                  <a:srgbClr val="FFCB85"/>
                </a:solidFill>
                <a:latin typeface="Poppins Semi-Bold"/>
                <a:ea typeface="Poppins Semi-Bold"/>
                <a:cs typeface="Poppins Semi-Bold"/>
                <a:sym typeface="Poppins Semi-Bold"/>
              </a:rPr>
              <a:t>"Fim do programa."</a:t>
            </a:r>
            <a:r>
              <a:rPr lang="en-US" sz="4200" b="1" spc="3360">
                <a:solidFill>
                  <a:srgbClr val="FFFFFF"/>
                </a:solidFill>
                <a:latin typeface="Poppins Semi-Bold"/>
                <a:ea typeface="Poppins Semi-Bold"/>
                <a:cs typeface="Poppins Semi-Bold"/>
                <a:sym typeface="Poppins Semi-Bold"/>
              </a:rPr>
              <a:t>); Acontece a mesma coisa, a repetição é interrompida após o número 0 ser informado.</a:t>
            </a:r>
          </a:p>
        </p:txBody>
      </p:sp>
      <p:sp>
        <p:nvSpPr>
          <p:cNvPr id="5" name="TextBox 5"/>
          <p:cNvSpPr txBox="1"/>
          <p:nvPr/>
        </p:nvSpPr>
        <p:spPr>
          <a:xfrm>
            <a:off x="1125217" y="3501942"/>
            <a:ext cx="12567552" cy="2013204"/>
          </a:xfrm>
          <a:prstGeom prst="rect">
            <a:avLst/>
          </a:prstGeom>
        </p:spPr>
        <p:txBody>
          <a:bodyPr lIns="0" tIns="0" rIns="0" bIns="0" rtlCol="0" anchor="t">
            <a:spAutoFit/>
          </a:bodyPr>
          <a:lstStyle/>
          <a:p>
            <a:pPr algn="l">
              <a:lnSpc>
                <a:spcPts val="5023"/>
              </a:lnSpc>
            </a:pPr>
            <a:r>
              <a:rPr lang="en-US" sz="4200" b="1">
                <a:solidFill>
                  <a:srgbClr val="7ED957"/>
                </a:solidFill>
                <a:latin typeface="Poppins Semi-Bold"/>
                <a:ea typeface="Poppins Semi-Bold"/>
                <a:cs typeface="Poppins Semi-Bold"/>
                <a:sym typeface="Poppins Semi-Bold"/>
              </a:rPr>
              <a:t>Console</a:t>
            </a:r>
            <a:r>
              <a:rPr lang="en-US" sz="4200" b="1">
                <a:solidFill>
                  <a:srgbClr val="FFFFFF"/>
                </a:solidFill>
                <a:latin typeface="Poppins Semi-Bold"/>
                <a:ea typeface="Poppins Semi-Bold"/>
                <a:cs typeface="Poppins Semi-Bold"/>
                <a:sym typeface="Poppins Semi-Bold"/>
              </a:rPr>
              <a:t>.</a:t>
            </a:r>
            <a:r>
              <a:rPr lang="en-US" sz="4200" b="1">
                <a:solidFill>
                  <a:srgbClr val="FFCB85"/>
                </a:solidFill>
                <a:latin typeface="Poppins Semi-Bold"/>
                <a:ea typeface="Poppins Semi-Bold"/>
                <a:cs typeface="Poppins Semi-Bold"/>
                <a:sym typeface="Poppins Semi-Bold"/>
              </a:rPr>
              <a:t>WriteLine</a:t>
            </a:r>
            <a:r>
              <a:rPr lang="en-US" sz="4200" b="1">
                <a:solidFill>
                  <a:srgbClr val="FFFFFF"/>
                </a:solidFill>
                <a:latin typeface="Poppins Semi-Bold"/>
                <a:ea typeface="Poppins Semi-Bold"/>
                <a:cs typeface="Poppins Semi-Bold"/>
                <a:sym typeface="Poppins Semi-Bold"/>
              </a:rPr>
              <a:t>(</a:t>
            </a:r>
            <a:r>
              <a:rPr lang="en-US" sz="4200" b="1">
                <a:solidFill>
                  <a:srgbClr val="FFCB85"/>
                </a:solidFill>
                <a:latin typeface="Poppins Semi-Bold"/>
                <a:ea typeface="Poppins Semi-Bold"/>
                <a:cs typeface="Poppins Semi-Bold"/>
                <a:sym typeface="Poppins Semi-Bold"/>
              </a:rPr>
              <a:t>"Informe um número: "</a:t>
            </a:r>
            <a:r>
              <a:rPr lang="en-US" sz="4200" b="1">
                <a:solidFill>
                  <a:srgbClr val="FFFFFF"/>
                </a:solidFill>
                <a:latin typeface="Poppins Semi-Bold"/>
                <a:ea typeface="Poppins Semi-Bold"/>
                <a:cs typeface="Poppins Semi-Bold"/>
                <a:sym typeface="Poppins Semi-Bold"/>
              </a:rPr>
              <a:t>); </a:t>
            </a:r>
            <a:r>
              <a:rPr lang="en-US" sz="4200" b="1">
                <a:solidFill>
                  <a:srgbClr val="3C67BF"/>
                </a:solidFill>
                <a:latin typeface="Poppins Semi-Bold"/>
                <a:ea typeface="Poppins Semi-Bold"/>
                <a:cs typeface="Poppins Semi-Bold"/>
                <a:sym typeface="Poppins Semi-Bold"/>
              </a:rPr>
              <a:t>int </a:t>
            </a:r>
            <a:r>
              <a:rPr lang="en-US" sz="4200" b="1">
                <a:solidFill>
                  <a:srgbClr val="FFFFFF"/>
                </a:solidFill>
                <a:latin typeface="Poppins Semi-Bold"/>
                <a:ea typeface="Poppins Semi-Bold"/>
                <a:cs typeface="Poppins Semi-Bold"/>
                <a:sym typeface="Poppins Semi-Bold"/>
              </a:rPr>
              <a:t>numero = </a:t>
            </a:r>
            <a:r>
              <a:rPr lang="en-US" sz="4200" b="1">
                <a:solidFill>
                  <a:srgbClr val="3C67BF"/>
                </a:solidFill>
                <a:latin typeface="Poppins Semi-Bold"/>
                <a:ea typeface="Poppins Semi-Bold"/>
                <a:cs typeface="Poppins Semi-Bold"/>
                <a:sym typeface="Poppins Semi-Bold"/>
              </a:rPr>
              <a:t>int</a:t>
            </a:r>
            <a:r>
              <a:rPr lang="en-US" sz="4200" b="1">
                <a:solidFill>
                  <a:srgbClr val="FFFFFF"/>
                </a:solidFill>
                <a:latin typeface="Poppins Semi-Bold"/>
                <a:ea typeface="Poppins Semi-Bold"/>
                <a:cs typeface="Poppins Semi-Bold"/>
                <a:sym typeface="Poppins Semi-Bold"/>
              </a:rPr>
              <a:t>.</a:t>
            </a:r>
            <a:r>
              <a:rPr lang="en-US" sz="4200" b="1">
                <a:solidFill>
                  <a:srgbClr val="FFCB85"/>
                </a:solidFill>
                <a:latin typeface="Poppins Semi-Bold"/>
                <a:ea typeface="Poppins Semi-Bold"/>
                <a:cs typeface="Poppins Semi-Bold"/>
                <a:sym typeface="Poppins Semi-Bold"/>
              </a:rPr>
              <a:t>Parse</a:t>
            </a:r>
            <a:r>
              <a:rPr lang="en-US" sz="4200" b="1">
                <a:solidFill>
                  <a:srgbClr val="FFFFFF"/>
                </a:solidFill>
                <a:latin typeface="Poppins Semi-Bold"/>
                <a:ea typeface="Poppins Semi-Bold"/>
                <a:cs typeface="Poppins Semi-Bold"/>
                <a:sym typeface="Poppins Semi-Bold"/>
              </a:rPr>
              <a:t>(</a:t>
            </a:r>
            <a:r>
              <a:rPr lang="en-US" sz="4200" b="1">
                <a:solidFill>
                  <a:srgbClr val="7ED957"/>
                </a:solidFill>
                <a:latin typeface="Poppins Semi-Bold"/>
                <a:ea typeface="Poppins Semi-Bold"/>
                <a:cs typeface="Poppins Semi-Bold"/>
                <a:sym typeface="Poppins Semi-Bold"/>
              </a:rPr>
              <a:t>Console</a:t>
            </a:r>
            <a:r>
              <a:rPr lang="en-US" sz="4200" b="1">
                <a:solidFill>
                  <a:srgbClr val="FFFFFF"/>
                </a:solidFill>
                <a:latin typeface="Poppins Semi-Bold"/>
                <a:ea typeface="Poppins Semi-Bold"/>
                <a:cs typeface="Poppins Semi-Bold"/>
                <a:sym typeface="Poppins Semi-Bold"/>
              </a:rPr>
              <a:t>.</a:t>
            </a:r>
            <a:r>
              <a:rPr lang="en-US" sz="4200" b="1">
                <a:solidFill>
                  <a:srgbClr val="FFCB85"/>
                </a:solidFill>
                <a:latin typeface="Poppins Semi-Bold"/>
                <a:ea typeface="Poppins Semi-Bold"/>
                <a:cs typeface="Poppins Semi-Bold"/>
                <a:sym typeface="Poppins Semi-Bold"/>
              </a:rPr>
              <a:t>ReadLine</a:t>
            </a:r>
            <a:r>
              <a:rPr lang="en-US" sz="4200" b="1">
                <a:solidFill>
                  <a:srgbClr val="FFFFFF"/>
                </a:solidFill>
                <a:latin typeface="Poppins Semi-Bold"/>
                <a:ea typeface="Poppins Semi-Bold"/>
                <a:cs typeface="Poppins Semi-Bold"/>
                <a:sym typeface="Poppins Semi-Bold"/>
              </a:rPr>
              <a:t>()); </a:t>
            </a:r>
            <a:r>
              <a:rPr lang="en-US" sz="4200" b="1">
                <a:solidFill>
                  <a:srgbClr val="3C67BF"/>
                </a:solidFill>
                <a:latin typeface="Poppins Semi-Bold"/>
                <a:ea typeface="Poppins Semi-Bold"/>
                <a:cs typeface="Poppins Semi-Bold"/>
                <a:sym typeface="Poppins Semi-Bold"/>
              </a:rPr>
              <a:t>if</a:t>
            </a:r>
            <a:r>
              <a:rPr lang="en-US" sz="4200" b="1">
                <a:solidFill>
                  <a:srgbClr val="FFFFFF"/>
                </a:solidFill>
                <a:latin typeface="Poppins Semi-Bold"/>
                <a:ea typeface="Poppins Semi-Bold"/>
                <a:cs typeface="Poppins Semi-Bold"/>
                <a:sym typeface="Poppins Semi-Bold"/>
              </a:rPr>
              <a:t>(numero == 0){</a:t>
            </a:r>
          </a:p>
        </p:txBody>
      </p:sp>
      <p:sp>
        <p:nvSpPr>
          <p:cNvPr id="6" name="TextBox 6"/>
          <p:cNvSpPr txBox="1"/>
          <p:nvPr/>
        </p:nvSpPr>
        <p:spPr>
          <a:xfrm>
            <a:off x="2085308" y="5416467"/>
            <a:ext cx="1815617" cy="736854"/>
          </a:xfrm>
          <a:prstGeom prst="rect">
            <a:avLst/>
          </a:prstGeom>
        </p:spPr>
        <p:txBody>
          <a:bodyPr lIns="0" tIns="0" rIns="0" bIns="0" rtlCol="0" anchor="t">
            <a:spAutoFit/>
          </a:bodyPr>
          <a:lstStyle/>
          <a:p>
            <a:pPr algn="l">
              <a:lnSpc>
                <a:spcPts val="5023"/>
              </a:lnSpc>
            </a:pPr>
            <a:r>
              <a:rPr lang="en-US" sz="4200" b="1">
                <a:solidFill>
                  <a:srgbClr val="3C67BF"/>
                </a:solidFill>
                <a:latin typeface="Poppins Semi-Bold"/>
                <a:ea typeface="Poppins Semi-Bold"/>
                <a:cs typeface="Poppins Semi-Bold"/>
                <a:sym typeface="Poppins Semi-Bold"/>
              </a:rPr>
              <a:t>break</a:t>
            </a:r>
            <a:r>
              <a:rPr lang="en-US" sz="4200" b="1">
                <a:solidFill>
                  <a:srgbClr val="FFFFFF"/>
                </a:solidFill>
                <a:latin typeface="Poppins Semi-Bold"/>
                <a:ea typeface="Poppins Semi-Bold"/>
                <a:cs typeface="Poppins Semi-Bold"/>
                <a:sym typeface="Poppins Semi-Bold"/>
              </a:rPr>
              <a:t>;</a:t>
            </a:r>
          </a:p>
        </p:txBody>
      </p:sp>
      <p:sp>
        <p:nvSpPr>
          <p:cNvPr id="7" name="TextBox 7"/>
          <p:cNvSpPr txBox="1"/>
          <p:nvPr/>
        </p:nvSpPr>
        <p:spPr>
          <a:xfrm>
            <a:off x="1125217" y="6054642"/>
            <a:ext cx="285636" cy="736854"/>
          </a:xfrm>
          <a:prstGeom prst="rect">
            <a:avLst/>
          </a:prstGeom>
        </p:spPr>
        <p:txBody>
          <a:bodyPr lIns="0" tIns="0" rIns="0" bIns="0" rtlCol="0" anchor="t">
            <a:spAutoFit/>
          </a:bodyPr>
          <a:lstStyle/>
          <a:p>
            <a:pPr algn="l">
              <a:lnSpc>
                <a:spcPts val="5023"/>
              </a:lnSpc>
            </a:pPr>
            <a:r>
              <a:rPr lang="en-US" sz="4200" b="1" spc="3360">
                <a:solidFill>
                  <a:srgbClr val="FFFFFF"/>
                </a:solidFill>
                <a:latin typeface="Poppins Semi-Bold"/>
                <a:ea typeface="Poppins Semi-Bold"/>
                <a:cs typeface="Poppins Semi-Bold"/>
                <a:sym typeface="Poppins Semi-Bold"/>
              </a:rPr>
              <a:t>}</a:t>
            </a: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5017741" y="324326"/>
            <a:ext cx="8417585"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Repetições “Infinitas”</a:t>
            </a:r>
          </a:p>
        </p:txBody>
      </p:sp>
      <p:sp>
        <p:nvSpPr>
          <p:cNvPr id="3" name="TextBox 3"/>
          <p:cNvSpPr txBox="1"/>
          <p:nvPr/>
        </p:nvSpPr>
        <p:spPr>
          <a:xfrm>
            <a:off x="164983" y="2863767"/>
            <a:ext cx="18071459" cy="6480429"/>
          </a:xfrm>
          <a:prstGeom prst="rect">
            <a:avLst/>
          </a:prstGeom>
        </p:spPr>
        <p:txBody>
          <a:bodyPr lIns="0" tIns="0" rIns="0" bIns="0" rtlCol="0" anchor="t">
            <a:spAutoFit/>
          </a:bodyPr>
          <a:lstStyle/>
          <a:p>
            <a:pPr algn="just">
              <a:lnSpc>
                <a:spcPts val="5023"/>
              </a:lnSpc>
            </a:pPr>
            <a:r>
              <a:rPr lang="en-US" sz="4200" b="1">
                <a:solidFill>
                  <a:srgbClr val="FFFFFF"/>
                </a:solidFill>
                <a:latin typeface="Poppins Semi-Bold"/>
                <a:ea typeface="Poppins Semi-Bold"/>
                <a:cs typeface="Poppins Semi-Bold"/>
                <a:sym typeface="Poppins Semi-Bold"/>
              </a:rPr>
              <a:t>O próximo comando para interromper uma repetição infinita é mais poderoso que o break, estou falando do comando </a:t>
            </a:r>
            <a:r>
              <a:rPr lang="en-US" sz="4200" b="1">
                <a:solidFill>
                  <a:srgbClr val="3C67BF"/>
                </a:solidFill>
                <a:latin typeface="Poppins Semi-Bold"/>
                <a:ea typeface="Poppins Semi-Bold"/>
                <a:cs typeface="Poppins Semi-Bold"/>
                <a:sym typeface="Poppins Semi-Bold"/>
              </a:rPr>
              <a:t>return</a:t>
            </a:r>
            <a:r>
              <a:rPr lang="en-US" sz="4200" b="1">
                <a:solidFill>
                  <a:srgbClr val="FFFFFF"/>
                </a:solidFill>
                <a:latin typeface="Poppins Semi-Bold"/>
                <a:ea typeface="Poppins Semi-Bold"/>
                <a:cs typeface="Poppins Semi-Bold"/>
                <a:sym typeface="Poppins Semi-Bold"/>
              </a:rPr>
              <a:t>; O </a:t>
            </a:r>
            <a:r>
              <a:rPr lang="en-US" sz="4200" b="1">
                <a:solidFill>
                  <a:srgbClr val="3C67BF"/>
                </a:solidFill>
                <a:latin typeface="Poppins Semi-Bold"/>
                <a:ea typeface="Poppins Semi-Bold"/>
                <a:cs typeface="Poppins Semi-Bold"/>
                <a:sym typeface="Poppins Semi-Bold"/>
              </a:rPr>
              <a:t>return </a:t>
            </a:r>
            <a:r>
              <a:rPr lang="en-US" sz="4200" b="1">
                <a:solidFill>
                  <a:srgbClr val="FFFFFF"/>
                </a:solidFill>
                <a:latin typeface="Poppins Semi-Bold"/>
                <a:ea typeface="Poppins Semi-Bold"/>
                <a:cs typeface="Poppins Semi-Bold"/>
                <a:sym typeface="Poppins Semi-Bold"/>
              </a:rPr>
              <a:t>além de interromper a repetição ele finaliza a execução do método, ou seja, tudo que tiver programado no bloco de código após esse comando </a:t>
            </a:r>
            <a:r>
              <a:rPr lang="en-US" sz="4200" b="1">
                <a:solidFill>
                  <a:srgbClr val="3C67BF"/>
                </a:solidFill>
                <a:latin typeface="Poppins Semi-Bold"/>
                <a:ea typeface="Poppins Semi-Bold"/>
                <a:cs typeface="Poppins Semi-Bold"/>
                <a:sym typeface="Poppins Semi-Bold"/>
              </a:rPr>
              <a:t>return </a:t>
            </a:r>
            <a:r>
              <a:rPr lang="en-US" sz="4200" b="1">
                <a:solidFill>
                  <a:srgbClr val="FFFFFF"/>
                </a:solidFill>
                <a:latin typeface="Poppins Semi-Bold"/>
                <a:ea typeface="Poppins Semi-Bold"/>
                <a:cs typeface="Poppins Semi-Bold"/>
                <a:sym typeface="Poppins Semi-Bold"/>
              </a:rPr>
              <a:t>não será executado se ele for acionado. Veja o mesmo exemplo anterior só que agora com o comando </a:t>
            </a:r>
            <a:r>
              <a:rPr lang="en-US" sz="4200" b="1">
                <a:solidFill>
                  <a:srgbClr val="3C67BF"/>
                </a:solidFill>
                <a:latin typeface="Poppins Semi-Bold"/>
                <a:ea typeface="Poppins Semi-Bold"/>
                <a:cs typeface="Poppins Semi-Bold"/>
                <a:sym typeface="Poppins Semi-Bold"/>
              </a:rPr>
              <a:t>return</a:t>
            </a:r>
            <a:r>
              <a:rPr lang="en-US" sz="4200" b="1">
                <a:solidFill>
                  <a:srgbClr val="FFFFFF"/>
                </a:solidFill>
                <a:latin typeface="Poppins Semi-Bold"/>
                <a:ea typeface="Poppins Semi-Bold"/>
                <a:cs typeface="Poppins Semi-Bold"/>
                <a:sym typeface="Poppins Semi-Bold"/>
              </a:rPr>
              <a:t>.</a:t>
            </a: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5017741" y="324326"/>
            <a:ext cx="8417585"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Repetições “Infinitas”</a:t>
            </a:r>
          </a:p>
        </p:txBody>
      </p:sp>
      <p:sp>
        <p:nvSpPr>
          <p:cNvPr id="3" name="TextBox 3"/>
          <p:cNvSpPr txBox="1"/>
          <p:nvPr/>
        </p:nvSpPr>
        <p:spPr>
          <a:xfrm>
            <a:off x="164983" y="2863767"/>
            <a:ext cx="3468138" cy="736854"/>
          </a:xfrm>
          <a:prstGeom prst="rect">
            <a:avLst/>
          </a:prstGeom>
        </p:spPr>
        <p:txBody>
          <a:bodyPr lIns="0" tIns="0" rIns="0" bIns="0" rtlCol="0" anchor="t">
            <a:spAutoFit/>
          </a:bodyPr>
          <a:lstStyle/>
          <a:p>
            <a:pPr algn="l">
              <a:lnSpc>
                <a:spcPts val="5023"/>
              </a:lnSpc>
            </a:pPr>
            <a:r>
              <a:rPr lang="en-US" sz="4200" b="1">
                <a:solidFill>
                  <a:srgbClr val="3C67BF"/>
                </a:solidFill>
                <a:latin typeface="Poppins Semi-Bold"/>
                <a:ea typeface="Poppins Semi-Bold"/>
                <a:cs typeface="Poppins Semi-Bold"/>
                <a:sym typeface="Poppins Semi-Bold"/>
              </a:rPr>
              <a:t>while</a:t>
            </a:r>
            <a:r>
              <a:rPr lang="en-US" sz="4200" b="1">
                <a:solidFill>
                  <a:srgbClr val="FFFFFF"/>
                </a:solidFill>
                <a:latin typeface="Poppins Semi-Bold"/>
                <a:ea typeface="Poppins Semi-Bold"/>
                <a:cs typeface="Poppins Semi-Bold"/>
                <a:sym typeface="Poppins Semi-Bold"/>
              </a:rPr>
              <a:t>(</a:t>
            </a:r>
            <a:r>
              <a:rPr lang="en-US" sz="4200" b="1">
                <a:solidFill>
                  <a:srgbClr val="3C67BF"/>
                </a:solidFill>
                <a:latin typeface="Poppins Semi-Bold"/>
                <a:ea typeface="Poppins Semi-Bold"/>
                <a:cs typeface="Poppins Semi-Bold"/>
                <a:sym typeface="Poppins Semi-Bold"/>
              </a:rPr>
              <a:t>true</a:t>
            </a:r>
            <a:r>
              <a:rPr lang="en-US" sz="4200" b="1">
                <a:solidFill>
                  <a:srgbClr val="FFFFFF"/>
                </a:solidFill>
                <a:latin typeface="Poppins Semi-Bold"/>
                <a:ea typeface="Poppins Semi-Bold"/>
                <a:cs typeface="Poppins Semi-Bold"/>
                <a:sym typeface="Poppins Semi-Bold"/>
              </a:rPr>
              <a:t>){</a:t>
            </a:r>
          </a:p>
        </p:txBody>
      </p:sp>
      <p:sp>
        <p:nvSpPr>
          <p:cNvPr id="4" name="TextBox 4"/>
          <p:cNvSpPr txBox="1"/>
          <p:nvPr/>
        </p:nvSpPr>
        <p:spPr>
          <a:xfrm>
            <a:off x="164983" y="3501942"/>
            <a:ext cx="15350881" cy="5842254"/>
          </a:xfrm>
          <a:prstGeom prst="rect">
            <a:avLst/>
          </a:prstGeom>
        </p:spPr>
        <p:txBody>
          <a:bodyPr lIns="0" tIns="0" rIns="0" bIns="0" rtlCol="0" anchor="t">
            <a:spAutoFit/>
          </a:bodyPr>
          <a:lstStyle/>
          <a:p>
            <a:pPr algn="just">
              <a:lnSpc>
                <a:spcPts val="5023"/>
              </a:lnSpc>
            </a:pPr>
            <a:r>
              <a:rPr lang="en-US" sz="4200" b="1">
                <a:solidFill>
                  <a:srgbClr val="FFFFFF"/>
                </a:solidFill>
                <a:latin typeface="Poppins Semi-Bold"/>
                <a:ea typeface="Poppins Semi-Bold"/>
                <a:cs typeface="Poppins Semi-Bold"/>
                <a:sym typeface="Poppins Semi-Bold"/>
              </a:rPr>
              <a:t> </a:t>
            </a:r>
          </a:p>
          <a:p>
            <a:pPr algn="just">
              <a:lnSpc>
                <a:spcPts val="5023"/>
              </a:lnSpc>
            </a:pPr>
            <a:r>
              <a:rPr lang="en-US" sz="4200" b="1">
                <a:solidFill>
                  <a:srgbClr val="FFFFFF"/>
                </a:solidFill>
                <a:latin typeface="Poppins Semi-Bold"/>
                <a:ea typeface="Poppins Semi-Bold"/>
                <a:cs typeface="Poppins Semi-Bold"/>
                <a:sym typeface="Poppins Semi-Bold"/>
              </a:rPr>
              <a:t> </a:t>
            </a:r>
          </a:p>
          <a:p>
            <a:pPr algn="just">
              <a:lnSpc>
                <a:spcPts val="5023"/>
              </a:lnSpc>
            </a:pPr>
            <a:r>
              <a:rPr lang="en-US" sz="4200" b="1">
                <a:solidFill>
                  <a:srgbClr val="FFFFFF"/>
                </a:solidFill>
                <a:latin typeface="Poppins Semi-Bold"/>
                <a:ea typeface="Poppins Semi-Bold"/>
                <a:cs typeface="Poppins Semi-Bold"/>
                <a:sym typeface="Poppins Semi-Bold"/>
              </a:rPr>
              <a:t> </a:t>
            </a:r>
          </a:p>
          <a:p>
            <a:pPr algn="just">
              <a:lnSpc>
                <a:spcPts val="5023"/>
              </a:lnSpc>
            </a:pPr>
            <a:r>
              <a:rPr lang="en-US" sz="4200" b="1">
                <a:solidFill>
                  <a:srgbClr val="FFFFFF"/>
                </a:solidFill>
                <a:latin typeface="Poppins Semi-Bold"/>
                <a:ea typeface="Poppins Semi-Bold"/>
                <a:cs typeface="Poppins Semi-Bold"/>
                <a:sym typeface="Poppins Semi-Bold"/>
              </a:rPr>
              <a:t> </a:t>
            </a:r>
          </a:p>
          <a:p>
            <a:pPr algn="just">
              <a:lnSpc>
                <a:spcPts val="5023"/>
              </a:lnSpc>
            </a:pPr>
            <a:r>
              <a:rPr lang="en-US" sz="4200" b="1" spc="3360">
                <a:solidFill>
                  <a:srgbClr val="FFFFFF"/>
                </a:solidFill>
                <a:latin typeface="Poppins Semi-Bold"/>
                <a:ea typeface="Poppins Semi-Bold"/>
                <a:cs typeface="Poppins Semi-Bold"/>
                <a:sym typeface="Poppins Semi-Bold"/>
              </a:rPr>
              <a:t> </a:t>
            </a:r>
          </a:p>
          <a:p>
            <a:pPr algn="just">
              <a:lnSpc>
                <a:spcPts val="5023"/>
              </a:lnSpc>
            </a:pPr>
            <a:r>
              <a:rPr lang="en-US" sz="4200" b="1" spc="3360">
                <a:solidFill>
                  <a:srgbClr val="FFFFFF"/>
                </a:solidFill>
                <a:latin typeface="Poppins Semi-Bold"/>
                <a:ea typeface="Poppins Semi-Bold"/>
                <a:cs typeface="Poppins Semi-Bold"/>
                <a:sym typeface="Poppins Semi-Bold"/>
              </a:rPr>
              <a:t>} </a:t>
            </a:r>
            <a:r>
              <a:rPr lang="en-US" sz="4200" b="1" spc="3360">
                <a:solidFill>
                  <a:srgbClr val="7ED957"/>
                </a:solidFill>
                <a:latin typeface="Poppins Semi-Bold"/>
                <a:ea typeface="Poppins Semi-Bold"/>
                <a:cs typeface="Poppins Semi-Bold"/>
                <a:sym typeface="Poppins Semi-Bold"/>
              </a:rPr>
              <a:t>Console</a:t>
            </a:r>
            <a:r>
              <a:rPr lang="en-US" sz="4200" b="1" spc="3360">
                <a:solidFill>
                  <a:srgbClr val="FFFFFF"/>
                </a:solidFill>
                <a:latin typeface="Poppins Semi-Bold"/>
                <a:ea typeface="Poppins Semi-Bold"/>
                <a:cs typeface="Poppins Semi-Bold"/>
                <a:sym typeface="Poppins Semi-Bold"/>
              </a:rPr>
              <a:t>.</a:t>
            </a:r>
            <a:r>
              <a:rPr lang="en-US" sz="4200" b="1" spc="3360">
                <a:solidFill>
                  <a:srgbClr val="FFCB85"/>
                </a:solidFill>
                <a:latin typeface="Poppins Semi-Bold"/>
                <a:ea typeface="Poppins Semi-Bold"/>
                <a:cs typeface="Poppins Semi-Bold"/>
                <a:sym typeface="Poppins Semi-Bold"/>
              </a:rPr>
              <a:t>WriteLine</a:t>
            </a:r>
            <a:r>
              <a:rPr lang="en-US" sz="4200" b="1" spc="3360">
                <a:solidFill>
                  <a:srgbClr val="FFFFFF"/>
                </a:solidFill>
                <a:latin typeface="Poppins Semi-Bold"/>
                <a:ea typeface="Poppins Semi-Bold"/>
                <a:cs typeface="Poppins Semi-Bold"/>
                <a:sym typeface="Poppins Semi-Bold"/>
              </a:rPr>
              <a:t>(</a:t>
            </a:r>
            <a:r>
              <a:rPr lang="en-US" sz="4200" b="1" spc="3360">
                <a:solidFill>
                  <a:srgbClr val="FFCB85"/>
                </a:solidFill>
                <a:latin typeface="Poppins Semi-Bold"/>
                <a:ea typeface="Poppins Semi-Bold"/>
                <a:cs typeface="Poppins Semi-Bold"/>
                <a:sym typeface="Poppins Semi-Bold"/>
              </a:rPr>
              <a:t>"Fim do programa."</a:t>
            </a:r>
            <a:r>
              <a:rPr lang="en-US" sz="4200" b="1" spc="3360">
                <a:solidFill>
                  <a:srgbClr val="FFFFFF"/>
                </a:solidFill>
                <a:latin typeface="Poppins Semi-Bold"/>
                <a:ea typeface="Poppins Semi-Bold"/>
                <a:cs typeface="Poppins Semi-Bold"/>
                <a:sym typeface="Poppins Semi-Bold"/>
              </a:rPr>
              <a:t>); Ao executar o comando, o que acontece de diferente?</a:t>
            </a:r>
          </a:p>
        </p:txBody>
      </p:sp>
      <p:sp>
        <p:nvSpPr>
          <p:cNvPr id="5" name="TextBox 5"/>
          <p:cNvSpPr txBox="1"/>
          <p:nvPr/>
        </p:nvSpPr>
        <p:spPr>
          <a:xfrm>
            <a:off x="1125217" y="3501942"/>
            <a:ext cx="12567552" cy="2013204"/>
          </a:xfrm>
          <a:prstGeom prst="rect">
            <a:avLst/>
          </a:prstGeom>
        </p:spPr>
        <p:txBody>
          <a:bodyPr lIns="0" tIns="0" rIns="0" bIns="0" rtlCol="0" anchor="t">
            <a:spAutoFit/>
          </a:bodyPr>
          <a:lstStyle/>
          <a:p>
            <a:pPr algn="l">
              <a:lnSpc>
                <a:spcPts val="5023"/>
              </a:lnSpc>
            </a:pPr>
            <a:r>
              <a:rPr lang="en-US" sz="4200" b="1">
                <a:solidFill>
                  <a:srgbClr val="7ED957"/>
                </a:solidFill>
                <a:latin typeface="Poppins Semi-Bold"/>
                <a:ea typeface="Poppins Semi-Bold"/>
                <a:cs typeface="Poppins Semi-Bold"/>
                <a:sym typeface="Poppins Semi-Bold"/>
              </a:rPr>
              <a:t>Console</a:t>
            </a:r>
            <a:r>
              <a:rPr lang="en-US" sz="4200" b="1">
                <a:solidFill>
                  <a:srgbClr val="FFFFFF"/>
                </a:solidFill>
                <a:latin typeface="Poppins Semi-Bold"/>
                <a:ea typeface="Poppins Semi-Bold"/>
                <a:cs typeface="Poppins Semi-Bold"/>
                <a:sym typeface="Poppins Semi-Bold"/>
              </a:rPr>
              <a:t>.</a:t>
            </a:r>
            <a:r>
              <a:rPr lang="en-US" sz="4200" b="1">
                <a:solidFill>
                  <a:srgbClr val="FFCB85"/>
                </a:solidFill>
                <a:latin typeface="Poppins Semi-Bold"/>
                <a:ea typeface="Poppins Semi-Bold"/>
                <a:cs typeface="Poppins Semi-Bold"/>
                <a:sym typeface="Poppins Semi-Bold"/>
              </a:rPr>
              <a:t>WriteLine</a:t>
            </a:r>
            <a:r>
              <a:rPr lang="en-US" sz="4200" b="1">
                <a:solidFill>
                  <a:srgbClr val="FFFFFF"/>
                </a:solidFill>
                <a:latin typeface="Poppins Semi-Bold"/>
                <a:ea typeface="Poppins Semi-Bold"/>
                <a:cs typeface="Poppins Semi-Bold"/>
                <a:sym typeface="Poppins Semi-Bold"/>
              </a:rPr>
              <a:t>(</a:t>
            </a:r>
            <a:r>
              <a:rPr lang="en-US" sz="4200" b="1">
                <a:solidFill>
                  <a:srgbClr val="FFCB85"/>
                </a:solidFill>
                <a:latin typeface="Poppins Semi-Bold"/>
                <a:ea typeface="Poppins Semi-Bold"/>
                <a:cs typeface="Poppins Semi-Bold"/>
                <a:sym typeface="Poppins Semi-Bold"/>
              </a:rPr>
              <a:t>"Informe um número: "</a:t>
            </a:r>
            <a:r>
              <a:rPr lang="en-US" sz="4200" b="1">
                <a:solidFill>
                  <a:srgbClr val="FFFFFF"/>
                </a:solidFill>
                <a:latin typeface="Poppins Semi-Bold"/>
                <a:ea typeface="Poppins Semi-Bold"/>
                <a:cs typeface="Poppins Semi-Bold"/>
                <a:sym typeface="Poppins Semi-Bold"/>
              </a:rPr>
              <a:t>); </a:t>
            </a:r>
            <a:r>
              <a:rPr lang="en-US" sz="4200" b="1">
                <a:solidFill>
                  <a:srgbClr val="3C67BF"/>
                </a:solidFill>
                <a:latin typeface="Poppins Semi-Bold"/>
                <a:ea typeface="Poppins Semi-Bold"/>
                <a:cs typeface="Poppins Semi-Bold"/>
                <a:sym typeface="Poppins Semi-Bold"/>
              </a:rPr>
              <a:t>int </a:t>
            </a:r>
            <a:r>
              <a:rPr lang="en-US" sz="4200" b="1">
                <a:solidFill>
                  <a:srgbClr val="FFFFFF"/>
                </a:solidFill>
                <a:latin typeface="Poppins Semi-Bold"/>
                <a:ea typeface="Poppins Semi-Bold"/>
                <a:cs typeface="Poppins Semi-Bold"/>
                <a:sym typeface="Poppins Semi-Bold"/>
              </a:rPr>
              <a:t>numero = </a:t>
            </a:r>
            <a:r>
              <a:rPr lang="en-US" sz="4200" b="1">
                <a:solidFill>
                  <a:srgbClr val="3C67BF"/>
                </a:solidFill>
                <a:latin typeface="Poppins Semi-Bold"/>
                <a:ea typeface="Poppins Semi-Bold"/>
                <a:cs typeface="Poppins Semi-Bold"/>
                <a:sym typeface="Poppins Semi-Bold"/>
              </a:rPr>
              <a:t>int</a:t>
            </a:r>
            <a:r>
              <a:rPr lang="en-US" sz="4200" b="1">
                <a:solidFill>
                  <a:srgbClr val="FFFFFF"/>
                </a:solidFill>
                <a:latin typeface="Poppins Semi-Bold"/>
                <a:ea typeface="Poppins Semi-Bold"/>
                <a:cs typeface="Poppins Semi-Bold"/>
                <a:sym typeface="Poppins Semi-Bold"/>
              </a:rPr>
              <a:t>.</a:t>
            </a:r>
            <a:r>
              <a:rPr lang="en-US" sz="4200" b="1">
                <a:solidFill>
                  <a:srgbClr val="FFCB85"/>
                </a:solidFill>
                <a:latin typeface="Poppins Semi-Bold"/>
                <a:ea typeface="Poppins Semi-Bold"/>
                <a:cs typeface="Poppins Semi-Bold"/>
                <a:sym typeface="Poppins Semi-Bold"/>
              </a:rPr>
              <a:t>Parse</a:t>
            </a:r>
            <a:r>
              <a:rPr lang="en-US" sz="4200" b="1">
                <a:solidFill>
                  <a:srgbClr val="FFFFFF"/>
                </a:solidFill>
                <a:latin typeface="Poppins Semi-Bold"/>
                <a:ea typeface="Poppins Semi-Bold"/>
                <a:cs typeface="Poppins Semi-Bold"/>
                <a:sym typeface="Poppins Semi-Bold"/>
              </a:rPr>
              <a:t>(</a:t>
            </a:r>
            <a:r>
              <a:rPr lang="en-US" sz="4200" b="1">
                <a:solidFill>
                  <a:srgbClr val="7ED957"/>
                </a:solidFill>
                <a:latin typeface="Poppins Semi-Bold"/>
                <a:ea typeface="Poppins Semi-Bold"/>
                <a:cs typeface="Poppins Semi-Bold"/>
                <a:sym typeface="Poppins Semi-Bold"/>
              </a:rPr>
              <a:t>Console</a:t>
            </a:r>
            <a:r>
              <a:rPr lang="en-US" sz="4200" b="1">
                <a:solidFill>
                  <a:srgbClr val="FFFFFF"/>
                </a:solidFill>
                <a:latin typeface="Poppins Semi-Bold"/>
                <a:ea typeface="Poppins Semi-Bold"/>
                <a:cs typeface="Poppins Semi-Bold"/>
                <a:sym typeface="Poppins Semi-Bold"/>
              </a:rPr>
              <a:t>.</a:t>
            </a:r>
            <a:r>
              <a:rPr lang="en-US" sz="4200" b="1">
                <a:solidFill>
                  <a:srgbClr val="FFCB85"/>
                </a:solidFill>
                <a:latin typeface="Poppins Semi-Bold"/>
                <a:ea typeface="Poppins Semi-Bold"/>
                <a:cs typeface="Poppins Semi-Bold"/>
                <a:sym typeface="Poppins Semi-Bold"/>
              </a:rPr>
              <a:t>ReadLine</a:t>
            </a:r>
            <a:r>
              <a:rPr lang="en-US" sz="4200" b="1">
                <a:solidFill>
                  <a:srgbClr val="FFFFFF"/>
                </a:solidFill>
                <a:latin typeface="Poppins Semi-Bold"/>
                <a:ea typeface="Poppins Semi-Bold"/>
                <a:cs typeface="Poppins Semi-Bold"/>
                <a:sym typeface="Poppins Semi-Bold"/>
              </a:rPr>
              <a:t>()); </a:t>
            </a:r>
            <a:r>
              <a:rPr lang="en-US" sz="4200" b="1">
                <a:solidFill>
                  <a:srgbClr val="3C67BF"/>
                </a:solidFill>
                <a:latin typeface="Poppins Semi-Bold"/>
                <a:ea typeface="Poppins Semi-Bold"/>
                <a:cs typeface="Poppins Semi-Bold"/>
                <a:sym typeface="Poppins Semi-Bold"/>
              </a:rPr>
              <a:t>if</a:t>
            </a:r>
            <a:r>
              <a:rPr lang="en-US" sz="4200" b="1">
                <a:solidFill>
                  <a:srgbClr val="FFFFFF"/>
                </a:solidFill>
                <a:latin typeface="Poppins Semi-Bold"/>
                <a:ea typeface="Poppins Semi-Bold"/>
                <a:cs typeface="Poppins Semi-Bold"/>
                <a:sym typeface="Poppins Semi-Bold"/>
              </a:rPr>
              <a:t>(numero == 0){</a:t>
            </a:r>
          </a:p>
        </p:txBody>
      </p:sp>
      <p:sp>
        <p:nvSpPr>
          <p:cNvPr id="6" name="TextBox 6"/>
          <p:cNvSpPr txBox="1"/>
          <p:nvPr/>
        </p:nvSpPr>
        <p:spPr>
          <a:xfrm>
            <a:off x="2085308" y="5416467"/>
            <a:ext cx="1906553" cy="736854"/>
          </a:xfrm>
          <a:prstGeom prst="rect">
            <a:avLst/>
          </a:prstGeom>
        </p:spPr>
        <p:txBody>
          <a:bodyPr lIns="0" tIns="0" rIns="0" bIns="0" rtlCol="0" anchor="t">
            <a:spAutoFit/>
          </a:bodyPr>
          <a:lstStyle/>
          <a:p>
            <a:pPr algn="l">
              <a:lnSpc>
                <a:spcPts val="5023"/>
              </a:lnSpc>
            </a:pPr>
            <a:r>
              <a:rPr lang="en-US" sz="4200" b="1">
                <a:solidFill>
                  <a:srgbClr val="3C67BF"/>
                </a:solidFill>
                <a:latin typeface="Poppins Semi-Bold"/>
                <a:ea typeface="Poppins Semi-Bold"/>
                <a:cs typeface="Poppins Semi-Bold"/>
                <a:sym typeface="Poppins Semi-Bold"/>
              </a:rPr>
              <a:t>return</a:t>
            </a:r>
            <a:r>
              <a:rPr lang="en-US" sz="4200" b="1">
                <a:solidFill>
                  <a:srgbClr val="FFFFFF"/>
                </a:solidFill>
                <a:latin typeface="Poppins Semi-Bold"/>
                <a:ea typeface="Poppins Semi-Bold"/>
                <a:cs typeface="Poppins Semi-Bold"/>
                <a:sym typeface="Poppins Semi-Bold"/>
              </a:rPr>
              <a:t>;</a:t>
            </a:r>
          </a:p>
        </p:txBody>
      </p:sp>
      <p:sp>
        <p:nvSpPr>
          <p:cNvPr id="7" name="TextBox 7"/>
          <p:cNvSpPr txBox="1"/>
          <p:nvPr/>
        </p:nvSpPr>
        <p:spPr>
          <a:xfrm>
            <a:off x="1125217" y="6054642"/>
            <a:ext cx="285636" cy="736854"/>
          </a:xfrm>
          <a:prstGeom prst="rect">
            <a:avLst/>
          </a:prstGeom>
        </p:spPr>
        <p:txBody>
          <a:bodyPr lIns="0" tIns="0" rIns="0" bIns="0" rtlCol="0" anchor="t">
            <a:spAutoFit/>
          </a:bodyPr>
          <a:lstStyle/>
          <a:p>
            <a:pPr algn="l">
              <a:lnSpc>
                <a:spcPts val="5023"/>
              </a:lnSpc>
            </a:pPr>
            <a:r>
              <a:rPr lang="en-US" sz="4200" b="1" spc="3360">
                <a:solidFill>
                  <a:srgbClr val="FFFFFF"/>
                </a:solidFill>
                <a:latin typeface="Poppins Semi-Bold"/>
                <a:ea typeface="Poppins Semi-Bold"/>
                <a:cs typeface="Poppins Semi-Bold"/>
                <a:sym typeface="Poppins Semi-Bold"/>
              </a:rPr>
              <a:t>}</a:t>
            </a: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5017741" y="324326"/>
            <a:ext cx="8417585"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Repetições “Infinitas”</a:t>
            </a:r>
          </a:p>
        </p:txBody>
      </p:sp>
      <p:sp>
        <p:nvSpPr>
          <p:cNvPr id="3" name="TextBox 3"/>
          <p:cNvSpPr txBox="1"/>
          <p:nvPr/>
        </p:nvSpPr>
        <p:spPr>
          <a:xfrm>
            <a:off x="164983" y="2263178"/>
            <a:ext cx="18103977" cy="6480429"/>
          </a:xfrm>
          <a:prstGeom prst="rect">
            <a:avLst/>
          </a:prstGeom>
        </p:spPr>
        <p:txBody>
          <a:bodyPr lIns="0" tIns="0" rIns="0" bIns="0" rtlCol="0" anchor="t">
            <a:spAutoFit/>
          </a:bodyPr>
          <a:lstStyle/>
          <a:p>
            <a:pPr algn="l">
              <a:lnSpc>
                <a:spcPts val="5023"/>
              </a:lnSpc>
            </a:pPr>
            <a:r>
              <a:rPr lang="en-US" sz="4200" b="1">
                <a:solidFill>
                  <a:srgbClr val="FFFFFF"/>
                </a:solidFill>
                <a:latin typeface="Poppins Semi-Bold"/>
                <a:ea typeface="Poppins Semi-Bold"/>
                <a:cs typeface="Poppins Semi-Bold"/>
                <a:sym typeface="Poppins Semi-Bold"/>
              </a:rPr>
              <a:t>Foi dado o exemplo do uso do </a:t>
            </a:r>
            <a:r>
              <a:rPr lang="en-US" sz="4200" b="1">
                <a:solidFill>
                  <a:srgbClr val="3C67BF"/>
                </a:solidFill>
                <a:latin typeface="Poppins Semi-Bold"/>
                <a:ea typeface="Poppins Semi-Bold"/>
                <a:cs typeface="Poppins Semi-Bold"/>
                <a:sym typeface="Poppins Semi-Bold"/>
              </a:rPr>
              <a:t>break </a:t>
            </a:r>
            <a:r>
              <a:rPr lang="en-US" sz="4200" b="1">
                <a:solidFill>
                  <a:srgbClr val="FFFFFF"/>
                </a:solidFill>
                <a:latin typeface="Poppins Semi-Bold"/>
                <a:ea typeface="Poppins Semi-Bold"/>
                <a:cs typeface="Poppins Semi-Bold"/>
                <a:sym typeface="Poppins Semi-Bold"/>
              </a:rPr>
              <a:t>e do </a:t>
            </a:r>
            <a:r>
              <a:rPr lang="en-US" sz="4200" b="1">
                <a:solidFill>
                  <a:srgbClr val="3C67BF"/>
                </a:solidFill>
                <a:latin typeface="Poppins Semi-Bold"/>
                <a:ea typeface="Poppins Semi-Bold"/>
                <a:cs typeface="Poppins Semi-Bold"/>
                <a:sym typeface="Poppins Semi-Bold"/>
              </a:rPr>
              <a:t>return </a:t>
            </a:r>
            <a:r>
              <a:rPr lang="en-US" sz="4200" b="1">
                <a:solidFill>
                  <a:srgbClr val="FFFFFF"/>
                </a:solidFill>
                <a:latin typeface="Poppins Semi-Bold"/>
                <a:ea typeface="Poppins Semi-Bold"/>
                <a:cs typeface="Poppins Semi-Bold"/>
                <a:sym typeface="Poppins Semi-Bold"/>
              </a:rPr>
              <a:t>em repetições infinitas, mas vale ressaltar que você também consegue usar em repetições normais, pois o significado do comando </a:t>
            </a:r>
            <a:r>
              <a:rPr lang="en-US" sz="4200" b="1">
                <a:solidFill>
                  <a:srgbClr val="3C67BF"/>
                </a:solidFill>
                <a:latin typeface="Poppins Semi-Bold"/>
                <a:ea typeface="Poppins Semi-Bold"/>
                <a:cs typeface="Poppins Semi-Bold"/>
                <a:sym typeface="Poppins Semi-Bold"/>
              </a:rPr>
              <a:t>break</a:t>
            </a:r>
            <a:r>
              <a:rPr lang="en-US" sz="4200" b="1">
                <a:solidFill>
                  <a:srgbClr val="FFFFFF"/>
                </a:solidFill>
                <a:latin typeface="Poppins Semi-Bold"/>
                <a:ea typeface="Poppins Semi-Bold"/>
                <a:cs typeface="Poppins Semi-Bold"/>
                <a:sym typeface="Poppins Semi-Bold"/>
              </a:rPr>
              <a:t> é </a:t>
            </a:r>
            <a:r>
              <a:rPr lang="en-US" sz="4200" b="1">
                <a:solidFill>
                  <a:srgbClr val="FF5757"/>
                </a:solidFill>
                <a:latin typeface="Poppins Semi-Bold"/>
                <a:ea typeface="Poppins Semi-Bold"/>
                <a:cs typeface="Poppins Semi-Bold"/>
                <a:sym typeface="Poppins Semi-Bold"/>
              </a:rPr>
              <a:t>"romper"</a:t>
            </a:r>
            <a:r>
              <a:rPr lang="en-US" sz="4200" b="1">
                <a:solidFill>
                  <a:srgbClr val="FFFFFF"/>
                </a:solidFill>
                <a:latin typeface="Poppins Semi-Bold"/>
                <a:ea typeface="Poppins Semi-Bold"/>
                <a:cs typeface="Poppins Semi-Bold"/>
                <a:sym typeface="Poppins Semi-Bold"/>
              </a:rPr>
              <a:t> e o </a:t>
            </a:r>
            <a:r>
              <a:rPr lang="en-US" sz="4200" b="1">
                <a:solidFill>
                  <a:srgbClr val="3C67BF"/>
                </a:solidFill>
                <a:latin typeface="Poppins Semi-Bold"/>
                <a:ea typeface="Poppins Semi-Bold"/>
                <a:cs typeface="Poppins Semi-Bold"/>
                <a:sym typeface="Poppins Semi-Bold"/>
              </a:rPr>
              <a:t>return </a:t>
            </a:r>
            <a:r>
              <a:rPr lang="en-US" sz="4200" b="1">
                <a:solidFill>
                  <a:srgbClr val="FFFFFF"/>
                </a:solidFill>
                <a:latin typeface="Poppins Semi-Bold"/>
                <a:ea typeface="Poppins Semi-Bold"/>
                <a:cs typeface="Poppins Semi-Bold"/>
                <a:sym typeface="Poppins Semi-Bold"/>
              </a:rPr>
              <a:t>é </a:t>
            </a:r>
            <a:r>
              <a:rPr lang="en-US" sz="4200" b="1">
                <a:solidFill>
                  <a:srgbClr val="FF5757"/>
                </a:solidFill>
                <a:latin typeface="Poppins Semi-Bold"/>
                <a:ea typeface="Poppins Semi-Bold"/>
                <a:cs typeface="Poppins Semi-Bold"/>
                <a:sym typeface="Poppins Semi-Bold"/>
              </a:rPr>
              <a:t>"retornar"</a:t>
            </a:r>
            <a:r>
              <a:rPr lang="en-US" sz="4200" b="1">
                <a:solidFill>
                  <a:srgbClr val="FFFFFF"/>
                </a:solidFill>
                <a:latin typeface="Poppins Semi-Bold"/>
                <a:ea typeface="Poppins Semi-Bold"/>
                <a:cs typeface="Poppins Semi-Bold"/>
                <a:sym typeface="Poppins Semi-Bold"/>
              </a:rPr>
              <a:t>. Você viu que o </a:t>
            </a:r>
            <a:r>
              <a:rPr lang="en-US" sz="4200" b="1">
                <a:solidFill>
                  <a:srgbClr val="3C67BF"/>
                </a:solidFill>
                <a:latin typeface="Poppins Semi-Bold"/>
                <a:ea typeface="Poppins Semi-Bold"/>
                <a:cs typeface="Poppins Semi-Bold"/>
                <a:sym typeface="Poppins Semi-Bold"/>
              </a:rPr>
              <a:t>break </a:t>
            </a:r>
            <a:r>
              <a:rPr lang="en-US" sz="4200" b="1">
                <a:solidFill>
                  <a:srgbClr val="FFFFFF"/>
                </a:solidFill>
                <a:latin typeface="Poppins Semi-Bold"/>
                <a:ea typeface="Poppins Semi-Bold"/>
                <a:cs typeface="Poppins Semi-Bold"/>
                <a:sym typeface="Poppins Semi-Bold"/>
              </a:rPr>
              <a:t>também é utilizado junto com o comando </a:t>
            </a:r>
            <a:r>
              <a:rPr lang="en-US" sz="4200" b="1">
                <a:solidFill>
                  <a:srgbClr val="3C67BF"/>
                </a:solidFill>
                <a:latin typeface="Poppins Semi-Bold"/>
                <a:ea typeface="Poppins Semi-Bold"/>
                <a:cs typeface="Poppins Semi-Bold"/>
                <a:sym typeface="Poppins Semi-Bold"/>
              </a:rPr>
              <a:t>switch</a:t>
            </a:r>
            <a:r>
              <a:rPr lang="en-US" sz="4200" b="1">
                <a:solidFill>
                  <a:srgbClr val="FFFFFF"/>
                </a:solidFill>
                <a:latin typeface="Poppins Semi-Bold"/>
                <a:ea typeface="Poppins Semi-Bold"/>
                <a:cs typeface="Poppins Semi-Bold"/>
                <a:sym typeface="Poppins Semi-Bold"/>
              </a:rPr>
              <a:t>. O comando </a:t>
            </a:r>
            <a:r>
              <a:rPr lang="en-US" sz="4200" b="1">
                <a:solidFill>
                  <a:srgbClr val="3C67BF"/>
                </a:solidFill>
                <a:latin typeface="Poppins Semi-Bold"/>
                <a:ea typeface="Poppins Semi-Bold"/>
                <a:cs typeface="Poppins Semi-Bold"/>
                <a:sym typeface="Poppins Semi-Bold"/>
              </a:rPr>
              <a:t>return</a:t>
            </a:r>
            <a:r>
              <a:rPr lang="en-US" sz="4200" b="1">
                <a:solidFill>
                  <a:srgbClr val="FFFFFF"/>
                </a:solidFill>
                <a:latin typeface="Poppins Semi-Bold"/>
                <a:ea typeface="Poppins Semi-Bold"/>
                <a:cs typeface="Poppins Semi-Bold"/>
                <a:sym typeface="Poppins Semi-Bold"/>
              </a:rPr>
              <a:t> é muito utilizado em métodos, que será o nosso próximo assunto.</a:t>
            </a: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400431" y="2694499"/>
            <a:ext cx="17213618" cy="4801791"/>
          </a:xfrm>
          <a:prstGeom prst="rect">
            <a:avLst/>
          </a:prstGeom>
        </p:spPr>
        <p:txBody>
          <a:bodyPr lIns="0" tIns="0" rIns="0" bIns="0" rtlCol="0" anchor="t">
            <a:spAutoFit/>
          </a:bodyPr>
          <a:lstStyle/>
          <a:p>
            <a:pPr algn="l">
              <a:lnSpc>
                <a:spcPts val="4125"/>
              </a:lnSpc>
            </a:pPr>
            <a:r>
              <a:rPr lang="en-US" sz="3499" b="1">
                <a:solidFill>
                  <a:srgbClr val="FF5757"/>
                </a:solidFill>
                <a:latin typeface="Poppins Semi-Bold"/>
                <a:ea typeface="Poppins Semi-Bold"/>
                <a:cs typeface="Poppins Semi-Bold"/>
                <a:sym typeface="Poppins Semi-Bold"/>
              </a:rPr>
              <a:t>Atividade #44 </a:t>
            </a:r>
            <a:r>
              <a:rPr lang="en-US" sz="3499" b="1">
                <a:solidFill>
                  <a:srgbClr val="FFFFFF"/>
                </a:solidFill>
                <a:latin typeface="Poppins Semi-Bold"/>
                <a:ea typeface="Poppins Semi-Bold"/>
                <a:cs typeface="Poppins Semi-Bold"/>
                <a:sym typeface="Poppins Semi-Bold"/>
              </a:rPr>
              <a:t>Faça uma tela de login onde o programa deve ler infinitamente o login e senha até que seja informado o login "1134" e a senha "Tf002Kj". Após acertar o login e senha, o programa deve informar "Acesso Permitido!" caso contrário informar "Acesso negado!". Caso erre três vezes o acesso, o programa deve finalizar e exibir a mensagem "Acesso Bloqueado!".</a:t>
            </a: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64983" y="324326"/>
            <a:ext cx="18300611" cy="9512046"/>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Operador Ternário</a:t>
            </a:r>
          </a:p>
          <a:p>
            <a:pPr algn="l">
              <a:lnSpc>
                <a:spcPts val="4199"/>
              </a:lnSpc>
            </a:pPr>
            <a:r>
              <a:rPr lang="en-US" sz="3499" b="1">
                <a:solidFill>
                  <a:srgbClr val="FFFFFF"/>
                </a:solidFill>
                <a:latin typeface="Poppins Semi-Bold"/>
                <a:ea typeface="Poppins Semi-Bold"/>
                <a:cs typeface="Poppins Semi-Bold"/>
                <a:sym typeface="Poppins Semi-Bold"/>
              </a:rPr>
              <a:t>O operador ternário é um recurso que permite tomar decisões em uma única linha de código, com o mesmo objetivo da instrução </a:t>
            </a:r>
            <a:r>
              <a:rPr lang="en-US" sz="3499" b="1">
                <a:solidFill>
                  <a:srgbClr val="3C67BF"/>
                </a:solidFill>
                <a:latin typeface="Poppins Semi-Bold"/>
                <a:ea typeface="Poppins Semi-Bold"/>
                <a:cs typeface="Poppins Semi-Bold"/>
                <a:sym typeface="Poppins Semi-Bold"/>
              </a:rPr>
              <a:t>if</a:t>
            </a:r>
            <a:r>
              <a:rPr lang="en-US" sz="3499" b="1">
                <a:solidFill>
                  <a:srgbClr val="FFFFFF"/>
                </a:solidFill>
                <a:latin typeface="Poppins Semi-Bold"/>
                <a:ea typeface="Poppins Semi-Bold"/>
                <a:cs typeface="Poppins Semi-Bold"/>
                <a:sym typeface="Poppins Semi-Bold"/>
              </a:rPr>
              <a:t>/</a:t>
            </a:r>
            <a:r>
              <a:rPr lang="en-US" sz="3499" b="1">
                <a:solidFill>
                  <a:srgbClr val="3C67BF"/>
                </a:solidFill>
                <a:latin typeface="Poppins Semi-Bold"/>
                <a:ea typeface="Poppins Semi-Bold"/>
                <a:cs typeface="Poppins Semi-Bold"/>
                <a:sym typeface="Poppins Semi-Bold"/>
              </a:rPr>
              <a:t>else</a:t>
            </a:r>
            <a:r>
              <a:rPr lang="en-US" sz="3499" b="1">
                <a:solidFill>
                  <a:srgbClr val="FFFFFF"/>
                </a:solidFill>
                <a:latin typeface="Poppins Semi-Bold"/>
                <a:ea typeface="Poppins Semi-Bold"/>
                <a:cs typeface="Poppins Semi-Bold"/>
                <a:sym typeface="Poppins Semi-Bold"/>
              </a:rPr>
              <a:t>. Ele é útil quando há apenas dois resultados possíveis, e é uma forma abreviada de escrever o </a:t>
            </a:r>
            <a:r>
              <a:rPr lang="en-US" sz="3499" b="1">
                <a:solidFill>
                  <a:srgbClr val="3C67BF"/>
                </a:solidFill>
                <a:latin typeface="Poppins Semi-Bold"/>
                <a:ea typeface="Poppins Semi-Bold"/>
                <a:cs typeface="Poppins Semi-Bold"/>
                <a:sym typeface="Poppins Semi-Bold"/>
              </a:rPr>
              <a:t>if</a:t>
            </a:r>
            <a:r>
              <a:rPr lang="en-US" sz="3499" b="1">
                <a:solidFill>
                  <a:srgbClr val="FFFFFF"/>
                </a:solidFill>
                <a:latin typeface="Poppins Semi-Bold"/>
                <a:ea typeface="Poppins Semi-Bold"/>
                <a:cs typeface="Poppins Semi-Bold"/>
                <a:sym typeface="Poppins Semi-Bold"/>
              </a:rPr>
              <a:t>/</a:t>
            </a:r>
            <a:r>
              <a:rPr lang="en-US" sz="3499" b="1">
                <a:solidFill>
                  <a:srgbClr val="3C67BF"/>
                </a:solidFill>
                <a:latin typeface="Poppins Semi-Bold"/>
                <a:ea typeface="Poppins Semi-Bold"/>
                <a:cs typeface="Poppins Semi-Bold"/>
                <a:sym typeface="Poppins Semi-Bold"/>
              </a:rPr>
              <a:t>else</a:t>
            </a:r>
            <a:r>
              <a:rPr lang="en-US" sz="3499" b="1">
                <a:solidFill>
                  <a:srgbClr val="FFFFFF"/>
                </a:solidFill>
                <a:latin typeface="Poppins Semi-Bold"/>
                <a:ea typeface="Poppins Semi-Bold"/>
                <a:cs typeface="Poppins Semi-Bold"/>
                <a:sym typeface="Poppins Semi-Bold"/>
              </a:rPr>
              <a:t>.</a:t>
            </a:r>
          </a:p>
          <a:p>
            <a:pPr algn="l">
              <a:lnSpc>
                <a:spcPts val="8398"/>
              </a:lnSpc>
            </a:pPr>
            <a:r>
              <a:rPr lang="en-US" sz="3499" b="1">
                <a:solidFill>
                  <a:srgbClr val="FFFFFF"/>
                </a:solidFill>
                <a:latin typeface="Poppins Semi-Bold"/>
                <a:ea typeface="Poppins Semi-Bold"/>
                <a:cs typeface="Poppins Semi-Bold"/>
                <a:sym typeface="Poppins Semi-Bold"/>
              </a:rPr>
              <a:t>Por exemplo, analise o código abaixo: </a:t>
            </a:r>
            <a:r>
              <a:rPr lang="en-US" sz="3499" b="1">
                <a:solidFill>
                  <a:srgbClr val="3C67BF"/>
                </a:solidFill>
                <a:latin typeface="Poppins Semi-Bold"/>
                <a:ea typeface="Poppins Semi-Bold"/>
                <a:cs typeface="Poppins Semi-Bold"/>
                <a:sym typeface="Poppins Semi-Bold"/>
              </a:rPr>
              <a:t>int </a:t>
            </a:r>
            <a:r>
              <a:rPr lang="en-US" sz="3499" b="1">
                <a:solidFill>
                  <a:srgbClr val="FFFFFF"/>
                </a:solidFill>
                <a:latin typeface="Poppins Semi-Bold"/>
                <a:ea typeface="Poppins Semi-Bold"/>
                <a:cs typeface="Poppins Semi-Bold"/>
                <a:sym typeface="Poppins Semi-Bold"/>
              </a:rPr>
              <a:t>numero = 6;</a:t>
            </a:r>
          </a:p>
          <a:p>
            <a:pPr algn="l">
              <a:lnSpc>
                <a:spcPts val="1749"/>
              </a:lnSpc>
            </a:pPr>
            <a:r>
              <a:rPr lang="en-US" sz="3499" b="1">
                <a:solidFill>
                  <a:srgbClr val="3C67BF"/>
                </a:solidFill>
                <a:latin typeface="Poppins Semi-Bold"/>
                <a:ea typeface="Poppins Semi-Bold"/>
                <a:cs typeface="Poppins Semi-Bold"/>
                <a:sym typeface="Poppins Semi-Bold"/>
              </a:rPr>
              <a:t>if</a:t>
            </a:r>
            <a:r>
              <a:rPr lang="en-US" sz="3499" b="1">
                <a:solidFill>
                  <a:srgbClr val="FFFFFF"/>
                </a:solidFill>
                <a:latin typeface="Poppins Semi-Bold"/>
                <a:ea typeface="Poppins Semi-Bold"/>
                <a:cs typeface="Poppins Semi-Bold"/>
                <a:sym typeface="Poppins Semi-Bold"/>
              </a:rPr>
              <a:t>(numero%2 == 0){</a:t>
            </a:r>
          </a:p>
          <a:p>
            <a:pPr algn="l">
              <a:lnSpc>
                <a:spcPts val="5648"/>
              </a:lnSpc>
            </a:pPr>
            <a:r>
              <a:rPr lang="en-US" sz="3499" b="1">
                <a:solidFill>
                  <a:srgbClr val="FFFFFF"/>
                </a:solidFill>
                <a:latin typeface="Poppins Semi-Bold"/>
                <a:ea typeface="Poppins Semi-Bold"/>
                <a:cs typeface="Poppins Semi-Bold"/>
                <a:sym typeface="Poppins Semi-Bold"/>
              </a:rPr>
              <a:t> </a:t>
            </a:r>
            <a:r>
              <a:rPr lang="en-US" sz="3499" b="1">
                <a:solidFill>
                  <a:srgbClr val="7ED957"/>
                </a:solidFill>
                <a:latin typeface="Poppins Semi-Bold"/>
                <a:ea typeface="Poppins Semi-Bold"/>
                <a:cs typeface="Poppins Semi-Bold"/>
                <a:sym typeface="Poppins Semi-Bold"/>
              </a:rPr>
              <a:t>Console</a:t>
            </a:r>
            <a:r>
              <a:rPr lang="en-US" sz="3499" b="1">
                <a:solidFill>
                  <a:srgbClr val="FFFFFF"/>
                </a:solidFill>
                <a:latin typeface="Poppins Semi-Bold"/>
                <a:ea typeface="Poppins Semi-Bold"/>
                <a:cs typeface="Poppins Semi-Bold"/>
                <a:sym typeface="Poppins Semi-Bold"/>
              </a:rPr>
              <a:t>.</a:t>
            </a:r>
            <a:r>
              <a:rPr lang="en-US" sz="3499" b="1">
                <a:solidFill>
                  <a:srgbClr val="FFCB85"/>
                </a:solidFill>
                <a:latin typeface="Poppins Semi-Bold"/>
                <a:ea typeface="Poppins Semi-Bold"/>
                <a:cs typeface="Poppins Semi-Bold"/>
                <a:sym typeface="Poppins Semi-Bold"/>
              </a:rPr>
              <a:t>WriteLine</a:t>
            </a:r>
            <a:r>
              <a:rPr lang="en-US" sz="3499" b="1">
                <a:solidFill>
                  <a:srgbClr val="FFFFFF"/>
                </a:solidFill>
                <a:latin typeface="Poppins Semi-Bold"/>
                <a:ea typeface="Poppins Semi-Bold"/>
                <a:cs typeface="Poppins Semi-Bold"/>
                <a:sym typeface="Poppins Semi-Bold"/>
              </a:rPr>
              <a:t>(</a:t>
            </a:r>
            <a:r>
              <a:rPr lang="en-US" sz="3499" b="1">
                <a:solidFill>
                  <a:srgbClr val="FFCB85"/>
                </a:solidFill>
                <a:latin typeface="Poppins Semi-Bold"/>
                <a:ea typeface="Poppins Semi-Bold"/>
                <a:cs typeface="Poppins Semi-Bold"/>
                <a:sym typeface="Poppins Semi-Bold"/>
              </a:rPr>
              <a:t>"Par"</a:t>
            </a:r>
            <a:r>
              <a:rPr lang="en-US" sz="3499" b="1">
                <a:solidFill>
                  <a:srgbClr val="FFFFFF"/>
                </a:solidFill>
                <a:latin typeface="Poppins Semi-Bold"/>
                <a:ea typeface="Poppins Semi-Bold"/>
                <a:cs typeface="Poppins Semi-Bold"/>
                <a:sym typeface="Poppins Semi-Bold"/>
              </a:rPr>
              <a:t>);</a:t>
            </a:r>
          </a:p>
          <a:p>
            <a:pPr algn="l">
              <a:lnSpc>
                <a:spcPts val="2754"/>
              </a:lnSpc>
            </a:pPr>
            <a:r>
              <a:rPr lang="en-US" sz="3499" b="1">
                <a:solidFill>
                  <a:srgbClr val="FFFFFF"/>
                </a:solidFill>
                <a:latin typeface="Poppins Semi-Bold"/>
                <a:ea typeface="Poppins Semi-Bold"/>
                <a:cs typeface="Poppins Semi-Bold"/>
                <a:sym typeface="Poppins Semi-Bold"/>
              </a:rPr>
              <a:t>}</a:t>
            </a:r>
          </a:p>
          <a:p>
            <a:pPr algn="l">
              <a:lnSpc>
                <a:spcPts val="5648"/>
              </a:lnSpc>
            </a:pPr>
            <a:r>
              <a:rPr lang="en-US" sz="3499" b="1">
                <a:solidFill>
                  <a:srgbClr val="3C67BF"/>
                </a:solidFill>
                <a:latin typeface="Poppins Semi-Bold"/>
                <a:ea typeface="Poppins Semi-Bold"/>
                <a:cs typeface="Poppins Semi-Bold"/>
                <a:sym typeface="Poppins Semi-Bold"/>
              </a:rPr>
              <a:t>else</a:t>
            </a:r>
            <a:r>
              <a:rPr lang="en-US" sz="3499" b="1">
                <a:solidFill>
                  <a:srgbClr val="FFFFFF"/>
                </a:solidFill>
                <a:latin typeface="Poppins Semi-Bold"/>
                <a:ea typeface="Poppins Semi-Bold"/>
                <a:cs typeface="Poppins Semi-Bold"/>
                <a:sym typeface="Poppins Semi-Bold"/>
              </a:rPr>
              <a:t>{</a:t>
            </a:r>
          </a:p>
          <a:p>
            <a:pPr algn="l">
              <a:lnSpc>
                <a:spcPts val="2754"/>
              </a:lnSpc>
            </a:pPr>
            <a:r>
              <a:rPr lang="en-US" sz="3499" b="1">
                <a:solidFill>
                  <a:srgbClr val="FFFFFF"/>
                </a:solidFill>
                <a:latin typeface="Poppins Semi-Bold"/>
                <a:ea typeface="Poppins Semi-Bold"/>
                <a:cs typeface="Poppins Semi-Bold"/>
                <a:sym typeface="Poppins Semi-Bold"/>
              </a:rPr>
              <a:t> </a:t>
            </a:r>
            <a:r>
              <a:rPr lang="en-US" sz="3499" b="1">
                <a:solidFill>
                  <a:srgbClr val="7ED957"/>
                </a:solidFill>
                <a:latin typeface="Poppins Semi-Bold"/>
                <a:ea typeface="Poppins Semi-Bold"/>
                <a:cs typeface="Poppins Semi-Bold"/>
                <a:sym typeface="Poppins Semi-Bold"/>
              </a:rPr>
              <a:t>Console</a:t>
            </a:r>
            <a:r>
              <a:rPr lang="en-US" sz="3499" b="1">
                <a:solidFill>
                  <a:srgbClr val="FFFFFF"/>
                </a:solidFill>
                <a:latin typeface="Poppins Semi-Bold"/>
                <a:ea typeface="Poppins Semi-Bold"/>
                <a:cs typeface="Poppins Semi-Bold"/>
                <a:sym typeface="Poppins Semi-Bold"/>
              </a:rPr>
              <a:t>.</a:t>
            </a:r>
            <a:r>
              <a:rPr lang="en-US" sz="3499" b="1">
                <a:solidFill>
                  <a:srgbClr val="FFCB85"/>
                </a:solidFill>
                <a:latin typeface="Poppins Semi-Bold"/>
                <a:ea typeface="Poppins Semi-Bold"/>
                <a:cs typeface="Poppins Semi-Bold"/>
                <a:sym typeface="Poppins Semi-Bold"/>
              </a:rPr>
              <a:t>WriteLine</a:t>
            </a:r>
            <a:r>
              <a:rPr lang="en-US" sz="3499" b="1">
                <a:solidFill>
                  <a:srgbClr val="FFFFFF"/>
                </a:solidFill>
                <a:latin typeface="Poppins Semi-Bold"/>
                <a:ea typeface="Poppins Semi-Bold"/>
                <a:cs typeface="Poppins Semi-Bold"/>
                <a:sym typeface="Poppins Semi-Bold"/>
              </a:rPr>
              <a:t>(</a:t>
            </a:r>
            <a:r>
              <a:rPr lang="en-US" sz="3499" b="1">
                <a:solidFill>
                  <a:srgbClr val="FFCB85"/>
                </a:solidFill>
                <a:latin typeface="Poppins Semi-Bold"/>
                <a:ea typeface="Poppins Semi-Bold"/>
                <a:cs typeface="Poppins Semi-Bold"/>
                <a:sym typeface="Poppins Semi-Bold"/>
              </a:rPr>
              <a:t>"Ímpar"</a:t>
            </a:r>
            <a:r>
              <a:rPr lang="en-US" sz="3499" b="1">
                <a:solidFill>
                  <a:srgbClr val="FFFFFF"/>
                </a:solidFill>
                <a:latin typeface="Poppins Semi-Bold"/>
                <a:ea typeface="Poppins Semi-Bold"/>
                <a:cs typeface="Poppins Semi-Bold"/>
                <a:sym typeface="Poppins Semi-Bold"/>
              </a:rPr>
              <a:t>);</a:t>
            </a:r>
          </a:p>
          <a:p>
            <a:pPr algn="l">
              <a:lnSpc>
                <a:spcPts val="5648"/>
              </a:lnSpc>
            </a:pPr>
            <a:r>
              <a:rPr lang="en-US" sz="3499" b="1">
                <a:solidFill>
                  <a:srgbClr val="FFFFFF"/>
                </a:solidFill>
                <a:latin typeface="Poppins Semi-Bold"/>
                <a:ea typeface="Poppins Semi-Bold"/>
                <a:cs typeface="Poppins Semi-Bold"/>
                <a:sym typeface="Poppins Semi-Bold"/>
              </a:rPr>
              <a:t>}</a:t>
            </a:r>
          </a:p>
        </p:txBody>
      </p:sp>
      <p:sp>
        <p:nvSpPr>
          <p:cNvPr id="3" name="TextBox 3"/>
          <p:cNvSpPr txBox="1"/>
          <p:nvPr/>
        </p:nvSpPr>
        <p:spPr>
          <a:xfrm>
            <a:off x="9988734" y="6937324"/>
            <a:ext cx="6505489" cy="784860"/>
          </a:xfrm>
          <a:prstGeom prst="rect">
            <a:avLst/>
          </a:prstGeom>
        </p:spPr>
        <p:txBody>
          <a:bodyPr lIns="0" tIns="0" rIns="0" bIns="0" rtlCol="0" anchor="t">
            <a:spAutoFit/>
          </a:bodyPr>
          <a:lstStyle/>
          <a:p>
            <a:pPr algn="l">
              <a:lnSpc>
                <a:spcPts val="1500"/>
              </a:lnSpc>
            </a:pPr>
            <a:r>
              <a:rPr lang="en-US" sz="3000" b="1">
                <a:solidFill>
                  <a:srgbClr val="FFFFFF"/>
                </a:solidFill>
                <a:latin typeface="Poppins Semi-Bold"/>
                <a:ea typeface="Poppins Semi-Bold"/>
                <a:cs typeface="Poppins Semi-Bold"/>
                <a:sym typeface="Poppins Semi-Bold"/>
              </a:rPr>
              <a:t>Vamos converter essa lógica do</a:t>
            </a:r>
          </a:p>
          <a:p>
            <a:pPr algn="l">
              <a:lnSpc>
                <a:spcPts val="4842"/>
              </a:lnSpc>
            </a:pPr>
            <a:r>
              <a:rPr lang="en-US" sz="3000" b="1">
                <a:solidFill>
                  <a:srgbClr val="FFFFFF"/>
                </a:solidFill>
                <a:latin typeface="Poppins Semi-Bold"/>
                <a:ea typeface="Poppins Semi-Bold"/>
                <a:cs typeface="Poppins Semi-Bold"/>
                <a:sym typeface="Poppins Semi-Bold"/>
              </a:rPr>
              <a:t>if/else para operador ternário.</a:t>
            </a: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0263854" y="9194797"/>
            <a:ext cx="1600114" cy="346072"/>
          </a:xfrm>
          <a:custGeom>
            <a:avLst/>
            <a:gdLst/>
            <a:ahLst/>
            <a:cxnLst/>
            <a:rect l="l" t="t" r="r" b="b"/>
            <a:pathLst>
              <a:path w="1600114" h="346072">
                <a:moveTo>
                  <a:pt x="0" y="0"/>
                </a:moveTo>
                <a:lnTo>
                  <a:pt x="1600115" y="0"/>
                </a:lnTo>
                <a:lnTo>
                  <a:pt x="1600115" y="346072"/>
                </a:lnTo>
                <a:lnTo>
                  <a:pt x="0" y="3460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179798" y="9194797"/>
            <a:ext cx="2015966" cy="346072"/>
          </a:xfrm>
          <a:custGeom>
            <a:avLst/>
            <a:gdLst/>
            <a:ahLst/>
            <a:cxnLst/>
            <a:rect l="l" t="t" r="r" b="b"/>
            <a:pathLst>
              <a:path w="2015966" h="346072">
                <a:moveTo>
                  <a:pt x="0" y="0"/>
                </a:moveTo>
                <a:lnTo>
                  <a:pt x="2015967" y="0"/>
                </a:lnTo>
                <a:lnTo>
                  <a:pt x="2015967" y="346072"/>
                </a:lnTo>
                <a:lnTo>
                  <a:pt x="0" y="3460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5534177" y="324326"/>
            <a:ext cx="7363892"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Operador Ternário</a:t>
            </a:r>
          </a:p>
        </p:txBody>
      </p:sp>
      <p:sp>
        <p:nvSpPr>
          <p:cNvPr id="5" name="TextBox 5"/>
          <p:cNvSpPr txBox="1"/>
          <p:nvPr/>
        </p:nvSpPr>
        <p:spPr>
          <a:xfrm>
            <a:off x="180384" y="1757458"/>
            <a:ext cx="8340080" cy="4565904"/>
          </a:xfrm>
          <a:prstGeom prst="rect">
            <a:avLst/>
          </a:prstGeom>
        </p:spPr>
        <p:txBody>
          <a:bodyPr lIns="0" tIns="0" rIns="0" bIns="0" rtlCol="0" anchor="t">
            <a:spAutoFit/>
          </a:bodyPr>
          <a:lstStyle/>
          <a:p>
            <a:pPr algn="l">
              <a:lnSpc>
                <a:spcPts val="5023"/>
              </a:lnSpc>
            </a:pPr>
            <a:r>
              <a:rPr lang="en-US" sz="4200" b="1">
                <a:solidFill>
                  <a:srgbClr val="A6A6A6"/>
                </a:solidFill>
                <a:latin typeface="Poppins Semi-Bold"/>
                <a:ea typeface="Poppins Semi-Bold"/>
                <a:cs typeface="Poppins Semi-Bold"/>
                <a:sym typeface="Poppins Semi-Bold"/>
              </a:rPr>
              <a:t>int numero = 6; if(numero%2 == 0){  Console.WriteLine("Par"); } else{  Console.WriteLine("Ímpar"); }</a:t>
            </a:r>
          </a:p>
        </p:txBody>
      </p:sp>
      <p:sp>
        <p:nvSpPr>
          <p:cNvPr id="6" name="TextBox 6"/>
          <p:cNvSpPr txBox="1"/>
          <p:nvPr/>
        </p:nvSpPr>
        <p:spPr>
          <a:xfrm>
            <a:off x="180384" y="8013849"/>
            <a:ext cx="14817385" cy="1375029"/>
          </a:xfrm>
          <a:prstGeom prst="rect">
            <a:avLst/>
          </a:prstGeom>
        </p:spPr>
        <p:txBody>
          <a:bodyPr lIns="0" tIns="0" rIns="0" bIns="0" rtlCol="0" anchor="t">
            <a:spAutoFit/>
          </a:bodyPr>
          <a:lstStyle/>
          <a:p>
            <a:pPr algn="l">
              <a:lnSpc>
                <a:spcPts val="5023"/>
              </a:lnSpc>
            </a:pPr>
            <a:r>
              <a:rPr lang="en-US" sz="4200" b="1">
                <a:solidFill>
                  <a:srgbClr val="3C67BF"/>
                </a:solidFill>
                <a:latin typeface="Poppins Semi-Bold"/>
                <a:ea typeface="Poppins Semi-Bold"/>
                <a:cs typeface="Poppins Semi-Bold"/>
                <a:sym typeface="Poppins Semi-Bold"/>
              </a:rPr>
              <a:t>int </a:t>
            </a:r>
            <a:r>
              <a:rPr lang="en-US" sz="4200" b="1">
                <a:solidFill>
                  <a:srgbClr val="FFFFFF"/>
                </a:solidFill>
                <a:latin typeface="Poppins Semi-Bold"/>
                <a:ea typeface="Poppins Semi-Bold"/>
                <a:cs typeface="Poppins Semi-Bold"/>
                <a:sym typeface="Poppins Semi-Bold"/>
              </a:rPr>
              <a:t>numero = 6; </a:t>
            </a:r>
            <a:r>
              <a:rPr lang="en-US" sz="4200" b="1">
                <a:solidFill>
                  <a:srgbClr val="7ED957"/>
                </a:solidFill>
                <a:latin typeface="Poppins Semi-Bold"/>
                <a:ea typeface="Poppins Semi-Bold"/>
                <a:cs typeface="Poppins Semi-Bold"/>
                <a:sym typeface="Poppins Semi-Bold"/>
              </a:rPr>
              <a:t>Console</a:t>
            </a:r>
            <a:r>
              <a:rPr lang="en-US" sz="4200" b="1">
                <a:solidFill>
                  <a:srgbClr val="FFFFFF"/>
                </a:solidFill>
                <a:latin typeface="Poppins Semi-Bold"/>
                <a:ea typeface="Poppins Semi-Bold"/>
                <a:cs typeface="Poppins Semi-Bold"/>
                <a:sym typeface="Poppins Semi-Bold"/>
              </a:rPr>
              <a:t>.</a:t>
            </a:r>
            <a:r>
              <a:rPr lang="en-US" sz="4200" b="1">
                <a:solidFill>
                  <a:srgbClr val="FFCB85"/>
                </a:solidFill>
                <a:latin typeface="Poppins Semi-Bold"/>
                <a:ea typeface="Poppins Semi-Bold"/>
                <a:cs typeface="Poppins Semi-Bold"/>
                <a:sym typeface="Poppins Semi-Bold"/>
              </a:rPr>
              <a:t>WriteLine</a:t>
            </a:r>
            <a:r>
              <a:rPr lang="en-US" sz="4200" b="1">
                <a:solidFill>
                  <a:srgbClr val="FFFFFF"/>
                </a:solidFill>
                <a:latin typeface="Poppins Semi-Bold"/>
                <a:ea typeface="Poppins Semi-Bold"/>
                <a:cs typeface="Poppins Semi-Bold"/>
                <a:sym typeface="Poppins Semi-Bold"/>
              </a:rPr>
              <a:t>(numero%2 </a:t>
            </a:r>
            <a:r>
              <a:rPr lang="en-US" sz="4200" b="1">
                <a:solidFill>
                  <a:srgbClr val="7ED957"/>
                </a:solidFill>
                <a:latin typeface="Poppins Semi-Bold"/>
                <a:ea typeface="Poppins Semi-Bold"/>
                <a:cs typeface="Poppins Semi-Bold"/>
                <a:sym typeface="Poppins Semi-Bold"/>
              </a:rPr>
              <a:t>==</a:t>
            </a:r>
            <a:r>
              <a:rPr lang="en-US" sz="4200" b="1">
                <a:solidFill>
                  <a:srgbClr val="FFFFFF"/>
                </a:solidFill>
                <a:latin typeface="Poppins Semi-Bold"/>
                <a:ea typeface="Poppins Semi-Bold"/>
                <a:cs typeface="Poppins Semi-Bold"/>
                <a:sym typeface="Poppins Semi-Bold"/>
              </a:rPr>
              <a:t> 0 ? </a:t>
            </a:r>
            <a:r>
              <a:rPr lang="en-US" sz="4200" b="1">
                <a:solidFill>
                  <a:srgbClr val="FFCB85"/>
                </a:solidFill>
                <a:latin typeface="Poppins Semi-Bold"/>
                <a:ea typeface="Poppins Semi-Bold"/>
                <a:cs typeface="Poppins Semi-Bold"/>
                <a:sym typeface="Poppins Semi-Bold"/>
              </a:rPr>
              <a:t>"Par"</a:t>
            </a:r>
            <a:r>
              <a:rPr lang="en-US" sz="4200" b="1">
                <a:solidFill>
                  <a:srgbClr val="FFFFFF"/>
                </a:solidFill>
                <a:latin typeface="Poppins Semi-Bold"/>
                <a:ea typeface="Poppins Semi-Bold"/>
                <a:cs typeface="Poppins Semi-Bold"/>
                <a:sym typeface="Poppins Semi-Bold"/>
              </a:rPr>
              <a:t> : </a:t>
            </a:r>
            <a:r>
              <a:rPr lang="en-US" sz="4200" b="1">
                <a:solidFill>
                  <a:srgbClr val="FFCB85"/>
                </a:solidFill>
                <a:latin typeface="Poppins Semi-Bold"/>
                <a:ea typeface="Poppins Semi-Bold"/>
                <a:cs typeface="Poppins Semi-Bold"/>
                <a:sym typeface="Poppins Semi-Bold"/>
              </a:rPr>
              <a:t>"Ímpar"</a:t>
            </a:r>
            <a:r>
              <a:rPr lang="en-US" sz="4200" b="1">
                <a:solidFill>
                  <a:srgbClr val="FFFFFF"/>
                </a:solidFill>
                <a:latin typeface="Poppins Semi-Bold"/>
                <a:ea typeface="Poppins Semi-Bold"/>
                <a:cs typeface="Poppins Semi-Bold"/>
                <a:sym typeface="Poppins Semi-Bold"/>
              </a:rPr>
              <a:t>);</a:t>
            </a:r>
          </a:p>
        </p:txBody>
      </p:sp>
      <p:sp>
        <p:nvSpPr>
          <p:cNvPr id="7" name="TextBox 7"/>
          <p:cNvSpPr txBox="1"/>
          <p:nvPr/>
        </p:nvSpPr>
        <p:spPr>
          <a:xfrm>
            <a:off x="8235144" y="6643630"/>
            <a:ext cx="7273061" cy="1442085"/>
          </a:xfrm>
          <a:prstGeom prst="rect">
            <a:avLst/>
          </a:prstGeom>
        </p:spPr>
        <p:txBody>
          <a:bodyPr lIns="0" tIns="0" rIns="0" bIns="0" rtlCol="0" anchor="t">
            <a:spAutoFit/>
          </a:bodyPr>
          <a:lstStyle/>
          <a:p>
            <a:pPr algn="ctr">
              <a:lnSpc>
                <a:spcPts val="3600"/>
              </a:lnSpc>
            </a:pPr>
            <a:r>
              <a:rPr lang="en-US" sz="3000" b="1">
                <a:solidFill>
                  <a:srgbClr val="FFFFFF"/>
                </a:solidFill>
                <a:latin typeface="Poppins Semi-Bold"/>
                <a:ea typeface="Poppins Semi-Bold"/>
                <a:cs typeface="Poppins Semi-Bold"/>
                <a:sym typeface="Poppins Semi-Bold"/>
              </a:rPr>
              <a:t>O que vem depois da </a:t>
            </a:r>
            <a:r>
              <a:rPr lang="en-US" sz="3000" b="1">
                <a:solidFill>
                  <a:srgbClr val="FF5757"/>
                </a:solidFill>
                <a:latin typeface="Poppins Semi-Bold"/>
                <a:ea typeface="Poppins Semi-Bold"/>
                <a:cs typeface="Poppins Semi-Bold"/>
                <a:sym typeface="Poppins Semi-Bold"/>
              </a:rPr>
              <a:t>?</a:t>
            </a:r>
            <a:r>
              <a:rPr lang="en-US" sz="3000" b="1">
                <a:solidFill>
                  <a:srgbClr val="FFFFFF"/>
                </a:solidFill>
                <a:latin typeface="Poppins Semi-Bold"/>
                <a:ea typeface="Poppins Semi-Bold"/>
                <a:cs typeface="Poppins Semi-Bold"/>
                <a:sym typeface="Poppins Semi-Bold"/>
              </a:rPr>
              <a:t> é o bloco do </a:t>
            </a:r>
            <a:r>
              <a:rPr lang="en-US" sz="3000" b="1">
                <a:solidFill>
                  <a:srgbClr val="795AC6"/>
                </a:solidFill>
                <a:latin typeface="Poppins Semi-Bold"/>
                <a:ea typeface="Poppins Semi-Bold"/>
                <a:cs typeface="Poppins Semi-Bold"/>
                <a:sym typeface="Poppins Semi-Bold"/>
              </a:rPr>
              <a:t>if</a:t>
            </a:r>
            <a:r>
              <a:rPr lang="en-US" sz="3000" b="1">
                <a:solidFill>
                  <a:srgbClr val="FFFFFF"/>
                </a:solidFill>
                <a:latin typeface="Poppins Semi-Bold"/>
                <a:ea typeface="Poppins Semi-Bold"/>
                <a:cs typeface="Poppins Semi-Bold"/>
                <a:sym typeface="Poppins Semi-Bold"/>
              </a:rPr>
              <a:t> e o que vem depois do </a:t>
            </a:r>
            <a:r>
              <a:rPr lang="en-US" sz="3000" b="1">
                <a:solidFill>
                  <a:srgbClr val="FF5757"/>
                </a:solidFill>
                <a:latin typeface="Poppins Semi-Bold"/>
                <a:ea typeface="Poppins Semi-Bold"/>
                <a:cs typeface="Poppins Semi-Bold"/>
                <a:sym typeface="Poppins Semi-Bold"/>
              </a:rPr>
              <a:t>:</a:t>
            </a:r>
            <a:r>
              <a:rPr lang="en-US" sz="3000" b="1">
                <a:solidFill>
                  <a:srgbClr val="FFFFFF"/>
                </a:solidFill>
                <a:latin typeface="Poppins Semi-Bold"/>
                <a:ea typeface="Poppins Semi-Bold"/>
                <a:cs typeface="Poppins Semi-Bold"/>
                <a:sym typeface="Poppins Semi-Bold"/>
              </a:rPr>
              <a:t> o bloco do </a:t>
            </a:r>
            <a:r>
              <a:rPr lang="en-US" sz="3000" b="1">
                <a:solidFill>
                  <a:srgbClr val="FFDE59"/>
                </a:solidFill>
                <a:latin typeface="Poppins Semi-Bold"/>
                <a:ea typeface="Poppins Semi-Bold"/>
                <a:cs typeface="Poppins Semi-Bold"/>
                <a:sym typeface="Poppins Semi-Bold"/>
              </a:rPr>
              <a:t>else</a:t>
            </a:r>
            <a:r>
              <a:rPr lang="en-US" sz="3000" b="1">
                <a:solidFill>
                  <a:srgbClr val="FFFFFF"/>
                </a:solidFill>
                <a:latin typeface="Poppins Semi-Bold"/>
                <a:ea typeface="Poppins Semi-Bold"/>
                <a:cs typeface="Poppins Semi-Bold"/>
                <a:sym typeface="Poppins Semi-Bold"/>
              </a:rPr>
              <a:t>.</a:t>
            </a: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400431" y="3742249"/>
            <a:ext cx="16996477" cy="2706291"/>
          </a:xfrm>
          <a:prstGeom prst="rect">
            <a:avLst/>
          </a:prstGeom>
        </p:spPr>
        <p:txBody>
          <a:bodyPr lIns="0" tIns="0" rIns="0" bIns="0" rtlCol="0" anchor="t">
            <a:spAutoFit/>
          </a:bodyPr>
          <a:lstStyle/>
          <a:p>
            <a:pPr algn="l">
              <a:lnSpc>
                <a:spcPts val="4125"/>
              </a:lnSpc>
            </a:pPr>
            <a:r>
              <a:rPr lang="en-US" sz="3499" b="1">
                <a:solidFill>
                  <a:srgbClr val="FF5757"/>
                </a:solidFill>
                <a:latin typeface="Poppins Semi-Bold"/>
                <a:ea typeface="Poppins Semi-Bold"/>
                <a:cs typeface="Poppins Semi-Bold"/>
                <a:sym typeface="Poppins Semi-Bold"/>
              </a:rPr>
              <a:t>Atividade #45 </a:t>
            </a:r>
            <a:r>
              <a:rPr lang="en-US" sz="3499" b="1">
                <a:solidFill>
                  <a:srgbClr val="FFFFFF"/>
                </a:solidFill>
                <a:latin typeface="Poppins Semi-Bold"/>
                <a:ea typeface="Poppins Semi-Bold"/>
                <a:cs typeface="Poppins Semi-Bold"/>
                <a:sym typeface="Poppins Semi-Bold"/>
              </a:rPr>
              <a:t>Faça um programa que leia um número inteiro e exiba se ele é positivo, negativo ou neutro. Utilize do operador ternário para resolver essa questão.</a:t>
            </a: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64983" y="324326"/>
            <a:ext cx="18268712" cy="8891435"/>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Métodos/Funções</a:t>
            </a:r>
          </a:p>
          <a:p>
            <a:pPr algn="l">
              <a:lnSpc>
                <a:spcPts val="5023"/>
              </a:lnSpc>
            </a:pPr>
            <a:r>
              <a:rPr lang="en-US" sz="4200" b="1">
                <a:solidFill>
                  <a:srgbClr val="FFFFFF"/>
                </a:solidFill>
                <a:latin typeface="Poppins Semi-Bold"/>
                <a:ea typeface="Poppins Semi-Bold"/>
                <a:cs typeface="Poppins Semi-Bold"/>
                <a:sym typeface="Poppins Semi-Bold"/>
              </a:rPr>
              <a:t>Os métodos são blocos de códigos isolados que você pode criar no seu programa. Podem ser chamados de funções também pois literalmente eles servem para executar algo específico do seu programa, como uma funcionalidade. Vamos pensar no persongem de um jogo, podemos ter um método em que a função dele seja realizar um dano no jogador, diminuindo sua vida. Os métodos deixam o código mais organizado, ideal para seguimentar o código em partes. Facilita na procura de erros.</a:t>
            </a: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371294" y="3696091"/>
            <a:ext cx="8772525" cy="5562600"/>
          </a:xfrm>
          <a:custGeom>
            <a:avLst/>
            <a:gdLst/>
            <a:ahLst/>
            <a:cxnLst/>
            <a:rect l="l" t="t" r="r" b="b"/>
            <a:pathLst>
              <a:path w="8772525" h="5562600">
                <a:moveTo>
                  <a:pt x="0" y="0"/>
                </a:moveTo>
                <a:lnTo>
                  <a:pt x="8772525" y="0"/>
                </a:lnTo>
                <a:lnTo>
                  <a:pt x="8772525" y="5562600"/>
                </a:lnTo>
                <a:lnTo>
                  <a:pt x="0" y="5562600"/>
                </a:lnTo>
                <a:lnTo>
                  <a:pt x="0" y="0"/>
                </a:lnTo>
                <a:close/>
              </a:path>
            </a:pathLst>
          </a:custGeom>
          <a:blipFill>
            <a:blip r:embed="rId2"/>
            <a:stretch>
              <a:fillRect/>
            </a:stretch>
          </a:blipFill>
        </p:spPr>
      </p:sp>
      <p:sp>
        <p:nvSpPr>
          <p:cNvPr id="3" name="Freeform 3"/>
          <p:cNvSpPr/>
          <p:nvPr/>
        </p:nvSpPr>
        <p:spPr>
          <a:xfrm>
            <a:off x="5448300" y="3416303"/>
            <a:ext cx="4368803" cy="3302003"/>
          </a:xfrm>
          <a:custGeom>
            <a:avLst/>
            <a:gdLst/>
            <a:ahLst/>
            <a:cxnLst/>
            <a:rect l="l" t="t" r="r" b="b"/>
            <a:pathLst>
              <a:path w="4368803" h="3302003">
                <a:moveTo>
                  <a:pt x="0" y="0"/>
                </a:moveTo>
                <a:lnTo>
                  <a:pt x="4368803" y="0"/>
                </a:lnTo>
                <a:lnTo>
                  <a:pt x="4368803" y="3302003"/>
                </a:lnTo>
                <a:lnTo>
                  <a:pt x="0" y="3302003"/>
                </a:lnTo>
                <a:lnTo>
                  <a:pt x="0" y="0"/>
                </a:lnTo>
                <a:close/>
              </a:path>
            </a:pathLst>
          </a:custGeom>
          <a:blipFill>
            <a:blip r:embed="rId3"/>
            <a:stretch>
              <a:fillRect/>
            </a:stretch>
          </a:blipFill>
        </p:spPr>
      </p:sp>
      <p:sp>
        <p:nvSpPr>
          <p:cNvPr id="4" name="Freeform 4"/>
          <p:cNvSpPr/>
          <p:nvPr/>
        </p:nvSpPr>
        <p:spPr>
          <a:xfrm>
            <a:off x="4272991" y="1873987"/>
            <a:ext cx="5637590" cy="4921520"/>
          </a:xfrm>
          <a:custGeom>
            <a:avLst/>
            <a:gdLst/>
            <a:ahLst/>
            <a:cxnLst/>
            <a:rect l="l" t="t" r="r" b="b"/>
            <a:pathLst>
              <a:path w="5637590" h="4921520">
                <a:moveTo>
                  <a:pt x="0" y="0"/>
                </a:moveTo>
                <a:lnTo>
                  <a:pt x="5637591" y="0"/>
                </a:lnTo>
                <a:lnTo>
                  <a:pt x="5637591" y="4921519"/>
                </a:lnTo>
                <a:lnTo>
                  <a:pt x="0" y="492151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5646239" y="324326"/>
            <a:ext cx="713520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Métodos/Funções</a:t>
            </a:r>
          </a:p>
        </p:txBody>
      </p:sp>
      <p:sp>
        <p:nvSpPr>
          <p:cNvPr id="6" name="TextBox 6"/>
          <p:cNvSpPr txBox="1"/>
          <p:nvPr/>
        </p:nvSpPr>
        <p:spPr>
          <a:xfrm>
            <a:off x="164983" y="2049161"/>
            <a:ext cx="16971283" cy="1375029"/>
          </a:xfrm>
          <a:prstGeom prst="rect">
            <a:avLst/>
          </a:prstGeom>
        </p:spPr>
        <p:txBody>
          <a:bodyPr lIns="0" tIns="0" rIns="0" bIns="0" rtlCol="0" anchor="t">
            <a:spAutoFit/>
          </a:bodyPr>
          <a:lstStyle/>
          <a:p>
            <a:pPr algn="l">
              <a:lnSpc>
                <a:spcPts val="5023"/>
              </a:lnSpc>
            </a:pPr>
            <a:r>
              <a:rPr lang="en-US" sz="4200" b="1">
                <a:solidFill>
                  <a:srgbClr val="FFFFFF"/>
                </a:solidFill>
                <a:latin typeface="Poppins Semi-Bold"/>
                <a:ea typeface="Poppins Semi-Bold"/>
                <a:cs typeface="Poppins Semi-Bold"/>
                <a:sym typeface="Poppins Semi-Bold"/>
              </a:rPr>
              <a:t>No código padrão dos nossos projetos em </a:t>
            </a:r>
            <a:r>
              <a:rPr lang="en-US" sz="4200" b="1">
                <a:solidFill>
                  <a:srgbClr val="7ED957"/>
                </a:solidFill>
                <a:latin typeface="Poppins Semi-Bold"/>
                <a:ea typeface="Poppins Semi-Bold"/>
                <a:cs typeface="Poppins Semi-Bold"/>
                <a:sym typeface="Poppins Semi-Bold"/>
              </a:rPr>
              <a:t>Console</a:t>
            </a:r>
            <a:r>
              <a:rPr lang="en-US" sz="4200" b="1">
                <a:solidFill>
                  <a:srgbClr val="FFFFFF"/>
                </a:solidFill>
                <a:latin typeface="Poppins Semi-Bold"/>
                <a:ea typeface="Poppins Semi-Bold"/>
                <a:cs typeface="Poppins Semi-Bold"/>
                <a:sym typeface="Poppins Semi-Bold"/>
              </a:rPr>
              <a:t>, temos a seguinte estrutura:</a:t>
            </a:r>
          </a:p>
        </p:txBody>
      </p:sp>
      <p:sp>
        <p:nvSpPr>
          <p:cNvPr id="7" name="TextBox 7"/>
          <p:cNvSpPr txBox="1"/>
          <p:nvPr/>
        </p:nvSpPr>
        <p:spPr>
          <a:xfrm>
            <a:off x="9988734" y="3118704"/>
            <a:ext cx="7309723" cy="6928485"/>
          </a:xfrm>
          <a:prstGeom prst="rect">
            <a:avLst/>
          </a:prstGeom>
        </p:spPr>
        <p:txBody>
          <a:bodyPr lIns="0" tIns="0" rIns="0" bIns="0" rtlCol="0" anchor="t">
            <a:spAutoFit/>
          </a:bodyPr>
          <a:lstStyle/>
          <a:p>
            <a:pPr algn="just">
              <a:lnSpc>
                <a:spcPts val="3600"/>
              </a:lnSpc>
            </a:pPr>
            <a:r>
              <a:rPr lang="en-US" sz="3000" b="1">
                <a:solidFill>
                  <a:srgbClr val="FFFFFF"/>
                </a:solidFill>
                <a:latin typeface="Poppins Semi-Bold"/>
                <a:ea typeface="Poppins Semi-Bold"/>
                <a:cs typeface="Poppins Semi-Bold"/>
                <a:sym typeface="Poppins Semi-Bold"/>
              </a:rPr>
              <a:t>Ele já vem com um método incluido por padrão, que é o nosso </a:t>
            </a:r>
            <a:r>
              <a:rPr lang="en-US" sz="3000" b="1">
                <a:solidFill>
                  <a:srgbClr val="FFCB85"/>
                </a:solidFill>
                <a:latin typeface="Poppins Semi-Bold"/>
                <a:ea typeface="Poppins Semi-Bold"/>
                <a:cs typeface="Poppins Semi-Bold"/>
                <a:sym typeface="Poppins Semi-Bold"/>
              </a:rPr>
              <a:t>Main</a:t>
            </a:r>
            <a:r>
              <a:rPr lang="en-US" sz="3000" b="1">
                <a:solidFill>
                  <a:srgbClr val="FFFFFF"/>
                </a:solidFill>
                <a:latin typeface="Poppins Semi-Bold"/>
                <a:ea typeface="Poppins Semi-Bold"/>
                <a:cs typeface="Poppins Semi-Bold"/>
                <a:sym typeface="Poppins Semi-Bold"/>
              </a:rPr>
              <a:t>, então já estamos trabalhando com métodos, a diferença agora é que iremos criar outros para qualquer outro fim. Nas aplicações do tipo </a:t>
            </a:r>
            <a:r>
              <a:rPr lang="en-US" sz="3000" b="1">
                <a:solidFill>
                  <a:srgbClr val="7ED957"/>
                </a:solidFill>
                <a:latin typeface="Poppins Semi-Bold"/>
                <a:ea typeface="Poppins Semi-Bold"/>
                <a:cs typeface="Poppins Semi-Bold"/>
                <a:sym typeface="Poppins Semi-Bold"/>
              </a:rPr>
              <a:t>Console</a:t>
            </a:r>
            <a:r>
              <a:rPr lang="en-US" sz="3000" b="1">
                <a:solidFill>
                  <a:srgbClr val="FFFFFF"/>
                </a:solidFill>
                <a:latin typeface="Poppins Semi-Bold"/>
                <a:ea typeface="Poppins Semi-Bold"/>
                <a:cs typeface="Poppins Semi-Bold"/>
                <a:sym typeface="Poppins Semi-Bold"/>
              </a:rPr>
              <a:t>, é preciso ter o método </a:t>
            </a:r>
            <a:r>
              <a:rPr lang="en-US" sz="3000" b="1">
                <a:solidFill>
                  <a:srgbClr val="FFCB85"/>
                </a:solidFill>
                <a:latin typeface="Poppins Semi-Bold"/>
                <a:ea typeface="Poppins Semi-Bold"/>
                <a:cs typeface="Poppins Semi-Bold"/>
                <a:sym typeface="Poppins Semi-Bold"/>
              </a:rPr>
              <a:t>Main </a:t>
            </a:r>
            <a:r>
              <a:rPr lang="en-US" sz="3000" b="1">
                <a:solidFill>
                  <a:srgbClr val="FFFFFF"/>
                </a:solidFill>
                <a:latin typeface="Poppins Semi-Bold"/>
                <a:ea typeface="Poppins Semi-Bold"/>
                <a:cs typeface="Poppins Semi-Bold"/>
                <a:sym typeface="Poppins Semi-Bold"/>
              </a:rPr>
              <a:t>pois todo o programa principal deve partir dele. Quando desenvolver os nossos jogos, vocês vão ver que não será tão diferente assim.</a:t>
            </a: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4757642" y="3696091"/>
            <a:ext cx="8772525" cy="5562600"/>
          </a:xfrm>
          <a:custGeom>
            <a:avLst/>
            <a:gdLst/>
            <a:ahLst/>
            <a:cxnLst/>
            <a:rect l="l" t="t" r="r" b="b"/>
            <a:pathLst>
              <a:path w="8772525" h="5562600">
                <a:moveTo>
                  <a:pt x="0" y="0"/>
                </a:moveTo>
                <a:lnTo>
                  <a:pt x="8772525" y="0"/>
                </a:lnTo>
                <a:lnTo>
                  <a:pt x="8772525" y="5562600"/>
                </a:lnTo>
                <a:lnTo>
                  <a:pt x="0" y="5562600"/>
                </a:lnTo>
                <a:lnTo>
                  <a:pt x="0" y="0"/>
                </a:lnTo>
                <a:close/>
              </a:path>
            </a:pathLst>
          </a:custGeom>
          <a:blipFill>
            <a:blip r:embed="rId2"/>
            <a:stretch>
              <a:fillRect/>
            </a:stretch>
          </a:blipFill>
        </p:spPr>
      </p:sp>
      <p:sp>
        <p:nvSpPr>
          <p:cNvPr id="3" name="Freeform 3"/>
          <p:cNvSpPr/>
          <p:nvPr/>
        </p:nvSpPr>
        <p:spPr>
          <a:xfrm>
            <a:off x="9753600" y="3111503"/>
            <a:ext cx="1028700" cy="3581400"/>
          </a:xfrm>
          <a:custGeom>
            <a:avLst/>
            <a:gdLst/>
            <a:ahLst/>
            <a:cxnLst/>
            <a:rect l="l" t="t" r="r" b="b"/>
            <a:pathLst>
              <a:path w="1028700" h="3581400">
                <a:moveTo>
                  <a:pt x="0" y="0"/>
                </a:moveTo>
                <a:lnTo>
                  <a:pt x="1028700" y="0"/>
                </a:lnTo>
                <a:lnTo>
                  <a:pt x="1028700" y="3581400"/>
                </a:lnTo>
                <a:lnTo>
                  <a:pt x="0" y="3581400"/>
                </a:lnTo>
                <a:lnTo>
                  <a:pt x="0" y="0"/>
                </a:lnTo>
                <a:close/>
              </a:path>
            </a:pathLst>
          </a:custGeom>
          <a:blipFill>
            <a:blip r:embed="rId3"/>
            <a:stretch>
              <a:fillRect/>
            </a:stretch>
          </a:blipFill>
        </p:spPr>
      </p:sp>
      <p:sp>
        <p:nvSpPr>
          <p:cNvPr id="4" name="Freeform 4"/>
          <p:cNvSpPr/>
          <p:nvPr/>
        </p:nvSpPr>
        <p:spPr>
          <a:xfrm>
            <a:off x="9614621" y="6342412"/>
            <a:ext cx="418929" cy="319535"/>
          </a:xfrm>
          <a:custGeom>
            <a:avLst/>
            <a:gdLst/>
            <a:ahLst/>
            <a:cxnLst/>
            <a:rect l="l" t="t" r="r" b="b"/>
            <a:pathLst>
              <a:path w="418929" h="319535">
                <a:moveTo>
                  <a:pt x="0" y="0"/>
                </a:moveTo>
                <a:lnTo>
                  <a:pt x="418928" y="0"/>
                </a:lnTo>
                <a:lnTo>
                  <a:pt x="418928" y="319535"/>
                </a:lnTo>
                <a:lnTo>
                  <a:pt x="0" y="31953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8851897" y="7327897"/>
            <a:ext cx="2514600" cy="2489197"/>
          </a:xfrm>
          <a:custGeom>
            <a:avLst/>
            <a:gdLst/>
            <a:ahLst/>
            <a:cxnLst/>
            <a:rect l="l" t="t" r="r" b="b"/>
            <a:pathLst>
              <a:path w="2514600" h="2489197">
                <a:moveTo>
                  <a:pt x="0" y="0"/>
                </a:moveTo>
                <a:lnTo>
                  <a:pt x="2514600" y="0"/>
                </a:lnTo>
                <a:lnTo>
                  <a:pt x="2514600" y="2489197"/>
                </a:lnTo>
                <a:lnTo>
                  <a:pt x="0" y="2489197"/>
                </a:lnTo>
                <a:lnTo>
                  <a:pt x="0" y="0"/>
                </a:lnTo>
                <a:close/>
              </a:path>
            </a:pathLst>
          </a:custGeom>
          <a:blipFill>
            <a:blip r:embed="rId6"/>
            <a:stretch>
              <a:fillRect/>
            </a:stretch>
          </a:blipFill>
        </p:spPr>
      </p:sp>
      <p:sp>
        <p:nvSpPr>
          <p:cNvPr id="6" name="Freeform 6"/>
          <p:cNvSpPr/>
          <p:nvPr/>
        </p:nvSpPr>
        <p:spPr>
          <a:xfrm>
            <a:off x="8726576" y="7322172"/>
            <a:ext cx="417233" cy="330222"/>
          </a:xfrm>
          <a:custGeom>
            <a:avLst/>
            <a:gdLst/>
            <a:ahLst/>
            <a:cxnLst/>
            <a:rect l="l" t="t" r="r" b="b"/>
            <a:pathLst>
              <a:path w="417233" h="330222">
                <a:moveTo>
                  <a:pt x="0" y="0"/>
                </a:moveTo>
                <a:lnTo>
                  <a:pt x="417234" y="0"/>
                </a:lnTo>
                <a:lnTo>
                  <a:pt x="417234" y="330223"/>
                </a:lnTo>
                <a:lnTo>
                  <a:pt x="0" y="33022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Freeform 7"/>
          <p:cNvSpPr/>
          <p:nvPr/>
        </p:nvSpPr>
        <p:spPr>
          <a:xfrm>
            <a:off x="11899897" y="3987803"/>
            <a:ext cx="3403597" cy="2654303"/>
          </a:xfrm>
          <a:custGeom>
            <a:avLst/>
            <a:gdLst/>
            <a:ahLst/>
            <a:cxnLst/>
            <a:rect l="l" t="t" r="r" b="b"/>
            <a:pathLst>
              <a:path w="3403597" h="2654303">
                <a:moveTo>
                  <a:pt x="0" y="0"/>
                </a:moveTo>
                <a:lnTo>
                  <a:pt x="3403597" y="0"/>
                </a:lnTo>
                <a:lnTo>
                  <a:pt x="3403597" y="2654303"/>
                </a:lnTo>
                <a:lnTo>
                  <a:pt x="0" y="2654303"/>
                </a:lnTo>
                <a:lnTo>
                  <a:pt x="0" y="0"/>
                </a:lnTo>
                <a:close/>
              </a:path>
            </a:pathLst>
          </a:custGeom>
          <a:blipFill>
            <a:blip r:embed="rId9"/>
            <a:stretch>
              <a:fillRect/>
            </a:stretch>
          </a:blipFill>
        </p:spPr>
      </p:sp>
      <p:sp>
        <p:nvSpPr>
          <p:cNvPr id="8" name="Freeform 8"/>
          <p:cNvSpPr/>
          <p:nvPr/>
        </p:nvSpPr>
        <p:spPr>
          <a:xfrm>
            <a:off x="11900392" y="6266764"/>
            <a:ext cx="365912" cy="361207"/>
          </a:xfrm>
          <a:custGeom>
            <a:avLst/>
            <a:gdLst/>
            <a:ahLst/>
            <a:cxnLst/>
            <a:rect l="l" t="t" r="r" b="b"/>
            <a:pathLst>
              <a:path w="365912" h="361207">
                <a:moveTo>
                  <a:pt x="0" y="0"/>
                </a:moveTo>
                <a:lnTo>
                  <a:pt x="365913" y="0"/>
                </a:lnTo>
                <a:lnTo>
                  <a:pt x="365913" y="361207"/>
                </a:lnTo>
                <a:lnTo>
                  <a:pt x="0" y="36120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Freeform 9"/>
          <p:cNvSpPr/>
          <p:nvPr/>
        </p:nvSpPr>
        <p:spPr>
          <a:xfrm>
            <a:off x="4711703" y="6502403"/>
            <a:ext cx="2108197" cy="533400"/>
          </a:xfrm>
          <a:custGeom>
            <a:avLst/>
            <a:gdLst/>
            <a:ahLst/>
            <a:cxnLst/>
            <a:rect l="l" t="t" r="r" b="b"/>
            <a:pathLst>
              <a:path w="2108197" h="533400">
                <a:moveTo>
                  <a:pt x="0" y="0"/>
                </a:moveTo>
                <a:lnTo>
                  <a:pt x="2108197" y="0"/>
                </a:lnTo>
                <a:lnTo>
                  <a:pt x="2108197" y="533400"/>
                </a:lnTo>
                <a:lnTo>
                  <a:pt x="0" y="533400"/>
                </a:lnTo>
                <a:lnTo>
                  <a:pt x="0" y="0"/>
                </a:lnTo>
                <a:close/>
              </a:path>
            </a:pathLst>
          </a:custGeom>
          <a:blipFill>
            <a:blip r:embed="rId12"/>
            <a:stretch>
              <a:fillRect/>
            </a:stretch>
          </a:blipFill>
        </p:spPr>
      </p:sp>
      <p:sp>
        <p:nvSpPr>
          <p:cNvPr id="10" name="Freeform 10"/>
          <p:cNvSpPr/>
          <p:nvPr/>
        </p:nvSpPr>
        <p:spPr>
          <a:xfrm>
            <a:off x="4272991" y="1873987"/>
            <a:ext cx="5789990" cy="5303482"/>
          </a:xfrm>
          <a:custGeom>
            <a:avLst/>
            <a:gdLst/>
            <a:ahLst/>
            <a:cxnLst/>
            <a:rect l="l" t="t" r="r" b="b"/>
            <a:pathLst>
              <a:path w="5789990" h="5303482">
                <a:moveTo>
                  <a:pt x="0" y="0"/>
                </a:moveTo>
                <a:lnTo>
                  <a:pt x="5789991" y="0"/>
                </a:lnTo>
                <a:lnTo>
                  <a:pt x="5789991" y="5303481"/>
                </a:lnTo>
                <a:lnTo>
                  <a:pt x="0" y="5303481"/>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sp>
      <p:grpSp>
        <p:nvGrpSpPr>
          <p:cNvPr id="11" name="Group 11"/>
          <p:cNvGrpSpPr>
            <a:grpSpLocks noChangeAspect="1"/>
          </p:cNvGrpSpPr>
          <p:nvPr/>
        </p:nvGrpSpPr>
        <p:grpSpPr>
          <a:xfrm>
            <a:off x="10964132" y="2825982"/>
            <a:ext cx="4358421" cy="3848662"/>
            <a:chOff x="0" y="0"/>
            <a:chExt cx="4358424" cy="3848659"/>
          </a:xfrm>
        </p:grpSpPr>
        <p:sp>
          <p:nvSpPr>
            <p:cNvPr id="12" name="Freeform 12"/>
            <p:cNvSpPr/>
            <p:nvPr/>
          </p:nvSpPr>
          <p:spPr>
            <a:xfrm>
              <a:off x="0" y="0"/>
              <a:ext cx="4358386" cy="3848608"/>
            </a:xfrm>
            <a:custGeom>
              <a:avLst/>
              <a:gdLst/>
              <a:ahLst/>
              <a:cxnLst/>
              <a:rect l="l" t="t" r="r" b="b"/>
              <a:pathLst>
                <a:path w="4358386" h="3848608">
                  <a:moveTo>
                    <a:pt x="0" y="3848608"/>
                  </a:moveTo>
                  <a:lnTo>
                    <a:pt x="4358386" y="3848608"/>
                  </a:lnTo>
                  <a:lnTo>
                    <a:pt x="4358386" y="0"/>
                  </a:lnTo>
                  <a:lnTo>
                    <a:pt x="0" y="0"/>
                  </a:lnTo>
                  <a:close/>
                </a:path>
              </a:pathLst>
            </a:custGeom>
            <a:solidFill>
              <a:srgbClr val="000000">
                <a:alpha val="0"/>
              </a:srgbClr>
            </a:solidFill>
          </p:spPr>
        </p:sp>
      </p:grpSp>
      <p:sp>
        <p:nvSpPr>
          <p:cNvPr id="13" name="TextBox 13"/>
          <p:cNvSpPr txBox="1"/>
          <p:nvPr/>
        </p:nvSpPr>
        <p:spPr>
          <a:xfrm>
            <a:off x="5646239" y="324326"/>
            <a:ext cx="713520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Métodos/Funções</a:t>
            </a:r>
          </a:p>
        </p:txBody>
      </p:sp>
      <p:sp>
        <p:nvSpPr>
          <p:cNvPr id="14" name="TextBox 14"/>
          <p:cNvSpPr txBox="1"/>
          <p:nvPr/>
        </p:nvSpPr>
        <p:spPr>
          <a:xfrm>
            <a:off x="164983" y="2292048"/>
            <a:ext cx="5501068" cy="813054"/>
          </a:xfrm>
          <a:prstGeom prst="rect">
            <a:avLst/>
          </a:prstGeom>
        </p:spPr>
        <p:txBody>
          <a:bodyPr lIns="0" tIns="0" rIns="0" bIns="0" rtlCol="0" anchor="t">
            <a:spAutoFit/>
          </a:bodyPr>
          <a:lstStyle/>
          <a:p>
            <a:pPr algn="l">
              <a:lnSpc>
                <a:spcPts val="5880"/>
              </a:lnSpc>
            </a:pPr>
            <a:r>
              <a:rPr lang="en-US" sz="4200" b="1">
                <a:solidFill>
                  <a:srgbClr val="FFFFFF"/>
                </a:solidFill>
                <a:latin typeface="Poppins Semi-Bold"/>
                <a:ea typeface="Poppins Semi-Bold"/>
                <a:cs typeface="Poppins Semi-Bold"/>
                <a:sym typeface="Poppins Semi-Bold"/>
              </a:rPr>
              <a:t>Sintaxe do método:</a:t>
            </a:r>
          </a:p>
        </p:txBody>
      </p:sp>
      <p:sp>
        <p:nvSpPr>
          <p:cNvPr id="15" name="TextBox 15"/>
          <p:cNvSpPr txBox="1"/>
          <p:nvPr/>
        </p:nvSpPr>
        <p:spPr>
          <a:xfrm>
            <a:off x="12024693" y="9383249"/>
            <a:ext cx="3071260" cy="584835"/>
          </a:xfrm>
          <a:prstGeom prst="rect">
            <a:avLst/>
          </a:prstGeom>
        </p:spPr>
        <p:txBody>
          <a:bodyPr lIns="0" tIns="0" rIns="0" bIns="0" rtlCol="0" anchor="t">
            <a:spAutoFit/>
          </a:bodyPr>
          <a:lstStyle/>
          <a:p>
            <a:pPr algn="l">
              <a:lnSpc>
                <a:spcPts val="4200"/>
              </a:lnSpc>
            </a:pPr>
            <a:r>
              <a:rPr lang="en-US" sz="3000" b="1">
                <a:solidFill>
                  <a:srgbClr val="FF5757"/>
                </a:solidFill>
                <a:latin typeface="Poppins Semi-Bold"/>
                <a:ea typeface="Poppins Semi-Bold"/>
                <a:cs typeface="Poppins Semi-Bold"/>
                <a:sym typeface="Poppins Semi-Bold"/>
              </a:rPr>
              <a:t>Tipo de retorno</a:t>
            </a:r>
          </a:p>
        </p:txBody>
      </p:sp>
      <p:sp>
        <p:nvSpPr>
          <p:cNvPr id="16" name="TextBox 16"/>
          <p:cNvSpPr txBox="1"/>
          <p:nvPr/>
        </p:nvSpPr>
        <p:spPr>
          <a:xfrm>
            <a:off x="9360332" y="2125208"/>
            <a:ext cx="3521669" cy="899160"/>
          </a:xfrm>
          <a:prstGeom prst="rect">
            <a:avLst/>
          </a:prstGeom>
        </p:spPr>
        <p:txBody>
          <a:bodyPr lIns="0" tIns="0" rIns="0" bIns="0" rtlCol="0" anchor="t">
            <a:spAutoFit/>
          </a:bodyPr>
          <a:lstStyle/>
          <a:p>
            <a:pPr algn="l">
              <a:lnSpc>
                <a:spcPts val="7500"/>
              </a:lnSpc>
            </a:pPr>
            <a:r>
              <a:rPr lang="en-US" sz="3000" b="1">
                <a:solidFill>
                  <a:srgbClr val="FFDE59"/>
                </a:solidFill>
                <a:latin typeface="Poppins Semi-Bold"/>
                <a:ea typeface="Poppins Semi-Bold"/>
                <a:cs typeface="Poppins Semi-Bold"/>
                <a:sym typeface="Poppins Semi-Bold"/>
              </a:rPr>
              <a:t>Nome do método</a:t>
            </a:r>
          </a:p>
        </p:txBody>
      </p:sp>
      <p:sp>
        <p:nvSpPr>
          <p:cNvPr id="17" name="TextBox 17"/>
          <p:cNvSpPr txBox="1"/>
          <p:nvPr/>
        </p:nvSpPr>
        <p:spPr>
          <a:xfrm>
            <a:off x="12979089" y="3135116"/>
            <a:ext cx="4680928" cy="899160"/>
          </a:xfrm>
          <a:prstGeom prst="rect">
            <a:avLst/>
          </a:prstGeom>
        </p:spPr>
        <p:txBody>
          <a:bodyPr lIns="0" tIns="0" rIns="0" bIns="0" rtlCol="0" anchor="t">
            <a:spAutoFit/>
          </a:bodyPr>
          <a:lstStyle/>
          <a:p>
            <a:pPr algn="l">
              <a:lnSpc>
                <a:spcPts val="7500"/>
              </a:lnSpc>
            </a:pPr>
            <a:r>
              <a:rPr lang="en-US" sz="3000" b="1">
                <a:solidFill>
                  <a:srgbClr val="795AC6"/>
                </a:solidFill>
                <a:latin typeface="Poppins Semi-Bold"/>
                <a:ea typeface="Poppins Semi-Bold"/>
                <a:cs typeface="Poppins Semi-Bold"/>
                <a:sym typeface="Poppins Semi-Bold"/>
              </a:rPr>
              <a:t>Parâmetros do método</a:t>
            </a:r>
          </a:p>
        </p:txBody>
      </p:sp>
      <p:sp>
        <p:nvSpPr>
          <p:cNvPr id="18" name="TextBox 18"/>
          <p:cNvSpPr txBox="1"/>
          <p:nvPr/>
        </p:nvSpPr>
        <p:spPr>
          <a:xfrm>
            <a:off x="218265" y="5703599"/>
            <a:ext cx="4542444" cy="1616202"/>
          </a:xfrm>
          <a:prstGeom prst="rect">
            <a:avLst/>
          </a:prstGeom>
        </p:spPr>
        <p:txBody>
          <a:bodyPr lIns="0" tIns="0" rIns="0" bIns="0" rtlCol="0" anchor="t">
            <a:spAutoFit/>
          </a:bodyPr>
          <a:lstStyle/>
          <a:p>
            <a:pPr algn="ctr">
              <a:lnSpc>
                <a:spcPts val="2475"/>
              </a:lnSpc>
            </a:pPr>
            <a:r>
              <a:rPr lang="en-US" sz="2100" b="1">
                <a:solidFill>
                  <a:srgbClr val="7AFFF5"/>
                </a:solidFill>
                <a:latin typeface="Poppins Semi-Bold"/>
                <a:ea typeface="Poppins Semi-Bold"/>
                <a:cs typeface="Poppins Semi-Bold"/>
                <a:sym typeface="Poppins Semi-Bold"/>
              </a:rPr>
              <a:t>Comando para dizer que o método é estatico. Todos os métodos do programa principal de aplicação console vão ser static.</a:t>
            </a: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5646239" y="305276"/>
            <a:ext cx="7135206" cy="1182853"/>
          </a:xfrm>
          <a:prstGeom prst="rect">
            <a:avLst/>
          </a:prstGeom>
        </p:spPr>
        <p:txBody>
          <a:bodyPr lIns="0" tIns="0" rIns="0" bIns="0" rtlCol="0" anchor="t">
            <a:spAutoFit/>
          </a:bodyPr>
          <a:lstStyle/>
          <a:p>
            <a:pPr algn="l">
              <a:lnSpc>
                <a:spcPts val="8589"/>
              </a:lnSpc>
            </a:pPr>
            <a:r>
              <a:rPr lang="en-US" sz="5964" b="1">
                <a:solidFill>
                  <a:srgbClr val="FFFFFF"/>
                </a:solidFill>
                <a:latin typeface="Poppins Semi-Bold"/>
                <a:ea typeface="Poppins Semi-Bold"/>
                <a:cs typeface="Poppins Semi-Bold"/>
                <a:sym typeface="Poppins Semi-Bold"/>
              </a:rPr>
              <a:t>Métodos/Funções</a:t>
            </a:r>
          </a:p>
        </p:txBody>
      </p:sp>
      <p:sp>
        <p:nvSpPr>
          <p:cNvPr id="3" name="TextBox 3"/>
          <p:cNvSpPr txBox="1"/>
          <p:nvPr/>
        </p:nvSpPr>
        <p:spPr>
          <a:xfrm>
            <a:off x="7798594" y="1321337"/>
            <a:ext cx="155438" cy="1036911"/>
          </a:xfrm>
          <a:prstGeom prst="rect">
            <a:avLst/>
          </a:prstGeom>
        </p:spPr>
        <p:txBody>
          <a:bodyPr lIns="0" tIns="0" rIns="0" bIns="0" rtlCol="0" anchor="t">
            <a:spAutoFit/>
          </a:bodyPr>
          <a:lstStyle/>
          <a:p>
            <a:pPr algn="l">
              <a:lnSpc>
                <a:spcPts val="8299"/>
              </a:lnSpc>
            </a:pPr>
            <a:r>
              <a:rPr lang="en-US" sz="3999" b="1">
                <a:solidFill>
                  <a:srgbClr val="FFFFFF"/>
                </a:solidFill>
                <a:latin typeface="Poppins Semi-Bold"/>
                <a:ea typeface="Poppins Semi-Bold"/>
                <a:cs typeface="Poppins Semi-Bold"/>
                <a:sym typeface="Poppins Semi-Bold"/>
              </a:rPr>
              <a:t> </a:t>
            </a:r>
          </a:p>
        </p:txBody>
      </p:sp>
      <p:sp>
        <p:nvSpPr>
          <p:cNvPr id="4" name="TextBox 4"/>
          <p:cNvSpPr txBox="1"/>
          <p:nvPr/>
        </p:nvSpPr>
        <p:spPr>
          <a:xfrm>
            <a:off x="164983" y="1654712"/>
            <a:ext cx="18169042" cy="8628336"/>
          </a:xfrm>
          <a:prstGeom prst="rect">
            <a:avLst/>
          </a:prstGeom>
        </p:spPr>
        <p:txBody>
          <a:bodyPr lIns="0" tIns="0" rIns="0" bIns="0" rtlCol="0" anchor="t">
            <a:spAutoFit/>
          </a:bodyPr>
          <a:lstStyle/>
          <a:p>
            <a:pPr algn="l">
              <a:lnSpc>
                <a:spcPts val="4799"/>
              </a:lnSpc>
            </a:pPr>
            <a:r>
              <a:rPr lang="en-US" sz="3999" b="1">
                <a:solidFill>
                  <a:srgbClr val="FFFFFF"/>
                </a:solidFill>
                <a:latin typeface="Poppins Semi-Bold"/>
                <a:ea typeface="Poppins Semi-Bold"/>
                <a:cs typeface="Poppins Semi-Bold"/>
                <a:sym typeface="Poppins Semi-Bold"/>
              </a:rPr>
              <a:t>O </a:t>
            </a:r>
            <a:r>
              <a:rPr lang="en-US" sz="3999" b="1">
                <a:solidFill>
                  <a:srgbClr val="FFCB85"/>
                </a:solidFill>
                <a:latin typeface="Poppins Semi-Bold"/>
                <a:ea typeface="Poppins Semi-Bold"/>
                <a:cs typeface="Poppins Semi-Bold"/>
                <a:sym typeface="Poppins Semi-Bold"/>
              </a:rPr>
              <a:t>nome de um método</a:t>
            </a:r>
            <a:r>
              <a:rPr lang="en-US" sz="3999" b="1">
                <a:solidFill>
                  <a:srgbClr val="FFFFFF"/>
                </a:solidFill>
                <a:latin typeface="Poppins Semi-Bold"/>
                <a:ea typeface="Poppins Semi-Bold"/>
                <a:cs typeface="Poppins Semi-Bold"/>
                <a:sym typeface="Poppins Semi-Bold"/>
              </a:rPr>
              <a:t> poderespeitaras mesmas regras de criação de nomes de variáveis, mas com uma coisa de diferente. Não utilizamos o Camel Case para defirmos o nome do método, ou seja, vamos supor que o nome do método seja "somar numeros", na programação ficaria “SomarNumeros” o nome do método. Com as duas letras inicias maiúsculas em caso de nome composto. Se for um nome único, apenas a primeira letra em maiúscula. O programa vai funcionar se utilizar o Camel Case no nome dos métodos, mas o seu código ficara poluído sem você conseguir perceber facilmente o que é variável e o que é método.</a:t>
            </a: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5646239" y="324326"/>
            <a:ext cx="713520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Métodos/Funções</a:t>
            </a:r>
          </a:p>
        </p:txBody>
      </p:sp>
      <p:sp>
        <p:nvSpPr>
          <p:cNvPr id="3" name="TextBox 3"/>
          <p:cNvSpPr txBox="1"/>
          <p:nvPr/>
        </p:nvSpPr>
        <p:spPr>
          <a:xfrm>
            <a:off x="164983" y="1654712"/>
            <a:ext cx="16973769" cy="8628336"/>
          </a:xfrm>
          <a:prstGeom prst="rect">
            <a:avLst/>
          </a:prstGeom>
        </p:spPr>
        <p:txBody>
          <a:bodyPr lIns="0" tIns="0" rIns="0" bIns="0" rtlCol="0" anchor="t">
            <a:spAutoFit/>
          </a:bodyPr>
          <a:lstStyle/>
          <a:p>
            <a:pPr algn="l">
              <a:lnSpc>
                <a:spcPts val="4799"/>
              </a:lnSpc>
            </a:pPr>
            <a:r>
              <a:rPr lang="en-US" sz="3999" b="1">
                <a:solidFill>
                  <a:srgbClr val="FFFFFF"/>
                </a:solidFill>
                <a:latin typeface="Poppins Semi-Bold"/>
                <a:ea typeface="Poppins Semi-Bold"/>
                <a:cs typeface="Poppins Semi-Bold"/>
                <a:sym typeface="Poppins Semi-Bold"/>
              </a:rPr>
              <a:t>Vejamos um exemplo: </a:t>
            </a:r>
            <a:r>
              <a:rPr lang="en-US" sz="3999" b="1">
                <a:solidFill>
                  <a:srgbClr val="3C67BF"/>
                </a:solidFill>
                <a:latin typeface="Poppins Semi-Bold"/>
                <a:ea typeface="Poppins Semi-Bold"/>
                <a:cs typeface="Poppins Semi-Bold"/>
                <a:sym typeface="Poppins Semi-Bold"/>
              </a:rPr>
              <a:t>static void</a:t>
            </a:r>
            <a:r>
              <a:rPr lang="en-US" sz="3999" b="1">
                <a:solidFill>
                  <a:srgbClr val="FFFFFF"/>
                </a:solidFill>
                <a:latin typeface="Poppins Semi-Bold"/>
                <a:ea typeface="Poppins Semi-Bold"/>
                <a:cs typeface="Poppins Semi-Bold"/>
                <a:sym typeface="Poppins Semi-Bold"/>
              </a:rPr>
              <a:t> </a:t>
            </a:r>
            <a:r>
              <a:rPr lang="en-US" sz="3999" b="1">
                <a:solidFill>
                  <a:srgbClr val="FFCB85"/>
                </a:solidFill>
                <a:latin typeface="Poppins Semi-Bold"/>
                <a:ea typeface="Poppins Semi-Bold"/>
                <a:cs typeface="Poppins Semi-Bold"/>
                <a:sym typeface="Poppins Semi-Bold"/>
              </a:rPr>
              <a:t>SomarNumeros</a:t>
            </a:r>
            <a:r>
              <a:rPr lang="en-US" sz="3999" b="1">
                <a:solidFill>
                  <a:srgbClr val="FFFFFF"/>
                </a:solidFill>
                <a:latin typeface="Poppins Semi-Bold"/>
                <a:ea typeface="Poppins Semi-Bold"/>
                <a:cs typeface="Poppins Semi-Bold"/>
                <a:sym typeface="Poppins Semi-Bold"/>
              </a:rPr>
              <a:t>(){  </a:t>
            </a:r>
            <a:r>
              <a:rPr lang="en-US" sz="3999" b="1">
                <a:solidFill>
                  <a:srgbClr val="3C67BF"/>
                </a:solidFill>
                <a:latin typeface="Poppins Semi-Bold"/>
                <a:ea typeface="Poppins Semi-Bold"/>
                <a:cs typeface="Poppins Semi-Bold"/>
                <a:sym typeface="Poppins Semi-Bold"/>
              </a:rPr>
              <a:t>int </a:t>
            </a:r>
            <a:r>
              <a:rPr lang="en-US" sz="3999" b="1">
                <a:solidFill>
                  <a:srgbClr val="FFFFFF"/>
                </a:solidFill>
                <a:latin typeface="Poppins Semi-Bold"/>
                <a:ea typeface="Poppins Semi-Bold"/>
                <a:cs typeface="Poppins Semi-Bold"/>
                <a:sym typeface="Poppins Semi-Bold"/>
              </a:rPr>
              <a:t>numero1 = 10;  </a:t>
            </a:r>
            <a:r>
              <a:rPr lang="en-US" sz="3999" b="1">
                <a:solidFill>
                  <a:srgbClr val="3C67BF"/>
                </a:solidFill>
                <a:latin typeface="Poppins Semi-Bold"/>
                <a:ea typeface="Poppins Semi-Bold"/>
                <a:cs typeface="Poppins Semi-Bold"/>
                <a:sym typeface="Poppins Semi-Bold"/>
              </a:rPr>
              <a:t>int </a:t>
            </a:r>
            <a:r>
              <a:rPr lang="en-US" sz="3999" b="1">
                <a:solidFill>
                  <a:srgbClr val="FFFFFF"/>
                </a:solidFill>
                <a:latin typeface="Poppins Semi-Bold"/>
                <a:ea typeface="Poppins Semi-Bold"/>
                <a:cs typeface="Poppins Semi-Bold"/>
                <a:sym typeface="Poppins Semi-Bold"/>
              </a:rPr>
              <a:t>numero2 = 20;  </a:t>
            </a:r>
            <a:r>
              <a:rPr lang="en-US" sz="3999" b="1">
                <a:solidFill>
                  <a:srgbClr val="3C67BF"/>
                </a:solidFill>
                <a:latin typeface="Poppins Semi-Bold"/>
                <a:ea typeface="Poppins Semi-Bold"/>
                <a:cs typeface="Poppins Semi-Bold"/>
                <a:sym typeface="Poppins Semi-Bold"/>
              </a:rPr>
              <a:t>int </a:t>
            </a:r>
            <a:r>
              <a:rPr lang="en-US" sz="3999" b="1">
                <a:solidFill>
                  <a:srgbClr val="FFFFFF"/>
                </a:solidFill>
                <a:latin typeface="Poppins Semi-Bold"/>
                <a:ea typeface="Poppins Semi-Bold"/>
                <a:cs typeface="Poppins Semi-Bold"/>
                <a:sym typeface="Poppins Semi-Bold"/>
              </a:rPr>
              <a:t>soma = numero1 + numero2;  </a:t>
            </a:r>
            <a:r>
              <a:rPr lang="en-US" sz="3999" b="1">
                <a:solidFill>
                  <a:srgbClr val="7ED957"/>
                </a:solidFill>
                <a:latin typeface="Poppins Semi-Bold"/>
                <a:ea typeface="Poppins Semi-Bold"/>
                <a:cs typeface="Poppins Semi-Bold"/>
                <a:sym typeface="Poppins Semi-Bold"/>
              </a:rPr>
              <a:t>Console</a:t>
            </a:r>
            <a:r>
              <a:rPr lang="en-US" sz="3999" b="1">
                <a:solidFill>
                  <a:srgbClr val="FFFFFF"/>
                </a:solidFill>
                <a:latin typeface="Poppins Semi-Bold"/>
                <a:ea typeface="Poppins Semi-Bold"/>
                <a:cs typeface="Poppins Semi-Bold"/>
                <a:sym typeface="Poppins Semi-Bold"/>
              </a:rPr>
              <a:t>.</a:t>
            </a:r>
            <a:r>
              <a:rPr lang="en-US" sz="3999" b="1">
                <a:solidFill>
                  <a:srgbClr val="FFCB85"/>
                </a:solidFill>
                <a:latin typeface="Poppins Semi-Bold"/>
                <a:ea typeface="Poppins Semi-Bold"/>
                <a:cs typeface="Poppins Semi-Bold"/>
                <a:sym typeface="Poppins Semi-Bold"/>
              </a:rPr>
              <a:t>WriteLine</a:t>
            </a:r>
            <a:r>
              <a:rPr lang="en-US" sz="3999" b="1">
                <a:solidFill>
                  <a:srgbClr val="FFFFFF"/>
                </a:solidFill>
                <a:latin typeface="Poppins Semi-Bold"/>
                <a:ea typeface="Poppins Semi-Bold"/>
                <a:cs typeface="Poppins Semi-Bold"/>
                <a:sym typeface="Poppins Semi-Bold"/>
              </a:rPr>
              <a:t>(</a:t>
            </a:r>
            <a:r>
              <a:rPr lang="en-US" sz="3999" b="1">
                <a:solidFill>
                  <a:srgbClr val="FFCB85"/>
                </a:solidFill>
                <a:latin typeface="Poppins Semi-Bold"/>
                <a:ea typeface="Poppins Semi-Bold"/>
                <a:cs typeface="Poppins Semi-Bold"/>
                <a:sym typeface="Poppins Semi-Bold"/>
              </a:rPr>
              <a:t>$"{</a:t>
            </a:r>
            <a:r>
              <a:rPr lang="en-US" sz="3999" b="1">
                <a:solidFill>
                  <a:srgbClr val="FFFFFF"/>
                </a:solidFill>
                <a:latin typeface="Poppins Semi-Bold"/>
                <a:ea typeface="Poppins Semi-Bold"/>
                <a:cs typeface="Poppins Semi-Bold"/>
                <a:sym typeface="Poppins Semi-Bold"/>
              </a:rPr>
              <a:t>soma</a:t>
            </a:r>
            <a:r>
              <a:rPr lang="en-US" sz="3999" b="1">
                <a:solidFill>
                  <a:srgbClr val="FFCB85"/>
                </a:solidFill>
                <a:latin typeface="Poppins Semi-Bold"/>
                <a:ea typeface="Poppins Semi-Bold"/>
                <a:cs typeface="Poppins Semi-Bold"/>
                <a:sym typeface="Poppins Semi-Bold"/>
              </a:rPr>
              <a:t>}"</a:t>
            </a:r>
            <a:r>
              <a:rPr lang="en-US" sz="3999" b="1">
                <a:solidFill>
                  <a:srgbClr val="FFFFFF"/>
                </a:solidFill>
                <a:latin typeface="Poppins Semi-Bold"/>
                <a:ea typeface="Poppins Semi-Bold"/>
                <a:cs typeface="Poppins Semi-Bold"/>
                <a:sym typeface="Poppins Semi-Bold"/>
              </a:rPr>
              <a:t>); } Note que o nome do método está respeitando o que foi dito no slide anterior. Agora, como eu executo esse método? Do jeito que está não acontece nada no programa.</a:t>
            </a: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5219700" y="5308597"/>
            <a:ext cx="4775197" cy="584197"/>
          </a:xfrm>
          <a:custGeom>
            <a:avLst/>
            <a:gdLst/>
            <a:ahLst/>
            <a:cxnLst/>
            <a:rect l="l" t="t" r="r" b="b"/>
            <a:pathLst>
              <a:path w="4775197" h="584197">
                <a:moveTo>
                  <a:pt x="0" y="0"/>
                </a:moveTo>
                <a:lnTo>
                  <a:pt x="4775197" y="0"/>
                </a:lnTo>
                <a:lnTo>
                  <a:pt x="4775197" y="584197"/>
                </a:lnTo>
                <a:lnTo>
                  <a:pt x="0" y="584197"/>
                </a:lnTo>
                <a:lnTo>
                  <a:pt x="0" y="0"/>
                </a:lnTo>
                <a:close/>
              </a:path>
            </a:pathLst>
          </a:custGeom>
          <a:blipFill>
            <a:blip r:embed="rId2"/>
            <a:stretch>
              <a:fillRect/>
            </a:stretch>
          </a:blipFill>
        </p:spPr>
      </p:sp>
      <p:sp>
        <p:nvSpPr>
          <p:cNvPr id="3" name="Freeform 3"/>
          <p:cNvSpPr/>
          <p:nvPr/>
        </p:nvSpPr>
        <p:spPr>
          <a:xfrm>
            <a:off x="5162398" y="3213659"/>
            <a:ext cx="4730477" cy="3577028"/>
          </a:xfrm>
          <a:custGeom>
            <a:avLst/>
            <a:gdLst/>
            <a:ahLst/>
            <a:cxnLst/>
            <a:rect l="l" t="t" r="r" b="b"/>
            <a:pathLst>
              <a:path w="4730477" h="3577028">
                <a:moveTo>
                  <a:pt x="0" y="0"/>
                </a:moveTo>
                <a:lnTo>
                  <a:pt x="4730477" y="0"/>
                </a:lnTo>
                <a:lnTo>
                  <a:pt x="4730477" y="3577028"/>
                </a:lnTo>
                <a:lnTo>
                  <a:pt x="0" y="357702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5646239" y="362426"/>
            <a:ext cx="7135206" cy="1125703"/>
          </a:xfrm>
          <a:prstGeom prst="rect">
            <a:avLst/>
          </a:prstGeom>
        </p:spPr>
        <p:txBody>
          <a:bodyPr lIns="0" tIns="0" rIns="0" bIns="0" rtlCol="0" anchor="t">
            <a:spAutoFit/>
          </a:bodyPr>
          <a:lstStyle/>
          <a:p>
            <a:pPr algn="l">
              <a:lnSpc>
                <a:spcPts val="7945"/>
              </a:lnSpc>
            </a:pPr>
            <a:r>
              <a:rPr lang="en-US" sz="5964" b="1">
                <a:solidFill>
                  <a:srgbClr val="FFFFFF"/>
                </a:solidFill>
                <a:latin typeface="Poppins Semi-Bold"/>
                <a:ea typeface="Poppins Semi-Bold"/>
                <a:cs typeface="Poppins Semi-Bold"/>
                <a:sym typeface="Poppins Semi-Bold"/>
              </a:rPr>
              <a:t>Métodos/Funções</a:t>
            </a:r>
          </a:p>
        </p:txBody>
      </p:sp>
      <p:sp>
        <p:nvSpPr>
          <p:cNvPr id="5" name="TextBox 5"/>
          <p:cNvSpPr txBox="1"/>
          <p:nvPr/>
        </p:nvSpPr>
        <p:spPr>
          <a:xfrm>
            <a:off x="4949133" y="1257757"/>
            <a:ext cx="139903" cy="1037082"/>
          </a:xfrm>
          <a:prstGeom prst="rect">
            <a:avLst/>
          </a:prstGeom>
        </p:spPr>
        <p:txBody>
          <a:bodyPr lIns="0" tIns="0" rIns="0" bIns="0" rtlCol="0" anchor="t">
            <a:spAutoFit/>
          </a:bodyPr>
          <a:lstStyle/>
          <a:p>
            <a:pPr algn="l">
              <a:lnSpc>
                <a:spcPts val="8593"/>
              </a:lnSpc>
            </a:pPr>
            <a:r>
              <a:rPr lang="en-US" sz="3600" b="1">
                <a:solidFill>
                  <a:srgbClr val="FFFFFF"/>
                </a:solidFill>
                <a:latin typeface="Poppins Semi-Bold"/>
                <a:ea typeface="Poppins Semi-Bold"/>
                <a:cs typeface="Poppins Semi-Bold"/>
                <a:sym typeface="Poppins Semi-Bold"/>
              </a:rPr>
              <a:t> </a:t>
            </a:r>
          </a:p>
        </p:txBody>
      </p:sp>
      <p:sp>
        <p:nvSpPr>
          <p:cNvPr id="6" name="TextBox 6"/>
          <p:cNvSpPr txBox="1"/>
          <p:nvPr/>
        </p:nvSpPr>
        <p:spPr>
          <a:xfrm>
            <a:off x="164983" y="1667332"/>
            <a:ext cx="16676027" cy="3342132"/>
          </a:xfrm>
          <a:prstGeom prst="rect">
            <a:avLst/>
          </a:prstGeom>
        </p:spPr>
        <p:txBody>
          <a:bodyPr lIns="0" tIns="0" rIns="0" bIns="0" rtlCol="0" anchor="t">
            <a:spAutoFit/>
          </a:bodyPr>
          <a:lstStyle/>
          <a:p>
            <a:pPr algn="l">
              <a:lnSpc>
                <a:spcPts val="4276"/>
              </a:lnSpc>
            </a:pPr>
            <a:r>
              <a:rPr lang="en-US" sz="3600" b="1">
                <a:solidFill>
                  <a:srgbClr val="FFFFFF"/>
                </a:solidFill>
                <a:latin typeface="Poppins Semi-Bold"/>
                <a:ea typeface="Poppins Semi-Bold"/>
                <a:cs typeface="Poppins Semi-Bold"/>
                <a:sym typeface="Poppins Semi-Bold"/>
              </a:rPr>
              <a:t>Eu preciso “chamar”essemétodoemalgumlugar,nonosso caso no método </a:t>
            </a:r>
            <a:r>
              <a:rPr lang="en-US" sz="3600" b="1">
                <a:solidFill>
                  <a:srgbClr val="FFCB85"/>
                </a:solidFill>
                <a:latin typeface="Poppins Semi-Bold"/>
                <a:ea typeface="Poppins Semi-Bold"/>
                <a:cs typeface="Poppins Semi-Bold"/>
                <a:sym typeface="Poppins Semi-Bold"/>
              </a:rPr>
              <a:t>Main</a:t>
            </a:r>
            <a:r>
              <a:rPr lang="en-US" sz="3600" b="1">
                <a:solidFill>
                  <a:srgbClr val="FFFFFF"/>
                </a:solidFill>
                <a:latin typeface="Poppins Semi-Bold"/>
                <a:ea typeface="Poppins Semi-Bold"/>
                <a:cs typeface="Poppins Semi-Bold"/>
                <a:sym typeface="Poppins Semi-Bold"/>
              </a:rPr>
              <a:t>.</a:t>
            </a:r>
          </a:p>
          <a:p>
            <a:pPr algn="l">
              <a:lnSpc>
                <a:spcPts val="9000"/>
              </a:lnSpc>
            </a:pPr>
            <a:r>
              <a:rPr lang="en-US" sz="3600" b="1">
                <a:solidFill>
                  <a:srgbClr val="FFFFFF"/>
                </a:solidFill>
                <a:latin typeface="Poppins Semi-Bold"/>
                <a:ea typeface="Poppins Semi-Bold"/>
                <a:cs typeface="Poppins Semi-Bold"/>
                <a:sym typeface="Poppins Semi-Bold"/>
              </a:rPr>
              <a:t>Veja o exemplo: </a:t>
            </a:r>
            <a:r>
              <a:rPr lang="en-US" sz="3600" b="1">
                <a:solidFill>
                  <a:srgbClr val="3C67BF"/>
                </a:solidFill>
                <a:latin typeface="Poppins Semi-Bold"/>
                <a:ea typeface="Poppins Semi-Bold"/>
                <a:cs typeface="Poppins Semi-Bold"/>
                <a:sym typeface="Poppins Semi-Bold"/>
              </a:rPr>
              <a:t>static void </a:t>
            </a:r>
            <a:r>
              <a:rPr lang="en-US" sz="3600" b="1">
                <a:solidFill>
                  <a:srgbClr val="FFCB85"/>
                </a:solidFill>
                <a:latin typeface="Poppins Semi-Bold"/>
                <a:ea typeface="Poppins Semi-Bold"/>
                <a:cs typeface="Poppins Semi-Bold"/>
                <a:sym typeface="Poppins Semi-Bold"/>
              </a:rPr>
              <a:t>Main</a:t>
            </a:r>
            <a:r>
              <a:rPr lang="en-US" sz="3600" b="1">
                <a:solidFill>
                  <a:srgbClr val="FFFFFF"/>
                </a:solidFill>
                <a:latin typeface="Poppins Semi-Bold"/>
                <a:ea typeface="Poppins Semi-Bold"/>
                <a:cs typeface="Poppins Semi-Bold"/>
                <a:sym typeface="Poppins Semi-Bold"/>
              </a:rPr>
              <a:t>(</a:t>
            </a:r>
            <a:r>
              <a:rPr lang="en-US" sz="3600" b="1">
                <a:solidFill>
                  <a:srgbClr val="3C67BF"/>
                </a:solidFill>
                <a:latin typeface="Poppins Semi-Bold"/>
                <a:ea typeface="Poppins Semi-Bold"/>
                <a:cs typeface="Poppins Semi-Bold"/>
                <a:sym typeface="Poppins Semi-Bold"/>
              </a:rPr>
              <a:t>string[]</a:t>
            </a:r>
            <a:r>
              <a:rPr lang="en-US" sz="3600" b="1">
                <a:solidFill>
                  <a:srgbClr val="FFFFFF"/>
                </a:solidFill>
                <a:latin typeface="Poppins Semi-Bold"/>
                <a:ea typeface="Poppins Semi-Bold"/>
                <a:cs typeface="Poppins Semi-Bold"/>
                <a:sym typeface="Poppins Semi-Bold"/>
              </a:rPr>
              <a:t> args){</a:t>
            </a:r>
          </a:p>
        </p:txBody>
      </p:sp>
      <p:sp>
        <p:nvSpPr>
          <p:cNvPr id="7" name="TextBox 7"/>
          <p:cNvSpPr txBox="1"/>
          <p:nvPr/>
        </p:nvSpPr>
        <p:spPr>
          <a:xfrm>
            <a:off x="11207553" y="3900869"/>
            <a:ext cx="116586" cy="327660"/>
          </a:xfrm>
          <a:prstGeom prst="rect">
            <a:avLst/>
          </a:prstGeom>
        </p:spPr>
        <p:txBody>
          <a:bodyPr lIns="0" tIns="0" rIns="0" bIns="0" rtlCol="0" anchor="t">
            <a:spAutoFit/>
          </a:bodyPr>
          <a:lstStyle/>
          <a:p>
            <a:pPr algn="l">
              <a:lnSpc>
                <a:spcPts val="1500"/>
              </a:lnSpc>
            </a:pPr>
            <a:r>
              <a:rPr lang="en-US" sz="3000" b="1">
                <a:solidFill>
                  <a:srgbClr val="FFFFFF"/>
                </a:solidFill>
                <a:latin typeface="Poppins Semi-Bold"/>
                <a:ea typeface="Poppins Semi-Bold"/>
                <a:cs typeface="Poppins Semi-Bold"/>
                <a:sym typeface="Poppins Semi-Bold"/>
              </a:rPr>
              <a:t> </a:t>
            </a:r>
          </a:p>
        </p:txBody>
      </p:sp>
      <p:sp>
        <p:nvSpPr>
          <p:cNvPr id="8" name="TextBox 8"/>
          <p:cNvSpPr txBox="1"/>
          <p:nvPr/>
        </p:nvSpPr>
        <p:spPr>
          <a:xfrm>
            <a:off x="10234479" y="3786569"/>
            <a:ext cx="116586" cy="899160"/>
          </a:xfrm>
          <a:prstGeom prst="rect">
            <a:avLst/>
          </a:prstGeom>
        </p:spPr>
        <p:txBody>
          <a:bodyPr lIns="0" tIns="0" rIns="0" bIns="0" rtlCol="0" anchor="t">
            <a:spAutoFit/>
          </a:bodyPr>
          <a:lstStyle/>
          <a:p>
            <a:pPr algn="l">
              <a:lnSpc>
                <a:spcPts val="7500"/>
              </a:lnSpc>
            </a:pPr>
            <a:r>
              <a:rPr lang="en-US" sz="3000" b="1">
                <a:solidFill>
                  <a:srgbClr val="FFFFFF"/>
                </a:solidFill>
                <a:latin typeface="Poppins Semi-Bold"/>
                <a:ea typeface="Poppins Semi-Bold"/>
                <a:cs typeface="Poppins Semi-Bold"/>
                <a:sym typeface="Poppins Semi-Bold"/>
              </a:rPr>
              <a:t> </a:t>
            </a:r>
          </a:p>
        </p:txBody>
      </p:sp>
      <p:sp>
        <p:nvSpPr>
          <p:cNvPr id="9" name="TextBox 9"/>
          <p:cNvSpPr txBox="1"/>
          <p:nvPr/>
        </p:nvSpPr>
        <p:spPr>
          <a:xfrm>
            <a:off x="713708" y="5153482"/>
            <a:ext cx="4418705" cy="398907"/>
          </a:xfrm>
          <a:prstGeom prst="rect">
            <a:avLst/>
          </a:prstGeom>
        </p:spPr>
        <p:txBody>
          <a:bodyPr lIns="0" tIns="0" rIns="0" bIns="0" rtlCol="0" anchor="t">
            <a:spAutoFit/>
          </a:bodyPr>
          <a:lstStyle/>
          <a:p>
            <a:pPr algn="l">
              <a:lnSpc>
                <a:spcPts val="1800"/>
              </a:lnSpc>
            </a:pPr>
            <a:r>
              <a:rPr lang="en-US" sz="3600" b="1">
                <a:solidFill>
                  <a:srgbClr val="FFCB85"/>
                </a:solidFill>
                <a:latin typeface="Poppins Semi-Bold"/>
                <a:ea typeface="Poppins Semi-Bold"/>
                <a:cs typeface="Poppins Semi-Bold"/>
                <a:sym typeface="Poppins Semi-Bold"/>
              </a:rPr>
              <a:t>SomarNumeros</a:t>
            </a:r>
            <a:r>
              <a:rPr lang="en-US" sz="3600" b="1">
                <a:solidFill>
                  <a:srgbClr val="FFFFFF"/>
                </a:solidFill>
                <a:latin typeface="Poppins Semi-Bold"/>
                <a:ea typeface="Poppins Semi-Bold"/>
                <a:cs typeface="Poppins Semi-Bold"/>
                <a:sym typeface="Poppins Semi-Bold"/>
              </a:rPr>
              <a:t>();</a:t>
            </a:r>
          </a:p>
        </p:txBody>
      </p:sp>
      <p:sp>
        <p:nvSpPr>
          <p:cNvPr id="10" name="TextBox 10"/>
          <p:cNvSpPr txBox="1"/>
          <p:nvPr/>
        </p:nvSpPr>
        <p:spPr>
          <a:xfrm>
            <a:off x="164983" y="5229682"/>
            <a:ext cx="7183288" cy="2494407"/>
          </a:xfrm>
          <a:prstGeom prst="rect">
            <a:avLst/>
          </a:prstGeom>
        </p:spPr>
        <p:txBody>
          <a:bodyPr lIns="0" tIns="0" rIns="0" bIns="0" rtlCol="0" anchor="t">
            <a:spAutoFit/>
          </a:bodyPr>
          <a:lstStyle/>
          <a:p>
            <a:pPr algn="l">
              <a:lnSpc>
                <a:spcPts val="6750"/>
              </a:lnSpc>
            </a:pPr>
            <a:r>
              <a:rPr lang="en-US" sz="3600" b="1" spc="2879">
                <a:solidFill>
                  <a:srgbClr val="FFFFFF"/>
                </a:solidFill>
                <a:latin typeface="Poppins Semi-Bold"/>
                <a:ea typeface="Poppins Semi-Bold"/>
                <a:cs typeface="Poppins Semi-Bold"/>
                <a:sym typeface="Poppins Semi-Bold"/>
              </a:rPr>
              <a:t>}</a:t>
            </a:r>
          </a:p>
          <a:p>
            <a:pPr algn="l">
              <a:lnSpc>
                <a:spcPts val="9000"/>
              </a:lnSpc>
            </a:pPr>
            <a:r>
              <a:rPr lang="en-US" sz="3600" b="1">
                <a:solidFill>
                  <a:srgbClr val="3C67BF"/>
                </a:solidFill>
                <a:latin typeface="Poppins Semi-Bold"/>
                <a:ea typeface="Poppins Semi-Bold"/>
                <a:cs typeface="Poppins Semi-Bold"/>
                <a:sym typeface="Poppins Semi-Bold"/>
              </a:rPr>
              <a:t>static void</a:t>
            </a:r>
            <a:r>
              <a:rPr lang="en-US" sz="3600" b="1">
                <a:solidFill>
                  <a:srgbClr val="FFFFFF"/>
                </a:solidFill>
                <a:latin typeface="Poppins Semi-Bold"/>
                <a:ea typeface="Poppins Semi-Bold"/>
                <a:cs typeface="Poppins Semi-Bold"/>
                <a:sym typeface="Poppins Semi-Bold"/>
              </a:rPr>
              <a:t> </a:t>
            </a:r>
            <a:r>
              <a:rPr lang="en-US" sz="3600" b="1">
                <a:solidFill>
                  <a:srgbClr val="FFCB85"/>
                </a:solidFill>
                <a:latin typeface="Poppins Semi-Bold"/>
                <a:ea typeface="Poppins Semi-Bold"/>
                <a:cs typeface="Poppins Semi-Bold"/>
                <a:sym typeface="Poppins Semi-Bold"/>
              </a:rPr>
              <a:t>SomarNumeros</a:t>
            </a:r>
            <a:r>
              <a:rPr lang="en-US" sz="3600" b="1">
                <a:solidFill>
                  <a:srgbClr val="FFFFFF"/>
                </a:solidFill>
                <a:latin typeface="Poppins Semi-Bold"/>
                <a:ea typeface="Poppins Semi-Bold"/>
                <a:cs typeface="Poppins Semi-Bold"/>
                <a:sym typeface="Poppins Semi-Bold"/>
              </a:rPr>
              <a:t>(){</a:t>
            </a:r>
          </a:p>
          <a:p>
            <a:pPr algn="l">
              <a:lnSpc>
                <a:spcPts val="1800"/>
              </a:lnSpc>
            </a:pPr>
            <a:r>
              <a:rPr lang="en-US" sz="3600" b="1">
                <a:solidFill>
                  <a:srgbClr val="FFFFFF"/>
                </a:solidFill>
                <a:latin typeface="Poppins Semi-Bold"/>
                <a:ea typeface="Poppins Semi-Bold"/>
                <a:cs typeface="Poppins Semi-Bold"/>
                <a:sym typeface="Poppins Semi-Bold"/>
              </a:rPr>
              <a:t> </a:t>
            </a:r>
            <a:r>
              <a:rPr lang="en-US" sz="3600" b="1">
                <a:solidFill>
                  <a:srgbClr val="3C67BF"/>
                </a:solidFill>
                <a:latin typeface="Poppins Semi-Bold"/>
                <a:ea typeface="Poppins Semi-Bold"/>
                <a:cs typeface="Poppins Semi-Bold"/>
                <a:sym typeface="Poppins Semi-Bold"/>
              </a:rPr>
              <a:t>int </a:t>
            </a:r>
            <a:r>
              <a:rPr lang="en-US" sz="3600" b="1">
                <a:solidFill>
                  <a:srgbClr val="FFFFFF"/>
                </a:solidFill>
                <a:latin typeface="Poppins Semi-Bold"/>
                <a:ea typeface="Poppins Semi-Bold"/>
                <a:cs typeface="Poppins Semi-Bold"/>
                <a:sym typeface="Poppins Semi-Bold"/>
              </a:rPr>
              <a:t>numero1 = 10;</a:t>
            </a:r>
          </a:p>
        </p:txBody>
      </p:sp>
      <p:sp>
        <p:nvSpPr>
          <p:cNvPr id="11" name="TextBox 11"/>
          <p:cNvSpPr txBox="1"/>
          <p:nvPr/>
        </p:nvSpPr>
        <p:spPr>
          <a:xfrm>
            <a:off x="10900086" y="5339143"/>
            <a:ext cx="116586" cy="718185"/>
          </a:xfrm>
          <a:prstGeom prst="rect">
            <a:avLst/>
          </a:prstGeom>
        </p:spPr>
        <p:txBody>
          <a:bodyPr lIns="0" tIns="0" rIns="0" bIns="0" rtlCol="0" anchor="t">
            <a:spAutoFit/>
          </a:bodyPr>
          <a:lstStyle/>
          <a:p>
            <a:pPr algn="l">
              <a:lnSpc>
                <a:spcPts val="5625"/>
              </a:lnSpc>
            </a:pPr>
            <a:r>
              <a:rPr lang="en-US" sz="3000" b="1" spc="2400">
                <a:solidFill>
                  <a:srgbClr val="FFFFFF"/>
                </a:solidFill>
                <a:latin typeface="Poppins Semi-Bold"/>
                <a:ea typeface="Poppins Semi-Bold"/>
                <a:cs typeface="Poppins Semi-Bold"/>
                <a:sym typeface="Poppins Semi-Bold"/>
              </a:rPr>
              <a:t> </a:t>
            </a:r>
          </a:p>
        </p:txBody>
      </p:sp>
      <p:sp>
        <p:nvSpPr>
          <p:cNvPr id="12" name="TextBox 12"/>
          <p:cNvSpPr txBox="1"/>
          <p:nvPr/>
        </p:nvSpPr>
        <p:spPr>
          <a:xfrm>
            <a:off x="10869225" y="7101268"/>
            <a:ext cx="116586" cy="327660"/>
          </a:xfrm>
          <a:prstGeom prst="rect">
            <a:avLst/>
          </a:prstGeom>
        </p:spPr>
        <p:txBody>
          <a:bodyPr lIns="0" tIns="0" rIns="0" bIns="0" rtlCol="0" anchor="t">
            <a:spAutoFit/>
          </a:bodyPr>
          <a:lstStyle/>
          <a:p>
            <a:pPr algn="l">
              <a:lnSpc>
                <a:spcPts val="1500"/>
              </a:lnSpc>
            </a:pPr>
            <a:r>
              <a:rPr lang="en-US" sz="3000" b="1">
                <a:solidFill>
                  <a:srgbClr val="FF5757"/>
                </a:solidFill>
                <a:latin typeface="Poppins Semi-Bold"/>
                <a:ea typeface="Poppins Semi-Bold"/>
                <a:cs typeface="Poppins Semi-Bold"/>
                <a:sym typeface="Poppins Semi-Bold"/>
              </a:rPr>
              <a:t> </a:t>
            </a:r>
          </a:p>
        </p:txBody>
      </p:sp>
      <p:sp>
        <p:nvSpPr>
          <p:cNvPr id="13" name="TextBox 13"/>
          <p:cNvSpPr txBox="1"/>
          <p:nvPr/>
        </p:nvSpPr>
        <p:spPr>
          <a:xfrm>
            <a:off x="713708" y="7401382"/>
            <a:ext cx="4309605" cy="865632"/>
          </a:xfrm>
          <a:prstGeom prst="rect">
            <a:avLst/>
          </a:prstGeom>
        </p:spPr>
        <p:txBody>
          <a:bodyPr lIns="0" tIns="0" rIns="0" bIns="0" rtlCol="0" anchor="t">
            <a:spAutoFit/>
          </a:bodyPr>
          <a:lstStyle/>
          <a:p>
            <a:pPr algn="l">
              <a:lnSpc>
                <a:spcPts val="6750"/>
              </a:lnSpc>
            </a:pPr>
            <a:r>
              <a:rPr lang="en-US" sz="3600" b="1">
                <a:solidFill>
                  <a:srgbClr val="3C67BF"/>
                </a:solidFill>
                <a:latin typeface="Poppins Semi-Bold"/>
                <a:ea typeface="Poppins Semi-Bold"/>
                <a:cs typeface="Poppins Semi-Bold"/>
                <a:sym typeface="Poppins Semi-Bold"/>
              </a:rPr>
              <a:t>int </a:t>
            </a:r>
            <a:r>
              <a:rPr lang="en-US" sz="3600" b="1">
                <a:solidFill>
                  <a:srgbClr val="FFFFFF"/>
                </a:solidFill>
                <a:latin typeface="Poppins Semi-Bold"/>
                <a:ea typeface="Poppins Semi-Bold"/>
                <a:cs typeface="Poppins Semi-Bold"/>
                <a:sym typeface="Poppins Semi-Bold"/>
              </a:rPr>
              <a:t>numero2 = 20;</a:t>
            </a:r>
          </a:p>
        </p:txBody>
      </p:sp>
      <p:sp>
        <p:nvSpPr>
          <p:cNvPr id="14" name="TextBox 14"/>
          <p:cNvSpPr txBox="1"/>
          <p:nvPr/>
        </p:nvSpPr>
        <p:spPr>
          <a:xfrm>
            <a:off x="164983" y="8411032"/>
            <a:ext cx="8349177" cy="1484757"/>
          </a:xfrm>
          <a:prstGeom prst="rect">
            <a:avLst/>
          </a:prstGeom>
        </p:spPr>
        <p:txBody>
          <a:bodyPr lIns="0" tIns="0" rIns="0" bIns="0" rtlCol="0" anchor="t">
            <a:spAutoFit/>
          </a:bodyPr>
          <a:lstStyle/>
          <a:p>
            <a:pPr algn="l">
              <a:lnSpc>
                <a:spcPts val="1800"/>
              </a:lnSpc>
            </a:pPr>
            <a:r>
              <a:rPr lang="en-US" sz="3600" b="1">
                <a:solidFill>
                  <a:srgbClr val="FFFFFF"/>
                </a:solidFill>
                <a:latin typeface="Poppins Semi-Bold"/>
                <a:ea typeface="Poppins Semi-Bold"/>
                <a:cs typeface="Poppins Semi-Bold"/>
                <a:sym typeface="Poppins Semi-Bold"/>
              </a:rPr>
              <a:t> </a:t>
            </a:r>
            <a:r>
              <a:rPr lang="en-US" sz="3600" b="1">
                <a:solidFill>
                  <a:srgbClr val="3C67BF"/>
                </a:solidFill>
                <a:latin typeface="Poppins Semi-Bold"/>
                <a:ea typeface="Poppins Semi-Bold"/>
                <a:cs typeface="Poppins Semi-Bold"/>
                <a:sym typeface="Poppins Semi-Bold"/>
              </a:rPr>
              <a:t>int </a:t>
            </a:r>
            <a:r>
              <a:rPr lang="en-US" sz="3600" b="1">
                <a:solidFill>
                  <a:srgbClr val="FFFFFF"/>
                </a:solidFill>
                <a:latin typeface="Poppins Semi-Bold"/>
                <a:ea typeface="Poppins Semi-Bold"/>
                <a:cs typeface="Poppins Semi-Bold"/>
                <a:sym typeface="Poppins Semi-Bold"/>
              </a:rPr>
              <a:t>soma = numero1 + numero2;</a:t>
            </a:r>
          </a:p>
          <a:p>
            <a:pPr algn="l">
              <a:lnSpc>
                <a:spcPts val="6750"/>
              </a:lnSpc>
            </a:pPr>
            <a:r>
              <a:rPr lang="en-US" sz="3600" b="1">
                <a:solidFill>
                  <a:srgbClr val="FFFFFF"/>
                </a:solidFill>
                <a:latin typeface="Poppins Semi-Bold"/>
                <a:ea typeface="Poppins Semi-Bold"/>
                <a:cs typeface="Poppins Semi-Bold"/>
                <a:sym typeface="Poppins Semi-Bold"/>
              </a:rPr>
              <a:t> </a:t>
            </a:r>
            <a:r>
              <a:rPr lang="en-US" sz="3600" b="1">
                <a:solidFill>
                  <a:srgbClr val="7ED957"/>
                </a:solidFill>
                <a:latin typeface="Poppins Semi-Bold"/>
                <a:ea typeface="Poppins Semi-Bold"/>
                <a:cs typeface="Poppins Semi-Bold"/>
                <a:sym typeface="Poppins Semi-Bold"/>
              </a:rPr>
              <a:t>Console</a:t>
            </a:r>
            <a:r>
              <a:rPr lang="en-US" sz="3600" b="1">
                <a:solidFill>
                  <a:srgbClr val="FFFFFF"/>
                </a:solidFill>
                <a:latin typeface="Poppins Semi-Bold"/>
                <a:ea typeface="Poppins Semi-Bold"/>
                <a:cs typeface="Poppins Semi-Bold"/>
                <a:sym typeface="Poppins Semi-Bold"/>
              </a:rPr>
              <a:t>.</a:t>
            </a:r>
            <a:r>
              <a:rPr lang="en-US" sz="3600" b="1">
                <a:solidFill>
                  <a:srgbClr val="FFCB85"/>
                </a:solidFill>
                <a:latin typeface="Poppins Semi-Bold"/>
                <a:ea typeface="Poppins Semi-Bold"/>
                <a:cs typeface="Poppins Semi-Bold"/>
                <a:sym typeface="Poppins Semi-Bold"/>
              </a:rPr>
              <a:t>WriteLine</a:t>
            </a:r>
            <a:r>
              <a:rPr lang="en-US" sz="3600" b="1">
                <a:solidFill>
                  <a:srgbClr val="FFFFFF"/>
                </a:solidFill>
                <a:latin typeface="Poppins Semi-Bold"/>
                <a:ea typeface="Poppins Semi-Bold"/>
                <a:cs typeface="Poppins Semi-Bold"/>
                <a:sym typeface="Poppins Semi-Bold"/>
              </a:rPr>
              <a:t>(</a:t>
            </a:r>
            <a:r>
              <a:rPr lang="en-US" sz="3600" b="1">
                <a:solidFill>
                  <a:srgbClr val="FFCB85"/>
                </a:solidFill>
                <a:latin typeface="Poppins Semi-Bold"/>
                <a:ea typeface="Poppins Semi-Bold"/>
                <a:cs typeface="Poppins Semi-Bold"/>
                <a:sym typeface="Poppins Semi-Bold"/>
              </a:rPr>
              <a:t>$"{</a:t>
            </a:r>
            <a:r>
              <a:rPr lang="en-US" sz="3600" b="1">
                <a:solidFill>
                  <a:srgbClr val="FFFFFF"/>
                </a:solidFill>
                <a:latin typeface="Poppins Semi-Bold"/>
                <a:ea typeface="Poppins Semi-Bold"/>
                <a:cs typeface="Poppins Semi-Bold"/>
                <a:sym typeface="Poppins Semi-Bold"/>
              </a:rPr>
              <a:t>soma</a:t>
            </a:r>
            <a:r>
              <a:rPr lang="en-US" sz="3600" b="1">
                <a:solidFill>
                  <a:srgbClr val="FFCB85"/>
                </a:solidFill>
                <a:latin typeface="Poppins Semi-Bold"/>
                <a:ea typeface="Poppins Semi-Bold"/>
                <a:cs typeface="Poppins Semi-Bold"/>
                <a:sym typeface="Poppins Semi-Bold"/>
              </a:rPr>
              <a:t>}"</a:t>
            </a:r>
            <a:r>
              <a:rPr lang="en-US" sz="3600" b="1">
                <a:solidFill>
                  <a:srgbClr val="FFFFFF"/>
                </a:solidFill>
                <a:latin typeface="Poppins Semi-Bold"/>
                <a:ea typeface="Poppins Semi-Bold"/>
                <a:cs typeface="Poppins Semi-Bold"/>
                <a:sym typeface="Poppins Semi-Bold"/>
              </a:rPr>
              <a:t>);</a:t>
            </a:r>
          </a:p>
          <a:p>
            <a:pPr algn="l">
              <a:lnSpc>
                <a:spcPts val="1800"/>
              </a:lnSpc>
            </a:pPr>
            <a:r>
              <a:rPr lang="en-US" sz="3600" b="1">
                <a:solidFill>
                  <a:srgbClr val="FFFFFF"/>
                </a:solidFill>
                <a:latin typeface="Poppins Semi-Bold"/>
                <a:ea typeface="Poppins Semi-Bold"/>
                <a:cs typeface="Poppins Semi-Bold"/>
                <a:sym typeface="Poppins Semi-Bold"/>
              </a:rPr>
              <a:t>}</a:t>
            </a:r>
          </a:p>
        </p:txBody>
      </p:sp>
      <p:sp>
        <p:nvSpPr>
          <p:cNvPr id="15" name="TextBox 15"/>
          <p:cNvSpPr txBox="1"/>
          <p:nvPr/>
        </p:nvSpPr>
        <p:spPr>
          <a:xfrm>
            <a:off x="9988734" y="3700844"/>
            <a:ext cx="7252421" cy="527685"/>
          </a:xfrm>
          <a:prstGeom prst="rect">
            <a:avLst/>
          </a:prstGeom>
        </p:spPr>
        <p:txBody>
          <a:bodyPr lIns="0" tIns="0" rIns="0" bIns="0" rtlCol="0" anchor="t">
            <a:spAutoFit/>
          </a:bodyPr>
          <a:lstStyle/>
          <a:p>
            <a:pPr algn="l">
              <a:lnSpc>
                <a:spcPts val="3600"/>
              </a:lnSpc>
            </a:pPr>
            <a:r>
              <a:rPr lang="en-US" sz="3000" b="1">
                <a:solidFill>
                  <a:srgbClr val="FFFFFF"/>
                </a:solidFill>
                <a:latin typeface="Poppins Semi-Bold"/>
                <a:ea typeface="Poppins Semi-Bold"/>
                <a:cs typeface="Poppins Semi-Bold"/>
                <a:sym typeface="Poppins Semi-Bold"/>
              </a:rPr>
              <a:t>Tenho aqui dois métodos, um que é</a:t>
            </a:r>
          </a:p>
        </p:txBody>
      </p:sp>
      <p:sp>
        <p:nvSpPr>
          <p:cNvPr id="16" name="TextBox 16"/>
          <p:cNvSpPr txBox="1"/>
          <p:nvPr/>
        </p:nvSpPr>
        <p:spPr>
          <a:xfrm>
            <a:off x="9988734" y="4158044"/>
            <a:ext cx="7182860" cy="527685"/>
          </a:xfrm>
          <a:prstGeom prst="rect">
            <a:avLst/>
          </a:prstGeom>
        </p:spPr>
        <p:txBody>
          <a:bodyPr lIns="0" tIns="0" rIns="0" bIns="0" rtlCol="0" anchor="t">
            <a:spAutoFit/>
          </a:bodyPr>
          <a:lstStyle/>
          <a:p>
            <a:pPr algn="l">
              <a:lnSpc>
                <a:spcPts val="3600"/>
              </a:lnSpc>
            </a:pPr>
            <a:r>
              <a:rPr lang="en-US" sz="3000" b="1">
                <a:solidFill>
                  <a:srgbClr val="FFFFFF"/>
                </a:solidFill>
                <a:latin typeface="Poppins Semi-Bold"/>
                <a:ea typeface="Poppins Semi-Bold"/>
                <a:cs typeface="Poppins Semi-Bold"/>
                <a:sym typeface="Poppins Semi-Bold"/>
              </a:rPr>
              <a:t>o principal e outro que é o que criei</a:t>
            </a:r>
          </a:p>
        </p:txBody>
      </p:sp>
      <p:sp>
        <p:nvSpPr>
          <p:cNvPr id="17" name="TextBox 17"/>
          <p:cNvSpPr txBox="1"/>
          <p:nvPr/>
        </p:nvSpPr>
        <p:spPr>
          <a:xfrm>
            <a:off x="9988734" y="4615243"/>
            <a:ext cx="5338467" cy="527685"/>
          </a:xfrm>
          <a:prstGeom prst="rect">
            <a:avLst/>
          </a:prstGeom>
        </p:spPr>
        <p:txBody>
          <a:bodyPr lIns="0" tIns="0" rIns="0" bIns="0" rtlCol="0" anchor="t">
            <a:spAutoFit/>
          </a:bodyPr>
          <a:lstStyle/>
          <a:p>
            <a:pPr algn="l">
              <a:lnSpc>
                <a:spcPts val="3600"/>
              </a:lnSpc>
            </a:pPr>
            <a:r>
              <a:rPr lang="en-US" sz="3000" b="1">
                <a:solidFill>
                  <a:srgbClr val="FFFFFF"/>
                </a:solidFill>
                <a:latin typeface="Poppins Semi-Bold"/>
                <a:ea typeface="Poppins Semi-Bold"/>
                <a:cs typeface="Poppins Semi-Bold"/>
                <a:sym typeface="Poppins Semi-Bold"/>
              </a:rPr>
              <a:t>para somar dois números.</a:t>
            </a:r>
          </a:p>
        </p:txBody>
      </p:sp>
      <p:sp>
        <p:nvSpPr>
          <p:cNvPr id="18" name="TextBox 18"/>
          <p:cNvSpPr txBox="1"/>
          <p:nvPr/>
        </p:nvSpPr>
        <p:spPr>
          <a:xfrm>
            <a:off x="9988734" y="5529643"/>
            <a:ext cx="6371806" cy="527685"/>
          </a:xfrm>
          <a:prstGeom prst="rect">
            <a:avLst/>
          </a:prstGeom>
        </p:spPr>
        <p:txBody>
          <a:bodyPr lIns="0" tIns="0" rIns="0" bIns="0" rtlCol="0" anchor="t">
            <a:spAutoFit/>
          </a:bodyPr>
          <a:lstStyle/>
          <a:p>
            <a:pPr algn="l">
              <a:lnSpc>
                <a:spcPts val="3600"/>
              </a:lnSpc>
            </a:pPr>
            <a:r>
              <a:rPr lang="en-US" sz="3000" b="1">
                <a:solidFill>
                  <a:srgbClr val="FFFFFF"/>
                </a:solidFill>
                <a:latin typeface="Poppins Semi-Bold"/>
                <a:ea typeface="Poppins Semi-Bold"/>
                <a:cs typeface="Poppins Semi-Bold"/>
                <a:sym typeface="Poppins Semi-Bold"/>
              </a:rPr>
              <a:t>Para executar o método que eu</a:t>
            </a:r>
          </a:p>
        </p:txBody>
      </p:sp>
      <p:sp>
        <p:nvSpPr>
          <p:cNvPr id="19" name="TextBox 19"/>
          <p:cNvSpPr txBox="1"/>
          <p:nvPr/>
        </p:nvSpPr>
        <p:spPr>
          <a:xfrm>
            <a:off x="9988734" y="5986843"/>
            <a:ext cx="6404448" cy="527685"/>
          </a:xfrm>
          <a:prstGeom prst="rect">
            <a:avLst/>
          </a:prstGeom>
        </p:spPr>
        <p:txBody>
          <a:bodyPr lIns="0" tIns="0" rIns="0" bIns="0" rtlCol="0" anchor="t">
            <a:spAutoFit/>
          </a:bodyPr>
          <a:lstStyle/>
          <a:p>
            <a:pPr algn="l">
              <a:lnSpc>
                <a:spcPts val="3600"/>
              </a:lnSpc>
            </a:pPr>
            <a:r>
              <a:rPr lang="en-US" sz="3000" b="1">
                <a:solidFill>
                  <a:srgbClr val="FFFFFF"/>
                </a:solidFill>
                <a:latin typeface="Poppins Semi-Bold"/>
                <a:ea typeface="Poppins Semi-Bold"/>
                <a:cs typeface="Poppins Semi-Bold"/>
                <a:sym typeface="Poppins Semi-Bold"/>
              </a:rPr>
              <a:t>criei, devo fazer dessa maneira.</a:t>
            </a:r>
          </a:p>
        </p:txBody>
      </p:sp>
      <p:sp>
        <p:nvSpPr>
          <p:cNvPr id="20" name="TextBox 20"/>
          <p:cNvSpPr txBox="1"/>
          <p:nvPr/>
        </p:nvSpPr>
        <p:spPr>
          <a:xfrm>
            <a:off x="9988734" y="6901243"/>
            <a:ext cx="7183250" cy="527685"/>
          </a:xfrm>
          <a:prstGeom prst="rect">
            <a:avLst/>
          </a:prstGeom>
        </p:spPr>
        <p:txBody>
          <a:bodyPr lIns="0" tIns="0" rIns="0" bIns="0" rtlCol="0" anchor="t">
            <a:spAutoFit/>
          </a:bodyPr>
          <a:lstStyle/>
          <a:p>
            <a:pPr algn="l">
              <a:lnSpc>
                <a:spcPts val="3600"/>
              </a:lnSpc>
            </a:pPr>
            <a:r>
              <a:rPr lang="en-US" sz="3000" b="1">
                <a:solidFill>
                  <a:srgbClr val="FF5757"/>
                </a:solidFill>
                <a:latin typeface="Poppins Semi-Bold"/>
                <a:ea typeface="Poppins Semi-Bold"/>
                <a:cs typeface="Poppins Semi-Bold"/>
                <a:sym typeface="Poppins Semi-Bold"/>
              </a:rPr>
              <a:t>Vale</a:t>
            </a:r>
            <a:r>
              <a:rPr lang="en-US" sz="3000" b="1">
                <a:solidFill>
                  <a:srgbClr val="FFFFFF"/>
                </a:solidFill>
                <a:latin typeface="Poppins Semi-Bold"/>
                <a:ea typeface="Poppins Semi-Bold"/>
                <a:cs typeface="Poppins Semi-Bold"/>
                <a:sym typeface="Poppins Semi-Bold"/>
              </a:rPr>
              <a:t> </a:t>
            </a:r>
            <a:r>
              <a:rPr lang="en-US" sz="3000" b="1">
                <a:solidFill>
                  <a:srgbClr val="FF5757"/>
                </a:solidFill>
                <a:latin typeface="Poppins Semi-Bold"/>
                <a:ea typeface="Poppins Semi-Bold"/>
                <a:cs typeface="Poppins Semi-Bold"/>
                <a:sym typeface="Poppins Semi-Bold"/>
              </a:rPr>
              <a:t>lembrar</a:t>
            </a:r>
            <a:r>
              <a:rPr lang="en-US" sz="3000" b="1">
                <a:solidFill>
                  <a:srgbClr val="FFFFFF"/>
                </a:solidFill>
                <a:latin typeface="Poppins Semi-Bold"/>
                <a:ea typeface="Poppins Semi-Bold"/>
                <a:cs typeface="Poppins Semi-Bold"/>
                <a:sym typeface="Poppins Semi-Bold"/>
              </a:rPr>
              <a:t> </a:t>
            </a:r>
            <a:r>
              <a:rPr lang="en-US" sz="3000" b="1">
                <a:solidFill>
                  <a:srgbClr val="FF5757"/>
                </a:solidFill>
                <a:latin typeface="Poppins Semi-Bold"/>
                <a:ea typeface="Poppins Semi-Bold"/>
                <a:cs typeface="Poppins Semi-Bold"/>
                <a:sym typeface="Poppins Semi-Bold"/>
              </a:rPr>
              <a:t>que</a:t>
            </a:r>
            <a:r>
              <a:rPr lang="en-US" sz="3000" b="1">
                <a:solidFill>
                  <a:srgbClr val="FFFFFF"/>
                </a:solidFill>
                <a:latin typeface="Poppins Semi-Bold"/>
                <a:ea typeface="Poppins Semi-Bold"/>
                <a:cs typeface="Poppins Semi-Bold"/>
                <a:sym typeface="Poppins Semi-Bold"/>
              </a:rPr>
              <a:t> </a:t>
            </a:r>
            <a:r>
              <a:rPr lang="en-US" sz="3000" b="1">
                <a:solidFill>
                  <a:srgbClr val="FF5757"/>
                </a:solidFill>
                <a:latin typeface="Poppins Semi-Bold"/>
                <a:ea typeface="Poppins Semi-Bold"/>
                <a:cs typeface="Poppins Semi-Bold"/>
                <a:sym typeface="Poppins Semi-Bold"/>
              </a:rPr>
              <a:t>o</a:t>
            </a:r>
            <a:r>
              <a:rPr lang="en-US" sz="3000" b="1">
                <a:solidFill>
                  <a:srgbClr val="FFFFFF"/>
                </a:solidFill>
                <a:latin typeface="Poppins Semi-Bold"/>
                <a:ea typeface="Poppins Semi-Bold"/>
                <a:cs typeface="Poppins Semi-Bold"/>
                <a:sym typeface="Poppins Semi-Bold"/>
              </a:rPr>
              <a:t> </a:t>
            </a:r>
            <a:r>
              <a:rPr lang="en-US" sz="3000" b="1">
                <a:solidFill>
                  <a:srgbClr val="FF5757"/>
                </a:solidFill>
                <a:latin typeface="Poppins Semi-Bold"/>
                <a:ea typeface="Poppins Semi-Bold"/>
                <a:cs typeface="Poppins Semi-Bold"/>
                <a:sym typeface="Poppins Semi-Bold"/>
              </a:rPr>
              <a:t>método</a:t>
            </a:r>
            <a:r>
              <a:rPr lang="en-US" sz="3000" b="1">
                <a:solidFill>
                  <a:srgbClr val="FFFFFF"/>
                </a:solidFill>
                <a:latin typeface="Poppins Semi-Bold"/>
                <a:ea typeface="Poppins Semi-Bold"/>
                <a:cs typeface="Poppins Semi-Bold"/>
                <a:sym typeface="Poppins Semi-Bold"/>
              </a:rPr>
              <a:t> </a:t>
            </a:r>
            <a:r>
              <a:rPr lang="en-US" sz="3000" b="1">
                <a:solidFill>
                  <a:srgbClr val="FF5757"/>
                </a:solidFill>
                <a:latin typeface="Poppins Semi-Bold"/>
                <a:ea typeface="Poppins Semi-Bold"/>
                <a:cs typeface="Poppins Semi-Bold"/>
                <a:sym typeface="Poppins Semi-Bold"/>
              </a:rPr>
              <a:t>precisa</a:t>
            </a:r>
          </a:p>
        </p:txBody>
      </p:sp>
      <p:sp>
        <p:nvSpPr>
          <p:cNvPr id="21" name="TextBox 21"/>
          <p:cNvSpPr txBox="1"/>
          <p:nvPr/>
        </p:nvSpPr>
        <p:spPr>
          <a:xfrm>
            <a:off x="9988734" y="7358443"/>
            <a:ext cx="5556485" cy="527685"/>
          </a:xfrm>
          <a:prstGeom prst="rect">
            <a:avLst/>
          </a:prstGeom>
        </p:spPr>
        <p:txBody>
          <a:bodyPr lIns="0" tIns="0" rIns="0" bIns="0" rtlCol="0" anchor="t">
            <a:spAutoFit/>
          </a:bodyPr>
          <a:lstStyle/>
          <a:p>
            <a:pPr algn="l">
              <a:lnSpc>
                <a:spcPts val="3600"/>
              </a:lnSpc>
            </a:pPr>
            <a:r>
              <a:rPr lang="en-US" sz="3000" b="1">
                <a:solidFill>
                  <a:srgbClr val="FF5757"/>
                </a:solidFill>
                <a:latin typeface="Poppins Semi-Bold"/>
                <a:ea typeface="Poppins Semi-Bold"/>
                <a:cs typeface="Poppins Semi-Bold"/>
                <a:sym typeface="Poppins Semi-Bold"/>
              </a:rPr>
              <a:t>existir</a:t>
            </a:r>
            <a:r>
              <a:rPr lang="en-US" sz="3000" b="1">
                <a:solidFill>
                  <a:srgbClr val="FFFFFF"/>
                </a:solidFill>
                <a:latin typeface="Poppins Semi-Bold"/>
                <a:ea typeface="Poppins Semi-Bold"/>
                <a:cs typeface="Poppins Semi-Bold"/>
                <a:sym typeface="Poppins Semi-Bold"/>
              </a:rPr>
              <a:t> </a:t>
            </a:r>
            <a:r>
              <a:rPr lang="en-US" sz="3000" b="1">
                <a:solidFill>
                  <a:srgbClr val="FF5757"/>
                </a:solidFill>
                <a:latin typeface="Poppins Semi-Bold"/>
                <a:ea typeface="Poppins Semi-Bold"/>
                <a:cs typeface="Poppins Semi-Bold"/>
                <a:sym typeface="Poppins Semi-Bold"/>
              </a:rPr>
              <a:t>para</a:t>
            </a:r>
            <a:r>
              <a:rPr lang="en-US" sz="3000" b="1">
                <a:solidFill>
                  <a:srgbClr val="FFFFFF"/>
                </a:solidFill>
                <a:latin typeface="Poppins Semi-Bold"/>
                <a:ea typeface="Poppins Semi-Bold"/>
                <a:cs typeface="Poppins Semi-Bold"/>
                <a:sym typeface="Poppins Semi-Bold"/>
              </a:rPr>
              <a:t> </a:t>
            </a:r>
            <a:r>
              <a:rPr lang="en-US" sz="3000" b="1">
                <a:solidFill>
                  <a:srgbClr val="FF5757"/>
                </a:solidFill>
                <a:latin typeface="Poppins Semi-Bold"/>
                <a:ea typeface="Poppins Semi-Bold"/>
                <a:cs typeface="Poppins Semi-Bold"/>
                <a:sym typeface="Poppins Semi-Bold"/>
              </a:rPr>
              <a:t>ser</a:t>
            </a:r>
            <a:r>
              <a:rPr lang="en-US" sz="3000" b="1">
                <a:solidFill>
                  <a:srgbClr val="FFFFFF"/>
                </a:solidFill>
                <a:latin typeface="Poppins Semi-Bold"/>
                <a:ea typeface="Poppins Semi-Bold"/>
                <a:cs typeface="Poppins Semi-Bold"/>
                <a:sym typeface="Poppins Semi-Bold"/>
              </a:rPr>
              <a:t> </a:t>
            </a:r>
            <a:r>
              <a:rPr lang="en-US" sz="3000" b="1">
                <a:solidFill>
                  <a:srgbClr val="FF5757"/>
                </a:solidFill>
                <a:latin typeface="Poppins Semi-Bold"/>
                <a:ea typeface="Poppins Semi-Bold"/>
                <a:cs typeface="Poppins Semi-Bold"/>
                <a:sym typeface="Poppins Semi-Bold"/>
              </a:rPr>
              <a:t>chamado!!!</a:t>
            </a: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5646239" y="324326"/>
            <a:ext cx="713520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Métodos/Funções</a:t>
            </a:r>
          </a:p>
        </p:txBody>
      </p:sp>
      <p:sp>
        <p:nvSpPr>
          <p:cNvPr id="3" name="TextBox 3"/>
          <p:cNvSpPr txBox="1"/>
          <p:nvPr/>
        </p:nvSpPr>
        <p:spPr>
          <a:xfrm>
            <a:off x="164983" y="2638015"/>
            <a:ext cx="18045103" cy="6480429"/>
          </a:xfrm>
          <a:prstGeom prst="rect">
            <a:avLst/>
          </a:prstGeom>
        </p:spPr>
        <p:txBody>
          <a:bodyPr lIns="0" tIns="0" rIns="0" bIns="0" rtlCol="0" anchor="t">
            <a:spAutoFit/>
          </a:bodyPr>
          <a:lstStyle/>
          <a:p>
            <a:pPr algn="l">
              <a:lnSpc>
                <a:spcPts val="5023"/>
              </a:lnSpc>
            </a:pPr>
            <a:r>
              <a:rPr lang="en-US" sz="4200" b="1">
                <a:solidFill>
                  <a:srgbClr val="FFFFFF"/>
                </a:solidFill>
                <a:latin typeface="Poppins Semi-Bold"/>
                <a:ea typeface="Poppins Semi-Bold"/>
                <a:cs typeface="Poppins Semi-Bold"/>
                <a:sym typeface="Poppins Semi-Bold"/>
              </a:rPr>
              <a:t>O </a:t>
            </a:r>
            <a:r>
              <a:rPr lang="en-US" sz="4200" b="1">
                <a:solidFill>
                  <a:srgbClr val="FF5757"/>
                </a:solidFill>
                <a:latin typeface="Poppins Semi-Bold"/>
                <a:ea typeface="Poppins Semi-Bold"/>
                <a:cs typeface="Poppins Semi-Bold"/>
                <a:sym typeface="Poppins Semi-Bold"/>
              </a:rPr>
              <a:t>tipo de retorno</a:t>
            </a:r>
            <a:r>
              <a:rPr lang="en-US" sz="4200" b="1">
                <a:solidFill>
                  <a:srgbClr val="FFFFFF"/>
                </a:solidFill>
                <a:latin typeface="Poppins Semi-Bold"/>
                <a:ea typeface="Poppins Semi-Bold"/>
                <a:cs typeface="Poppins Semi-Bold"/>
                <a:sym typeface="Poppins Semi-Bold"/>
              </a:rPr>
              <a:t> é o tipo de valor que o método deve retornar. Você pode perceber que o comando que aparece é o </a:t>
            </a:r>
            <a:r>
              <a:rPr lang="en-US" sz="4200" b="1">
                <a:solidFill>
                  <a:srgbClr val="3C67BF"/>
                </a:solidFill>
                <a:latin typeface="Poppins Semi-Bold"/>
                <a:ea typeface="Poppins Semi-Bold"/>
                <a:cs typeface="Poppins Semi-Bold"/>
                <a:sym typeface="Poppins Semi-Bold"/>
              </a:rPr>
              <a:t>void</a:t>
            </a:r>
            <a:r>
              <a:rPr lang="en-US" sz="4200" b="1">
                <a:solidFill>
                  <a:srgbClr val="FFFFFF"/>
                </a:solidFill>
                <a:latin typeface="Poppins Semi-Bold"/>
                <a:ea typeface="Poppins Semi-Bold"/>
                <a:cs typeface="Poppins Semi-Bold"/>
                <a:sym typeface="Poppins Semi-Bold"/>
              </a:rPr>
              <a:t>. </a:t>
            </a:r>
            <a:r>
              <a:rPr lang="en-US" sz="4200" b="1">
                <a:solidFill>
                  <a:srgbClr val="3C67BF"/>
                </a:solidFill>
                <a:latin typeface="Poppins Semi-Bold"/>
                <a:ea typeface="Poppins Semi-Bold"/>
                <a:cs typeface="Poppins Semi-Bold"/>
                <a:sym typeface="Poppins Semi-Bold"/>
              </a:rPr>
              <a:t>void </a:t>
            </a:r>
            <a:r>
              <a:rPr lang="en-US" sz="4200" b="1">
                <a:solidFill>
                  <a:srgbClr val="FFFFFF"/>
                </a:solidFill>
                <a:latin typeface="Poppins Semi-Bold"/>
                <a:ea typeface="Poppins Semi-Bold"/>
                <a:cs typeface="Poppins Semi-Bold"/>
                <a:sym typeface="Poppins Semi-Bold"/>
              </a:rPr>
              <a:t>significa que o método não tem retorno, ou seja, não tem um valor a ser retornado no bloco de código. Por padrão o método principal </a:t>
            </a:r>
            <a:r>
              <a:rPr lang="en-US" sz="4200" b="1">
                <a:solidFill>
                  <a:srgbClr val="FFCB85"/>
                </a:solidFill>
                <a:latin typeface="Poppins Semi-Bold"/>
                <a:ea typeface="Poppins Semi-Bold"/>
                <a:cs typeface="Poppins Semi-Bold"/>
                <a:sym typeface="Poppins Semi-Bold"/>
              </a:rPr>
              <a:t>Main </a:t>
            </a:r>
            <a:r>
              <a:rPr lang="en-US" sz="4200" b="1">
                <a:solidFill>
                  <a:srgbClr val="FFFFFF"/>
                </a:solidFill>
                <a:latin typeface="Poppins Semi-Bold"/>
                <a:ea typeface="Poppins Semi-Bold"/>
                <a:cs typeface="Poppins Semi-Bold"/>
                <a:sym typeface="Poppins Semi-Bold"/>
              </a:rPr>
              <a:t>não tem retornos. Os tipos que você pode colocar em um método são os mesmos que vocês podem colocar em variáveis, exemplo: int, string, double e etc.</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5646239" y="324326"/>
            <a:ext cx="713520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Métodos/Funções</a:t>
            </a:r>
          </a:p>
        </p:txBody>
      </p:sp>
      <p:sp>
        <p:nvSpPr>
          <p:cNvPr id="3" name="TextBox 3"/>
          <p:cNvSpPr txBox="1"/>
          <p:nvPr/>
        </p:nvSpPr>
        <p:spPr>
          <a:xfrm>
            <a:off x="164983" y="1990277"/>
            <a:ext cx="18101043" cy="7773543"/>
          </a:xfrm>
          <a:prstGeom prst="rect">
            <a:avLst/>
          </a:prstGeom>
        </p:spPr>
        <p:txBody>
          <a:bodyPr lIns="0" tIns="0" rIns="0" bIns="0" rtlCol="0" anchor="t">
            <a:spAutoFit/>
          </a:bodyPr>
          <a:lstStyle/>
          <a:p>
            <a:pPr algn="l">
              <a:lnSpc>
                <a:spcPts val="4648"/>
              </a:lnSpc>
            </a:pPr>
            <a:r>
              <a:rPr lang="en-US" sz="3900" b="1">
                <a:solidFill>
                  <a:srgbClr val="FFFFFF"/>
                </a:solidFill>
                <a:latin typeface="Poppins Semi-Bold"/>
                <a:ea typeface="Poppins Semi-Bold"/>
                <a:cs typeface="Poppins Semi-Bold"/>
                <a:sym typeface="Poppins Semi-Bold"/>
              </a:rPr>
              <a:t>No exemplo anterior de somar dois números você pode perceber também que não houve retornos e que o tipo foi definido como void.</a:t>
            </a:r>
          </a:p>
          <a:p>
            <a:pPr algn="l">
              <a:lnSpc>
                <a:spcPts val="9750"/>
              </a:lnSpc>
            </a:pPr>
            <a:r>
              <a:rPr lang="en-US" sz="3900" b="1">
                <a:solidFill>
                  <a:srgbClr val="3C67BF"/>
                </a:solidFill>
                <a:latin typeface="Poppins Semi-Bold"/>
                <a:ea typeface="Poppins Semi-Bold"/>
                <a:cs typeface="Poppins Semi-Bold"/>
                <a:sym typeface="Poppins Semi-Bold"/>
              </a:rPr>
              <a:t>static void</a:t>
            </a:r>
            <a:r>
              <a:rPr lang="en-US" sz="3900" b="1">
                <a:solidFill>
                  <a:srgbClr val="FFFFFF"/>
                </a:solidFill>
                <a:latin typeface="Poppins Semi-Bold"/>
                <a:ea typeface="Poppins Semi-Bold"/>
                <a:cs typeface="Poppins Semi-Bold"/>
                <a:sym typeface="Poppins Semi-Bold"/>
              </a:rPr>
              <a:t> </a:t>
            </a:r>
            <a:r>
              <a:rPr lang="en-US" sz="3900" b="1">
                <a:solidFill>
                  <a:srgbClr val="FFCB85"/>
                </a:solidFill>
                <a:latin typeface="Poppins Semi-Bold"/>
                <a:ea typeface="Poppins Semi-Bold"/>
                <a:cs typeface="Poppins Semi-Bold"/>
                <a:sym typeface="Poppins Semi-Bold"/>
              </a:rPr>
              <a:t>Main</a:t>
            </a:r>
            <a:r>
              <a:rPr lang="en-US" sz="3900" b="1">
                <a:solidFill>
                  <a:srgbClr val="FFFFFF"/>
                </a:solidFill>
                <a:latin typeface="Poppins Semi-Bold"/>
                <a:ea typeface="Poppins Semi-Bold"/>
                <a:cs typeface="Poppins Semi-Bold"/>
                <a:sym typeface="Poppins Semi-Bold"/>
              </a:rPr>
              <a:t>(</a:t>
            </a:r>
            <a:r>
              <a:rPr lang="en-US" sz="3900" b="1">
                <a:solidFill>
                  <a:srgbClr val="3C67BF"/>
                </a:solidFill>
                <a:latin typeface="Poppins Semi-Bold"/>
                <a:ea typeface="Poppins Semi-Bold"/>
                <a:cs typeface="Poppins Semi-Bold"/>
                <a:sym typeface="Poppins Semi-Bold"/>
              </a:rPr>
              <a:t>string[]</a:t>
            </a:r>
            <a:r>
              <a:rPr lang="en-US" sz="3900" b="1">
                <a:solidFill>
                  <a:srgbClr val="FFFFFF"/>
                </a:solidFill>
                <a:latin typeface="Poppins Semi-Bold"/>
                <a:ea typeface="Poppins Semi-Bold"/>
                <a:cs typeface="Poppins Semi-Bold"/>
                <a:sym typeface="Poppins Semi-Bold"/>
              </a:rPr>
              <a:t> args){</a:t>
            </a:r>
          </a:p>
          <a:p>
            <a:pPr algn="l">
              <a:lnSpc>
                <a:spcPts val="1950"/>
              </a:lnSpc>
            </a:pPr>
            <a:r>
              <a:rPr lang="en-US" sz="3900" b="1">
                <a:solidFill>
                  <a:srgbClr val="FFFFFF"/>
                </a:solidFill>
                <a:latin typeface="Poppins Semi-Bold"/>
                <a:ea typeface="Poppins Semi-Bold"/>
                <a:cs typeface="Poppins Semi-Bold"/>
                <a:sym typeface="Poppins Semi-Bold"/>
              </a:rPr>
              <a:t> </a:t>
            </a:r>
            <a:r>
              <a:rPr lang="en-US" sz="3900" b="1">
                <a:solidFill>
                  <a:srgbClr val="FFCB85"/>
                </a:solidFill>
                <a:latin typeface="Poppins Semi-Bold"/>
                <a:ea typeface="Poppins Semi-Bold"/>
                <a:cs typeface="Poppins Semi-Bold"/>
                <a:sym typeface="Poppins Semi-Bold"/>
              </a:rPr>
              <a:t>SomarNumeros</a:t>
            </a:r>
            <a:r>
              <a:rPr lang="en-US" sz="3900" b="1">
                <a:solidFill>
                  <a:srgbClr val="FFFFFF"/>
                </a:solidFill>
                <a:latin typeface="Poppins Semi-Bold"/>
                <a:ea typeface="Poppins Semi-Bold"/>
                <a:cs typeface="Poppins Semi-Bold"/>
                <a:sym typeface="Poppins Semi-Bold"/>
              </a:rPr>
              <a:t>();</a:t>
            </a:r>
          </a:p>
          <a:p>
            <a:pPr algn="l">
              <a:lnSpc>
                <a:spcPts val="9149"/>
              </a:lnSpc>
            </a:pPr>
            <a:r>
              <a:rPr lang="en-US" sz="3900" b="1">
                <a:solidFill>
                  <a:srgbClr val="FFFFFF"/>
                </a:solidFill>
                <a:latin typeface="Poppins Semi-Bold"/>
                <a:ea typeface="Poppins Semi-Bold"/>
                <a:cs typeface="Poppins Semi-Bold"/>
                <a:sym typeface="Poppins Semi-Bold"/>
              </a:rPr>
              <a:t>}</a:t>
            </a:r>
          </a:p>
          <a:p>
            <a:pPr algn="l">
              <a:lnSpc>
                <a:spcPts val="7651"/>
              </a:lnSpc>
            </a:pPr>
            <a:r>
              <a:rPr lang="en-US" sz="3900" b="1">
                <a:solidFill>
                  <a:srgbClr val="3C67BF"/>
                </a:solidFill>
                <a:latin typeface="Poppins Semi-Bold"/>
                <a:ea typeface="Poppins Semi-Bold"/>
                <a:cs typeface="Poppins Semi-Bold"/>
                <a:sym typeface="Poppins Semi-Bold"/>
              </a:rPr>
              <a:t>static void</a:t>
            </a:r>
            <a:r>
              <a:rPr lang="en-US" sz="3900" b="1">
                <a:solidFill>
                  <a:srgbClr val="FFFFFF"/>
                </a:solidFill>
                <a:latin typeface="Poppins Semi-Bold"/>
                <a:ea typeface="Poppins Semi-Bold"/>
                <a:cs typeface="Poppins Semi-Bold"/>
                <a:sym typeface="Poppins Semi-Bold"/>
              </a:rPr>
              <a:t> </a:t>
            </a:r>
            <a:r>
              <a:rPr lang="en-US" sz="3900" b="1">
                <a:solidFill>
                  <a:srgbClr val="FFCB85"/>
                </a:solidFill>
                <a:latin typeface="Poppins Semi-Bold"/>
                <a:ea typeface="Poppins Semi-Bold"/>
                <a:cs typeface="Poppins Semi-Bold"/>
                <a:sym typeface="Poppins Semi-Bold"/>
              </a:rPr>
              <a:t>SomarNumeros</a:t>
            </a:r>
            <a:r>
              <a:rPr lang="en-US" sz="3900" b="1">
                <a:solidFill>
                  <a:srgbClr val="FFFFFF"/>
                </a:solidFill>
                <a:latin typeface="Poppins Semi-Bold"/>
                <a:ea typeface="Poppins Semi-Bold"/>
                <a:cs typeface="Poppins Semi-Bold"/>
                <a:sym typeface="Poppins Semi-Bold"/>
              </a:rPr>
              <a:t>(){</a:t>
            </a:r>
          </a:p>
          <a:p>
            <a:pPr algn="l">
              <a:lnSpc>
                <a:spcPts val="4348"/>
              </a:lnSpc>
            </a:pPr>
            <a:r>
              <a:rPr lang="en-US" sz="3900" b="1">
                <a:solidFill>
                  <a:srgbClr val="FFFFFF"/>
                </a:solidFill>
                <a:latin typeface="Poppins Semi-Bold"/>
                <a:ea typeface="Poppins Semi-Bold"/>
                <a:cs typeface="Poppins Semi-Bold"/>
                <a:sym typeface="Poppins Semi-Bold"/>
              </a:rPr>
              <a:t> </a:t>
            </a:r>
            <a:r>
              <a:rPr lang="en-US" sz="3900" b="1">
                <a:solidFill>
                  <a:srgbClr val="3C67BF"/>
                </a:solidFill>
                <a:latin typeface="Poppins Semi-Bold"/>
                <a:ea typeface="Poppins Semi-Bold"/>
                <a:cs typeface="Poppins Semi-Bold"/>
                <a:sym typeface="Poppins Semi-Bold"/>
              </a:rPr>
              <a:t>int </a:t>
            </a:r>
            <a:r>
              <a:rPr lang="en-US" sz="3900" b="1">
                <a:solidFill>
                  <a:srgbClr val="FFFFFF"/>
                </a:solidFill>
                <a:latin typeface="Poppins Semi-Bold"/>
                <a:ea typeface="Poppins Semi-Bold"/>
                <a:cs typeface="Poppins Semi-Bold"/>
                <a:sym typeface="Poppins Semi-Bold"/>
              </a:rPr>
              <a:t>numero1 = 10;</a:t>
            </a:r>
          </a:p>
          <a:p>
            <a:pPr algn="l">
              <a:lnSpc>
                <a:spcPts val="2250"/>
              </a:lnSpc>
            </a:pPr>
            <a:r>
              <a:rPr lang="en-US" sz="3900" b="1">
                <a:solidFill>
                  <a:srgbClr val="FFFFFF"/>
                </a:solidFill>
                <a:latin typeface="Poppins Semi-Bold"/>
                <a:ea typeface="Poppins Semi-Bold"/>
                <a:cs typeface="Poppins Semi-Bold"/>
                <a:sym typeface="Poppins Semi-Bold"/>
              </a:rPr>
              <a:t> </a:t>
            </a:r>
            <a:r>
              <a:rPr lang="en-US" sz="3900" b="1">
                <a:solidFill>
                  <a:srgbClr val="3C67BF"/>
                </a:solidFill>
                <a:latin typeface="Poppins Semi-Bold"/>
                <a:ea typeface="Poppins Semi-Bold"/>
                <a:cs typeface="Poppins Semi-Bold"/>
                <a:sym typeface="Poppins Semi-Bold"/>
              </a:rPr>
              <a:t>int </a:t>
            </a:r>
            <a:r>
              <a:rPr lang="en-US" sz="3900" b="1">
                <a:solidFill>
                  <a:srgbClr val="FFFFFF"/>
                </a:solidFill>
                <a:latin typeface="Poppins Semi-Bold"/>
                <a:ea typeface="Poppins Semi-Bold"/>
                <a:cs typeface="Poppins Semi-Bold"/>
                <a:sym typeface="Poppins Semi-Bold"/>
              </a:rPr>
              <a:t>numero2 = 20;</a:t>
            </a:r>
          </a:p>
          <a:p>
            <a:pPr algn="l">
              <a:lnSpc>
                <a:spcPts val="7051"/>
              </a:lnSpc>
            </a:pPr>
            <a:r>
              <a:rPr lang="en-US" sz="3900" b="1">
                <a:solidFill>
                  <a:srgbClr val="FFFFFF"/>
                </a:solidFill>
                <a:latin typeface="Poppins Semi-Bold"/>
                <a:ea typeface="Poppins Semi-Bold"/>
                <a:cs typeface="Poppins Semi-Bold"/>
                <a:sym typeface="Poppins Semi-Bold"/>
              </a:rPr>
              <a:t> </a:t>
            </a:r>
            <a:r>
              <a:rPr lang="en-US" sz="3900" b="1">
                <a:solidFill>
                  <a:srgbClr val="3C67BF"/>
                </a:solidFill>
                <a:latin typeface="Poppins Semi-Bold"/>
                <a:ea typeface="Poppins Semi-Bold"/>
                <a:cs typeface="Poppins Semi-Bold"/>
                <a:sym typeface="Poppins Semi-Bold"/>
              </a:rPr>
              <a:t>int </a:t>
            </a:r>
            <a:r>
              <a:rPr lang="en-US" sz="3900" b="1">
                <a:solidFill>
                  <a:srgbClr val="FFFFFF"/>
                </a:solidFill>
                <a:latin typeface="Poppins Semi-Bold"/>
                <a:ea typeface="Poppins Semi-Bold"/>
                <a:cs typeface="Poppins Semi-Bold"/>
                <a:sym typeface="Poppins Semi-Bold"/>
              </a:rPr>
              <a:t>soma = numero1 + numero2;</a:t>
            </a:r>
          </a:p>
          <a:p>
            <a:pPr algn="l">
              <a:lnSpc>
                <a:spcPts val="2250"/>
              </a:lnSpc>
            </a:pPr>
            <a:r>
              <a:rPr lang="en-US" sz="3900" b="1">
                <a:solidFill>
                  <a:srgbClr val="FFFFFF"/>
                </a:solidFill>
                <a:latin typeface="Poppins Semi-Bold"/>
                <a:ea typeface="Poppins Semi-Bold"/>
                <a:cs typeface="Poppins Semi-Bold"/>
                <a:sym typeface="Poppins Semi-Bold"/>
              </a:rPr>
              <a:t> </a:t>
            </a:r>
            <a:r>
              <a:rPr lang="en-US" sz="3900" b="1">
                <a:solidFill>
                  <a:srgbClr val="7ED957"/>
                </a:solidFill>
                <a:latin typeface="Poppins Semi-Bold"/>
                <a:ea typeface="Poppins Semi-Bold"/>
                <a:cs typeface="Poppins Semi-Bold"/>
                <a:sym typeface="Poppins Semi-Bold"/>
              </a:rPr>
              <a:t>Console</a:t>
            </a:r>
            <a:r>
              <a:rPr lang="en-US" sz="3900" b="1">
                <a:solidFill>
                  <a:srgbClr val="FFFFFF"/>
                </a:solidFill>
                <a:latin typeface="Poppins Semi-Bold"/>
                <a:ea typeface="Poppins Semi-Bold"/>
                <a:cs typeface="Poppins Semi-Bold"/>
                <a:sym typeface="Poppins Semi-Bold"/>
              </a:rPr>
              <a:t>.</a:t>
            </a:r>
            <a:r>
              <a:rPr lang="en-US" sz="3900" b="1">
                <a:solidFill>
                  <a:srgbClr val="FFCB85"/>
                </a:solidFill>
                <a:latin typeface="Poppins Semi-Bold"/>
                <a:ea typeface="Poppins Semi-Bold"/>
                <a:cs typeface="Poppins Semi-Bold"/>
                <a:sym typeface="Poppins Semi-Bold"/>
              </a:rPr>
              <a:t>WriteLine</a:t>
            </a:r>
            <a:r>
              <a:rPr lang="en-US" sz="3900" b="1">
                <a:solidFill>
                  <a:srgbClr val="FFFFFF"/>
                </a:solidFill>
                <a:latin typeface="Poppins Semi-Bold"/>
                <a:ea typeface="Poppins Semi-Bold"/>
                <a:cs typeface="Poppins Semi-Bold"/>
                <a:sym typeface="Poppins Semi-Bold"/>
              </a:rPr>
              <a:t>(</a:t>
            </a:r>
            <a:r>
              <a:rPr lang="en-US" sz="3900" b="1">
                <a:solidFill>
                  <a:srgbClr val="FFCB85"/>
                </a:solidFill>
                <a:latin typeface="Poppins Semi-Bold"/>
                <a:ea typeface="Poppins Semi-Bold"/>
                <a:cs typeface="Poppins Semi-Bold"/>
                <a:sym typeface="Poppins Semi-Bold"/>
              </a:rPr>
              <a:t>$"{soma}"</a:t>
            </a:r>
            <a:r>
              <a:rPr lang="en-US" sz="3900" b="1">
                <a:solidFill>
                  <a:srgbClr val="FFFFFF"/>
                </a:solidFill>
                <a:latin typeface="Poppins Semi-Bold"/>
                <a:ea typeface="Poppins Semi-Bold"/>
                <a:cs typeface="Poppins Semi-Bold"/>
                <a:sym typeface="Poppins Semi-Bold"/>
              </a:rPr>
              <a:t>);</a:t>
            </a:r>
          </a:p>
          <a:p>
            <a:pPr algn="l">
              <a:lnSpc>
                <a:spcPts val="7051"/>
              </a:lnSpc>
            </a:pPr>
            <a:r>
              <a:rPr lang="en-US" sz="3900" b="1">
                <a:solidFill>
                  <a:srgbClr val="FFFFFF"/>
                </a:solidFill>
                <a:latin typeface="Poppins Semi-Bold"/>
                <a:ea typeface="Poppins Semi-Bold"/>
                <a:cs typeface="Poppins Semi-Bold"/>
                <a:sym typeface="Poppins Semi-Bold"/>
              </a:rPr>
              <a:t>}</a:t>
            </a:r>
          </a:p>
        </p:txBody>
      </p:sp>
      <p:sp>
        <p:nvSpPr>
          <p:cNvPr id="4" name="TextBox 4"/>
          <p:cNvSpPr txBox="1"/>
          <p:nvPr/>
        </p:nvSpPr>
        <p:spPr>
          <a:xfrm>
            <a:off x="9988734" y="4466663"/>
            <a:ext cx="7216283" cy="3070860"/>
          </a:xfrm>
          <a:prstGeom prst="rect">
            <a:avLst/>
          </a:prstGeom>
        </p:spPr>
        <p:txBody>
          <a:bodyPr lIns="0" tIns="0" rIns="0" bIns="0" rtlCol="0" anchor="t">
            <a:spAutoFit/>
          </a:bodyPr>
          <a:lstStyle/>
          <a:p>
            <a:pPr algn="l">
              <a:lnSpc>
                <a:spcPts val="1500"/>
              </a:lnSpc>
            </a:pPr>
            <a:r>
              <a:rPr lang="en-US" sz="3000" b="1">
                <a:solidFill>
                  <a:srgbClr val="FFFFFF"/>
                </a:solidFill>
                <a:latin typeface="Poppins Semi-Bold"/>
                <a:ea typeface="Poppins Semi-Bold"/>
                <a:cs typeface="Poppins Semi-Bold"/>
                <a:sym typeface="Poppins Semi-Bold"/>
              </a:rPr>
              <a:t>Esse tipo de retorno demonstra que</a:t>
            </a:r>
          </a:p>
          <a:p>
            <a:pPr algn="l">
              <a:lnSpc>
                <a:spcPts val="7038"/>
              </a:lnSpc>
            </a:pPr>
            <a:r>
              <a:rPr lang="en-US" sz="3000" b="1">
                <a:solidFill>
                  <a:srgbClr val="FFFFFF"/>
                </a:solidFill>
                <a:latin typeface="Poppins Semi-Bold"/>
                <a:ea typeface="Poppins Semi-Bold"/>
                <a:cs typeface="Poppins Semi-Bold"/>
                <a:sym typeface="Poppins Semi-Bold"/>
              </a:rPr>
              <a:t>o método do tipo void só servem para serem executados.</a:t>
            </a:r>
          </a:p>
          <a:p>
            <a:pPr algn="l">
              <a:lnSpc>
                <a:spcPts val="5886"/>
              </a:lnSpc>
            </a:pPr>
            <a:r>
              <a:rPr lang="en-US" sz="3000" b="1">
                <a:solidFill>
                  <a:srgbClr val="FFFFFF"/>
                </a:solidFill>
                <a:latin typeface="Poppins Semi-Bold"/>
                <a:ea typeface="Poppins Semi-Bold"/>
                <a:cs typeface="Poppins Semi-Bold"/>
                <a:sym typeface="Poppins Semi-Bold"/>
              </a:rPr>
              <a:t>Vamos tentar converter esse</a:t>
            </a:r>
          </a:p>
          <a:p>
            <a:pPr algn="l">
              <a:lnSpc>
                <a:spcPts val="3345"/>
              </a:lnSpc>
            </a:pPr>
            <a:r>
              <a:rPr lang="en-US" sz="3000" b="1">
                <a:solidFill>
                  <a:srgbClr val="FFFFFF"/>
                </a:solidFill>
                <a:latin typeface="Poppins Semi-Bold"/>
                <a:ea typeface="Poppins Semi-Bold"/>
                <a:cs typeface="Poppins Semi-Bold"/>
                <a:sym typeface="Poppins Semi-Bold"/>
              </a:rPr>
              <a:t>método SomarNumeros em um método que tenha retorno.</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8521703" y="4356097"/>
            <a:ext cx="1803397" cy="126997"/>
          </a:xfrm>
          <a:custGeom>
            <a:avLst/>
            <a:gdLst/>
            <a:ahLst/>
            <a:cxnLst/>
            <a:rect l="l" t="t" r="r" b="b"/>
            <a:pathLst>
              <a:path w="1803397" h="126997">
                <a:moveTo>
                  <a:pt x="0" y="0"/>
                </a:moveTo>
                <a:lnTo>
                  <a:pt x="1803397" y="0"/>
                </a:lnTo>
                <a:lnTo>
                  <a:pt x="1803397" y="126997"/>
                </a:lnTo>
                <a:lnTo>
                  <a:pt x="0" y="126997"/>
                </a:lnTo>
                <a:lnTo>
                  <a:pt x="0" y="0"/>
                </a:lnTo>
                <a:close/>
              </a:path>
            </a:pathLst>
          </a:custGeom>
          <a:blipFill>
            <a:blip r:embed="rId2"/>
            <a:stretch>
              <a:fillRect/>
            </a:stretch>
          </a:blipFill>
        </p:spPr>
      </p:sp>
      <p:sp>
        <p:nvSpPr>
          <p:cNvPr id="3" name="Freeform 3"/>
          <p:cNvSpPr/>
          <p:nvPr/>
        </p:nvSpPr>
        <p:spPr>
          <a:xfrm>
            <a:off x="8521694" y="4210155"/>
            <a:ext cx="314325" cy="419110"/>
          </a:xfrm>
          <a:custGeom>
            <a:avLst/>
            <a:gdLst/>
            <a:ahLst/>
            <a:cxnLst/>
            <a:rect l="l" t="t" r="r" b="b"/>
            <a:pathLst>
              <a:path w="314325" h="419110">
                <a:moveTo>
                  <a:pt x="0" y="0"/>
                </a:moveTo>
                <a:lnTo>
                  <a:pt x="314325" y="0"/>
                </a:lnTo>
                <a:lnTo>
                  <a:pt x="314325" y="419109"/>
                </a:lnTo>
                <a:lnTo>
                  <a:pt x="0" y="41910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7886700" y="8547097"/>
            <a:ext cx="2451097" cy="126997"/>
          </a:xfrm>
          <a:custGeom>
            <a:avLst/>
            <a:gdLst/>
            <a:ahLst/>
            <a:cxnLst/>
            <a:rect l="l" t="t" r="r" b="b"/>
            <a:pathLst>
              <a:path w="2451097" h="126997">
                <a:moveTo>
                  <a:pt x="0" y="0"/>
                </a:moveTo>
                <a:lnTo>
                  <a:pt x="2451097" y="0"/>
                </a:lnTo>
                <a:lnTo>
                  <a:pt x="2451097" y="126997"/>
                </a:lnTo>
                <a:lnTo>
                  <a:pt x="0" y="126997"/>
                </a:lnTo>
                <a:lnTo>
                  <a:pt x="0" y="0"/>
                </a:lnTo>
                <a:close/>
              </a:path>
            </a:pathLst>
          </a:custGeom>
          <a:blipFill>
            <a:blip r:embed="rId5"/>
            <a:stretch>
              <a:fillRect/>
            </a:stretch>
          </a:blipFill>
        </p:spPr>
      </p:sp>
      <p:sp>
        <p:nvSpPr>
          <p:cNvPr id="5" name="Freeform 5"/>
          <p:cNvSpPr/>
          <p:nvPr/>
        </p:nvSpPr>
        <p:spPr>
          <a:xfrm>
            <a:off x="7888681" y="8399050"/>
            <a:ext cx="314325" cy="419110"/>
          </a:xfrm>
          <a:custGeom>
            <a:avLst/>
            <a:gdLst/>
            <a:ahLst/>
            <a:cxnLst/>
            <a:rect l="l" t="t" r="r" b="b"/>
            <a:pathLst>
              <a:path w="314325" h="419110">
                <a:moveTo>
                  <a:pt x="0" y="0"/>
                </a:moveTo>
                <a:lnTo>
                  <a:pt x="314325" y="0"/>
                </a:lnTo>
                <a:lnTo>
                  <a:pt x="314325" y="419109"/>
                </a:lnTo>
                <a:lnTo>
                  <a:pt x="0" y="419109"/>
                </a:lnTo>
                <a:lnTo>
                  <a:pt x="0" y="0"/>
                </a:lnTo>
                <a:close/>
              </a:path>
            </a:pathLst>
          </a:custGeom>
          <a:blipFill>
            <a:blip r:embed="rId3">
              <a:extLst>
                <a:ext uri="{96DAC541-7B7A-43D3-8B79-37D633B846F1}">
                  <asvg:svgBlip xmlns:asvg="http://schemas.microsoft.com/office/drawing/2016/SVG/main" r:embed="rId6"/>
                </a:ext>
              </a:extLst>
            </a:blip>
            <a:stretch>
              <a:fillRect/>
            </a:stretch>
          </a:blipFill>
        </p:spPr>
      </p:sp>
      <p:sp>
        <p:nvSpPr>
          <p:cNvPr id="6" name="Freeform 6"/>
          <p:cNvSpPr/>
          <p:nvPr/>
        </p:nvSpPr>
        <p:spPr>
          <a:xfrm>
            <a:off x="1295400" y="4660897"/>
            <a:ext cx="9029700" cy="1714500"/>
          </a:xfrm>
          <a:custGeom>
            <a:avLst/>
            <a:gdLst/>
            <a:ahLst/>
            <a:cxnLst/>
            <a:rect l="l" t="t" r="r" b="b"/>
            <a:pathLst>
              <a:path w="9029700" h="1714500">
                <a:moveTo>
                  <a:pt x="0" y="0"/>
                </a:moveTo>
                <a:lnTo>
                  <a:pt x="9029700" y="0"/>
                </a:lnTo>
                <a:lnTo>
                  <a:pt x="9029700" y="1714500"/>
                </a:lnTo>
                <a:lnTo>
                  <a:pt x="0" y="1714500"/>
                </a:lnTo>
                <a:lnTo>
                  <a:pt x="0" y="0"/>
                </a:lnTo>
                <a:close/>
              </a:path>
            </a:pathLst>
          </a:custGeom>
          <a:blipFill>
            <a:blip r:embed="rId7"/>
            <a:stretch>
              <a:fillRect/>
            </a:stretch>
          </a:blipFill>
        </p:spPr>
      </p:sp>
      <p:sp>
        <p:nvSpPr>
          <p:cNvPr id="7" name="Freeform 7"/>
          <p:cNvSpPr/>
          <p:nvPr/>
        </p:nvSpPr>
        <p:spPr>
          <a:xfrm>
            <a:off x="1299124" y="4670079"/>
            <a:ext cx="358435" cy="366579"/>
          </a:xfrm>
          <a:custGeom>
            <a:avLst/>
            <a:gdLst/>
            <a:ahLst/>
            <a:cxnLst/>
            <a:rect l="l" t="t" r="r" b="b"/>
            <a:pathLst>
              <a:path w="358435" h="366579">
                <a:moveTo>
                  <a:pt x="0" y="0"/>
                </a:moveTo>
                <a:lnTo>
                  <a:pt x="358436" y="0"/>
                </a:lnTo>
                <a:lnTo>
                  <a:pt x="358436" y="366579"/>
                </a:lnTo>
                <a:lnTo>
                  <a:pt x="0" y="36657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Freeform 8"/>
          <p:cNvSpPr/>
          <p:nvPr/>
        </p:nvSpPr>
        <p:spPr>
          <a:xfrm>
            <a:off x="2070097" y="6121403"/>
            <a:ext cx="8255003" cy="482603"/>
          </a:xfrm>
          <a:custGeom>
            <a:avLst/>
            <a:gdLst/>
            <a:ahLst/>
            <a:cxnLst/>
            <a:rect l="l" t="t" r="r" b="b"/>
            <a:pathLst>
              <a:path w="8255003" h="482603">
                <a:moveTo>
                  <a:pt x="0" y="0"/>
                </a:moveTo>
                <a:lnTo>
                  <a:pt x="8255003" y="0"/>
                </a:lnTo>
                <a:lnTo>
                  <a:pt x="8255003" y="482603"/>
                </a:lnTo>
                <a:lnTo>
                  <a:pt x="0" y="482603"/>
                </a:lnTo>
                <a:lnTo>
                  <a:pt x="0" y="0"/>
                </a:lnTo>
                <a:close/>
              </a:path>
            </a:pathLst>
          </a:custGeom>
          <a:blipFill>
            <a:blip r:embed="rId10"/>
            <a:stretch>
              <a:fillRect/>
            </a:stretch>
          </a:blipFill>
        </p:spPr>
      </p:sp>
      <p:grpSp>
        <p:nvGrpSpPr>
          <p:cNvPr id="9" name="Group 9"/>
          <p:cNvGrpSpPr>
            <a:grpSpLocks noChangeAspect="1"/>
          </p:cNvGrpSpPr>
          <p:nvPr/>
        </p:nvGrpSpPr>
        <p:grpSpPr>
          <a:xfrm>
            <a:off x="7888719" y="8556212"/>
            <a:ext cx="2423408" cy="104775"/>
            <a:chOff x="0" y="0"/>
            <a:chExt cx="2423414" cy="104775"/>
          </a:xfrm>
        </p:grpSpPr>
        <p:sp>
          <p:nvSpPr>
            <p:cNvPr id="10" name="Freeform 10"/>
            <p:cNvSpPr/>
            <p:nvPr/>
          </p:nvSpPr>
          <p:spPr>
            <a:xfrm>
              <a:off x="0" y="0"/>
              <a:ext cx="2423414" cy="104775"/>
            </a:xfrm>
            <a:custGeom>
              <a:avLst/>
              <a:gdLst/>
              <a:ahLst/>
              <a:cxnLst/>
              <a:rect l="l" t="t" r="r" b="b"/>
              <a:pathLst>
                <a:path w="2423414" h="104775">
                  <a:moveTo>
                    <a:pt x="0" y="104775"/>
                  </a:moveTo>
                  <a:lnTo>
                    <a:pt x="2423414" y="104775"/>
                  </a:lnTo>
                  <a:lnTo>
                    <a:pt x="2423414" y="0"/>
                  </a:lnTo>
                  <a:lnTo>
                    <a:pt x="0" y="0"/>
                  </a:lnTo>
                  <a:close/>
                </a:path>
              </a:pathLst>
            </a:custGeom>
            <a:solidFill>
              <a:srgbClr val="000000">
                <a:alpha val="0"/>
              </a:srgbClr>
            </a:solidFill>
          </p:spPr>
        </p:sp>
      </p:grpSp>
      <p:sp>
        <p:nvSpPr>
          <p:cNvPr id="11" name="Freeform 11"/>
          <p:cNvSpPr/>
          <p:nvPr/>
        </p:nvSpPr>
        <p:spPr>
          <a:xfrm>
            <a:off x="1197016" y="4294794"/>
            <a:ext cx="9236974" cy="2529783"/>
          </a:xfrm>
          <a:custGeom>
            <a:avLst/>
            <a:gdLst/>
            <a:ahLst/>
            <a:cxnLst/>
            <a:rect l="l" t="t" r="r" b="b"/>
            <a:pathLst>
              <a:path w="9236974" h="2529783">
                <a:moveTo>
                  <a:pt x="0" y="0"/>
                </a:moveTo>
                <a:lnTo>
                  <a:pt x="9236974" y="0"/>
                </a:lnTo>
                <a:lnTo>
                  <a:pt x="9236974" y="2529783"/>
                </a:lnTo>
                <a:lnTo>
                  <a:pt x="0" y="2529783"/>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2" name="TextBox 12"/>
          <p:cNvSpPr txBox="1"/>
          <p:nvPr/>
        </p:nvSpPr>
        <p:spPr>
          <a:xfrm>
            <a:off x="5646239" y="324326"/>
            <a:ext cx="713520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Métodos/Funções</a:t>
            </a:r>
          </a:p>
        </p:txBody>
      </p:sp>
      <p:sp>
        <p:nvSpPr>
          <p:cNvPr id="13" name="TextBox 13"/>
          <p:cNvSpPr txBox="1"/>
          <p:nvPr/>
        </p:nvSpPr>
        <p:spPr>
          <a:xfrm>
            <a:off x="164983" y="2285552"/>
            <a:ext cx="9799996" cy="7182993"/>
          </a:xfrm>
          <a:prstGeom prst="rect">
            <a:avLst/>
          </a:prstGeom>
        </p:spPr>
        <p:txBody>
          <a:bodyPr lIns="0" tIns="0" rIns="0" bIns="0" rtlCol="0" anchor="t">
            <a:spAutoFit/>
          </a:bodyPr>
          <a:lstStyle/>
          <a:p>
            <a:pPr algn="l">
              <a:lnSpc>
                <a:spcPts val="4648"/>
              </a:lnSpc>
            </a:pPr>
            <a:r>
              <a:rPr lang="en-US" sz="3900" b="1">
                <a:solidFill>
                  <a:srgbClr val="FFFFFF"/>
                </a:solidFill>
                <a:latin typeface="Poppins Semi-Bold"/>
                <a:ea typeface="Poppins Semi-Bold"/>
                <a:cs typeface="Poppins Semi-Bold"/>
                <a:sym typeface="Poppins Semi-Bold"/>
              </a:rPr>
              <a:t>Exemplo retornando um valor inteiro: </a:t>
            </a:r>
            <a:r>
              <a:rPr lang="en-US" sz="3900" b="1">
                <a:solidFill>
                  <a:srgbClr val="3C67BF"/>
                </a:solidFill>
                <a:latin typeface="Poppins Semi-Bold"/>
                <a:ea typeface="Poppins Semi-Bold"/>
                <a:cs typeface="Poppins Semi-Bold"/>
                <a:sym typeface="Poppins Semi-Bold"/>
              </a:rPr>
              <a:t>static void</a:t>
            </a:r>
            <a:r>
              <a:rPr lang="en-US" sz="3900" b="1">
                <a:solidFill>
                  <a:srgbClr val="FFFFFF"/>
                </a:solidFill>
                <a:latin typeface="Poppins Semi-Bold"/>
                <a:ea typeface="Poppins Semi-Bold"/>
                <a:cs typeface="Poppins Semi-Bold"/>
                <a:sym typeface="Poppins Semi-Bold"/>
              </a:rPr>
              <a:t> </a:t>
            </a:r>
            <a:r>
              <a:rPr lang="en-US" sz="3900" b="1">
                <a:solidFill>
                  <a:srgbClr val="FFCB85"/>
                </a:solidFill>
                <a:latin typeface="Poppins Semi-Bold"/>
                <a:ea typeface="Poppins Semi-Bold"/>
                <a:cs typeface="Poppins Semi-Bold"/>
                <a:sym typeface="Poppins Semi-Bold"/>
              </a:rPr>
              <a:t>Main</a:t>
            </a:r>
            <a:r>
              <a:rPr lang="en-US" sz="3900" b="1">
                <a:solidFill>
                  <a:srgbClr val="FFFFFF"/>
                </a:solidFill>
                <a:latin typeface="Poppins Semi-Bold"/>
                <a:ea typeface="Poppins Semi-Bold"/>
                <a:cs typeface="Poppins Semi-Bold"/>
                <a:sym typeface="Poppins Semi-Bold"/>
              </a:rPr>
              <a:t>(){  </a:t>
            </a:r>
            <a:r>
              <a:rPr lang="en-US" sz="3900" b="1">
                <a:solidFill>
                  <a:srgbClr val="3C67BF"/>
                </a:solidFill>
                <a:latin typeface="Poppins Semi-Bold"/>
                <a:ea typeface="Poppins Semi-Bold"/>
                <a:cs typeface="Poppins Semi-Bold"/>
                <a:sym typeface="Poppins Semi-Bold"/>
              </a:rPr>
              <a:t>int </a:t>
            </a:r>
            <a:r>
              <a:rPr lang="en-US" sz="3900" b="1">
                <a:solidFill>
                  <a:srgbClr val="FFFFFF"/>
                </a:solidFill>
                <a:latin typeface="Poppins Semi-Bold"/>
                <a:ea typeface="Poppins Semi-Bold"/>
                <a:cs typeface="Poppins Semi-Bold"/>
                <a:sym typeface="Poppins Semi-Bold"/>
              </a:rPr>
              <a:t>soma = </a:t>
            </a:r>
            <a:r>
              <a:rPr lang="en-US" sz="3900" b="1">
                <a:solidFill>
                  <a:srgbClr val="FFCB85"/>
                </a:solidFill>
                <a:latin typeface="Poppins Semi-Bold"/>
                <a:ea typeface="Poppins Semi-Bold"/>
                <a:cs typeface="Poppins Semi-Bold"/>
                <a:sym typeface="Poppins Semi-Bold"/>
              </a:rPr>
              <a:t>SomarNumeros</a:t>
            </a:r>
            <a:r>
              <a:rPr lang="en-US" sz="3900" b="1">
                <a:solidFill>
                  <a:srgbClr val="FFFFFF"/>
                </a:solidFill>
                <a:latin typeface="Poppins Semi-Bold"/>
                <a:ea typeface="Poppins Semi-Bold"/>
                <a:cs typeface="Poppins Semi-Bold"/>
                <a:sym typeface="Poppins Semi-Bold"/>
              </a:rPr>
              <a:t>();  </a:t>
            </a:r>
            <a:r>
              <a:rPr lang="en-US" sz="3900" b="1">
                <a:solidFill>
                  <a:srgbClr val="7ED957"/>
                </a:solidFill>
                <a:latin typeface="Poppins Semi-Bold"/>
                <a:ea typeface="Poppins Semi-Bold"/>
                <a:cs typeface="Poppins Semi-Bold"/>
                <a:sym typeface="Poppins Semi-Bold"/>
              </a:rPr>
              <a:t>Console</a:t>
            </a:r>
            <a:r>
              <a:rPr lang="en-US" sz="3900" b="1">
                <a:solidFill>
                  <a:srgbClr val="FFFFFF"/>
                </a:solidFill>
                <a:latin typeface="Poppins Semi-Bold"/>
                <a:ea typeface="Poppins Semi-Bold"/>
                <a:cs typeface="Poppins Semi-Bold"/>
                <a:sym typeface="Poppins Semi-Bold"/>
              </a:rPr>
              <a:t>.</a:t>
            </a:r>
            <a:r>
              <a:rPr lang="en-US" sz="3900" b="1">
                <a:solidFill>
                  <a:srgbClr val="FFCB85"/>
                </a:solidFill>
                <a:latin typeface="Poppins Semi-Bold"/>
                <a:ea typeface="Poppins Semi-Bold"/>
                <a:cs typeface="Poppins Semi-Bold"/>
                <a:sym typeface="Poppins Semi-Bold"/>
              </a:rPr>
              <a:t>WriteLine</a:t>
            </a:r>
            <a:r>
              <a:rPr lang="en-US" sz="3900" b="1">
                <a:solidFill>
                  <a:srgbClr val="FFFFFF"/>
                </a:solidFill>
                <a:latin typeface="Poppins Semi-Bold"/>
                <a:ea typeface="Poppins Semi-Bold"/>
                <a:cs typeface="Poppins Semi-Bold"/>
                <a:sym typeface="Poppins Semi-Bold"/>
              </a:rPr>
              <a:t>(</a:t>
            </a:r>
            <a:r>
              <a:rPr lang="en-US" sz="3900" b="1">
                <a:solidFill>
                  <a:srgbClr val="FFCB85"/>
                </a:solidFill>
                <a:latin typeface="Poppins Semi-Bold"/>
                <a:ea typeface="Poppins Semi-Bold"/>
                <a:cs typeface="Poppins Semi-Bold"/>
                <a:sym typeface="Poppins Semi-Bold"/>
              </a:rPr>
              <a:t>$"{soma}"</a:t>
            </a:r>
            <a:r>
              <a:rPr lang="en-US" sz="3900" b="1">
                <a:solidFill>
                  <a:srgbClr val="FFFFFF"/>
                </a:solidFill>
                <a:latin typeface="Poppins Semi-Bold"/>
                <a:ea typeface="Poppins Semi-Bold"/>
                <a:cs typeface="Poppins Semi-Bold"/>
                <a:sym typeface="Poppins Semi-Bold"/>
              </a:rPr>
              <a:t>); } </a:t>
            </a:r>
            <a:r>
              <a:rPr lang="en-US" sz="3900" b="1">
                <a:solidFill>
                  <a:srgbClr val="3C67BF"/>
                </a:solidFill>
                <a:latin typeface="Poppins Semi-Bold"/>
                <a:ea typeface="Poppins Semi-Bold"/>
                <a:cs typeface="Poppins Semi-Bold"/>
                <a:sym typeface="Poppins Semi-Bold"/>
              </a:rPr>
              <a:t>static int</a:t>
            </a:r>
            <a:r>
              <a:rPr lang="en-US" sz="3900" b="1">
                <a:solidFill>
                  <a:srgbClr val="FFFFFF"/>
                </a:solidFill>
                <a:latin typeface="Poppins Semi-Bold"/>
                <a:ea typeface="Poppins Semi-Bold"/>
                <a:cs typeface="Poppins Semi-Bold"/>
                <a:sym typeface="Poppins Semi-Bold"/>
              </a:rPr>
              <a:t> </a:t>
            </a:r>
            <a:r>
              <a:rPr lang="en-US" sz="3900" b="1">
                <a:solidFill>
                  <a:srgbClr val="FFCB85"/>
                </a:solidFill>
                <a:latin typeface="Poppins Semi-Bold"/>
                <a:ea typeface="Poppins Semi-Bold"/>
                <a:cs typeface="Poppins Semi-Bold"/>
                <a:sym typeface="Poppins Semi-Bold"/>
              </a:rPr>
              <a:t>SomarNumeros</a:t>
            </a:r>
            <a:r>
              <a:rPr lang="en-US" sz="3900" b="1">
                <a:solidFill>
                  <a:srgbClr val="FFFFFF"/>
                </a:solidFill>
                <a:latin typeface="Poppins Semi-Bold"/>
                <a:ea typeface="Poppins Semi-Bold"/>
                <a:cs typeface="Poppins Semi-Bold"/>
                <a:sym typeface="Poppins Semi-Bold"/>
              </a:rPr>
              <a:t>(){  </a:t>
            </a:r>
            <a:r>
              <a:rPr lang="en-US" sz="3900" b="1">
                <a:solidFill>
                  <a:srgbClr val="3C67BF"/>
                </a:solidFill>
                <a:latin typeface="Poppins Semi-Bold"/>
                <a:ea typeface="Poppins Semi-Bold"/>
                <a:cs typeface="Poppins Semi-Bold"/>
                <a:sym typeface="Poppins Semi-Bold"/>
              </a:rPr>
              <a:t>int </a:t>
            </a:r>
            <a:r>
              <a:rPr lang="en-US" sz="3900" b="1">
                <a:solidFill>
                  <a:srgbClr val="FFFFFF"/>
                </a:solidFill>
                <a:latin typeface="Poppins Semi-Bold"/>
                <a:ea typeface="Poppins Semi-Bold"/>
                <a:cs typeface="Poppins Semi-Bold"/>
                <a:sym typeface="Poppins Semi-Bold"/>
              </a:rPr>
              <a:t>numero1 = 10;  </a:t>
            </a:r>
            <a:r>
              <a:rPr lang="en-US" sz="3900" b="1">
                <a:solidFill>
                  <a:srgbClr val="3C67BF"/>
                </a:solidFill>
                <a:latin typeface="Poppins Semi-Bold"/>
                <a:ea typeface="Poppins Semi-Bold"/>
                <a:cs typeface="Poppins Semi-Bold"/>
                <a:sym typeface="Poppins Semi-Bold"/>
              </a:rPr>
              <a:t>int </a:t>
            </a:r>
            <a:r>
              <a:rPr lang="en-US" sz="3900" b="1">
                <a:solidFill>
                  <a:srgbClr val="FFFFFF"/>
                </a:solidFill>
                <a:latin typeface="Poppins Semi-Bold"/>
                <a:ea typeface="Poppins Semi-Bold"/>
                <a:cs typeface="Poppins Semi-Bold"/>
                <a:sym typeface="Poppins Semi-Bold"/>
              </a:rPr>
              <a:t>numero2 = 20;  </a:t>
            </a:r>
            <a:r>
              <a:rPr lang="en-US" sz="3900" b="1">
                <a:solidFill>
                  <a:srgbClr val="3C67BF"/>
                </a:solidFill>
                <a:latin typeface="Poppins Semi-Bold"/>
                <a:ea typeface="Poppins Semi-Bold"/>
                <a:cs typeface="Poppins Semi-Bold"/>
                <a:sym typeface="Poppins Semi-Bold"/>
              </a:rPr>
              <a:t>return</a:t>
            </a:r>
            <a:r>
              <a:rPr lang="en-US" sz="3900" b="1">
                <a:solidFill>
                  <a:srgbClr val="FFFFFF"/>
                </a:solidFill>
                <a:latin typeface="Poppins Semi-Bold"/>
                <a:ea typeface="Poppins Semi-Bold"/>
                <a:cs typeface="Poppins Semi-Bold"/>
                <a:sym typeface="Poppins Semi-Bold"/>
              </a:rPr>
              <a:t> numero1 + numero2; }</a:t>
            </a:r>
          </a:p>
        </p:txBody>
      </p:sp>
      <p:sp>
        <p:nvSpPr>
          <p:cNvPr id="14" name="TextBox 14"/>
          <p:cNvSpPr txBox="1"/>
          <p:nvPr/>
        </p:nvSpPr>
        <p:spPr>
          <a:xfrm>
            <a:off x="10312127" y="3439011"/>
            <a:ext cx="7402487" cy="6316780"/>
          </a:xfrm>
          <a:prstGeom prst="rect">
            <a:avLst/>
          </a:prstGeom>
        </p:spPr>
        <p:txBody>
          <a:bodyPr lIns="0" tIns="0" rIns="0" bIns="0" rtlCol="0" anchor="t">
            <a:spAutoFit/>
          </a:bodyPr>
          <a:lstStyle/>
          <a:p>
            <a:pPr algn="just">
              <a:lnSpc>
                <a:spcPts val="3600"/>
              </a:lnSpc>
            </a:pPr>
            <a:r>
              <a:rPr lang="en-US" sz="3000" b="1">
                <a:solidFill>
                  <a:srgbClr val="FFFFFF"/>
                </a:solidFill>
                <a:latin typeface="Poppins Semi-Bold"/>
                <a:ea typeface="Poppins Semi-Bold"/>
                <a:cs typeface="Poppins Semi-Bold"/>
                <a:sym typeface="Poppins Semi-Bold"/>
              </a:rPr>
              <a:t>Perceba agora que para usar um método que tenha retorno ele deve ser chamado depois de uma igualdade.</a:t>
            </a:r>
          </a:p>
          <a:p>
            <a:pPr algn="just">
              <a:lnSpc>
                <a:spcPts val="7500"/>
              </a:lnSpc>
            </a:pPr>
            <a:r>
              <a:rPr lang="en-US" sz="3000" b="1">
                <a:solidFill>
                  <a:srgbClr val="FFFFFF"/>
                </a:solidFill>
                <a:latin typeface="Poppins Semi-Bold"/>
                <a:ea typeface="Poppins Semi-Bold"/>
                <a:cs typeface="Poppins Semi-Bold"/>
                <a:sym typeface="Poppins Semi-Bold"/>
              </a:rPr>
              <a:t>O tipo da variável que vai receber o</a:t>
            </a:r>
          </a:p>
          <a:p>
            <a:pPr algn="just">
              <a:lnSpc>
                <a:spcPts val="1500"/>
              </a:lnSpc>
            </a:pPr>
            <a:r>
              <a:rPr lang="en-US" sz="3000" b="1">
                <a:solidFill>
                  <a:srgbClr val="FFFFFF"/>
                </a:solidFill>
                <a:latin typeface="Poppins Semi-Bold"/>
                <a:ea typeface="Poppins Semi-Bold"/>
                <a:cs typeface="Poppins Semi-Bold"/>
                <a:sym typeface="Poppins Semi-Bold"/>
              </a:rPr>
              <a:t>valor retornado pelo método deve</a:t>
            </a:r>
          </a:p>
          <a:p>
            <a:pPr algn="just">
              <a:lnSpc>
                <a:spcPts val="5700"/>
              </a:lnSpc>
            </a:pPr>
            <a:r>
              <a:rPr lang="en-US" sz="3000" b="1">
                <a:solidFill>
                  <a:srgbClr val="FFFFFF"/>
                </a:solidFill>
                <a:latin typeface="Poppins Semi-Bold"/>
                <a:ea typeface="Poppins Semi-Bold"/>
                <a:cs typeface="Poppins Semi-Bold"/>
                <a:sym typeface="Poppins Semi-Bold"/>
              </a:rPr>
              <a:t>ser o mesmo do método.</a:t>
            </a:r>
          </a:p>
          <a:p>
            <a:pPr algn="just">
              <a:lnSpc>
                <a:spcPts val="7500"/>
              </a:lnSpc>
            </a:pPr>
            <a:r>
              <a:rPr lang="en-US" sz="3000" b="1">
                <a:solidFill>
                  <a:srgbClr val="FFFFFF"/>
                </a:solidFill>
                <a:latin typeface="Poppins Semi-Bold"/>
                <a:ea typeface="Poppins Semi-Bold"/>
                <a:cs typeface="Poppins Semi-Bold"/>
                <a:sym typeface="Poppins Semi-Bold"/>
              </a:rPr>
              <a:t>Nesse caso aqui estou somando as</a:t>
            </a:r>
          </a:p>
          <a:p>
            <a:pPr algn="just">
              <a:lnSpc>
                <a:spcPts val="1500"/>
              </a:lnSpc>
            </a:pPr>
            <a:r>
              <a:rPr lang="en-US" sz="3000" b="1">
                <a:solidFill>
                  <a:srgbClr val="FFFFFF"/>
                </a:solidFill>
                <a:latin typeface="Poppins Semi-Bold"/>
                <a:ea typeface="Poppins Semi-Bold"/>
                <a:cs typeface="Poppins Semi-Bold"/>
                <a:sym typeface="Poppins Semi-Bold"/>
              </a:rPr>
              <a:t>duas variáveis e retornando o valor</a:t>
            </a:r>
          </a:p>
          <a:p>
            <a:pPr algn="just">
              <a:lnSpc>
                <a:spcPts val="5700"/>
              </a:lnSpc>
            </a:pPr>
            <a:r>
              <a:rPr lang="en-US" sz="3000" b="1">
                <a:solidFill>
                  <a:srgbClr val="FFFFFF"/>
                </a:solidFill>
                <a:latin typeface="Poppins Semi-Bold"/>
                <a:ea typeface="Poppins Semi-Bold"/>
                <a:cs typeface="Poppins Semi-Bold"/>
                <a:sym typeface="Poppins Semi-Bold"/>
              </a:rPr>
              <a:t>desse resultado. </a:t>
            </a:r>
          </a:p>
          <a:p>
            <a:pPr algn="just">
              <a:lnSpc>
                <a:spcPts val="1500"/>
              </a:lnSpc>
            </a:pPr>
            <a:r>
              <a:rPr lang="en-US" sz="3000" b="1">
                <a:solidFill>
                  <a:srgbClr val="FFFFFF"/>
                </a:solidFill>
                <a:latin typeface="Poppins Semi-Bold"/>
                <a:ea typeface="Poppins Semi-Bold"/>
                <a:cs typeface="Poppins Semi-Bold"/>
                <a:sym typeface="Poppins Semi-Bold"/>
              </a:rPr>
              <a:t>Ele retorna pra quem? Para quem o</a:t>
            </a:r>
          </a:p>
          <a:p>
            <a:pPr algn="just">
              <a:lnSpc>
                <a:spcPts val="5700"/>
              </a:lnSpc>
            </a:pPr>
            <a:r>
              <a:rPr lang="en-US" sz="3000" b="1">
                <a:solidFill>
                  <a:srgbClr val="FFFFFF"/>
                </a:solidFill>
                <a:latin typeface="Poppins Semi-Bold"/>
                <a:ea typeface="Poppins Semi-Bold"/>
                <a:cs typeface="Poppins Semi-Bold"/>
                <a:sym typeface="Poppins Semi-Bold"/>
              </a:rPr>
              <a:t>chamou, nesse caso o método </a:t>
            </a:r>
            <a:r>
              <a:rPr lang="en-US" sz="3000" b="1">
                <a:solidFill>
                  <a:srgbClr val="FFCB85"/>
                </a:solidFill>
                <a:latin typeface="Poppins Semi-Bold"/>
                <a:ea typeface="Poppins Semi-Bold"/>
                <a:cs typeface="Poppins Semi-Bold"/>
                <a:sym typeface="Poppins Semi-Bold"/>
              </a:rPr>
              <a:t>Main</a:t>
            </a:r>
            <a:r>
              <a:rPr lang="en-US" sz="3000" b="1">
                <a:solidFill>
                  <a:srgbClr val="FFFFFF"/>
                </a:solidFill>
                <a:latin typeface="Poppins Semi-Bold"/>
                <a:ea typeface="Poppins Semi-Bold"/>
                <a:cs typeface="Poppins Semi-Bold"/>
                <a:sym typeface="Poppins Semi-Bold"/>
              </a:rPr>
              <a:t>.</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5646239" y="324326"/>
            <a:ext cx="713520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Métodos/Funções</a:t>
            </a:r>
          </a:p>
        </p:txBody>
      </p:sp>
      <p:sp>
        <p:nvSpPr>
          <p:cNvPr id="3" name="TextBox 3"/>
          <p:cNvSpPr txBox="1"/>
          <p:nvPr/>
        </p:nvSpPr>
        <p:spPr>
          <a:xfrm>
            <a:off x="164983" y="4552540"/>
            <a:ext cx="18302992" cy="2651379"/>
          </a:xfrm>
          <a:prstGeom prst="rect">
            <a:avLst/>
          </a:prstGeom>
        </p:spPr>
        <p:txBody>
          <a:bodyPr lIns="0" tIns="0" rIns="0" bIns="0" rtlCol="0" anchor="t">
            <a:spAutoFit/>
          </a:bodyPr>
          <a:lstStyle/>
          <a:p>
            <a:pPr algn="l">
              <a:lnSpc>
                <a:spcPts val="5023"/>
              </a:lnSpc>
            </a:pPr>
            <a:r>
              <a:rPr lang="en-US" sz="4200" b="1">
                <a:solidFill>
                  <a:srgbClr val="FFFFFF"/>
                </a:solidFill>
                <a:latin typeface="Poppins Semi-Bold"/>
                <a:ea typeface="Poppins Semi-Bold"/>
                <a:cs typeface="Poppins Semi-Bold"/>
                <a:sym typeface="Poppins Semi-Bold"/>
              </a:rPr>
              <a:t>O </a:t>
            </a:r>
            <a:r>
              <a:rPr lang="en-US" sz="4200" b="1">
                <a:solidFill>
                  <a:srgbClr val="795AC6"/>
                </a:solidFill>
                <a:latin typeface="Poppins Semi-Bold"/>
                <a:ea typeface="Poppins Semi-Bold"/>
                <a:cs typeface="Poppins Semi-Bold"/>
                <a:sym typeface="Poppins Semi-Bold"/>
              </a:rPr>
              <a:t>parâmetro de um método</a:t>
            </a:r>
            <a:r>
              <a:rPr lang="en-US" sz="4200" b="1">
                <a:solidFill>
                  <a:srgbClr val="FFFFFF"/>
                </a:solidFill>
                <a:latin typeface="Poppins Semi-Bold"/>
                <a:ea typeface="Poppins Semi-Bold"/>
                <a:cs typeface="Poppins Semi-Bold"/>
                <a:sym typeface="Poppins Semi-Bold"/>
              </a:rPr>
              <a:t> são valores que você consegue importar para dentro do método. Esses valores vão vir dentro de variáveis e você pode utilizar em todo bloco de código do método.</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5646239" y="324326"/>
            <a:ext cx="713520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Métodos/Funções</a:t>
            </a:r>
          </a:p>
        </p:txBody>
      </p:sp>
      <p:sp>
        <p:nvSpPr>
          <p:cNvPr id="3" name="TextBox 3"/>
          <p:cNvSpPr txBox="1"/>
          <p:nvPr/>
        </p:nvSpPr>
        <p:spPr>
          <a:xfrm>
            <a:off x="164983" y="2285552"/>
            <a:ext cx="8662302" cy="7182993"/>
          </a:xfrm>
          <a:prstGeom prst="rect">
            <a:avLst/>
          </a:prstGeom>
        </p:spPr>
        <p:txBody>
          <a:bodyPr lIns="0" tIns="0" rIns="0" bIns="0" rtlCol="0" anchor="t">
            <a:spAutoFit/>
          </a:bodyPr>
          <a:lstStyle/>
          <a:p>
            <a:pPr algn="l">
              <a:lnSpc>
                <a:spcPts val="4648"/>
              </a:lnSpc>
            </a:pPr>
            <a:r>
              <a:rPr lang="en-US" sz="3900" b="1">
                <a:solidFill>
                  <a:srgbClr val="FFFFFF"/>
                </a:solidFill>
                <a:latin typeface="Poppins Semi-Bold"/>
                <a:ea typeface="Poppins Semi-Bold"/>
                <a:cs typeface="Poppins Semi-Bold"/>
                <a:sym typeface="Poppins Semi-Bold"/>
              </a:rPr>
              <a:t>Vejamos esse exemplo anterior: </a:t>
            </a:r>
            <a:r>
              <a:rPr lang="en-US" sz="3900" b="1">
                <a:solidFill>
                  <a:srgbClr val="3C67BF"/>
                </a:solidFill>
                <a:latin typeface="Poppins Semi-Bold"/>
                <a:ea typeface="Poppins Semi-Bold"/>
                <a:cs typeface="Poppins Semi-Bold"/>
                <a:sym typeface="Poppins Semi-Bold"/>
              </a:rPr>
              <a:t>static void</a:t>
            </a:r>
            <a:r>
              <a:rPr lang="en-US" sz="3900" b="1">
                <a:solidFill>
                  <a:srgbClr val="FFFFFF"/>
                </a:solidFill>
                <a:latin typeface="Poppins Semi-Bold"/>
                <a:ea typeface="Poppins Semi-Bold"/>
                <a:cs typeface="Poppins Semi-Bold"/>
                <a:sym typeface="Poppins Semi-Bold"/>
              </a:rPr>
              <a:t> </a:t>
            </a:r>
            <a:r>
              <a:rPr lang="en-US" sz="3900" b="1">
                <a:solidFill>
                  <a:srgbClr val="FFCB85"/>
                </a:solidFill>
                <a:latin typeface="Poppins Semi-Bold"/>
                <a:ea typeface="Poppins Semi-Bold"/>
                <a:cs typeface="Poppins Semi-Bold"/>
                <a:sym typeface="Poppins Semi-Bold"/>
              </a:rPr>
              <a:t>Main</a:t>
            </a:r>
            <a:r>
              <a:rPr lang="en-US" sz="3900" b="1">
                <a:solidFill>
                  <a:srgbClr val="FFFFFF"/>
                </a:solidFill>
                <a:latin typeface="Poppins Semi-Bold"/>
                <a:ea typeface="Poppins Semi-Bold"/>
                <a:cs typeface="Poppins Semi-Bold"/>
                <a:sym typeface="Poppins Semi-Bold"/>
              </a:rPr>
              <a:t>(){  </a:t>
            </a:r>
            <a:r>
              <a:rPr lang="en-US" sz="3900" b="1">
                <a:solidFill>
                  <a:srgbClr val="3C67BF"/>
                </a:solidFill>
                <a:latin typeface="Poppins Semi-Bold"/>
                <a:ea typeface="Poppins Semi-Bold"/>
                <a:cs typeface="Poppins Semi-Bold"/>
                <a:sym typeface="Poppins Semi-Bold"/>
              </a:rPr>
              <a:t>int </a:t>
            </a:r>
            <a:r>
              <a:rPr lang="en-US" sz="3900" b="1">
                <a:solidFill>
                  <a:srgbClr val="FFFFFF"/>
                </a:solidFill>
                <a:latin typeface="Poppins Semi-Bold"/>
                <a:ea typeface="Poppins Semi-Bold"/>
                <a:cs typeface="Poppins Semi-Bold"/>
                <a:sym typeface="Poppins Semi-Bold"/>
              </a:rPr>
              <a:t>soma = </a:t>
            </a:r>
            <a:r>
              <a:rPr lang="en-US" sz="3900" b="1">
                <a:solidFill>
                  <a:srgbClr val="FFCB85"/>
                </a:solidFill>
                <a:latin typeface="Poppins Semi-Bold"/>
                <a:ea typeface="Poppins Semi-Bold"/>
                <a:cs typeface="Poppins Semi-Bold"/>
                <a:sym typeface="Poppins Semi-Bold"/>
              </a:rPr>
              <a:t>SomarNumeros</a:t>
            </a:r>
            <a:r>
              <a:rPr lang="en-US" sz="3900" b="1">
                <a:solidFill>
                  <a:srgbClr val="FFFFFF"/>
                </a:solidFill>
                <a:latin typeface="Poppins Semi-Bold"/>
                <a:ea typeface="Poppins Semi-Bold"/>
                <a:cs typeface="Poppins Semi-Bold"/>
                <a:sym typeface="Poppins Semi-Bold"/>
              </a:rPr>
              <a:t>();  </a:t>
            </a:r>
            <a:r>
              <a:rPr lang="en-US" sz="3900" b="1">
                <a:solidFill>
                  <a:srgbClr val="7ED957"/>
                </a:solidFill>
                <a:latin typeface="Poppins Semi-Bold"/>
                <a:ea typeface="Poppins Semi-Bold"/>
                <a:cs typeface="Poppins Semi-Bold"/>
                <a:sym typeface="Poppins Semi-Bold"/>
              </a:rPr>
              <a:t>Console</a:t>
            </a:r>
            <a:r>
              <a:rPr lang="en-US" sz="3900" b="1">
                <a:solidFill>
                  <a:srgbClr val="FFFFFF"/>
                </a:solidFill>
                <a:latin typeface="Poppins Semi-Bold"/>
                <a:ea typeface="Poppins Semi-Bold"/>
                <a:cs typeface="Poppins Semi-Bold"/>
                <a:sym typeface="Poppins Semi-Bold"/>
              </a:rPr>
              <a:t>.</a:t>
            </a:r>
            <a:r>
              <a:rPr lang="en-US" sz="3900" b="1">
                <a:solidFill>
                  <a:srgbClr val="FFCB85"/>
                </a:solidFill>
                <a:latin typeface="Poppins Semi-Bold"/>
                <a:ea typeface="Poppins Semi-Bold"/>
                <a:cs typeface="Poppins Semi-Bold"/>
                <a:sym typeface="Poppins Semi-Bold"/>
              </a:rPr>
              <a:t>WriteLine</a:t>
            </a:r>
            <a:r>
              <a:rPr lang="en-US" sz="3900" b="1">
                <a:solidFill>
                  <a:srgbClr val="FFFFFF"/>
                </a:solidFill>
                <a:latin typeface="Poppins Semi-Bold"/>
                <a:ea typeface="Poppins Semi-Bold"/>
                <a:cs typeface="Poppins Semi-Bold"/>
                <a:sym typeface="Poppins Semi-Bold"/>
              </a:rPr>
              <a:t>(</a:t>
            </a:r>
            <a:r>
              <a:rPr lang="en-US" sz="3900" b="1">
                <a:solidFill>
                  <a:srgbClr val="FFCB85"/>
                </a:solidFill>
                <a:latin typeface="Poppins Semi-Bold"/>
                <a:ea typeface="Poppins Semi-Bold"/>
                <a:cs typeface="Poppins Semi-Bold"/>
                <a:sym typeface="Poppins Semi-Bold"/>
              </a:rPr>
              <a:t>$"{soma}"</a:t>
            </a:r>
            <a:r>
              <a:rPr lang="en-US" sz="3900" b="1">
                <a:solidFill>
                  <a:srgbClr val="FFFFFF"/>
                </a:solidFill>
                <a:latin typeface="Poppins Semi-Bold"/>
                <a:ea typeface="Poppins Semi-Bold"/>
                <a:cs typeface="Poppins Semi-Bold"/>
                <a:sym typeface="Poppins Semi-Bold"/>
              </a:rPr>
              <a:t>); } </a:t>
            </a:r>
            <a:r>
              <a:rPr lang="en-US" sz="3900" b="1">
                <a:solidFill>
                  <a:srgbClr val="3C67BF"/>
                </a:solidFill>
                <a:latin typeface="Poppins Semi-Bold"/>
                <a:ea typeface="Poppins Semi-Bold"/>
                <a:cs typeface="Poppins Semi-Bold"/>
                <a:sym typeface="Poppins Semi-Bold"/>
              </a:rPr>
              <a:t>static int</a:t>
            </a:r>
            <a:r>
              <a:rPr lang="en-US" sz="3900" b="1">
                <a:solidFill>
                  <a:srgbClr val="FFFFFF"/>
                </a:solidFill>
                <a:latin typeface="Poppins Semi-Bold"/>
                <a:ea typeface="Poppins Semi-Bold"/>
                <a:cs typeface="Poppins Semi-Bold"/>
                <a:sym typeface="Poppins Semi-Bold"/>
              </a:rPr>
              <a:t> </a:t>
            </a:r>
            <a:r>
              <a:rPr lang="en-US" sz="3900" b="1">
                <a:solidFill>
                  <a:srgbClr val="FFCB85"/>
                </a:solidFill>
                <a:latin typeface="Poppins Semi-Bold"/>
                <a:ea typeface="Poppins Semi-Bold"/>
                <a:cs typeface="Poppins Semi-Bold"/>
                <a:sym typeface="Poppins Semi-Bold"/>
              </a:rPr>
              <a:t>SomarNumeros</a:t>
            </a:r>
            <a:r>
              <a:rPr lang="en-US" sz="3900" b="1">
                <a:solidFill>
                  <a:srgbClr val="FFFFFF"/>
                </a:solidFill>
                <a:latin typeface="Poppins Semi-Bold"/>
                <a:ea typeface="Poppins Semi-Bold"/>
                <a:cs typeface="Poppins Semi-Bold"/>
                <a:sym typeface="Poppins Semi-Bold"/>
              </a:rPr>
              <a:t>(){  </a:t>
            </a:r>
            <a:r>
              <a:rPr lang="en-US" sz="3900" b="1">
                <a:solidFill>
                  <a:srgbClr val="3C67BF"/>
                </a:solidFill>
                <a:latin typeface="Poppins Semi-Bold"/>
                <a:ea typeface="Poppins Semi-Bold"/>
                <a:cs typeface="Poppins Semi-Bold"/>
                <a:sym typeface="Poppins Semi-Bold"/>
              </a:rPr>
              <a:t>int </a:t>
            </a:r>
            <a:r>
              <a:rPr lang="en-US" sz="3900" b="1">
                <a:solidFill>
                  <a:srgbClr val="FFFFFF"/>
                </a:solidFill>
                <a:latin typeface="Poppins Semi-Bold"/>
                <a:ea typeface="Poppins Semi-Bold"/>
                <a:cs typeface="Poppins Semi-Bold"/>
                <a:sym typeface="Poppins Semi-Bold"/>
              </a:rPr>
              <a:t>numero1 = 10;  </a:t>
            </a:r>
            <a:r>
              <a:rPr lang="en-US" sz="3900" b="1">
                <a:solidFill>
                  <a:srgbClr val="3C67BF"/>
                </a:solidFill>
                <a:latin typeface="Poppins Semi-Bold"/>
                <a:ea typeface="Poppins Semi-Bold"/>
                <a:cs typeface="Poppins Semi-Bold"/>
                <a:sym typeface="Poppins Semi-Bold"/>
              </a:rPr>
              <a:t>int </a:t>
            </a:r>
            <a:r>
              <a:rPr lang="en-US" sz="3900" b="1">
                <a:solidFill>
                  <a:srgbClr val="FFFFFF"/>
                </a:solidFill>
                <a:latin typeface="Poppins Semi-Bold"/>
                <a:ea typeface="Poppins Semi-Bold"/>
                <a:cs typeface="Poppins Semi-Bold"/>
                <a:sym typeface="Poppins Semi-Bold"/>
              </a:rPr>
              <a:t>numero2 = 20;  </a:t>
            </a:r>
            <a:r>
              <a:rPr lang="en-US" sz="3900" b="1">
                <a:solidFill>
                  <a:srgbClr val="3C67BF"/>
                </a:solidFill>
                <a:latin typeface="Poppins Semi-Bold"/>
                <a:ea typeface="Poppins Semi-Bold"/>
                <a:cs typeface="Poppins Semi-Bold"/>
                <a:sym typeface="Poppins Semi-Bold"/>
              </a:rPr>
              <a:t>return</a:t>
            </a:r>
            <a:r>
              <a:rPr lang="en-US" sz="3900" b="1">
                <a:solidFill>
                  <a:srgbClr val="FFFFFF"/>
                </a:solidFill>
                <a:latin typeface="Poppins Semi-Bold"/>
                <a:ea typeface="Poppins Semi-Bold"/>
                <a:cs typeface="Poppins Semi-Bold"/>
                <a:sym typeface="Poppins Semi-Bold"/>
              </a:rPr>
              <a:t> numero1 + numero2; }</a:t>
            </a:r>
          </a:p>
        </p:txBody>
      </p:sp>
      <p:sp>
        <p:nvSpPr>
          <p:cNvPr id="4" name="TextBox 4"/>
          <p:cNvSpPr txBox="1"/>
          <p:nvPr/>
        </p:nvSpPr>
        <p:spPr>
          <a:xfrm>
            <a:off x="10389127" y="5181038"/>
            <a:ext cx="7285453" cy="1442085"/>
          </a:xfrm>
          <a:prstGeom prst="rect">
            <a:avLst/>
          </a:prstGeom>
        </p:spPr>
        <p:txBody>
          <a:bodyPr lIns="0" tIns="0" rIns="0" bIns="0" rtlCol="0" anchor="t">
            <a:spAutoFit/>
          </a:bodyPr>
          <a:lstStyle/>
          <a:p>
            <a:pPr algn="l">
              <a:lnSpc>
                <a:spcPts val="3600"/>
              </a:lnSpc>
            </a:pPr>
            <a:r>
              <a:rPr lang="en-US" sz="3000" b="1">
                <a:solidFill>
                  <a:srgbClr val="FFFFFF"/>
                </a:solidFill>
                <a:latin typeface="Poppins Semi-Bold"/>
                <a:ea typeface="Poppins Semi-Bold"/>
                <a:cs typeface="Poppins Semi-Bold"/>
                <a:sym typeface="Poppins Semi-Bold"/>
              </a:rPr>
              <a:t>Vamos utilizar parâmetros no método SomarNumeros para deixar ele mais dinâmico.</a:t>
            </a: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8648700" y="2959103"/>
            <a:ext cx="2057400" cy="1638300"/>
          </a:xfrm>
          <a:custGeom>
            <a:avLst/>
            <a:gdLst/>
            <a:ahLst/>
            <a:cxnLst/>
            <a:rect l="l" t="t" r="r" b="b"/>
            <a:pathLst>
              <a:path w="2057400" h="1638300">
                <a:moveTo>
                  <a:pt x="0" y="0"/>
                </a:moveTo>
                <a:lnTo>
                  <a:pt x="2057400" y="0"/>
                </a:lnTo>
                <a:lnTo>
                  <a:pt x="2057400" y="1638300"/>
                </a:lnTo>
                <a:lnTo>
                  <a:pt x="0" y="1638300"/>
                </a:lnTo>
                <a:lnTo>
                  <a:pt x="0" y="0"/>
                </a:lnTo>
                <a:close/>
              </a:path>
            </a:pathLst>
          </a:custGeom>
          <a:blipFill>
            <a:blip r:embed="rId2"/>
            <a:stretch>
              <a:fillRect/>
            </a:stretch>
          </a:blipFill>
        </p:spPr>
      </p:sp>
      <p:sp>
        <p:nvSpPr>
          <p:cNvPr id="3" name="Freeform 3"/>
          <p:cNvSpPr/>
          <p:nvPr/>
        </p:nvSpPr>
        <p:spPr>
          <a:xfrm>
            <a:off x="8664369" y="4220480"/>
            <a:ext cx="366646" cy="357873"/>
          </a:xfrm>
          <a:custGeom>
            <a:avLst/>
            <a:gdLst/>
            <a:ahLst/>
            <a:cxnLst/>
            <a:rect l="l" t="t" r="r" b="b"/>
            <a:pathLst>
              <a:path w="366646" h="357873">
                <a:moveTo>
                  <a:pt x="0" y="0"/>
                </a:moveTo>
                <a:lnTo>
                  <a:pt x="366645" y="0"/>
                </a:lnTo>
                <a:lnTo>
                  <a:pt x="366645" y="357873"/>
                </a:lnTo>
                <a:lnTo>
                  <a:pt x="0" y="357873"/>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9118597" y="7759703"/>
            <a:ext cx="1765297" cy="1536697"/>
          </a:xfrm>
          <a:custGeom>
            <a:avLst/>
            <a:gdLst/>
            <a:ahLst/>
            <a:cxnLst/>
            <a:rect l="l" t="t" r="r" b="b"/>
            <a:pathLst>
              <a:path w="1765297" h="1536697">
                <a:moveTo>
                  <a:pt x="0" y="0"/>
                </a:moveTo>
                <a:lnTo>
                  <a:pt x="1765297" y="0"/>
                </a:lnTo>
                <a:lnTo>
                  <a:pt x="1765297" y="1536697"/>
                </a:lnTo>
                <a:lnTo>
                  <a:pt x="0" y="1536697"/>
                </a:lnTo>
                <a:lnTo>
                  <a:pt x="0" y="0"/>
                </a:lnTo>
                <a:close/>
              </a:path>
            </a:pathLst>
          </a:custGeom>
          <a:blipFill>
            <a:blip r:embed="rId5"/>
            <a:stretch>
              <a:fillRect/>
            </a:stretch>
          </a:blipFill>
        </p:spPr>
      </p:sp>
      <p:sp>
        <p:nvSpPr>
          <p:cNvPr id="5" name="Freeform 5"/>
          <p:cNvSpPr/>
          <p:nvPr/>
        </p:nvSpPr>
        <p:spPr>
          <a:xfrm>
            <a:off x="9131132" y="7753864"/>
            <a:ext cx="366027" cy="360902"/>
          </a:xfrm>
          <a:custGeom>
            <a:avLst/>
            <a:gdLst/>
            <a:ahLst/>
            <a:cxnLst/>
            <a:rect l="l" t="t" r="r" b="b"/>
            <a:pathLst>
              <a:path w="366027" h="360902">
                <a:moveTo>
                  <a:pt x="0" y="0"/>
                </a:moveTo>
                <a:lnTo>
                  <a:pt x="366026" y="0"/>
                </a:lnTo>
                <a:lnTo>
                  <a:pt x="366026" y="360903"/>
                </a:lnTo>
                <a:lnTo>
                  <a:pt x="0" y="36090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2865103" y="7746997"/>
            <a:ext cx="1650997" cy="660397"/>
          </a:xfrm>
          <a:custGeom>
            <a:avLst/>
            <a:gdLst/>
            <a:ahLst/>
            <a:cxnLst/>
            <a:rect l="l" t="t" r="r" b="b"/>
            <a:pathLst>
              <a:path w="1650997" h="660397">
                <a:moveTo>
                  <a:pt x="0" y="0"/>
                </a:moveTo>
                <a:lnTo>
                  <a:pt x="1650997" y="0"/>
                </a:lnTo>
                <a:lnTo>
                  <a:pt x="1650997" y="660397"/>
                </a:lnTo>
                <a:lnTo>
                  <a:pt x="0" y="660397"/>
                </a:lnTo>
                <a:lnTo>
                  <a:pt x="0" y="0"/>
                </a:lnTo>
                <a:close/>
              </a:path>
            </a:pathLst>
          </a:custGeom>
          <a:blipFill>
            <a:blip r:embed="rId8"/>
            <a:stretch>
              <a:fillRect/>
            </a:stretch>
          </a:blipFill>
        </p:spPr>
      </p:sp>
      <p:sp>
        <p:nvSpPr>
          <p:cNvPr id="7" name="Freeform 7"/>
          <p:cNvSpPr/>
          <p:nvPr/>
        </p:nvSpPr>
        <p:spPr>
          <a:xfrm>
            <a:off x="12866065" y="7658548"/>
            <a:ext cx="354730" cy="401155"/>
          </a:xfrm>
          <a:custGeom>
            <a:avLst/>
            <a:gdLst/>
            <a:ahLst/>
            <a:cxnLst/>
            <a:rect l="l" t="t" r="r" b="b"/>
            <a:pathLst>
              <a:path w="354730" h="401155">
                <a:moveTo>
                  <a:pt x="0" y="0"/>
                </a:moveTo>
                <a:lnTo>
                  <a:pt x="354730" y="0"/>
                </a:lnTo>
                <a:lnTo>
                  <a:pt x="354730" y="401155"/>
                </a:lnTo>
                <a:lnTo>
                  <a:pt x="0" y="40115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8" name="Freeform 8"/>
          <p:cNvSpPr/>
          <p:nvPr/>
        </p:nvSpPr>
        <p:spPr>
          <a:xfrm>
            <a:off x="4229100" y="8318497"/>
            <a:ext cx="850897" cy="774697"/>
          </a:xfrm>
          <a:custGeom>
            <a:avLst/>
            <a:gdLst/>
            <a:ahLst/>
            <a:cxnLst/>
            <a:rect l="l" t="t" r="r" b="b"/>
            <a:pathLst>
              <a:path w="850897" h="774697">
                <a:moveTo>
                  <a:pt x="0" y="0"/>
                </a:moveTo>
                <a:lnTo>
                  <a:pt x="850897" y="0"/>
                </a:lnTo>
                <a:lnTo>
                  <a:pt x="850897" y="774697"/>
                </a:lnTo>
                <a:lnTo>
                  <a:pt x="0" y="774697"/>
                </a:lnTo>
                <a:lnTo>
                  <a:pt x="0" y="0"/>
                </a:lnTo>
                <a:close/>
              </a:path>
            </a:pathLst>
          </a:custGeom>
          <a:blipFill>
            <a:blip r:embed="rId11"/>
            <a:stretch>
              <a:fillRect/>
            </a:stretch>
          </a:blipFill>
        </p:spPr>
      </p:sp>
      <p:sp>
        <p:nvSpPr>
          <p:cNvPr id="9" name="Freeform 9"/>
          <p:cNvSpPr/>
          <p:nvPr/>
        </p:nvSpPr>
        <p:spPr>
          <a:xfrm>
            <a:off x="4231653" y="8326564"/>
            <a:ext cx="365646" cy="361845"/>
          </a:xfrm>
          <a:custGeom>
            <a:avLst/>
            <a:gdLst/>
            <a:ahLst/>
            <a:cxnLst/>
            <a:rect l="l" t="t" r="r" b="b"/>
            <a:pathLst>
              <a:path w="365646" h="361845">
                <a:moveTo>
                  <a:pt x="0" y="0"/>
                </a:moveTo>
                <a:lnTo>
                  <a:pt x="365645" y="0"/>
                </a:lnTo>
                <a:lnTo>
                  <a:pt x="365645" y="361846"/>
                </a:lnTo>
                <a:lnTo>
                  <a:pt x="0" y="36184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sp>
        <p:nvSpPr>
          <p:cNvPr id="10" name="Freeform 10"/>
          <p:cNvSpPr/>
          <p:nvPr/>
        </p:nvSpPr>
        <p:spPr>
          <a:xfrm>
            <a:off x="5029200" y="8318497"/>
            <a:ext cx="901703" cy="787403"/>
          </a:xfrm>
          <a:custGeom>
            <a:avLst/>
            <a:gdLst/>
            <a:ahLst/>
            <a:cxnLst/>
            <a:rect l="l" t="t" r="r" b="b"/>
            <a:pathLst>
              <a:path w="901703" h="787403">
                <a:moveTo>
                  <a:pt x="0" y="0"/>
                </a:moveTo>
                <a:lnTo>
                  <a:pt x="901703" y="0"/>
                </a:lnTo>
                <a:lnTo>
                  <a:pt x="901703" y="787403"/>
                </a:lnTo>
                <a:lnTo>
                  <a:pt x="0" y="787403"/>
                </a:lnTo>
                <a:lnTo>
                  <a:pt x="0" y="0"/>
                </a:lnTo>
                <a:close/>
              </a:path>
            </a:pathLst>
          </a:custGeom>
          <a:blipFill>
            <a:blip r:embed="rId14"/>
            <a:stretch>
              <a:fillRect/>
            </a:stretch>
          </a:blipFill>
        </p:spPr>
      </p:sp>
      <p:sp>
        <p:nvSpPr>
          <p:cNvPr id="11" name="Freeform 11"/>
          <p:cNvSpPr/>
          <p:nvPr/>
        </p:nvSpPr>
        <p:spPr>
          <a:xfrm>
            <a:off x="4146671" y="8240049"/>
            <a:ext cx="1857089" cy="925097"/>
          </a:xfrm>
          <a:custGeom>
            <a:avLst/>
            <a:gdLst/>
            <a:ahLst/>
            <a:cxnLst/>
            <a:rect l="l" t="t" r="r" b="b"/>
            <a:pathLst>
              <a:path w="1857089" h="925097">
                <a:moveTo>
                  <a:pt x="0" y="0"/>
                </a:moveTo>
                <a:lnTo>
                  <a:pt x="1857089" y="0"/>
                </a:lnTo>
                <a:lnTo>
                  <a:pt x="1857089" y="925097"/>
                </a:lnTo>
                <a:lnTo>
                  <a:pt x="0" y="925097"/>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sp>
      <p:grpSp>
        <p:nvGrpSpPr>
          <p:cNvPr id="12" name="Group 12"/>
          <p:cNvGrpSpPr>
            <a:grpSpLocks noChangeAspect="1"/>
          </p:cNvGrpSpPr>
          <p:nvPr/>
        </p:nvGrpSpPr>
        <p:grpSpPr>
          <a:xfrm>
            <a:off x="8643318" y="2939205"/>
            <a:ext cx="2070792" cy="1660274"/>
            <a:chOff x="0" y="0"/>
            <a:chExt cx="2070798" cy="1660271"/>
          </a:xfrm>
        </p:grpSpPr>
        <p:sp>
          <p:nvSpPr>
            <p:cNvPr id="13" name="Freeform 13"/>
            <p:cNvSpPr/>
            <p:nvPr/>
          </p:nvSpPr>
          <p:spPr>
            <a:xfrm>
              <a:off x="0" y="0"/>
              <a:ext cx="2070735" cy="1660271"/>
            </a:xfrm>
            <a:custGeom>
              <a:avLst/>
              <a:gdLst/>
              <a:ahLst/>
              <a:cxnLst/>
              <a:rect l="l" t="t" r="r" b="b"/>
              <a:pathLst>
                <a:path w="2070735" h="1660271">
                  <a:moveTo>
                    <a:pt x="0" y="1660271"/>
                  </a:moveTo>
                  <a:lnTo>
                    <a:pt x="2070735" y="1660271"/>
                  </a:lnTo>
                  <a:lnTo>
                    <a:pt x="2070735" y="0"/>
                  </a:lnTo>
                  <a:lnTo>
                    <a:pt x="0" y="0"/>
                  </a:lnTo>
                  <a:close/>
                </a:path>
              </a:pathLst>
            </a:custGeom>
            <a:solidFill>
              <a:srgbClr val="000000">
                <a:alpha val="0"/>
              </a:srgbClr>
            </a:solidFill>
          </p:spPr>
        </p:sp>
      </p:grpSp>
      <p:grpSp>
        <p:nvGrpSpPr>
          <p:cNvPr id="14" name="Group 14"/>
          <p:cNvGrpSpPr>
            <a:grpSpLocks noChangeAspect="1"/>
          </p:cNvGrpSpPr>
          <p:nvPr/>
        </p:nvGrpSpPr>
        <p:grpSpPr>
          <a:xfrm>
            <a:off x="9442199" y="8314601"/>
            <a:ext cx="2069821" cy="384172"/>
            <a:chOff x="0" y="0"/>
            <a:chExt cx="2069821" cy="384175"/>
          </a:xfrm>
        </p:grpSpPr>
        <p:sp>
          <p:nvSpPr>
            <p:cNvPr id="15" name="Freeform 15"/>
            <p:cNvSpPr/>
            <p:nvPr/>
          </p:nvSpPr>
          <p:spPr>
            <a:xfrm>
              <a:off x="63500" y="63500"/>
              <a:ext cx="1790446" cy="104775"/>
            </a:xfrm>
            <a:custGeom>
              <a:avLst/>
              <a:gdLst/>
              <a:ahLst/>
              <a:cxnLst/>
              <a:rect l="l" t="t" r="r" b="b"/>
              <a:pathLst>
                <a:path w="1790446" h="104775">
                  <a:moveTo>
                    <a:pt x="0" y="104775"/>
                  </a:moveTo>
                  <a:lnTo>
                    <a:pt x="1790446" y="104775"/>
                  </a:lnTo>
                  <a:lnTo>
                    <a:pt x="1790446" y="0"/>
                  </a:lnTo>
                  <a:lnTo>
                    <a:pt x="0" y="0"/>
                  </a:lnTo>
                  <a:close/>
                </a:path>
              </a:pathLst>
            </a:custGeom>
            <a:solidFill>
              <a:srgbClr val="000000">
                <a:alpha val="0"/>
              </a:srgbClr>
            </a:solidFill>
          </p:spPr>
        </p:sp>
        <p:sp>
          <p:nvSpPr>
            <p:cNvPr id="16" name="Freeform 16"/>
            <p:cNvSpPr/>
            <p:nvPr/>
          </p:nvSpPr>
          <p:spPr>
            <a:xfrm>
              <a:off x="215900" y="215900"/>
              <a:ext cx="1790446" cy="104775"/>
            </a:xfrm>
            <a:custGeom>
              <a:avLst/>
              <a:gdLst/>
              <a:ahLst/>
              <a:cxnLst/>
              <a:rect l="l" t="t" r="r" b="b"/>
              <a:pathLst>
                <a:path w="1790446" h="104775">
                  <a:moveTo>
                    <a:pt x="0" y="104775"/>
                  </a:moveTo>
                  <a:lnTo>
                    <a:pt x="1790446" y="104775"/>
                  </a:lnTo>
                  <a:lnTo>
                    <a:pt x="1790446" y="0"/>
                  </a:lnTo>
                  <a:lnTo>
                    <a:pt x="0" y="0"/>
                  </a:lnTo>
                  <a:close/>
                </a:path>
              </a:pathLst>
            </a:custGeom>
            <a:solidFill>
              <a:srgbClr val="000000">
                <a:alpha val="0"/>
              </a:srgbClr>
            </a:solidFill>
          </p:spPr>
        </p:sp>
      </p:grpSp>
      <p:sp>
        <p:nvSpPr>
          <p:cNvPr id="17" name="TextBox 17"/>
          <p:cNvSpPr txBox="1"/>
          <p:nvPr/>
        </p:nvSpPr>
        <p:spPr>
          <a:xfrm>
            <a:off x="5646239" y="324326"/>
            <a:ext cx="713520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Métodos/Funções</a:t>
            </a:r>
          </a:p>
        </p:txBody>
      </p:sp>
      <p:sp>
        <p:nvSpPr>
          <p:cNvPr id="18" name="TextBox 18"/>
          <p:cNvSpPr txBox="1"/>
          <p:nvPr/>
        </p:nvSpPr>
        <p:spPr>
          <a:xfrm>
            <a:off x="11562217" y="2104463"/>
            <a:ext cx="116586" cy="651510"/>
          </a:xfrm>
          <a:prstGeom prst="rect">
            <a:avLst/>
          </a:prstGeom>
        </p:spPr>
        <p:txBody>
          <a:bodyPr lIns="0" tIns="0" rIns="0" bIns="0" rtlCol="0" anchor="t">
            <a:spAutoFit/>
          </a:bodyPr>
          <a:lstStyle/>
          <a:p>
            <a:pPr algn="l">
              <a:lnSpc>
                <a:spcPts val="4911"/>
              </a:lnSpc>
            </a:pPr>
            <a:r>
              <a:rPr lang="en-US" sz="3000" b="1">
                <a:solidFill>
                  <a:srgbClr val="FFFFFF"/>
                </a:solidFill>
                <a:latin typeface="Poppins Semi-Bold"/>
                <a:ea typeface="Poppins Semi-Bold"/>
                <a:cs typeface="Poppins Semi-Bold"/>
                <a:sym typeface="Poppins Semi-Bold"/>
              </a:rPr>
              <a:t> </a:t>
            </a:r>
          </a:p>
        </p:txBody>
      </p:sp>
      <p:sp>
        <p:nvSpPr>
          <p:cNvPr id="19" name="TextBox 19"/>
          <p:cNvSpPr txBox="1"/>
          <p:nvPr/>
        </p:nvSpPr>
        <p:spPr>
          <a:xfrm>
            <a:off x="164983" y="2714177"/>
            <a:ext cx="13884764" cy="6163818"/>
          </a:xfrm>
          <a:prstGeom prst="rect">
            <a:avLst/>
          </a:prstGeom>
        </p:spPr>
        <p:txBody>
          <a:bodyPr lIns="0" tIns="0" rIns="0" bIns="0" rtlCol="0" anchor="t">
            <a:spAutoFit/>
          </a:bodyPr>
          <a:lstStyle/>
          <a:p>
            <a:pPr algn="l">
              <a:lnSpc>
                <a:spcPts val="6384"/>
              </a:lnSpc>
            </a:pPr>
            <a:r>
              <a:rPr lang="en-US" sz="3900" b="1">
                <a:solidFill>
                  <a:srgbClr val="FFFFFF"/>
                </a:solidFill>
                <a:latin typeface="Poppins Semi-Bold"/>
                <a:ea typeface="Poppins Semi-Bold"/>
                <a:cs typeface="Poppins Semi-Bold"/>
                <a:sym typeface="Poppins Semi-Bold"/>
              </a:rPr>
              <a:t>Vejamos esse exemplo anterior:</a:t>
            </a:r>
          </a:p>
          <a:p>
            <a:pPr algn="l">
              <a:lnSpc>
                <a:spcPts val="9750"/>
              </a:lnSpc>
            </a:pPr>
            <a:r>
              <a:rPr lang="en-US" sz="3900" b="1">
                <a:solidFill>
                  <a:srgbClr val="3C67BF"/>
                </a:solidFill>
                <a:latin typeface="Poppins Semi-Bold"/>
                <a:ea typeface="Poppins Semi-Bold"/>
                <a:cs typeface="Poppins Semi-Bold"/>
                <a:sym typeface="Poppins Semi-Bold"/>
              </a:rPr>
              <a:t>static void</a:t>
            </a:r>
            <a:r>
              <a:rPr lang="en-US" sz="3900" b="1">
                <a:solidFill>
                  <a:srgbClr val="FFFFFF"/>
                </a:solidFill>
                <a:latin typeface="Poppins Semi-Bold"/>
                <a:ea typeface="Poppins Semi-Bold"/>
                <a:cs typeface="Poppins Semi-Bold"/>
                <a:sym typeface="Poppins Semi-Bold"/>
              </a:rPr>
              <a:t> </a:t>
            </a:r>
            <a:r>
              <a:rPr lang="en-US" sz="3900" b="1">
                <a:solidFill>
                  <a:srgbClr val="FFCB85"/>
                </a:solidFill>
                <a:latin typeface="Poppins Semi-Bold"/>
                <a:ea typeface="Poppins Semi-Bold"/>
                <a:cs typeface="Poppins Semi-Bold"/>
                <a:sym typeface="Poppins Semi-Bold"/>
              </a:rPr>
              <a:t>Main</a:t>
            </a:r>
            <a:r>
              <a:rPr lang="en-US" sz="3900" b="1">
                <a:solidFill>
                  <a:srgbClr val="FFFFFF"/>
                </a:solidFill>
                <a:latin typeface="Poppins Semi-Bold"/>
                <a:ea typeface="Poppins Semi-Bold"/>
                <a:cs typeface="Poppins Semi-Bold"/>
                <a:sym typeface="Poppins Semi-Bold"/>
              </a:rPr>
              <a:t>(){</a:t>
            </a:r>
          </a:p>
          <a:p>
            <a:pPr algn="l">
              <a:lnSpc>
                <a:spcPts val="1950"/>
              </a:lnSpc>
            </a:pPr>
            <a:r>
              <a:rPr lang="en-US" sz="3900" b="1">
                <a:solidFill>
                  <a:srgbClr val="FFFFFF"/>
                </a:solidFill>
                <a:latin typeface="Poppins Semi-Bold"/>
                <a:ea typeface="Poppins Semi-Bold"/>
                <a:cs typeface="Poppins Semi-Bold"/>
                <a:sym typeface="Poppins Semi-Bold"/>
              </a:rPr>
              <a:t> </a:t>
            </a:r>
            <a:r>
              <a:rPr lang="en-US" sz="3900" b="1">
                <a:solidFill>
                  <a:srgbClr val="3C67BF"/>
                </a:solidFill>
                <a:latin typeface="Poppins Semi-Bold"/>
                <a:ea typeface="Poppins Semi-Bold"/>
                <a:cs typeface="Poppins Semi-Bold"/>
                <a:sym typeface="Poppins Semi-Bold"/>
              </a:rPr>
              <a:t>int </a:t>
            </a:r>
            <a:r>
              <a:rPr lang="en-US" sz="3900" b="1">
                <a:solidFill>
                  <a:srgbClr val="FFFFFF"/>
                </a:solidFill>
                <a:latin typeface="Poppins Semi-Bold"/>
                <a:ea typeface="Poppins Semi-Bold"/>
                <a:cs typeface="Poppins Semi-Bold"/>
                <a:sym typeface="Poppins Semi-Bold"/>
              </a:rPr>
              <a:t>soma = </a:t>
            </a:r>
            <a:r>
              <a:rPr lang="en-US" sz="3900" b="1">
                <a:solidFill>
                  <a:srgbClr val="FFCB85"/>
                </a:solidFill>
                <a:latin typeface="Poppins Semi-Bold"/>
                <a:ea typeface="Poppins Semi-Bold"/>
                <a:cs typeface="Poppins Semi-Bold"/>
                <a:sym typeface="Poppins Semi-Bold"/>
              </a:rPr>
              <a:t>SomarNumeros</a:t>
            </a:r>
            <a:r>
              <a:rPr lang="en-US" sz="3900" b="1">
                <a:solidFill>
                  <a:srgbClr val="FFFFFF"/>
                </a:solidFill>
                <a:latin typeface="Poppins Semi-Bold"/>
                <a:ea typeface="Poppins Semi-Bold"/>
                <a:cs typeface="Poppins Semi-Bold"/>
                <a:sym typeface="Poppins Semi-Bold"/>
              </a:rPr>
              <a:t>(10,20);</a:t>
            </a:r>
          </a:p>
          <a:p>
            <a:pPr algn="l">
              <a:lnSpc>
                <a:spcPts val="7351"/>
              </a:lnSpc>
            </a:pPr>
            <a:r>
              <a:rPr lang="en-US" sz="3900" b="1">
                <a:solidFill>
                  <a:srgbClr val="FFFFFF"/>
                </a:solidFill>
                <a:latin typeface="Poppins Semi-Bold"/>
                <a:ea typeface="Poppins Semi-Bold"/>
                <a:cs typeface="Poppins Semi-Bold"/>
                <a:sym typeface="Poppins Semi-Bold"/>
              </a:rPr>
              <a:t> </a:t>
            </a:r>
            <a:r>
              <a:rPr lang="en-US" sz="3900" b="1">
                <a:solidFill>
                  <a:srgbClr val="7ED957"/>
                </a:solidFill>
                <a:latin typeface="Poppins Semi-Bold"/>
                <a:ea typeface="Poppins Semi-Bold"/>
                <a:cs typeface="Poppins Semi-Bold"/>
                <a:sym typeface="Poppins Semi-Bold"/>
              </a:rPr>
              <a:t>Console</a:t>
            </a:r>
            <a:r>
              <a:rPr lang="en-US" sz="3900" b="1">
                <a:solidFill>
                  <a:srgbClr val="FFFFFF"/>
                </a:solidFill>
                <a:latin typeface="Poppins Semi-Bold"/>
                <a:ea typeface="Poppins Semi-Bold"/>
                <a:cs typeface="Poppins Semi-Bold"/>
                <a:sym typeface="Poppins Semi-Bold"/>
              </a:rPr>
              <a:t>.</a:t>
            </a:r>
            <a:r>
              <a:rPr lang="en-US" sz="3900" b="1">
                <a:solidFill>
                  <a:srgbClr val="FFCB85"/>
                </a:solidFill>
                <a:latin typeface="Poppins Semi-Bold"/>
                <a:ea typeface="Poppins Semi-Bold"/>
                <a:cs typeface="Poppins Semi-Bold"/>
                <a:sym typeface="Poppins Semi-Bold"/>
              </a:rPr>
              <a:t>WriteLine</a:t>
            </a:r>
            <a:r>
              <a:rPr lang="en-US" sz="3900" b="1">
                <a:solidFill>
                  <a:srgbClr val="FFFFFF"/>
                </a:solidFill>
                <a:latin typeface="Poppins Semi-Bold"/>
                <a:ea typeface="Poppins Semi-Bold"/>
                <a:cs typeface="Poppins Semi-Bold"/>
                <a:sym typeface="Poppins Semi-Bold"/>
              </a:rPr>
              <a:t>(</a:t>
            </a:r>
            <a:r>
              <a:rPr lang="en-US" sz="3900" b="1">
                <a:solidFill>
                  <a:srgbClr val="FFCB85"/>
                </a:solidFill>
                <a:latin typeface="Poppins Semi-Bold"/>
                <a:ea typeface="Poppins Semi-Bold"/>
                <a:cs typeface="Poppins Semi-Bold"/>
                <a:sym typeface="Poppins Semi-Bold"/>
              </a:rPr>
              <a:t>$"{soma}"</a:t>
            </a:r>
            <a:r>
              <a:rPr lang="en-US" sz="3900" b="1">
                <a:solidFill>
                  <a:srgbClr val="FFFFFF"/>
                </a:solidFill>
                <a:latin typeface="Poppins Semi-Bold"/>
                <a:ea typeface="Poppins Semi-Bold"/>
                <a:cs typeface="Poppins Semi-Bold"/>
                <a:sym typeface="Poppins Semi-Bold"/>
              </a:rPr>
              <a:t>);</a:t>
            </a:r>
          </a:p>
          <a:p>
            <a:pPr algn="l">
              <a:lnSpc>
                <a:spcPts val="1950"/>
              </a:lnSpc>
            </a:pPr>
            <a:r>
              <a:rPr lang="en-US" sz="3900" b="1">
                <a:solidFill>
                  <a:srgbClr val="FFFFFF"/>
                </a:solidFill>
                <a:latin typeface="Poppins Semi-Bold"/>
                <a:ea typeface="Poppins Semi-Bold"/>
                <a:cs typeface="Poppins Semi-Bold"/>
                <a:sym typeface="Poppins Semi-Bold"/>
              </a:rPr>
              <a:t>}</a:t>
            </a:r>
          </a:p>
          <a:p>
            <a:pPr algn="l">
              <a:lnSpc>
                <a:spcPts val="9750"/>
              </a:lnSpc>
            </a:pPr>
            <a:r>
              <a:rPr lang="en-US" sz="3900" b="1">
                <a:solidFill>
                  <a:srgbClr val="3C67BF"/>
                </a:solidFill>
                <a:latin typeface="Poppins Semi-Bold"/>
                <a:ea typeface="Poppins Semi-Bold"/>
                <a:cs typeface="Poppins Semi-Bold"/>
                <a:sym typeface="Poppins Semi-Bold"/>
              </a:rPr>
              <a:t>static int</a:t>
            </a:r>
            <a:r>
              <a:rPr lang="en-US" sz="3900" b="1">
                <a:solidFill>
                  <a:srgbClr val="FFFFFF"/>
                </a:solidFill>
                <a:latin typeface="Poppins Semi-Bold"/>
                <a:ea typeface="Poppins Semi-Bold"/>
                <a:cs typeface="Poppins Semi-Bold"/>
                <a:sym typeface="Poppins Semi-Bold"/>
              </a:rPr>
              <a:t> </a:t>
            </a:r>
            <a:r>
              <a:rPr lang="en-US" sz="3900" b="1">
                <a:solidFill>
                  <a:srgbClr val="FFCB85"/>
                </a:solidFill>
                <a:latin typeface="Poppins Semi-Bold"/>
                <a:ea typeface="Poppins Semi-Bold"/>
                <a:cs typeface="Poppins Semi-Bold"/>
                <a:sym typeface="Poppins Semi-Bold"/>
              </a:rPr>
              <a:t>SomarNumeros</a:t>
            </a:r>
            <a:r>
              <a:rPr lang="en-US" sz="3900" b="1">
                <a:solidFill>
                  <a:srgbClr val="FFFFFF"/>
                </a:solidFill>
                <a:latin typeface="Poppins Semi-Bold"/>
                <a:ea typeface="Poppins Semi-Bold"/>
                <a:cs typeface="Poppins Semi-Bold"/>
                <a:sym typeface="Poppins Semi-Bold"/>
              </a:rPr>
              <a:t>(</a:t>
            </a:r>
            <a:r>
              <a:rPr lang="en-US" sz="3900" b="1">
                <a:solidFill>
                  <a:srgbClr val="3C67BF"/>
                </a:solidFill>
                <a:latin typeface="Poppins Semi-Bold"/>
                <a:ea typeface="Poppins Semi-Bold"/>
                <a:cs typeface="Poppins Semi-Bold"/>
                <a:sym typeface="Poppins Semi-Bold"/>
              </a:rPr>
              <a:t>int </a:t>
            </a:r>
            <a:r>
              <a:rPr lang="en-US" sz="3900" b="1">
                <a:solidFill>
                  <a:srgbClr val="FFFFFF"/>
                </a:solidFill>
                <a:latin typeface="Poppins Semi-Bold"/>
                <a:ea typeface="Poppins Semi-Bold"/>
                <a:cs typeface="Poppins Semi-Bold"/>
                <a:sym typeface="Poppins Semi-Bold"/>
              </a:rPr>
              <a:t>numero1, </a:t>
            </a:r>
            <a:r>
              <a:rPr lang="en-US" sz="3900" b="1">
                <a:solidFill>
                  <a:srgbClr val="3C67BF"/>
                </a:solidFill>
                <a:latin typeface="Poppins Semi-Bold"/>
                <a:ea typeface="Poppins Semi-Bold"/>
                <a:cs typeface="Poppins Semi-Bold"/>
                <a:sym typeface="Poppins Semi-Bold"/>
              </a:rPr>
              <a:t>int </a:t>
            </a:r>
            <a:r>
              <a:rPr lang="en-US" sz="3900" b="1">
                <a:solidFill>
                  <a:srgbClr val="FFFFFF"/>
                </a:solidFill>
                <a:latin typeface="Poppins Semi-Bold"/>
                <a:ea typeface="Poppins Semi-Bold"/>
                <a:cs typeface="Poppins Semi-Bold"/>
                <a:sym typeface="Poppins Semi-Bold"/>
              </a:rPr>
              <a:t>numero2){</a:t>
            </a:r>
          </a:p>
          <a:p>
            <a:pPr algn="l">
              <a:lnSpc>
                <a:spcPts val="1950"/>
              </a:lnSpc>
            </a:pPr>
            <a:r>
              <a:rPr lang="en-US" sz="3900" b="1">
                <a:solidFill>
                  <a:srgbClr val="FFFFFF"/>
                </a:solidFill>
                <a:latin typeface="Poppins Semi-Bold"/>
                <a:ea typeface="Poppins Semi-Bold"/>
                <a:cs typeface="Poppins Semi-Bold"/>
                <a:sym typeface="Poppins Semi-Bold"/>
              </a:rPr>
              <a:t> </a:t>
            </a:r>
            <a:r>
              <a:rPr lang="en-US" sz="3900" b="1">
                <a:solidFill>
                  <a:srgbClr val="3C67BF"/>
                </a:solidFill>
                <a:latin typeface="Poppins Semi-Bold"/>
                <a:ea typeface="Poppins Semi-Bold"/>
                <a:cs typeface="Poppins Semi-Bold"/>
                <a:sym typeface="Poppins Semi-Bold"/>
              </a:rPr>
              <a:t>return</a:t>
            </a:r>
            <a:r>
              <a:rPr lang="en-US" sz="3900" b="1">
                <a:solidFill>
                  <a:srgbClr val="FFFFFF"/>
                </a:solidFill>
                <a:latin typeface="Poppins Semi-Bold"/>
                <a:ea typeface="Poppins Semi-Bold"/>
                <a:cs typeface="Poppins Semi-Bold"/>
                <a:sym typeface="Poppins Semi-Bold"/>
              </a:rPr>
              <a:t> numero1 + numero2;</a:t>
            </a:r>
          </a:p>
          <a:p>
            <a:pPr algn="l">
              <a:lnSpc>
                <a:spcPts val="7351"/>
              </a:lnSpc>
            </a:pPr>
            <a:r>
              <a:rPr lang="en-US" sz="3900" b="1" spc="3120">
                <a:solidFill>
                  <a:srgbClr val="FFFFFF"/>
                </a:solidFill>
                <a:latin typeface="Poppins Semi-Bold"/>
                <a:ea typeface="Poppins Semi-Bold"/>
                <a:cs typeface="Poppins Semi-Bold"/>
                <a:sym typeface="Poppins Semi-Bold"/>
              </a:rPr>
              <a:t>}</a:t>
            </a:r>
          </a:p>
        </p:txBody>
      </p:sp>
      <p:sp>
        <p:nvSpPr>
          <p:cNvPr id="20" name="TextBox 20"/>
          <p:cNvSpPr txBox="1"/>
          <p:nvPr/>
        </p:nvSpPr>
        <p:spPr>
          <a:xfrm>
            <a:off x="11359182" y="8087106"/>
            <a:ext cx="116586" cy="718185"/>
          </a:xfrm>
          <a:prstGeom prst="rect">
            <a:avLst/>
          </a:prstGeom>
        </p:spPr>
        <p:txBody>
          <a:bodyPr lIns="0" tIns="0" rIns="0" bIns="0" rtlCol="0" anchor="t">
            <a:spAutoFit/>
          </a:bodyPr>
          <a:lstStyle/>
          <a:p>
            <a:pPr algn="l">
              <a:lnSpc>
                <a:spcPts val="5655"/>
              </a:lnSpc>
            </a:pPr>
            <a:r>
              <a:rPr lang="en-US" sz="3000" b="1" spc="2400">
                <a:solidFill>
                  <a:srgbClr val="FFFFFF"/>
                </a:solidFill>
                <a:latin typeface="Poppins Semi-Bold"/>
                <a:ea typeface="Poppins Semi-Bold"/>
                <a:cs typeface="Poppins Semi-Bold"/>
                <a:sym typeface="Poppins Semi-Bold"/>
              </a:rPr>
              <a:t> </a:t>
            </a:r>
          </a:p>
        </p:txBody>
      </p:sp>
      <p:sp>
        <p:nvSpPr>
          <p:cNvPr id="21" name="TextBox 21"/>
          <p:cNvSpPr txBox="1"/>
          <p:nvPr/>
        </p:nvSpPr>
        <p:spPr>
          <a:xfrm>
            <a:off x="1902371" y="8995000"/>
            <a:ext cx="6401343" cy="984885"/>
          </a:xfrm>
          <a:prstGeom prst="rect">
            <a:avLst/>
          </a:prstGeom>
        </p:spPr>
        <p:txBody>
          <a:bodyPr lIns="0" tIns="0" rIns="0" bIns="0" rtlCol="0" anchor="t">
            <a:spAutoFit/>
          </a:bodyPr>
          <a:lstStyle/>
          <a:p>
            <a:pPr algn="ctr">
              <a:lnSpc>
                <a:spcPts val="3600"/>
              </a:lnSpc>
            </a:pPr>
            <a:r>
              <a:rPr lang="en-US" sz="3000" b="1">
                <a:solidFill>
                  <a:srgbClr val="FFFFFF"/>
                </a:solidFill>
                <a:latin typeface="Poppins Semi-Bold"/>
                <a:ea typeface="Poppins Semi-Bold"/>
                <a:cs typeface="Poppins Semi-Bold"/>
                <a:sym typeface="Poppins Semi-Bold"/>
              </a:rPr>
              <a:t>Daeeu possoutilizar dentrodo bloco de código do método.</a:t>
            </a:r>
          </a:p>
        </p:txBody>
      </p:sp>
      <p:sp>
        <p:nvSpPr>
          <p:cNvPr id="22" name="TextBox 22"/>
          <p:cNvSpPr txBox="1"/>
          <p:nvPr/>
        </p:nvSpPr>
        <p:spPr>
          <a:xfrm>
            <a:off x="10852452" y="8277606"/>
            <a:ext cx="5734860" cy="527685"/>
          </a:xfrm>
          <a:prstGeom prst="rect">
            <a:avLst/>
          </a:prstGeom>
        </p:spPr>
        <p:txBody>
          <a:bodyPr lIns="0" tIns="0" rIns="0" bIns="0" rtlCol="0" anchor="t">
            <a:spAutoFit/>
          </a:bodyPr>
          <a:lstStyle/>
          <a:p>
            <a:pPr algn="l">
              <a:lnSpc>
                <a:spcPts val="3600"/>
              </a:lnSpc>
            </a:pPr>
            <a:r>
              <a:rPr lang="en-US" sz="3000" b="1">
                <a:solidFill>
                  <a:srgbClr val="FFFFFF"/>
                </a:solidFill>
                <a:latin typeface="Poppins Semi-Bold"/>
                <a:ea typeface="Poppins Semi-Bold"/>
                <a:cs typeface="Poppins Semi-Bold"/>
                <a:sym typeface="Poppins Semi-Bold"/>
              </a:rPr>
              <a:t>Osnúmeros sãorecebidos e</a:t>
            </a:r>
          </a:p>
        </p:txBody>
      </p:sp>
      <p:sp>
        <p:nvSpPr>
          <p:cNvPr id="23" name="TextBox 23"/>
          <p:cNvSpPr txBox="1"/>
          <p:nvPr/>
        </p:nvSpPr>
        <p:spPr>
          <a:xfrm>
            <a:off x="10852452" y="8734806"/>
            <a:ext cx="7156047" cy="1442085"/>
          </a:xfrm>
          <a:prstGeom prst="rect">
            <a:avLst/>
          </a:prstGeom>
        </p:spPr>
        <p:txBody>
          <a:bodyPr lIns="0" tIns="0" rIns="0" bIns="0" rtlCol="0" anchor="t">
            <a:spAutoFit/>
          </a:bodyPr>
          <a:lstStyle/>
          <a:p>
            <a:pPr algn="l">
              <a:lnSpc>
                <a:spcPts val="3600"/>
              </a:lnSpc>
            </a:pPr>
            <a:r>
              <a:rPr lang="en-US" sz="3000" b="1">
                <a:solidFill>
                  <a:srgbClr val="FFFFFF"/>
                </a:solidFill>
                <a:latin typeface="Poppins Semi-Bold"/>
                <a:ea typeface="Poppins Semi-Bold"/>
                <a:cs typeface="Poppins Semi-Bold"/>
                <a:sym typeface="Poppins Semi-Bold"/>
              </a:rPr>
              <a:t>armazenados nessas variáveis que estão entre os parenteses, eles são os parâmetros do método.</a:t>
            </a:r>
          </a:p>
        </p:txBody>
      </p:sp>
      <p:sp>
        <p:nvSpPr>
          <p:cNvPr id="24" name="TextBox 24"/>
          <p:cNvSpPr txBox="1"/>
          <p:nvPr/>
        </p:nvSpPr>
        <p:spPr>
          <a:xfrm>
            <a:off x="10681726" y="2228288"/>
            <a:ext cx="7109793" cy="527685"/>
          </a:xfrm>
          <a:prstGeom prst="rect">
            <a:avLst/>
          </a:prstGeom>
        </p:spPr>
        <p:txBody>
          <a:bodyPr lIns="0" tIns="0" rIns="0" bIns="0" rtlCol="0" anchor="t">
            <a:spAutoFit/>
          </a:bodyPr>
          <a:lstStyle/>
          <a:p>
            <a:pPr algn="l">
              <a:lnSpc>
                <a:spcPts val="3600"/>
              </a:lnSpc>
            </a:pPr>
            <a:r>
              <a:rPr lang="en-US" sz="3000" b="1">
                <a:solidFill>
                  <a:srgbClr val="FFFFFF"/>
                </a:solidFill>
                <a:latin typeface="Poppins Semi-Bold"/>
                <a:ea typeface="Poppins Semi-Bold"/>
                <a:cs typeface="Poppins Semi-Bold"/>
                <a:sym typeface="Poppins Semi-Bold"/>
              </a:rPr>
              <a:t>Vejaque eu estounessa linha aqui</a:t>
            </a:r>
          </a:p>
        </p:txBody>
      </p:sp>
      <p:sp>
        <p:nvSpPr>
          <p:cNvPr id="25" name="TextBox 25"/>
          <p:cNvSpPr txBox="1"/>
          <p:nvPr/>
        </p:nvSpPr>
        <p:spPr>
          <a:xfrm>
            <a:off x="10681726" y="2685488"/>
            <a:ext cx="7239591" cy="984885"/>
          </a:xfrm>
          <a:prstGeom prst="rect">
            <a:avLst/>
          </a:prstGeom>
        </p:spPr>
        <p:txBody>
          <a:bodyPr lIns="0" tIns="0" rIns="0" bIns="0" rtlCol="0" anchor="t">
            <a:spAutoFit/>
          </a:bodyPr>
          <a:lstStyle/>
          <a:p>
            <a:pPr algn="l">
              <a:lnSpc>
                <a:spcPts val="3600"/>
              </a:lnSpc>
            </a:pPr>
            <a:r>
              <a:rPr lang="en-US" sz="3000" b="1">
                <a:solidFill>
                  <a:srgbClr val="FFFFFF"/>
                </a:solidFill>
                <a:latin typeface="Poppins Semi-Bold"/>
                <a:ea typeface="Poppins Semi-Bold"/>
                <a:cs typeface="Poppins Semi-Bold"/>
                <a:sym typeface="Poppins Semi-Bold"/>
              </a:rPr>
              <a:t>enviando o número 10 e o 20 para o método SomarNumeros</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5646239" y="371951"/>
            <a:ext cx="7135206" cy="1829362"/>
          </a:xfrm>
          <a:prstGeom prst="rect">
            <a:avLst/>
          </a:prstGeom>
        </p:spPr>
        <p:txBody>
          <a:bodyPr lIns="0" tIns="0" rIns="0" bIns="0" rtlCol="0" anchor="t">
            <a:spAutoFit/>
          </a:bodyPr>
          <a:lstStyle/>
          <a:p>
            <a:pPr algn="ctr">
              <a:lnSpc>
                <a:spcPts val="7885"/>
              </a:lnSpc>
            </a:pPr>
            <a:r>
              <a:rPr lang="en-US" sz="5964" b="1">
                <a:solidFill>
                  <a:srgbClr val="FFFFFF"/>
                </a:solidFill>
                <a:latin typeface="Poppins Semi-Bold"/>
                <a:ea typeface="Poppins Semi-Bold"/>
                <a:cs typeface="Poppins Semi-Bold"/>
                <a:sym typeface="Poppins Semi-Bold"/>
              </a:rPr>
              <a:t>Métodos/Funções</a:t>
            </a:r>
          </a:p>
          <a:p>
            <a:pPr algn="ctr">
              <a:lnSpc>
                <a:spcPts val="7572"/>
              </a:lnSpc>
            </a:pPr>
            <a:r>
              <a:rPr lang="en-US" sz="3799" b="1">
                <a:solidFill>
                  <a:srgbClr val="FFFFFF"/>
                </a:solidFill>
                <a:latin typeface="Poppins Semi-Bold"/>
                <a:ea typeface="Poppins Semi-Bold"/>
                <a:cs typeface="Poppins Semi-Bold"/>
                <a:sym typeface="Poppins Semi-Bold"/>
              </a:rPr>
              <a:t> </a:t>
            </a:r>
          </a:p>
        </p:txBody>
      </p:sp>
      <p:sp>
        <p:nvSpPr>
          <p:cNvPr id="3" name="TextBox 3"/>
          <p:cNvSpPr txBox="1"/>
          <p:nvPr/>
        </p:nvSpPr>
        <p:spPr>
          <a:xfrm>
            <a:off x="164983" y="1585979"/>
            <a:ext cx="18006860" cy="3518202"/>
          </a:xfrm>
          <a:prstGeom prst="rect">
            <a:avLst/>
          </a:prstGeom>
        </p:spPr>
        <p:txBody>
          <a:bodyPr lIns="0" tIns="0" rIns="0" bIns="0" rtlCol="0" anchor="t">
            <a:spAutoFit/>
          </a:bodyPr>
          <a:lstStyle/>
          <a:p>
            <a:pPr algn="l">
              <a:lnSpc>
                <a:spcPts val="4498"/>
              </a:lnSpc>
            </a:pPr>
            <a:r>
              <a:rPr lang="en-US" sz="3799" b="1">
                <a:solidFill>
                  <a:srgbClr val="FFFFFF"/>
                </a:solidFill>
                <a:latin typeface="Poppins Semi-Bold"/>
                <a:ea typeface="Poppins Semi-Bold"/>
                <a:cs typeface="Poppins Semi-Bold"/>
                <a:sym typeface="Poppins Semi-Bold"/>
              </a:rPr>
              <a:t>Existem os parâmetros obrigatóriosque forammostrados nos exemplos anteriores, e também existe os parâmetros opcionais, como no exemplo abaixo: </a:t>
            </a:r>
            <a:r>
              <a:rPr lang="en-US" sz="3799" b="1">
                <a:solidFill>
                  <a:srgbClr val="3C67BF"/>
                </a:solidFill>
                <a:latin typeface="Poppins Semi-Bold"/>
                <a:ea typeface="Poppins Semi-Bold"/>
                <a:cs typeface="Poppins Semi-Bold"/>
                <a:sym typeface="Poppins Semi-Bold"/>
              </a:rPr>
              <a:t>static void</a:t>
            </a:r>
            <a:r>
              <a:rPr lang="en-US" sz="3799" b="1">
                <a:solidFill>
                  <a:srgbClr val="FFFFFF"/>
                </a:solidFill>
                <a:latin typeface="Poppins Semi-Bold"/>
                <a:ea typeface="Poppins Semi-Bold"/>
                <a:cs typeface="Poppins Semi-Bold"/>
                <a:sym typeface="Poppins Semi-Bold"/>
              </a:rPr>
              <a:t> </a:t>
            </a:r>
            <a:r>
              <a:rPr lang="en-US" sz="3799" b="1">
                <a:solidFill>
                  <a:srgbClr val="FFCB85"/>
                </a:solidFill>
                <a:latin typeface="Poppins Semi-Bold"/>
                <a:ea typeface="Poppins Semi-Bold"/>
                <a:cs typeface="Poppins Semi-Bold"/>
                <a:sym typeface="Poppins Semi-Bold"/>
              </a:rPr>
              <a:t>Main</a:t>
            </a:r>
            <a:r>
              <a:rPr lang="en-US" sz="3799" b="1">
                <a:solidFill>
                  <a:srgbClr val="FFFFFF"/>
                </a:solidFill>
                <a:latin typeface="Poppins Semi-Bold"/>
                <a:ea typeface="Poppins Semi-Bold"/>
                <a:cs typeface="Poppins Semi-Bold"/>
                <a:sym typeface="Poppins Semi-Bold"/>
              </a:rPr>
              <a:t>() {</a:t>
            </a:r>
          </a:p>
        </p:txBody>
      </p:sp>
      <p:sp>
        <p:nvSpPr>
          <p:cNvPr id="4" name="TextBox 4"/>
          <p:cNvSpPr txBox="1"/>
          <p:nvPr/>
        </p:nvSpPr>
        <p:spPr>
          <a:xfrm>
            <a:off x="744074" y="5014979"/>
            <a:ext cx="8107432" cy="660702"/>
          </a:xfrm>
          <a:prstGeom prst="rect">
            <a:avLst/>
          </a:prstGeom>
        </p:spPr>
        <p:txBody>
          <a:bodyPr lIns="0" tIns="0" rIns="0" bIns="0" rtlCol="0" anchor="t">
            <a:spAutoFit/>
          </a:bodyPr>
          <a:lstStyle/>
          <a:p>
            <a:pPr algn="l">
              <a:lnSpc>
                <a:spcPts val="4498"/>
              </a:lnSpc>
            </a:pPr>
            <a:r>
              <a:rPr lang="en-US" sz="3799" b="1">
                <a:solidFill>
                  <a:srgbClr val="3C67BF"/>
                </a:solidFill>
                <a:latin typeface="Poppins Semi-Bold"/>
                <a:ea typeface="Poppins Semi-Bold"/>
                <a:cs typeface="Poppins Semi-Bold"/>
                <a:sym typeface="Poppins Semi-Bold"/>
              </a:rPr>
              <a:t>int </a:t>
            </a:r>
            <a:r>
              <a:rPr lang="en-US" sz="3799" b="1">
                <a:solidFill>
                  <a:srgbClr val="FFFFFF"/>
                </a:solidFill>
                <a:latin typeface="Poppins Semi-Bold"/>
                <a:ea typeface="Poppins Semi-Bold"/>
                <a:cs typeface="Poppins Semi-Bold"/>
                <a:sym typeface="Poppins Semi-Bold"/>
              </a:rPr>
              <a:t>soma = </a:t>
            </a:r>
            <a:r>
              <a:rPr lang="en-US" sz="3799" b="1">
                <a:solidFill>
                  <a:srgbClr val="FFCB85"/>
                </a:solidFill>
                <a:latin typeface="Poppins Semi-Bold"/>
                <a:ea typeface="Poppins Semi-Bold"/>
                <a:cs typeface="Poppins Semi-Bold"/>
                <a:sym typeface="Poppins Semi-Bold"/>
              </a:rPr>
              <a:t>SomarNumeros</a:t>
            </a:r>
            <a:r>
              <a:rPr lang="en-US" sz="3799" b="1">
                <a:solidFill>
                  <a:srgbClr val="FFFFFF"/>
                </a:solidFill>
                <a:latin typeface="Poppins Semi-Bold"/>
                <a:ea typeface="Poppins Semi-Bold"/>
                <a:cs typeface="Poppins Semi-Bold"/>
                <a:sym typeface="Poppins Semi-Bold"/>
              </a:rPr>
              <a:t>(10);</a:t>
            </a:r>
          </a:p>
        </p:txBody>
      </p:sp>
      <p:sp>
        <p:nvSpPr>
          <p:cNvPr id="5" name="TextBox 5"/>
          <p:cNvSpPr txBox="1"/>
          <p:nvPr/>
        </p:nvSpPr>
        <p:spPr>
          <a:xfrm>
            <a:off x="164983" y="5586479"/>
            <a:ext cx="14521348" cy="4661202"/>
          </a:xfrm>
          <a:prstGeom prst="rect">
            <a:avLst/>
          </a:prstGeom>
        </p:spPr>
        <p:txBody>
          <a:bodyPr lIns="0" tIns="0" rIns="0" bIns="0" rtlCol="0" anchor="t">
            <a:spAutoFit/>
          </a:bodyPr>
          <a:lstStyle/>
          <a:p>
            <a:pPr algn="l">
              <a:lnSpc>
                <a:spcPts val="4498"/>
              </a:lnSpc>
            </a:pPr>
            <a:r>
              <a:rPr lang="en-US" sz="3799" b="1">
                <a:solidFill>
                  <a:srgbClr val="FFFFFF"/>
                </a:solidFill>
                <a:latin typeface="Poppins Semi-Bold"/>
                <a:ea typeface="Poppins Semi-Bold"/>
                <a:cs typeface="Poppins Semi-Bold"/>
                <a:sym typeface="Poppins Semi-Bold"/>
              </a:rPr>
              <a:t> </a:t>
            </a:r>
            <a:r>
              <a:rPr lang="en-US" sz="3799" b="1">
                <a:solidFill>
                  <a:srgbClr val="7ED957"/>
                </a:solidFill>
                <a:latin typeface="Poppins Semi-Bold"/>
                <a:ea typeface="Poppins Semi-Bold"/>
                <a:cs typeface="Poppins Semi-Bold"/>
                <a:sym typeface="Poppins Semi-Bold"/>
              </a:rPr>
              <a:t>Console</a:t>
            </a:r>
            <a:r>
              <a:rPr lang="en-US" sz="3799" b="1">
                <a:solidFill>
                  <a:srgbClr val="FFFFFF"/>
                </a:solidFill>
                <a:latin typeface="Poppins Semi-Bold"/>
                <a:ea typeface="Poppins Semi-Bold"/>
                <a:cs typeface="Poppins Semi-Bold"/>
                <a:sym typeface="Poppins Semi-Bold"/>
              </a:rPr>
              <a:t>.</a:t>
            </a:r>
            <a:r>
              <a:rPr lang="en-US" sz="3799" b="1">
                <a:solidFill>
                  <a:srgbClr val="FFCB85"/>
                </a:solidFill>
                <a:latin typeface="Poppins Semi-Bold"/>
                <a:ea typeface="Poppins Semi-Bold"/>
                <a:cs typeface="Poppins Semi-Bold"/>
                <a:sym typeface="Poppins Semi-Bold"/>
              </a:rPr>
              <a:t>WriteLine</a:t>
            </a:r>
            <a:r>
              <a:rPr lang="en-US" sz="3799" b="1">
                <a:solidFill>
                  <a:srgbClr val="FFFFFF"/>
                </a:solidFill>
                <a:latin typeface="Poppins Semi-Bold"/>
                <a:ea typeface="Poppins Semi-Bold"/>
                <a:cs typeface="Poppins Semi-Bold"/>
                <a:sym typeface="Poppins Semi-Bold"/>
              </a:rPr>
              <a:t>(</a:t>
            </a:r>
            <a:r>
              <a:rPr lang="en-US" sz="3799" b="1">
                <a:solidFill>
                  <a:srgbClr val="FFCB85"/>
                </a:solidFill>
                <a:latin typeface="Poppins Semi-Bold"/>
                <a:ea typeface="Poppins Semi-Bold"/>
                <a:cs typeface="Poppins Semi-Bold"/>
                <a:sym typeface="Poppins Semi-Bold"/>
              </a:rPr>
              <a:t>$"{soma}"</a:t>
            </a:r>
            <a:r>
              <a:rPr lang="en-US" sz="3799" b="1">
                <a:solidFill>
                  <a:srgbClr val="FFFFFF"/>
                </a:solidFill>
                <a:latin typeface="Poppins Semi-Bold"/>
                <a:ea typeface="Poppins Semi-Bold"/>
                <a:cs typeface="Poppins Semi-Bold"/>
                <a:sym typeface="Poppins Semi-Bold"/>
              </a:rPr>
              <a:t>); } </a:t>
            </a:r>
            <a:r>
              <a:rPr lang="en-US" sz="3799" b="1">
                <a:solidFill>
                  <a:srgbClr val="3C67BF"/>
                </a:solidFill>
                <a:latin typeface="Poppins Semi-Bold"/>
                <a:ea typeface="Poppins Semi-Bold"/>
                <a:cs typeface="Poppins Semi-Bold"/>
                <a:sym typeface="Poppins Semi-Bold"/>
              </a:rPr>
              <a:t>static int </a:t>
            </a:r>
            <a:r>
              <a:rPr lang="en-US" sz="3799" b="1">
                <a:solidFill>
                  <a:srgbClr val="FFCB85"/>
                </a:solidFill>
                <a:latin typeface="Poppins Semi-Bold"/>
                <a:ea typeface="Poppins Semi-Bold"/>
                <a:cs typeface="Poppins Semi-Bold"/>
                <a:sym typeface="Poppins Semi-Bold"/>
              </a:rPr>
              <a:t>SomarNumeros</a:t>
            </a:r>
            <a:r>
              <a:rPr lang="en-US" sz="3799" b="1">
                <a:solidFill>
                  <a:srgbClr val="FFFFFF"/>
                </a:solidFill>
                <a:latin typeface="Poppins Semi-Bold"/>
                <a:ea typeface="Poppins Semi-Bold"/>
                <a:cs typeface="Poppins Semi-Bold"/>
                <a:sym typeface="Poppins Semi-Bold"/>
              </a:rPr>
              <a:t>(</a:t>
            </a:r>
            <a:r>
              <a:rPr lang="en-US" sz="3799" b="1">
                <a:solidFill>
                  <a:srgbClr val="3C67BF"/>
                </a:solidFill>
                <a:latin typeface="Poppins Semi-Bold"/>
                <a:ea typeface="Poppins Semi-Bold"/>
                <a:cs typeface="Poppins Semi-Bold"/>
                <a:sym typeface="Poppins Semi-Bold"/>
              </a:rPr>
              <a:t>int </a:t>
            </a:r>
            <a:r>
              <a:rPr lang="en-US" sz="3799" b="1">
                <a:solidFill>
                  <a:srgbClr val="FFFFFF"/>
                </a:solidFill>
                <a:latin typeface="Poppins Semi-Bold"/>
                <a:ea typeface="Poppins Semi-Bold"/>
                <a:cs typeface="Poppins Semi-Bold"/>
                <a:sym typeface="Poppins Semi-Bold"/>
              </a:rPr>
              <a:t>numero1, </a:t>
            </a:r>
            <a:r>
              <a:rPr lang="en-US" sz="3799" b="1">
                <a:solidFill>
                  <a:srgbClr val="3C67BF"/>
                </a:solidFill>
                <a:latin typeface="Poppins Semi-Bold"/>
                <a:ea typeface="Poppins Semi-Bold"/>
                <a:cs typeface="Poppins Semi-Bold"/>
                <a:sym typeface="Poppins Semi-Bold"/>
              </a:rPr>
              <a:t>int </a:t>
            </a:r>
            <a:r>
              <a:rPr lang="en-US" sz="3799" b="1">
                <a:solidFill>
                  <a:srgbClr val="FFFFFF"/>
                </a:solidFill>
                <a:latin typeface="Poppins Semi-Bold"/>
                <a:ea typeface="Poppins Semi-Bold"/>
                <a:cs typeface="Poppins Semi-Bold"/>
                <a:sym typeface="Poppins Semi-Bold"/>
              </a:rPr>
              <a:t>numero2 = 0){  </a:t>
            </a:r>
            <a:r>
              <a:rPr lang="en-US" sz="3799" b="1">
                <a:solidFill>
                  <a:srgbClr val="3C67BF"/>
                </a:solidFill>
                <a:latin typeface="Poppins Semi-Bold"/>
                <a:ea typeface="Poppins Semi-Bold"/>
                <a:cs typeface="Poppins Semi-Bold"/>
                <a:sym typeface="Poppins Semi-Bold"/>
              </a:rPr>
              <a:t>return </a:t>
            </a:r>
            <a:r>
              <a:rPr lang="en-US" sz="3799" b="1">
                <a:solidFill>
                  <a:srgbClr val="FFFFFF"/>
                </a:solidFill>
                <a:latin typeface="Poppins Semi-Bold"/>
                <a:ea typeface="Poppins Semi-Bold"/>
                <a:cs typeface="Poppins Semi-Bold"/>
                <a:sym typeface="Poppins Semi-Bold"/>
              </a:rPr>
              <a:t>numero1 + numero2; } O que tem de diferente do exemplo anterior?</a:t>
            </a: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7988303" y="2679697"/>
            <a:ext cx="1816103" cy="1689097"/>
          </a:xfrm>
          <a:custGeom>
            <a:avLst/>
            <a:gdLst/>
            <a:ahLst/>
            <a:cxnLst/>
            <a:rect l="l" t="t" r="r" b="b"/>
            <a:pathLst>
              <a:path w="1816103" h="1689097">
                <a:moveTo>
                  <a:pt x="0" y="0"/>
                </a:moveTo>
                <a:lnTo>
                  <a:pt x="1816103" y="0"/>
                </a:lnTo>
                <a:lnTo>
                  <a:pt x="1816103" y="1689097"/>
                </a:lnTo>
                <a:lnTo>
                  <a:pt x="0" y="1689097"/>
                </a:lnTo>
                <a:lnTo>
                  <a:pt x="0" y="0"/>
                </a:lnTo>
                <a:close/>
              </a:path>
            </a:pathLst>
          </a:custGeom>
          <a:blipFill>
            <a:blip r:embed="rId2"/>
            <a:stretch>
              <a:fillRect/>
            </a:stretch>
          </a:blipFill>
        </p:spPr>
      </p:sp>
      <p:sp>
        <p:nvSpPr>
          <p:cNvPr id="3" name="Freeform 3"/>
          <p:cNvSpPr/>
          <p:nvPr/>
        </p:nvSpPr>
        <p:spPr>
          <a:xfrm>
            <a:off x="7984198" y="3981802"/>
            <a:ext cx="365369" cy="362388"/>
          </a:xfrm>
          <a:custGeom>
            <a:avLst/>
            <a:gdLst/>
            <a:ahLst/>
            <a:cxnLst/>
            <a:rect l="l" t="t" r="r" b="b"/>
            <a:pathLst>
              <a:path w="365369" h="362388">
                <a:moveTo>
                  <a:pt x="0" y="0"/>
                </a:moveTo>
                <a:lnTo>
                  <a:pt x="365369" y="0"/>
                </a:lnTo>
                <a:lnTo>
                  <a:pt x="365369" y="362389"/>
                </a:lnTo>
                <a:lnTo>
                  <a:pt x="0" y="36238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3360403" y="7391400"/>
            <a:ext cx="126997" cy="622297"/>
          </a:xfrm>
          <a:custGeom>
            <a:avLst/>
            <a:gdLst/>
            <a:ahLst/>
            <a:cxnLst/>
            <a:rect l="l" t="t" r="r" b="b"/>
            <a:pathLst>
              <a:path w="126997" h="622297">
                <a:moveTo>
                  <a:pt x="0" y="0"/>
                </a:moveTo>
                <a:lnTo>
                  <a:pt x="126997" y="0"/>
                </a:lnTo>
                <a:lnTo>
                  <a:pt x="126997" y="622297"/>
                </a:lnTo>
                <a:lnTo>
                  <a:pt x="0" y="622297"/>
                </a:lnTo>
                <a:lnTo>
                  <a:pt x="0" y="0"/>
                </a:lnTo>
                <a:close/>
              </a:path>
            </a:pathLst>
          </a:custGeom>
          <a:blipFill>
            <a:blip r:embed="rId5"/>
            <a:stretch>
              <a:fillRect/>
            </a:stretch>
          </a:blipFill>
        </p:spPr>
      </p:sp>
      <p:grpSp>
        <p:nvGrpSpPr>
          <p:cNvPr id="5" name="Group 5"/>
          <p:cNvGrpSpPr>
            <a:grpSpLocks noChangeAspect="1"/>
          </p:cNvGrpSpPr>
          <p:nvPr/>
        </p:nvGrpSpPr>
        <p:grpSpPr>
          <a:xfrm>
            <a:off x="7962595" y="2651369"/>
            <a:ext cx="1846059" cy="1714443"/>
            <a:chOff x="0" y="0"/>
            <a:chExt cx="1846059" cy="1714436"/>
          </a:xfrm>
        </p:grpSpPr>
        <p:sp>
          <p:nvSpPr>
            <p:cNvPr id="6" name="Freeform 6"/>
            <p:cNvSpPr/>
            <p:nvPr/>
          </p:nvSpPr>
          <p:spPr>
            <a:xfrm>
              <a:off x="0" y="0"/>
              <a:ext cx="1846072" cy="1714500"/>
            </a:xfrm>
            <a:custGeom>
              <a:avLst/>
              <a:gdLst/>
              <a:ahLst/>
              <a:cxnLst/>
              <a:rect l="l" t="t" r="r" b="b"/>
              <a:pathLst>
                <a:path w="1846072" h="1714500">
                  <a:moveTo>
                    <a:pt x="0" y="1714500"/>
                  </a:moveTo>
                  <a:lnTo>
                    <a:pt x="1846072" y="1714500"/>
                  </a:lnTo>
                  <a:lnTo>
                    <a:pt x="1846072" y="0"/>
                  </a:lnTo>
                  <a:lnTo>
                    <a:pt x="0" y="0"/>
                  </a:lnTo>
                  <a:close/>
                </a:path>
              </a:pathLst>
            </a:custGeom>
            <a:solidFill>
              <a:srgbClr val="000000">
                <a:alpha val="0"/>
              </a:srgbClr>
            </a:solidFill>
          </p:spPr>
        </p:sp>
      </p:grpSp>
      <p:sp>
        <p:nvSpPr>
          <p:cNvPr id="7" name="Freeform 7"/>
          <p:cNvSpPr/>
          <p:nvPr/>
        </p:nvSpPr>
        <p:spPr>
          <a:xfrm>
            <a:off x="12421886" y="5900261"/>
            <a:ext cx="1973066" cy="1870853"/>
          </a:xfrm>
          <a:custGeom>
            <a:avLst/>
            <a:gdLst/>
            <a:ahLst/>
            <a:cxnLst/>
            <a:rect l="l" t="t" r="r" b="b"/>
            <a:pathLst>
              <a:path w="1973066" h="1870853">
                <a:moveTo>
                  <a:pt x="0" y="0"/>
                </a:moveTo>
                <a:lnTo>
                  <a:pt x="1973066" y="0"/>
                </a:lnTo>
                <a:lnTo>
                  <a:pt x="1973066" y="1870853"/>
                </a:lnTo>
                <a:lnTo>
                  <a:pt x="0" y="187085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8" name="TextBox 8"/>
          <p:cNvSpPr txBox="1"/>
          <p:nvPr/>
        </p:nvSpPr>
        <p:spPr>
          <a:xfrm>
            <a:off x="5646239" y="543401"/>
            <a:ext cx="7135206" cy="944728"/>
          </a:xfrm>
          <a:prstGeom prst="rect">
            <a:avLst/>
          </a:prstGeom>
        </p:spPr>
        <p:txBody>
          <a:bodyPr lIns="0" tIns="0" rIns="0" bIns="0" rtlCol="0" anchor="t">
            <a:spAutoFit/>
          </a:bodyPr>
          <a:lstStyle/>
          <a:p>
            <a:pPr algn="l">
              <a:lnSpc>
                <a:spcPts val="6054"/>
              </a:lnSpc>
            </a:pPr>
            <a:r>
              <a:rPr lang="en-US" sz="5964" b="1">
                <a:solidFill>
                  <a:srgbClr val="FFFFFF"/>
                </a:solidFill>
                <a:latin typeface="Poppins Semi-Bold"/>
                <a:ea typeface="Poppins Semi-Bold"/>
                <a:cs typeface="Poppins Semi-Bold"/>
                <a:sym typeface="Poppins Semi-Bold"/>
              </a:rPr>
              <a:t>Métodos/Funções</a:t>
            </a:r>
          </a:p>
        </p:txBody>
      </p:sp>
      <p:sp>
        <p:nvSpPr>
          <p:cNvPr id="9" name="TextBox 9"/>
          <p:cNvSpPr txBox="1"/>
          <p:nvPr/>
        </p:nvSpPr>
        <p:spPr>
          <a:xfrm>
            <a:off x="10406739" y="1337710"/>
            <a:ext cx="116586" cy="899160"/>
          </a:xfrm>
          <a:prstGeom prst="rect">
            <a:avLst/>
          </a:prstGeom>
        </p:spPr>
        <p:txBody>
          <a:bodyPr lIns="0" tIns="0" rIns="0" bIns="0" rtlCol="0" anchor="t">
            <a:spAutoFit/>
          </a:bodyPr>
          <a:lstStyle/>
          <a:p>
            <a:pPr algn="l">
              <a:lnSpc>
                <a:spcPts val="7500"/>
              </a:lnSpc>
            </a:pPr>
            <a:r>
              <a:rPr lang="en-US" sz="3000" b="1">
                <a:solidFill>
                  <a:srgbClr val="FFFFFF"/>
                </a:solidFill>
                <a:latin typeface="Poppins Semi-Bold"/>
                <a:ea typeface="Poppins Semi-Bold"/>
                <a:cs typeface="Poppins Semi-Bold"/>
                <a:sym typeface="Poppins Semi-Bold"/>
              </a:rPr>
              <a:t> </a:t>
            </a:r>
          </a:p>
        </p:txBody>
      </p:sp>
      <p:sp>
        <p:nvSpPr>
          <p:cNvPr id="10" name="TextBox 10"/>
          <p:cNvSpPr txBox="1"/>
          <p:nvPr/>
        </p:nvSpPr>
        <p:spPr>
          <a:xfrm>
            <a:off x="164983" y="3300479"/>
            <a:ext cx="4583697" cy="1232202"/>
          </a:xfrm>
          <a:prstGeom prst="rect">
            <a:avLst/>
          </a:prstGeom>
        </p:spPr>
        <p:txBody>
          <a:bodyPr lIns="0" tIns="0" rIns="0" bIns="0" rtlCol="0" anchor="t">
            <a:spAutoFit/>
          </a:bodyPr>
          <a:lstStyle/>
          <a:p>
            <a:pPr algn="l">
              <a:lnSpc>
                <a:spcPts val="4498"/>
              </a:lnSpc>
            </a:pPr>
            <a:r>
              <a:rPr lang="en-US" sz="3799" b="1">
                <a:solidFill>
                  <a:srgbClr val="3C67BF"/>
                </a:solidFill>
                <a:latin typeface="Poppins Semi-Bold"/>
                <a:ea typeface="Poppins Semi-Bold"/>
                <a:cs typeface="Poppins Semi-Bold"/>
                <a:sym typeface="Poppins Semi-Bold"/>
              </a:rPr>
              <a:t>static void</a:t>
            </a:r>
            <a:r>
              <a:rPr lang="en-US" sz="3799" b="1">
                <a:solidFill>
                  <a:srgbClr val="FFFFFF"/>
                </a:solidFill>
                <a:latin typeface="Poppins Semi-Bold"/>
                <a:ea typeface="Poppins Semi-Bold"/>
                <a:cs typeface="Poppins Semi-Bold"/>
                <a:sym typeface="Poppins Semi-Bold"/>
              </a:rPr>
              <a:t> </a:t>
            </a:r>
            <a:r>
              <a:rPr lang="en-US" sz="3799" b="1">
                <a:solidFill>
                  <a:srgbClr val="FFCB85"/>
                </a:solidFill>
                <a:latin typeface="Poppins Semi-Bold"/>
                <a:ea typeface="Poppins Semi-Bold"/>
                <a:cs typeface="Poppins Semi-Bold"/>
                <a:sym typeface="Poppins Semi-Bold"/>
              </a:rPr>
              <a:t>Main</a:t>
            </a:r>
            <a:r>
              <a:rPr lang="en-US" sz="3799" b="1">
                <a:solidFill>
                  <a:srgbClr val="FFFFFF"/>
                </a:solidFill>
                <a:latin typeface="Poppins Semi-Bold"/>
                <a:ea typeface="Poppins Semi-Bold"/>
                <a:cs typeface="Poppins Semi-Bold"/>
                <a:sym typeface="Poppins Semi-Bold"/>
              </a:rPr>
              <a:t>() {</a:t>
            </a:r>
          </a:p>
        </p:txBody>
      </p:sp>
      <p:sp>
        <p:nvSpPr>
          <p:cNvPr id="11" name="TextBox 11"/>
          <p:cNvSpPr txBox="1"/>
          <p:nvPr/>
        </p:nvSpPr>
        <p:spPr>
          <a:xfrm>
            <a:off x="10275294" y="3090310"/>
            <a:ext cx="116586" cy="518160"/>
          </a:xfrm>
          <a:prstGeom prst="rect">
            <a:avLst/>
          </a:prstGeom>
        </p:spPr>
        <p:txBody>
          <a:bodyPr lIns="0" tIns="0" rIns="0" bIns="0" rtlCol="0" anchor="t">
            <a:spAutoFit/>
          </a:bodyPr>
          <a:lstStyle/>
          <a:p>
            <a:pPr algn="l">
              <a:lnSpc>
                <a:spcPts val="3551"/>
              </a:lnSpc>
            </a:pPr>
            <a:r>
              <a:rPr lang="en-US" sz="3000" b="1">
                <a:solidFill>
                  <a:srgbClr val="FFFFFF"/>
                </a:solidFill>
                <a:latin typeface="Poppins Semi-Bold"/>
                <a:ea typeface="Poppins Semi-Bold"/>
                <a:cs typeface="Poppins Semi-Bold"/>
                <a:sym typeface="Poppins Semi-Bold"/>
              </a:rPr>
              <a:t> </a:t>
            </a:r>
          </a:p>
        </p:txBody>
      </p:sp>
      <p:sp>
        <p:nvSpPr>
          <p:cNvPr id="12" name="TextBox 12"/>
          <p:cNvSpPr txBox="1"/>
          <p:nvPr/>
        </p:nvSpPr>
        <p:spPr>
          <a:xfrm>
            <a:off x="744074" y="4443479"/>
            <a:ext cx="8107432" cy="660702"/>
          </a:xfrm>
          <a:prstGeom prst="rect">
            <a:avLst/>
          </a:prstGeom>
        </p:spPr>
        <p:txBody>
          <a:bodyPr lIns="0" tIns="0" rIns="0" bIns="0" rtlCol="0" anchor="t">
            <a:spAutoFit/>
          </a:bodyPr>
          <a:lstStyle/>
          <a:p>
            <a:pPr algn="l">
              <a:lnSpc>
                <a:spcPts val="4498"/>
              </a:lnSpc>
            </a:pPr>
            <a:r>
              <a:rPr lang="en-US" sz="3799" b="1">
                <a:solidFill>
                  <a:srgbClr val="3C67BF"/>
                </a:solidFill>
                <a:latin typeface="Poppins Semi-Bold"/>
                <a:ea typeface="Poppins Semi-Bold"/>
                <a:cs typeface="Poppins Semi-Bold"/>
                <a:sym typeface="Poppins Semi-Bold"/>
              </a:rPr>
              <a:t>int </a:t>
            </a:r>
            <a:r>
              <a:rPr lang="en-US" sz="3799" b="1">
                <a:solidFill>
                  <a:srgbClr val="FFFFFF"/>
                </a:solidFill>
                <a:latin typeface="Poppins Semi-Bold"/>
                <a:ea typeface="Poppins Semi-Bold"/>
                <a:cs typeface="Poppins Semi-Bold"/>
                <a:sym typeface="Poppins Semi-Bold"/>
              </a:rPr>
              <a:t>soma = </a:t>
            </a:r>
            <a:r>
              <a:rPr lang="en-US" sz="3799" b="1">
                <a:solidFill>
                  <a:srgbClr val="FFCB85"/>
                </a:solidFill>
                <a:latin typeface="Poppins Semi-Bold"/>
                <a:ea typeface="Poppins Semi-Bold"/>
                <a:cs typeface="Poppins Semi-Bold"/>
                <a:sym typeface="Poppins Semi-Bold"/>
              </a:rPr>
              <a:t>SomarNumeros</a:t>
            </a:r>
            <a:r>
              <a:rPr lang="en-US" sz="3799" b="1">
                <a:solidFill>
                  <a:srgbClr val="FFFFFF"/>
                </a:solidFill>
                <a:latin typeface="Poppins Semi-Bold"/>
                <a:ea typeface="Poppins Semi-Bold"/>
                <a:cs typeface="Poppins Semi-Bold"/>
                <a:sym typeface="Poppins Semi-Bold"/>
              </a:rPr>
              <a:t>(10);</a:t>
            </a:r>
          </a:p>
        </p:txBody>
      </p:sp>
      <p:sp>
        <p:nvSpPr>
          <p:cNvPr id="13" name="TextBox 13"/>
          <p:cNvSpPr txBox="1"/>
          <p:nvPr/>
        </p:nvSpPr>
        <p:spPr>
          <a:xfrm>
            <a:off x="164983" y="5014979"/>
            <a:ext cx="14521348" cy="3518202"/>
          </a:xfrm>
          <a:prstGeom prst="rect">
            <a:avLst/>
          </a:prstGeom>
        </p:spPr>
        <p:txBody>
          <a:bodyPr lIns="0" tIns="0" rIns="0" bIns="0" rtlCol="0" anchor="t">
            <a:spAutoFit/>
          </a:bodyPr>
          <a:lstStyle/>
          <a:p>
            <a:pPr algn="l">
              <a:lnSpc>
                <a:spcPts val="4498"/>
              </a:lnSpc>
            </a:pPr>
            <a:r>
              <a:rPr lang="en-US" sz="3799" b="1">
                <a:solidFill>
                  <a:srgbClr val="FFFFFF"/>
                </a:solidFill>
                <a:latin typeface="Poppins Semi-Bold"/>
                <a:ea typeface="Poppins Semi-Bold"/>
                <a:cs typeface="Poppins Semi-Bold"/>
                <a:sym typeface="Poppins Semi-Bold"/>
              </a:rPr>
              <a:t> </a:t>
            </a:r>
            <a:r>
              <a:rPr lang="en-US" sz="3799" b="1">
                <a:solidFill>
                  <a:srgbClr val="7ED957"/>
                </a:solidFill>
                <a:latin typeface="Poppins Semi-Bold"/>
                <a:ea typeface="Poppins Semi-Bold"/>
                <a:cs typeface="Poppins Semi-Bold"/>
                <a:sym typeface="Poppins Semi-Bold"/>
              </a:rPr>
              <a:t>Console</a:t>
            </a:r>
            <a:r>
              <a:rPr lang="en-US" sz="3799" b="1">
                <a:solidFill>
                  <a:srgbClr val="FFFFFF"/>
                </a:solidFill>
                <a:latin typeface="Poppins Semi-Bold"/>
                <a:ea typeface="Poppins Semi-Bold"/>
                <a:cs typeface="Poppins Semi-Bold"/>
                <a:sym typeface="Poppins Semi-Bold"/>
              </a:rPr>
              <a:t>.</a:t>
            </a:r>
            <a:r>
              <a:rPr lang="en-US" sz="3799" b="1">
                <a:solidFill>
                  <a:srgbClr val="FFCB85"/>
                </a:solidFill>
                <a:latin typeface="Poppins Semi-Bold"/>
                <a:ea typeface="Poppins Semi-Bold"/>
                <a:cs typeface="Poppins Semi-Bold"/>
                <a:sym typeface="Poppins Semi-Bold"/>
              </a:rPr>
              <a:t>WriteLine</a:t>
            </a:r>
            <a:r>
              <a:rPr lang="en-US" sz="3799" b="1">
                <a:solidFill>
                  <a:srgbClr val="FFFFFF"/>
                </a:solidFill>
                <a:latin typeface="Poppins Semi-Bold"/>
                <a:ea typeface="Poppins Semi-Bold"/>
                <a:cs typeface="Poppins Semi-Bold"/>
                <a:sym typeface="Poppins Semi-Bold"/>
              </a:rPr>
              <a:t>(</a:t>
            </a:r>
            <a:r>
              <a:rPr lang="en-US" sz="3799" b="1">
                <a:solidFill>
                  <a:srgbClr val="FFCB85"/>
                </a:solidFill>
                <a:latin typeface="Poppins Semi-Bold"/>
                <a:ea typeface="Poppins Semi-Bold"/>
                <a:cs typeface="Poppins Semi-Bold"/>
                <a:sym typeface="Poppins Semi-Bold"/>
              </a:rPr>
              <a:t>$"{soma}"</a:t>
            </a:r>
            <a:r>
              <a:rPr lang="en-US" sz="3799" b="1">
                <a:solidFill>
                  <a:srgbClr val="FFFFFF"/>
                </a:solidFill>
                <a:latin typeface="Poppins Semi-Bold"/>
                <a:ea typeface="Poppins Semi-Bold"/>
                <a:cs typeface="Poppins Semi-Bold"/>
                <a:sym typeface="Poppins Semi-Bold"/>
              </a:rPr>
              <a:t>); } </a:t>
            </a:r>
            <a:r>
              <a:rPr lang="en-US" sz="3799" b="1">
                <a:solidFill>
                  <a:srgbClr val="3C67BF"/>
                </a:solidFill>
                <a:latin typeface="Poppins Semi-Bold"/>
                <a:ea typeface="Poppins Semi-Bold"/>
                <a:cs typeface="Poppins Semi-Bold"/>
                <a:sym typeface="Poppins Semi-Bold"/>
              </a:rPr>
              <a:t>static int </a:t>
            </a:r>
            <a:r>
              <a:rPr lang="en-US" sz="3799" b="1">
                <a:solidFill>
                  <a:srgbClr val="FFCB85"/>
                </a:solidFill>
                <a:latin typeface="Poppins Semi-Bold"/>
                <a:ea typeface="Poppins Semi-Bold"/>
                <a:cs typeface="Poppins Semi-Bold"/>
                <a:sym typeface="Poppins Semi-Bold"/>
              </a:rPr>
              <a:t>SomarNumeros</a:t>
            </a:r>
            <a:r>
              <a:rPr lang="en-US" sz="3799" b="1">
                <a:solidFill>
                  <a:srgbClr val="FFFFFF"/>
                </a:solidFill>
                <a:latin typeface="Poppins Semi-Bold"/>
                <a:ea typeface="Poppins Semi-Bold"/>
                <a:cs typeface="Poppins Semi-Bold"/>
                <a:sym typeface="Poppins Semi-Bold"/>
              </a:rPr>
              <a:t>(</a:t>
            </a:r>
            <a:r>
              <a:rPr lang="en-US" sz="3799" b="1">
                <a:solidFill>
                  <a:srgbClr val="3C67BF"/>
                </a:solidFill>
                <a:latin typeface="Poppins Semi-Bold"/>
                <a:ea typeface="Poppins Semi-Bold"/>
                <a:cs typeface="Poppins Semi-Bold"/>
                <a:sym typeface="Poppins Semi-Bold"/>
              </a:rPr>
              <a:t>int </a:t>
            </a:r>
            <a:r>
              <a:rPr lang="en-US" sz="3799" b="1">
                <a:solidFill>
                  <a:srgbClr val="FFFFFF"/>
                </a:solidFill>
                <a:latin typeface="Poppins Semi-Bold"/>
                <a:ea typeface="Poppins Semi-Bold"/>
                <a:cs typeface="Poppins Semi-Bold"/>
                <a:sym typeface="Poppins Semi-Bold"/>
              </a:rPr>
              <a:t>numero1, </a:t>
            </a:r>
            <a:r>
              <a:rPr lang="en-US" sz="3799" b="1">
                <a:solidFill>
                  <a:srgbClr val="3C67BF"/>
                </a:solidFill>
                <a:latin typeface="Poppins Semi-Bold"/>
                <a:ea typeface="Poppins Semi-Bold"/>
                <a:cs typeface="Poppins Semi-Bold"/>
                <a:sym typeface="Poppins Semi-Bold"/>
              </a:rPr>
              <a:t>int </a:t>
            </a:r>
            <a:r>
              <a:rPr lang="en-US" sz="3799" b="1">
                <a:solidFill>
                  <a:srgbClr val="FFFFFF"/>
                </a:solidFill>
                <a:latin typeface="Poppins Semi-Bold"/>
                <a:ea typeface="Poppins Semi-Bold"/>
                <a:cs typeface="Poppins Semi-Bold"/>
                <a:sym typeface="Poppins Semi-Bold"/>
              </a:rPr>
              <a:t>numero2 = 0){  </a:t>
            </a:r>
            <a:r>
              <a:rPr lang="en-US" sz="3799" b="1">
                <a:solidFill>
                  <a:srgbClr val="3C67BF"/>
                </a:solidFill>
                <a:latin typeface="Poppins Semi-Bold"/>
                <a:ea typeface="Poppins Semi-Bold"/>
                <a:cs typeface="Poppins Semi-Bold"/>
                <a:sym typeface="Poppins Semi-Bold"/>
              </a:rPr>
              <a:t>return </a:t>
            </a:r>
            <a:r>
              <a:rPr lang="en-US" sz="3799" b="1">
                <a:solidFill>
                  <a:srgbClr val="FFFFFF"/>
                </a:solidFill>
                <a:latin typeface="Poppins Semi-Bold"/>
                <a:ea typeface="Poppins Semi-Bold"/>
                <a:cs typeface="Poppins Semi-Bold"/>
                <a:sym typeface="Poppins Semi-Bold"/>
              </a:rPr>
              <a:t>numero1 + numero2; }</a:t>
            </a:r>
          </a:p>
        </p:txBody>
      </p:sp>
      <p:sp>
        <p:nvSpPr>
          <p:cNvPr id="14" name="TextBox 14"/>
          <p:cNvSpPr txBox="1"/>
          <p:nvPr/>
        </p:nvSpPr>
        <p:spPr>
          <a:xfrm>
            <a:off x="10279866" y="7944231"/>
            <a:ext cx="116586" cy="518160"/>
          </a:xfrm>
          <a:prstGeom prst="rect">
            <a:avLst/>
          </a:prstGeom>
        </p:spPr>
        <p:txBody>
          <a:bodyPr lIns="0" tIns="0" rIns="0" bIns="0" rtlCol="0" anchor="t">
            <a:spAutoFit/>
          </a:bodyPr>
          <a:lstStyle/>
          <a:p>
            <a:pPr algn="l">
              <a:lnSpc>
                <a:spcPts val="3551"/>
              </a:lnSpc>
            </a:pPr>
            <a:r>
              <a:rPr lang="en-US" sz="3000" b="1" spc="2400">
                <a:solidFill>
                  <a:srgbClr val="FFFFFF"/>
                </a:solidFill>
                <a:latin typeface="Poppins Semi-Bold"/>
                <a:ea typeface="Poppins Semi-Bold"/>
                <a:cs typeface="Poppins Semi-Bold"/>
                <a:sym typeface="Poppins Semi-Bold"/>
              </a:rPr>
              <a:t> </a:t>
            </a:r>
          </a:p>
        </p:txBody>
      </p:sp>
      <p:sp>
        <p:nvSpPr>
          <p:cNvPr id="15" name="TextBox 15"/>
          <p:cNvSpPr txBox="1"/>
          <p:nvPr/>
        </p:nvSpPr>
        <p:spPr>
          <a:xfrm>
            <a:off x="9773136" y="7934706"/>
            <a:ext cx="6959013" cy="527685"/>
          </a:xfrm>
          <a:prstGeom prst="rect">
            <a:avLst/>
          </a:prstGeom>
        </p:spPr>
        <p:txBody>
          <a:bodyPr lIns="0" tIns="0" rIns="0" bIns="0" rtlCol="0" anchor="t">
            <a:spAutoFit/>
          </a:bodyPr>
          <a:lstStyle/>
          <a:p>
            <a:pPr algn="l">
              <a:lnSpc>
                <a:spcPts val="3600"/>
              </a:lnSpc>
            </a:pPr>
            <a:r>
              <a:rPr lang="en-US" sz="3000" b="1">
                <a:solidFill>
                  <a:srgbClr val="FFFFFF"/>
                </a:solidFill>
                <a:latin typeface="Poppins Semi-Bold"/>
                <a:ea typeface="Poppins Semi-Bold"/>
                <a:cs typeface="Poppins Semi-Bold"/>
                <a:sym typeface="Poppins Semi-Bold"/>
              </a:rPr>
              <a:t>Osparâmetros opcionais você pré</a:t>
            </a:r>
          </a:p>
        </p:txBody>
      </p:sp>
      <p:sp>
        <p:nvSpPr>
          <p:cNvPr id="16" name="TextBox 16"/>
          <p:cNvSpPr txBox="1"/>
          <p:nvPr/>
        </p:nvSpPr>
        <p:spPr>
          <a:xfrm>
            <a:off x="9773136" y="8391906"/>
            <a:ext cx="7253583" cy="1899285"/>
          </a:xfrm>
          <a:prstGeom prst="rect">
            <a:avLst/>
          </a:prstGeom>
        </p:spPr>
        <p:txBody>
          <a:bodyPr lIns="0" tIns="0" rIns="0" bIns="0" rtlCol="0" anchor="t">
            <a:spAutoFit/>
          </a:bodyPr>
          <a:lstStyle/>
          <a:p>
            <a:pPr algn="l">
              <a:lnSpc>
                <a:spcPts val="3600"/>
              </a:lnSpc>
            </a:pPr>
            <a:r>
              <a:rPr lang="en-US" sz="3000" b="1">
                <a:solidFill>
                  <a:srgbClr val="FFFFFF"/>
                </a:solidFill>
                <a:latin typeface="Poppins Semi-Bold"/>
                <a:ea typeface="Poppins Semi-Bold"/>
                <a:cs typeface="Poppins Semi-Bold"/>
                <a:sym typeface="Poppins Semi-Bold"/>
              </a:rPr>
              <a:t>determina um valor inicial que será atribuido caso não seja importado um valor para ele. Nós podemos igualar o parâmetro a um valor. </a:t>
            </a:r>
          </a:p>
        </p:txBody>
      </p:sp>
      <p:sp>
        <p:nvSpPr>
          <p:cNvPr id="17" name="TextBox 17"/>
          <p:cNvSpPr txBox="1"/>
          <p:nvPr/>
        </p:nvSpPr>
        <p:spPr>
          <a:xfrm>
            <a:off x="9773136" y="1709185"/>
            <a:ext cx="6439033" cy="527685"/>
          </a:xfrm>
          <a:prstGeom prst="rect">
            <a:avLst/>
          </a:prstGeom>
        </p:spPr>
        <p:txBody>
          <a:bodyPr lIns="0" tIns="0" rIns="0" bIns="0" rtlCol="0" anchor="t">
            <a:spAutoFit/>
          </a:bodyPr>
          <a:lstStyle/>
          <a:p>
            <a:pPr algn="l">
              <a:lnSpc>
                <a:spcPts val="3600"/>
              </a:lnSpc>
            </a:pPr>
            <a:r>
              <a:rPr lang="en-US" sz="3000" b="1">
                <a:solidFill>
                  <a:srgbClr val="FFFFFF"/>
                </a:solidFill>
                <a:latin typeface="Poppins Semi-Bold"/>
                <a:ea typeface="Poppins Semi-Bold"/>
                <a:cs typeface="Poppins Semi-Bold"/>
                <a:sym typeface="Poppins Semi-Bold"/>
              </a:rPr>
              <a:t>Porser opcional,eu não preciso</a:t>
            </a:r>
          </a:p>
        </p:txBody>
      </p:sp>
      <p:sp>
        <p:nvSpPr>
          <p:cNvPr id="18" name="TextBox 18"/>
          <p:cNvSpPr txBox="1"/>
          <p:nvPr/>
        </p:nvSpPr>
        <p:spPr>
          <a:xfrm>
            <a:off x="9773136" y="2166385"/>
            <a:ext cx="7267184" cy="984885"/>
          </a:xfrm>
          <a:prstGeom prst="rect">
            <a:avLst/>
          </a:prstGeom>
        </p:spPr>
        <p:txBody>
          <a:bodyPr lIns="0" tIns="0" rIns="0" bIns="0" rtlCol="0" anchor="t">
            <a:spAutoFit/>
          </a:bodyPr>
          <a:lstStyle/>
          <a:p>
            <a:pPr algn="l">
              <a:lnSpc>
                <a:spcPts val="3600"/>
              </a:lnSpc>
            </a:pPr>
            <a:r>
              <a:rPr lang="en-US" sz="3000" b="1">
                <a:solidFill>
                  <a:srgbClr val="FFFFFF"/>
                </a:solidFill>
                <a:latin typeface="Poppins Semi-Bold"/>
                <a:ea typeface="Poppins Semi-Bold"/>
                <a:cs typeface="Poppins Semi-Bold"/>
                <a:sym typeface="Poppins Semi-Bold"/>
              </a:rPr>
              <a:t>colocar os valores que serão importados quando for configurado</a:t>
            </a:r>
          </a:p>
        </p:txBody>
      </p:sp>
      <p:sp>
        <p:nvSpPr>
          <p:cNvPr id="19" name="TextBox 19"/>
          <p:cNvSpPr txBox="1"/>
          <p:nvPr/>
        </p:nvSpPr>
        <p:spPr>
          <a:xfrm>
            <a:off x="9773136" y="3080785"/>
            <a:ext cx="2895610" cy="527685"/>
          </a:xfrm>
          <a:prstGeom prst="rect">
            <a:avLst/>
          </a:prstGeom>
        </p:spPr>
        <p:txBody>
          <a:bodyPr lIns="0" tIns="0" rIns="0" bIns="0" rtlCol="0" anchor="t">
            <a:spAutoFit/>
          </a:bodyPr>
          <a:lstStyle/>
          <a:p>
            <a:pPr algn="l">
              <a:lnSpc>
                <a:spcPts val="3600"/>
              </a:lnSpc>
            </a:pPr>
            <a:r>
              <a:rPr lang="en-US" sz="3000" b="1">
                <a:solidFill>
                  <a:srgbClr val="FFFFFF"/>
                </a:solidFill>
                <a:latin typeface="Poppins Semi-Bold"/>
                <a:ea typeface="Poppins Semi-Bold"/>
                <a:cs typeface="Poppins Semi-Bold"/>
                <a:sym typeface="Poppins Semi-Bold"/>
              </a:rPr>
              <a:t>no parâmetro.</a:t>
            </a: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5646239" y="324326"/>
            <a:ext cx="7135206"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Métodos/Funções</a:t>
            </a:r>
          </a:p>
        </p:txBody>
      </p:sp>
      <p:sp>
        <p:nvSpPr>
          <p:cNvPr id="3" name="TextBox 3"/>
          <p:cNvSpPr txBox="1"/>
          <p:nvPr/>
        </p:nvSpPr>
        <p:spPr>
          <a:xfrm>
            <a:off x="164983" y="2957103"/>
            <a:ext cx="17699812" cy="5204079"/>
          </a:xfrm>
          <a:prstGeom prst="rect">
            <a:avLst/>
          </a:prstGeom>
        </p:spPr>
        <p:txBody>
          <a:bodyPr lIns="0" tIns="0" rIns="0" bIns="0" rtlCol="0" anchor="t">
            <a:spAutoFit/>
          </a:bodyPr>
          <a:lstStyle/>
          <a:p>
            <a:pPr algn="l">
              <a:lnSpc>
                <a:spcPts val="5023"/>
              </a:lnSpc>
            </a:pPr>
            <a:r>
              <a:rPr lang="en-US" sz="4200" b="1">
                <a:solidFill>
                  <a:srgbClr val="FFFFFF"/>
                </a:solidFill>
                <a:latin typeface="Poppins Semi-Bold"/>
                <a:ea typeface="Poppins Semi-Bold"/>
                <a:cs typeface="Poppins Semi-Bold"/>
                <a:sym typeface="Poppins Semi-Bold"/>
              </a:rPr>
              <a:t>Se você parar para pensar um pouco, todos os comandos que utilizamos na programação são métodos “disfarçados”, como por exemplo o </a:t>
            </a:r>
            <a:r>
              <a:rPr lang="en-US" sz="4200" b="1">
                <a:solidFill>
                  <a:srgbClr val="FFCB85"/>
                </a:solidFill>
                <a:latin typeface="Poppins Semi-Bold"/>
                <a:ea typeface="Poppins Semi-Bold"/>
                <a:cs typeface="Poppins Semi-Bold"/>
                <a:sym typeface="Poppins Semi-Bold"/>
              </a:rPr>
              <a:t>WriteLine </a:t>
            </a:r>
            <a:r>
              <a:rPr lang="en-US" sz="4200" b="1">
                <a:solidFill>
                  <a:srgbClr val="FFFFFF"/>
                </a:solidFill>
                <a:latin typeface="Poppins Semi-Bold"/>
                <a:ea typeface="Poppins Semi-Bold"/>
                <a:cs typeface="Poppins Semi-Bold"/>
                <a:sym typeface="Poppins Semi-Bold"/>
              </a:rPr>
              <a:t>do </a:t>
            </a:r>
            <a:r>
              <a:rPr lang="en-US" sz="4200" b="1">
                <a:solidFill>
                  <a:srgbClr val="7ED957"/>
                </a:solidFill>
                <a:latin typeface="Poppins Semi-Bold"/>
                <a:ea typeface="Poppins Semi-Bold"/>
                <a:cs typeface="Poppins Semi-Bold"/>
                <a:sym typeface="Poppins Semi-Bold"/>
              </a:rPr>
              <a:t>Console</a:t>
            </a:r>
            <a:r>
              <a:rPr lang="en-US" sz="4200" b="1">
                <a:solidFill>
                  <a:srgbClr val="FFFFFF"/>
                </a:solidFill>
                <a:latin typeface="Poppins Semi-Bold"/>
                <a:ea typeface="Poppins Semi-Bold"/>
                <a:cs typeface="Poppins Semi-Bold"/>
                <a:sym typeface="Poppins Semi-Bold"/>
              </a:rPr>
              <a:t>, ou o </a:t>
            </a:r>
            <a:r>
              <a:rPr lang="en-US" sz="4200" b="1">
                <a:solidFill>
                  <a:srgbClr val="FFCB85"/>
                </a:solidFill>
                <a:latin typeface="Poppins Semi-Bold"/>
                <a:ea typeface="Poppins Semi-Bold"/>
                <a:cs typeface="Poppins Semi-Bold"/>
                <a:sym typeface="Poppins Semi-Bold"/>
              </a:rPr>
              <a:t>Next </a:t>
            </a:r>
            <a:r>
              <a:rPr lang="en-US" sz="4200" b="1">
                <a:solidFill>
                  <a:srgbClr val="FFFFFF"/>
                </a:solidFill>
                <a:latin typeface="Poppins Semi-Bold"/>
                <a:ea typeface="Poppins Semi-Bold"/>
                <a:cs typeface="Poppins Semi-Bold"/>
                <a:sym typeface="Poppins Semi-Bold"/>
              </a:rPr>
              <a:t>do comando </a:t>
            </a:r>
            <a:r>
              <a:rPr lang="en-US" sz="4200" b="1">
                <a:solidFill>
                  <a:srgbClr val="7ED957"/>
                </a:solidFill>
                <a:latin typeface="Poppins Semi-Bold"/>
                <a:ea typeface="Poppins Semi-Bold"/>
                <a:cs typeface="Poppins Semi-Bold"/>
                <a:sym typeface="Poppins Semi-Bold"/>
              </a:rPr>
              <a:t>Random</a:t>
            </a:r>
            <a:r>
              <a:rPr lang="en-US" sz="4200" b="1">
                <a:solidFill>
                  <a:srgbClr val="FFFFFF"/>
                </a:solidFill>
                <a:latin typeface="Poppins Semi-Bold"/>
                <a:ea typeface="Poppins Semi-Bold"/>
                <a:cs typeface="Poppins Semi-Bold"/>
                <a:sym typeface="Poppins Semi-Bold"/>
              </a:rPr>
              <a:t>. No </a:t>
            </a:r>
            <a:r>
              <a:rPr lang="en-US" sz="4200" b="1">
                <a:solidFill>
                  <a:srgbClr val="FFCB85"/>
                </a:solidFill>
                <a:latin typeface="Poppins Semi-Bold"/>
                <a:ea typeface="Poppins Semi-Bold"/>
                <a:cs typeface="Poppins Semi-Bold"/>
                <a:sym typeface="Poppins Semi-Bold"/>
              </a:rPr>
              <a:t>WriteLine </a:t>
            </a:r>
            <a:r>
              <a:rPr lang="en-US" sz="4200" b="1">
                <a:solidFill>
                  <a:srgbClr val="FFFFFF"/>
                </a:solidFill>
                <a:latin typeface="Poppins Semi-Bold"/>
                <a:ea typeface="Poppins Semi-Bold"/>
                <a:cs typeface="Poppins Semi-Bold"/>
                <a:sym typeface="Poppins Semi-Bold"/>
              </a:rPr>
              <a:t>nós abrimos e fechamos parênteses ( ), dentro de parênteses colocamos informações como uma escrita </a:t>
            </a:r>
            <a:r>
              <a:rPr lang="en-US" sz="4200" b="1">
                <a:solidFill>
                  <a:srgbClr val="FF5757"/>
                </a:solidFill>
                <a:latin typeface="Poppins Semi-Bold"/>
                <a:ea typeface="Poppins Semi-Bold"/>
                <a:cs typeface="Poppins Semi-Bold"/>
                <a:sym typeface="Poppins Semi-Bold"/>
              </a:rPr>
              <a:t>“Exemplo”</a:t>
            </a:r>
            <a:r>
              <a:rPr lang="en-US" sz="4200" b="1">
                <a:solidFill>
                  <a:srgbClr val="FFFFFF"/>
                </a:solidFill>
                <a:latin typeface="Poppins Semi-Bold"/>
                <a:ea typeface="Poppins Semi-Bold"/>
                <a:cs typeface="Poppins Semi-Bold"/>
                <a:sym typeface="Poppins Semi-Bold"/>
              </a:rPr>
              <a:t>, a diferença é que o </a:t>
            </a:r>
            <a:r>
              <a:rPr lang="en-US" sz="4200" b="1">
                <a:solidFill>
                  <a:srgbClr val="FFCB85"/>
                </a:solidFill>
                <a:latin typeface="Poppins Semi-Bold"/>
                <a:ea typeface="Poppins Semi-Bold"/>
                <a:cs typeface="Poppins Semi-Bold"/>
                <a:sym typeface="Poppins Semi-Bold"/>
              </a:rPr>
              <a:t>WriteLine </a:t>
            </a:r>
            <a:r>
              <a:rPr lang="en-US" sz="4200" b="1">
                <a:solidFill>
                  <a:srgbClr val="FFFFFF"/>
                </a:solidFill>
                <a:latin typeface="Poppins Semi-Bold"/>
                <a:ea typeface="Poppins Semi-Bold"/>
                <a:cs typeface="Poppins Semi-Bold"/>
                <a:sym typeface="Poppins Semi-Bold"/>
              </a:rPr>
              <a:t>é um método que existe dentro da classe </a:t>
            </a:r>
            <a:r>
              <a:rPr lang="en-US" sz="4200" b="1">
                <a:solidFill>
                  <a:srgbClr val="7ED957"/>
                </a:solidFill>
                <a:latin typeface="Poppins Semi-Bold"/>
                <a:ea typeface="Poppins Semi-Bold"/>
                <a:cs typeface="Poppins Semi-Bold"/>
                <a:sym typeface="Poppins Semi-Bold"/>
              </a:rPr>
              <a:t>Console</a:t>
            </a:r>
            <a:r>
              <a:rPr lang="en-US" sz="4200" b="1">
                <a:solidFill>
                  <a:srgbClr val="FFFFFF"/>
                </a:solidFill>
                <a:latin typeface="Poppins Semi-Bold"/>
                <a:ea typeface="Poppins Semi-Bold"/>
                <a:cs typeface="Poppins Semi-Bold"/>
                <a:sym typeface="Poppins Semi-Bold"/>
              </a:rPr>
              <a:t>, assim como o </a:t>
            </a:r>
            <a:r>
              <a:rPr lang="en-US" sz="4200" b="1">
                <a:solidFill>
                  <a:srgbClr val="FFCB85"/>
                </a:solidFill>
                <a:latin typeface="Poppins Semi-Bold"/>
                <a:ea typeface="Poppins Semi-Bold"/>
                <a:cs typeface="Poppins Semi-Bold"/>
                <a:sym typeface="Poppins Semi-Bold"/>
              </a:rPr>
              <a:t>SomarNumero </a:t>
            </a:r>
            <a:r>
              <a:rPr lang="en-US" sz="4200" b="1">
                <a:solidFill>
                  <a:srgbClr val="FFFFFF"/>
                </a:solidFill>
                <a:latin typeface="Poppins Semi-Bold"/>
                <a:ea typeface="Poppins Semi-Bold"/>
                <a:cs typeface="Poppins Semi-Bold"/>
                <a:sym typeface="Poppins Semi-Bold"/>
              </a:rPr>
              <a:t>do exemplo anterior existe na classe </a:t>
            </a:r>
            <a:r>
              <a:rPr lang="en-US" sz="4200" b="1">
                <a:solidFill>
                  <a:srgbClr val="7ED957"/>
                </a:solidFill>
                <a:latin typeface="Poppins Semi-Bold"/>
                <a:ea typeface="Poppins Semi-Bold"/>
                <a:cs typeface="Poppins Semi-Bold"/>
                <a:sym typeface="Poppins Semi-Bold"/>
              </a:rPr>
              <a:t>Program</a:t>
            </a:r>
            <a:r>
              <a:rPr lang="en-US" sz="4200" b="1">
                <a:solidFill>
                  <a:srgbClr val="FFFFFF"/>
                </a:solidFill>
                <a:latin typeface="Poppins Semi-Bold"/>
                <a:ea typeface="Poppins Semi-Bold"/>
                <a:cs typeface="Poppins Semi-Bold"/>
                <a:sym typeface="Poppins Semi-Bold"/>
              </a:rPr>
              <a:t>.</a:t>
            </a: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400431" y="3480311"/>
            <a:ext cx="17341891" cy="2706291"/>
          </a:xfrm>
          <a:prstGeom prst="rect">
            <a:avLst/>
          </a:prstGeom>
        </p:spPr>
        <p:txBody>
          <a:bodyPr lIns="0" tIns="0" rIns="0" bIns="0" rtlCol="0" anchor="t">
            <a:spAutoFit/>
          </a:bodyPr>
          <a:lstStyle/>
          <a:p>
            <a:pPr algn="l">
              <a:lnSpc>
                <a:spcPts val="4125"/>
              </a:lnSpc>
            </a:pPr>
            <a:r>
              <a:rPr lang="en-US" sz="3499" b="1">
                <a:solidFill>
                  <a:srgbClr val="FF5757"/>
                </a:solidFill>
                <a:latin typeface="Poppins Semi-Bold"/>
                <a:ea typeface="Poppins Semi-Bold"/>
                <a:cs typeface="Poppins Semi-Bold"/>
                <a:sym typeface="Poppins Semi-Bold"/>
              </a:rPr>
              <a:t>Atividade #46 </a:t>
            </a:r>
            <a:r>
              <a:rPr lang="en-US" sz="3499" b="1">
                <a:solidFill>
                  <a:srgbClr val="FFFFFF"/>
                </a:solidFill>
                <a:latin typeface="Poppins Semi-Bold"/>
                <a:ea typeface="Poppins Semi-Bold"/>
                <a:cs typeface="Poppins Semi-Bold"/>
                <a:sym typeface="Poppins Semi-Bold"/>
              </a:rPr>
              <a:t>Faça um programa que leie um número e verifique se ele é par ou impar, mas agora utilize métodos para organizar o seu programa. No final exiba o resultado.</a:t>
            </a: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Freeform 3"/>
          <p:cNvSpPr/>
          <p:nvPr/>
        </p:nvSpPr>
        <p:spPr>
          <a:xfrm>
            <a:off x="15910874" y="8519160"/>
            <a:ext cx="1466850" cy="1562100"/>
          </a:xfrm>
          <a:custGeom>
            <a:avLst/>
            <a:gdLst/>
            <a:ahLst/>
            <a:cxnLst/>
            <a:rect l="l" t="t" r="r" b="b"/>
            <a:pathLst>
              <a:path w="1466850" h="1562100">
                <a:moveTo>
                  <a:pt x="0" y="0"/>
                </a:moveTo>
                <a:lnTo>
                  <a:pt x="1466850" y="0"/>
                </a:lnTo>
                <a:lnTo>
                  <a:pt x="1466850" y="1562100"/>
                </a:lnTo>
                <a:lnTo>
                  <a:pt x="0" y="1562100"/>
                </a:lnTo>
                <a:lnTo>
                  <a:pt x="0" y="0"/>
                </a:lnTo>
                <a:close/>
              </a:path>
            </a:pathLst>
          </a:custGeom>
          <a:blipFill>
            <a:blip r:embed="rId3"/>
            <a:stretch>
              <a:fillRect l="-2108" r="-2437"/>
            </a:stretch>
          </a:blipFill>
        </p:spPr>
      </p:sp>
      <p:sp>
        <p:nvSpPr>
          <p:cNvPr id="4" name="TextBox 4"/>
          <p:cNvSpPr txBox="1"/>
          <p:nvPr/>
        </p:nvSpPr>
        <p:spPr>
          <a:xfrm>
            <a:off x="224952" y="100984"/>
            <a:ext cx="18175586" cy="9980514"/>
          </a:xfrm>
          <a:prstGeom prst="rect">
            <a:avLst/>
          </a:prstGeom>
        </p:spPr>
        <p:txBody>
          <a:bodyPr lIns="0" tIns="0" rIns="0" bIns="0" rtlCol="0" anchor="t">
            <a:spAutoFit/>
          </a:bodyPr>
          <a:lstStyle/>
          <a:p>
            <a:pPr algn="l">
              <a:lnSpc>
                <a:spcPts val="5551"/>
              </a:lnSpc>
            </a:pPr>
            <a:r>
              <a:rPr lang="en-US" sz="4684" b="1">
                <a:solidFill>
                  <a:srgbClr val="FF5757"/>
                </a:solidFill>
                <a:latin typeface="Poppins Semi-Bold"/>
                <a:ea typeface="Poppins Semi-Bold"/>
                <a:cs typeface="Poppins Semi-Bold"/>
                <a:sym typeface="Poppins Semi-Bold"/>
              </a:rPr>
              <a:t>Atividade #47 </a:t>
            </a:r>
            <a:r>
              <a:rPr lang="en-US" sz="4684" b="1">
                <a:solidFill>
                  <a:srgbClr val="FFFFFF"/>
                </a:solidFill>
                <a:latin typeface="Poppins Semi-Bold"/>
                <a:ea typeface="Poppins Semi-Bold"/>
                <a:cs typeface="Poppins Semi-Bold"/>
                <a:sym typeface="Poppins Semi-Bold"/>
              </a:rPr>
              <a:t>Faça um programa que leia dois números flutuantes. O programa deve ter um menu de opções que são: Somar, dividir, subtrair e multiplicar. Onde o usuário deve informar uma letra para poder escolher uma das opções. Ao escolher a opção o programa deve fazer a operação selecionada com os dois números lidos. Exemplo: ao informar os números 21 e 50, depois informar a letra correspondente a soma, o programa deve pegar esses dois números e somar, no final deve mostrar o resultado para o usuário Utilize métodos para organizar o código.</a:t>
            </a: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164983" y="324326"/>
            <a:ext cx="18209000" cy="8757142"/>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Variáveis Globais</a:t>
            </a:r>
          </a:p>
          <a:p>
            <a:pPr algn="l">
              <a:lnSpc>
                <a:spcPts val="5023"/>
              </a:lnSpc>
            </a:pPr>
            <a:r>
              <a:rPr lang="en-US" sz="4200" b="1">
                <a:solidFill>
                  <a:srgbClr val="FFFFFF"/>
                </a:solidFill>
                <a:latin typeface="Poppins Semi-Bold"/>
                <a:ea typeface="Poppins Semi-Bold"/>
                <a:cs typeface="Poppins Semi-Bold"/>
                <a:sym typeface="Poppins Semi-Bold"/>
              </a:rPr>
              <a:t>As </a:t>
            </a:r>
            <a:r>
              <a:rPr lang="en-US" sz="4200" b="1">
                <a:solidFill>
                  <a:srgbClr val="FF5757"/>
                </a:solidFill>
                <a:latin typeface="Poppins Semi-Bold"/>
                <a:ea typeface="Poppins Semi-Bold"/>
                <a:cs typeface="Poppins Semi-Bold"/>
                <a:sym typeface="Poppins Semi-Bold"/>
              </a:rPr>
              <a:t>variáveis globais</a:t>
            </a:r>
            <a:r>
              <a:rPr lang="en-US" sz="4200" b="1">
                <a:solidFill>
                  <a:srgbClr val="FFFFFF"/>
                </a:solidFill>
                <a:latin typeface="Poppins Semi-Bold"/>
                <a:ea typeface="Poppins Semi-Bold"/>
                <a:cs typeface="Poppins Semi-Bold"/>
                <a:sym typeface="Poppins Semi-Bold"/>
              </a:rPr>
              <a:t> são variáveis que você declara no corpo do programa, especificamente </a:t>
            </a:r>
            <a:r>
              <a:rPr lang="en-US" sz="4200" b="1">
                <a:solidFill>
                  <a:srgbClr val="FFDE59"/>
                </a:solidFill>
                <a:latin typeface="Poppins Semi-Bold"/>
                <a:ea typeface="Poppins Semi-Bold"/>
                <a:cs typeface="Poppins Semi-Bold"/>
                <a:sym typeface="Poppins Semi-Bold"/>
              </a:rPr>
              <a:t>fora dos métodos</a:t>
            </a:r>
            <a:r>
              <a:rPr lang="en-US" sz="4200" b="1">
                <a:solidFill>
                  <a:srgbClr val="FFFFFF"/>
                </a:solidFill>
                <a:latin typeface="Poppins Semi-Bold"/>
                <a:ea typeface="Poppins Semi-Bold"/>
                <a:cs typeface="Poppins Semi-Bold"/>
                <a:sym typeface="Poppins Semi-Bold"/>
              </a:rPr>
              <a:t>. A principal vantagem dessas variáveis é que elas podem ser acessadas por qualquer método da classe do programa. No nosso exemplo, o </a:t>
            </a:r>
            <a:r>
              <a:rPr lang="en-US" sz="4200" b="1">
                <a:solidFill>
                  <a:srgbClr val="7ED957"/>
                </a:solidFill>
                <a:latin typeface="Poppins Semi-Bold"/>
                <a:ea typeface="Poppins Semi-Bold"/>
                <a:cs typeface="Poppins Semi-Bold"/>
                <a:sym typeface="Poppins Semi-Bold"/>
              </a:rPr>
              <a:t>Program.cs</a:t>
            </a:r>
            <a:r>
              <a:rPr lang="en-US" sz="4200" b="1">
                <a:solidFill>
                  <a:srgbClr val="FFFFFF"/>
                </a:solidFill>
                <a:latin typeface="Poppins Semi-Bold"/>
                <a:ea typeface="Poppins Semi-Bold"/>
                <a:cs typeface="Poppins Semi-Bold"/>
                <a:sym typeface="Poppins Semi-Bold"/>
              </a:rPr>
              <a:t> é uma classe, é a </a:t>
            </a:r>
            <a:r>
              <a:rPr lang="en-US" sz="4200" b="1">
                <a:solidFill>
                  <a:srgbClr val="FFDE59"/>
                </a:solidFill>
                <a:latin typeface="Poppins Semi-Bold"/>
                <a:ea typeface="Poppins Semi-Bold"/>
                <a:cs typeface="Poppins Semi-Bold"/>
                <a:sym typeface="Poppins Semi-Bold"/>
              </a:rPr>
              <a:t>classe principal do programa</a:t>
            </a:r>
            <a:r>
              <a:rPr lang="en-US" sz="4200" b="1">
                <a:solidFill>
                  <a:srgbClr val="FFFFFF"/>
                </a:solidFill>
                <a:latin typeface="Poppins Semi-Bold"/>
                <a:ea typeface="Poppins Semi-Bold"/>
                <a:cs typeface="Poppins Semi-Bold"/>
                <a:sym typeface="Poppins Semi-Bold"/>
              </a:rPr>
              <a:t>. Você já decorou que lá existe o método main, sabe que as variáveis criadas dentro dele são chamadas de variáveis locais (só existe no método).</a:t>
            </a: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123388" y="3152556"/>
            <a:ext cx="16040100" cy="6953250"/>
          </a:xfrm>
          <a:custGeom>
            <a:avLst/>
            <a:gdLst/>
            <a:ahLst/>
            <a:cxnLst/>
            <a:rect l="l" t="t" r="r" b="b"/>
            <a:pathLst>
              <a:path w="16040100" h="6953250">
                <a:moveTo>
                  <a:pt x="0" y="0"/>
                </a:moveTo>
                <a:lnTo>
                  <a:pt x="16040100" y="0"/>
                </a:lnTo>
                <a:lnTo>
                  <a:pt x="16040100" y="6953250"/>
                </a:lnTo>
                <a:lnTo>
                  <a:pt x="0" y="6953250"/>
                </a:lnTo>
                <a:lnTo>
                  <a:pt x="0" y="0"/>
                </a:lnTo>
                <a:close/>
              </a:path>
            </a:pathLst>
          </a:custGeom>
          <a:blipFill>
            <a:blip r:embed="rId2"/>
            <a:stretch>
              <a:fillRect/>
            </a:stretch>
          </a:blipFill>
        </p:spPr>
      </p:sp>
      <p:sp>
        <p:nvSpPr>
          <p:cNvPr id="3" name="TextBox 3"/>
          <p:cNvSpPr txBox="1"/>
          <p:nvPr/>
        </p:nvSpPr>
        <p:spPr>
          <a:xfrm>
            <a:off x="5717086" y="324326"/>
            <a:ext cx="6990740"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Variáveis Globais</a:t>
            </a:r>
          </a:p>
        </p:txBody>
      </p:sp>
      <p:sp>
        <p:nvSpPr>
          <p:cNvPr id="4" name="TextBox 4"/>
          <p:cNvSpPr txBox="1"/>
          <p:nvPr/>
        </p:nvSpPr>
        <p:spPr>
          <a:xfrm>
            <a:off x="164983" y="2014852"/>
            <a:ext cx="8864498" cy="813054"/>
          </a:xfrm>
          <a:prstGeom prst="rect">
            <a:avLst/>
          </a:prstGeom>
        </p:spPr>
        <p:txBody>
          <a:bodyPr lIns="0" tIns="0" rIns="0" bIns="0" rtlCol="0" anchor="t">
            <a:spAutoFit/>
          </a:bodyPr>
          <a:lstStyle/>
          <a:p>
            <a:pPr algn="l">
              <a:lnSpc>
                <a:spcPts val="5880"/>
              </a:lnSpc>
            </a:pPr>
            <a:r>
              <a:rPr lang="en-US" sz="4200" b="1">
                <a:solidFill>
                  <a:srgbClr val="FFFFFF"/>
                </a:solidFill>
                <a:latin typeface="Poppins Semi-Bold"/>
                <a:ea typeface="Poppins Semi-Bold"/>
                <a:cs typeface="Poppins Semi-Bold"/>
                <a:sym typeface="Poppins Semi-Bold"/>
              </a:rPr>
              <a:t>Olhe o nosso programa abaixo.</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64983" y="2833468"/>
            <a:ext cx="12544425" cy="7381875"/>
          </a:xfrm>
          <a:custGeom>
            <a:avLst/>
            <a:gdLst/>
            <a:ahLst/>
            <a:cxnLst/>
            <a:rect l="l" t="t" r="r" b="b"/>
            <a:pathLst>
              <a:path w="12544425" h="7381875">
                <a:moveTo>
                  <a:pt x="0" y="0"/>
                </a:moveTo>
                <a:lnTo>
                  <a:pt x="12544425" y="0"/>
                </a:lnTo>
                <a:lnTo>
                  <a:pt x="12544425" y="7381875"/>
                </a:lnTo>
                <a:lnTo>
                  <a:pt x="0" y="7381875"/>
                </a:lnTo>
                <a:lnTo>
                  <a:pt x="0" y="0"/>
                </a:lnTo>
                <a:close/>
              </a:path>
            </a:pathLst>
          </a:custGeom>
          <a:blipFill>
            <a:blip r:embed="rId2"/>
            <a:stretch>
              <a:fillRect/>
            </a:stretch>
          </a:blipFill>
        </p:spPr>
      </p:sp>
      <p:sp>
        <p:nvSpPr>
          <p:cNvPr id="3" name="Freeform 3"/>
          <p:cNvSpPr/>
          <p:nvPr/>
        </p:nvSpPr>
        <p:spPr>
          <a:xfrm>
            <a:off x="7772400" y="4343400"/>
            <a:ext cx="5422897" cy="190500"/>
          </a:xfrm>
          <a:custGeom>
            <a:avLst/>
            <a:gdLst/>
            <a:ahLst/>
            <a:cxnLst/>
            <a:rect l="l" t="t" r="r" b="b"/>
            <a:pathLst>
              <a:path w="5422897" h="190500">
                <a:moveTo>
                  <a:pt x="0" y="0"/>
                </a:moveTo>
                <a:lnTo>
                  <a:pt x="5422897" y="0"/>
                </a:lnTo>
                <a:lnTo>
                  <a:pt x="5422897" y="190500"/>
                </a:lnTo>
                <a:lnTo>
                  <a:pt x="0" y="190500"/>
                </a:lnTo>
                <a:lnTo>
                  <a:pt x="0" y="0"/>
                </a:lnTo>
                <a:close/>
              </a:path>
            </a:pathLst>
          </a:custGeom>
          <a:blipFill>
            <a:blip r:embed="rId3"/>
            <a:stretch>
              <a:fillRect/>
            </a:stretch>
          </a:blipFill>
        </p:spPr>
      </p:sp>
      <p:sp>
        <p:nvSpPr>
          <p:cNvPr id="4" name="Freeform 4"/>
          <p:cNvSpPr/>
          <p:nvPr/>
        </p:nvSpPr>
        <p:spPr>
          <a:xfrm>
            <a:off x="7767018" y="4187676"/>
            <a:ext cx="316420" cy="419081"/>
          </a:xfrm>
          <a:custGeom>
            <a:avLst/>
            <a:gdLst/>
            <a:ahLst/>
            <a:cxnLst/>
            <a:rect l="l" t="t" r="r" b="b"/>
            <a:pathLst>
              <a:path w="316420" h="419081">
                <a:moveTo>
                  <a:pt x="0" y="0"/>
                </a:moveTo>
                <a:lnTo>
                  <a:pt x="316421" y="0"/>
                </a:lnTo>
                <a:lnTo>
                  <a:pt x="316421" y="419081"/>
                </a:lnTo>
                <a:lnTo>
                  <a:pt x="0" y="41908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1430000" y="6235703"/>
            <a:ext cx="1866900" cy="825503"/>
          </a:xfrm>
          <a:custGeom>
            <a:avLst/>
            <a:gdLst/>
            <a:ahLst/>
            <a:cxnLst/>
            <a:rect l="l" t="t" r="r" b="b"/>
            <a:pathLst>
              <a:path w="1866900" h="825503">
                <a:moveTo>
                  <a:pt x="0" y="0"/>
                </a:moveTo>
                <a:lnTo>
                  <a:pt x="1866900" y="0"/>
                </a:lnTo>
                <a:lnTo>
                  <a:pt x="1866900" y="825503"/>
                </a:lnTo>
                <a:lnTo>
                  <a:pt x="0" y="825503"/>
                </a:lnTo>
                <a:lnTo>
                  <a:pt x="0" y="0"/>
                </a:lnTo>
                <a:close/>
              </a:path>
            </a:pathLst>
          </a:custGeom>
          <a:blipFill>
            <a:blip r:embed="rId6"/>
            <a:stretch>
              <a:fillRect/>
            </a:stretch>
          </a:blipFill>
        </p:spPr>
      </p:sp>
      <p:sp>
        <p:nvSpPr>
          <p:cNvPr id="6" name="Freeform 6"/>
          <p:cNvSpPr/>
          <p:nvPr/>
        </p:nvSpPr>
        <p:spPr>
          <a:xfrm>
            <a:off x="11426895" y="6183992"/>
            <a:ext cx="357445" cy="397116"/>
          </a:xfrm>
          <a:custGeom>
            <a:avLst/>
            <a:gdLst/>
            <a:ahLst/>
            <a:cxnLst/>
            <a:rect l="l" t="t" r="r" b="b"/>
            <a:pathLst>
              <a:path w="357445" h="397116">
                <a:moveTo>
                  <a:pt x="0" y="0"/>
                </a:moveTo>
                <a:lnTo>
                  <a:pt x="357445" y="0"/>
                </a:lnTo>
                <a:lnTo>
                  <a:pt x="357445" y="397116"/>
                </a:lnTo>
                <a:lnTo>
                  <a:pt x="0" y="39711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Freeform 7"/>
          <p:cNvSpPr/>
          <p:nvPr/>
        </p:nvSpPr>
        <p:spPr>
          <a:xfrm>
            <a:off x="10007603" y="6984997"/>
            <a:ext cx="3276600" cy="1803397"/>
          </a:xfrm>
          <a:custGeom>
            <a:avLst/>
            <a:gdLst/>
            <a:ahLst/>
            <a:cxnLst/>
            <a:rect l="l" t="t" r="r" b="b"/>
            <a:pathLst>
              <a:path w="3276600" h="1803397">
                <a:moveTo>
                  <a:pt x="0" y="0"/>
                </a:moveTo>
                <a:lnTo>
                  <a:pt x="3276600" y="0"/>
                </a:lnTo>
                <a:lnTo>
                  <a:pt x="3276600" y="1803397"/>
                </a:lnTo>
                <a:lnTo>
                  <a:pt x="0" y="1803397"/>
                </a:lnTo>
                <a:lnTo>
                  <a:pt x="0" y="0"/>
                </a:lnTo>
                <a:close/>
              </a:path>
            </a:pathLst>
          </a:custGeom>
          <a:blipFill>
            <a:blip r:embed="rId9"/>
            <a:stretch>
              <a:fillRect/>
            </a:stretch>
          </a:blipFill>
        </p:spPr>
      </p:sp>
      <p:sp>
        <p:nvSpPr>
          <p:cNvPr id="8" name="Freeform 8"/>
          <p:cNvSpPr/>
          <p:nvPr/>
        </p:nvSpPr>
        <p:spPr>
          <a:xfrm>
            <a:off x="10021405" y="8434121"/>
            <a:ext cx="363693" cy="381933"/>
          </a:xfrm>
          <a:custGeom>
            <a:avLst/>
            <a:gdLst/>
            <a:ahLst/>
            <a:cxnLst/>
            <a:rect l="l" t="t" r="r" b="b"/>
            <a:pathLst>
              <a:path w="363693" h="381933">
                <a:moveTo>
                  <a:pt x="0" y="0"/>
                </a:moveTo>
                <a:lnTo>
                  <a:pt x="363693" y="0"/>
                </a:lnTo>
                <a:lnTo>
                  <a:pt x="363693" y="381933"/>
                </a:lnTo>
                <a:lnTo>
                  <a:pt x="0" y="3819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grpSp>
        <p:nvGrpSpPr>
          <p:cNvPr id="9" name="Group 9"/>
          <p:cNvGrpSpPr>
            <a:grpSpLocks noChangeAspect="1"/>
          </p:cNvGrpSpPr>
          <p:nvPr/>
        </p:nvGrpSpPr>
        <p:grpSpPr>
          <a:xfrm>
            <a:off x="7766418" y="4341324"/>
            <a:ext cx="5412105" cy="177308"/>
            <a:chOff x="0" y="0"/>
            <a:chExt cx="5412105" cy="177305"/>
          </a:xfrm>
        </p:grpSpPr>
        <p:sp>
          <p:nvSpPr>
            <p:cNvPr id="10" name="Freeform 10"/>
            <p:cNvSpPr/>
            <p:nvPr/>
          </p:nvSpPr>
          <p:spPr>
            <a:xfrm>
              <a:off x="0" y="0"/>
              <a:ext cx="5412105" cy="177292"/>
            </a:xfrm>
            <a:custGeom>
              <a:avLst/>
              <a:gdLst/>
              <a:ahLst/>
              <a:cxnLst/>
              <a:rect l="l" t="t" r="r" b="b"/>
              <a:pathLst>
                <a:path w="5412105" h="177292">
                  <a:moveTo>
                    <a:pt x="0" y="177292"/>
                  </a:moveTo>
                  <a:lnTo>
                    <a:pt x="5412105" y="177292"/>
                  </a:lnTo>
                  <a:lnTo>
                    <a:pt x="5412105" y="0"/>
                  </a:lnTo>
                  <a:lnTo>
                    <a:pt x="0" y="0"/>
                  </a:lnTo>
                  <a:close/>
                </a:path>
              </a:pathLst>
            </a:custGeom>
            <a:solidFill>
              <a:srgbClr val="000000">
                <a:alpha val="0"/>
              </a:srgbClr>
            </a:solidFill>
          </p:spPr>
        </p:sp>
      </p:grpSp>
      <p:grpSp>
        <p:nvGrpSpPr>
          <p:cNvPr id="11" name="Group 11"/>
          <p:cNvGrpSpPr>
            <a:grpSpLocks noChangeAspect="1"/>
          </p:cNvGrpSpPr>
          <p:nvPr/>
        </p:nvGrpSpPr>
        <p:grpSpPr>
          <a:xfrm>
            <a:off x="11358820" y="5296624"/>
            <a:ext cx="5706818" cy="1257271"/>
            <a:chOff x="0" y="0"/>
            <a:chExt cx="5706821" cy="1257275"/>
          </a:xfrm>
        </p:grpSpPr>
        <p:sp>
          <p:nvSpPr>
            <p:cNvPr id="12" name="Freeform 12"/>
            <p:cNvSpPr/>
            <p:nvPr/>
          </p:nvSpPr>
          <p:spPr>
            <a:xfrm>
              <a:off x="63500" y="63500"/>
              <a:ext cx="5427472" cy="977900"/>
            </a:xfrm>
            <a:custGeom>
              <a:avLst/>
              <a:gdLst/>
              <a:ahLst/>
              <a:cxnLst/>
              <a:rect l="l" t="t" r="r" b="b"/>
              <a:pathLst>
                <a:path w="5427472" h="977900">
                  <a:moveTo>
                    <a:pt x="0" y="977900"/>
                  </a:moveTo>
                  <a:lnTo>
                    <a:pt x="5427472" y="977900"/>
                  </a:lnTo>
                  <a:lnTo>
                    <a:pt x="5427472" y="0"/>
                  </a:lnTo>
                  <a:lnTo>
                    <a:pt x="0" y="0"/>
                  </a:lnTo>
                  <a:close/>
                </a:path>
              </a:pathLst>
            </a:custGeom>
            <a:solidFill>
              <a:srgbClr val="000000">
                <a:alpha val="0"/>
              </a:srgbClr>
            </a:solidFill>
          </p:spPr>
        </p:sp>
        <p:sp>
          <p:nvSpPr>
            <p:cNvPr id="13" name="Freeform 13"/>
            <p:cNvSpPr/>
            <p:nvPr/>
          </p:nvSpPr>
          <p:spPr>
            <a:xfrm>
              <a:off x="215900" y="215900"/>
              <a:ext cx="5427472" cy="977900"/>
            </a:xfrm>
            <a:custGeom>
              <a:avLst/>
              <a:gdLst/>
              <a:ahLst/>
              <a:cxnLst/>
              <a:rect l="l" t="t" r="r" b="b"/>
              <a:pathLst>
                <a:path w="5427472" h="977900">
                  <a:moveTo>
                    <a:pt x="0" y="977900"/>
                  </a:moveTo>
                  <a:lnTo>
                    <a:pt x="5427472" y="977900"/>
                  </a:lnTo>
                  <a:lnTo>
                    <a:pt x="5427472" y="0"/>
                  </a:lnTo>
                  <a:lnTo>
                    <a:pt x="0" y="0"/>
                  </a:lnTo>
                  <a:close/>
                </a:path>
              </a:pathLst>
            </a:custGeom>
            <a:solidFill>
              <a:srgbClr val="000000">
                <a:alpha val="0"/>
              </a:srgbClr>
            </a:solidFill>
          </p:spPr>
        </p:sp>
      </p:grpSp>
      <p:sp>
        <p:nvSpPr>
          <p:cNvPr id="14" name="TextBox 14"/>
          <p:cNvSpPr txBox="1"/>
          <p:nvPr/>
        </p:nvSpPr>
        <p:spPr>
          <a:xfrm>
            <a:off x="5717086" y="324326"/>
            <a:ext cx="6990740"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Variáveis Globais</a:t>
            </a:r>
          </a:p>
        </p:txBody>
      </p:sp>
      <p:sp>
        <p:nvSpPr>
          <p:cNvPr id="15" name="TextBox 15"/>
          <p:cNvSpPr txBox="1"/>
          <p:nvPr/>
        </p:nvSpPr>
        <p:spPr>
          <a:xfrm>
            <a:off x="164983" y="2014852"/>
            <a:ext cx="9467869" cy="813054"/>
          </a:xfrm>
          <a:prstGeom prst="rect">
            <a:avLst/>
          </a:prstGeom>
        </p:spPr>
        <p:txBody>
          <a:bodyPr lIns="0" tIns="0" rIns="0" bIns="0" rtlCol="0" anchor="t">
            <a:spAutoFit/>
          </a:bodyPr>
          <a:lstStyle/>
          <a:p>
            <a:pPr algn="l">
              <a:lnSpc>
                <a:spcPts val="5880"/>
              </a:lnSpc>
            </a:pPr>
            <a:r>
              <a:rPr lang="en-US" sz="4200" b="1">
                <a:solidFill>
                  <a:srgbClr val="FFFFFF"/>
                </a:solidFill>
                <a:latin typeface="Poppins Semi-Bold"/>
                <a:ea typeface="Poppins Semi-Bold"/>
                <a:cs typeface="Poppins Semi-Bold"/>
                <a:sym typeface="Poppins Semi-Bold"/>
              </a:rPr>
              <a:t>Vamos executar o código abaixo:</a:t>
            </a:r>
          </a:p>
        </p:txBody>
      </p:sp>
      <p:sp>
        <p:nvSpPr>
          <p:cNvPr id="16" name="TextBox 16"/>
          <p:cNvSpPr txBox="1"/>
          <p:nvPr/>
        </p:nvSpPr>
        <p:spPr>
          <a:xfrm>
            <a:off x="13574125" y="6032735"/>
            <a:ext cx="4329608" cy="1899285"/>
          </a:xfrm>
          <a:prstGeom prst="rect">
            <a:avLst/>
          </a:prstGeom>
        </p:spPr>
        <p:txBody>
          <a:bodyPr lIns="0" tIns="0" rIns="0" bIns="0" rtlCol="0" anchor="t">
            <a:spAutoFit/>
          </a:bodyPr>
          <a:lstStyle/>
          <a:p>
            <a:pPr algn="ctr">
              <a:lnSpc>
                <a:spcPts val="3600"/>
              </a:lnSpc>
            </a:pPr>
            <a:r>
              <a:rPr lang="en-US" sz="3000" b="1">
                <a:solidFill>
                  <a:srgbClr val="FFFFFF"/>
                </a:solidFill>
                <a:latin typeface="Poppins Semi-Bold"/>
                <a:ea typeface="Poppins Semi-Bold"/>
                <a:cs typeface="Poppins Semi-Bold"/>
                <a:sym typeface="Poppins Semi-Bold"/>
              </a:rPr>
              <a:t>Tanto o método Main quanto o ExibirNome estão utilizando a variável nome.</a:t>
            </a:r>
          </a:p>
        </p:txBody>
      </p:sp>
      <p:sp>
        <p:nvSpPr>
          <p:cNvPr id="17" name="TextBox 17"/>
          <p:cNvSpPr txBox="1"/>
          <p:nvPr/>
        </p:nvSpPr>
        <p:spPr>
          <a:xfrm>
            <a:off x="13247922" y="3714150"/>
            <a:ext cx="4806448" cy="1442085"/>
          </a:xfrm>
          <a:prstGeom prst="rect">
            <a:avLst/>
          </a:prstGeom>
        </p:spPr>
        <p:txBody>
          <a:bodyPr lIns="0" tIns="0" rIns="0" bIns="0" rtlCol="0" anchor="t">
            <a:spAutoFit/>
          </a:bodyPr>
          <a:lstStyle/>
          <a:p>
            <a:pPr algn="ctr">
              <a:lnSpc>
                <a:spcPts val="3600"/>
              </a:lnSpc>
            </a:pPr>
            <a:r>
              <a:rPr lang="en-US" sz="3000" b="1">
                <a:solidFill>
                  <a:srgbClr val="FFFFFF"/>
                </a:solidFill>
                <a:latin typeface="Poppins Semi-Bold"/>
                <a:ea typeface="Poppins Semi-Bold"/>
                <a:cs typeface="Poppins Semi-Bold"/>
                <a:sym typeface="Poppins Semi-Bold"/>
              </a:rPr>
              <a:t>Declarei uma variável e armazenei um valor dentro dela.</a:t>
            </a: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64983" y="2833468"/>
            <a:ext cx="12544425" cy="7381875"/>
          </a:xfrm>
          <a:custGeom>
            <a:avLst/>
            <a:gdLst/>
            <a:ahLst/>
            <a:cxnLst/>
            <a:rect l="l" t="t" r="r" b="b"/>
            <a:pathLst>
              <a:path w="12544425" h="7381875">
                <a:moveTo>
                  <a:pt x="0" y="0"/>
                </a:moveTo>
                <a:lnTo>
                  <a:pt x="12544425" y="0"/>
                </a:lnTo>
                <a:lnTo>
                  <a:pt x="12544425" y="7381875"/>
                </a:lnTo>
                <a:lnTo>
                  <a:pt x="0" y="7381875"/>
                </a:lnTo>
                <a:lnTo>
                  <a:pt x="0" y="0"/>
                </a:lnTo>
                <a:close/>
              </a:path>
            </a:pathLst>
          </a:custGeom>
          <a:blipFill>
            <a:blip r:embed="rId2"/>
            <a:stretch>
              <a:fillRect/>
            </a:stretch>
          </a:blipFill>
        </p:spPr>
      </p:sp>
      <p:sp>
        <p:nvSpPr>
          <p:cNvPr id="3" name="Freeform 3"/>
          <p:cNvSpPr/>
          <p:nvPr/>
        </p:nvSpPr>
        <p:spPr>
          <a:xfrm>
            <a:off x="6400800" y="7505700"/>
            <a:ext cx="711203" cy="850897"/>
          </a:xfrm>
          <a:custGeom>
            <a:avLst/>
            <a:gdLst/>
            <a:ahLst/>
            <a:cxnLst/>
            <a:rect l="l" t="t" r="r" b="b"/>
            <a:pathLst>
              <a:path w="711203" h="850897">
                <a:moveTo>
                  <a:pt x="0" y="0"/>
                </a:moveTo>
                <a:lnTo>
                  <a:pt x="711203" y="0"/>
                </a:lnTo>
                <a:lnTo>
                  <a:pt x="711203" y="850897"/>
                </a:lnTo>
                <a:lnTo>
                  <a:pt x="0" y="850897"/>
                </a:lnTo>
                <a:lnTo>
                  <a:pt x="0" y="0"/>
                </a:lnTo>
                <a:close/>
              </a:path>
            </a:pathLst>
          </a:custGeom>
          <a:blipFill>
            <a:blip r:embed="rId3"/>
            <a:stretch>
              <a:fillRect/>
            </a:stretch>
          </a:blipFill>
        </p:spPr>
      </p:sp>
      <p:sp>
        <p:nvSpPr>
          <p:cNvPr id="4" name="Freeform 4"/>
          <p:cNvSpPr/>
          <p:nvPr/>
        </p:nvSpPr>
        <p:spPr>
          <a:xfrm>
            <a:off x="5989606" y="7375388"/>
            <a:ext cx="5554418" cy="1104871"/>
          </a:xfrm>
          <a:custGeom>
            <a:avLst/>
            <a:gdLst/>
            <a:ahLst/>
            <a:cxnLst/>
            <a:rect l="l" t="t" r="r" b="b"/>
            <a:pathLst>
              <a:path w="5554418" h="1104871">
                <a:moveTo>
                  <a:pt x="0" y="0"/>
                </a:moveTo>
                <a:lnTo>
                  <a:pt x="5554418" y="0"/>
                </a:lnTo>
                <a:lnTo>
                  <a:pt x="5554418" y="1104872"/>
                </a:lnTo>
                <a:lnTo>
                  <a:pt x="0" y="11048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5717086" y="324326"/>
            <a:ext cx="6990740"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Variáveis Globais</a:t>
            </a:r>
          </a:p>
        </p:txBody>
      </p:sp>
      <p:sp>
        <p:nvSpPr>
          <p:cNvPr id="6" name="TextBox 6"/>
          <p:cNvSpPr txBox="1"/>
          <p:nvPr/>
        </p:nvSpPr>
        <p:spPr>
          <a:xfrm>
            <a:off x="164983" y="2014852"/>
            <a:ext cx="9467869" cy="813054"/>
          </a:xfrm>
          <a:prstGeom prst="rect">
            <a:avLst/>
          </a:prstGeom>
        </p:spPr>
        <p:txBody>
          <a:bodyPr lIns="0" tIns="0" rIns="0" bIns="0" rtlCol="0" anchor="t">
            <a:spAutoFit/>
          </a:bodyPr>
          <a:lstStyle/>
          <a:p>
            <a:pPr algn="l">
              <a:lnSpc>
                <a:spcPts val="5880"/>
              </a:lnSpc>
            </a:pPr>
            <a:r>
              <a:rPr lang="en-US" sz="4200" b="1">
                <a:solidFill>
                  <a:srgbClr val="FFFFFF"/>
                </a:solidFill>
                <a:latin typeface="Poppins Semi-Bold"/>
                <a:ea typeface="Poppins Semi-Bold"/>
                <a:cs typeface="Poppins Semi-Bold"/>
                <a:sym typeface="Poppins Semi-Bold"/>
              </a:rPr>
              <a:t>Vamos executar o código abaixo:</a:t>
            </a:r>
          </a:p>
        </p:txBody>
      </p:sp>
      <p:sp>
        <p:nvSpPr>
          <p:cNvPr id="7" name="TextBox 7"/>
          <p:cNvSpPr txBox="1"/>
          <p:nvPr/>
        </p:nvSpPr>
        <p:spPr>
          <a:xfrm>
            <a:off x="7264641" y="7013962"/>
            <a:ext cx="4571819" cy="987552"/>
          </a:xfrm>
          <a:prstGeom prst="rect">
            <a:avLst/>
          </a:prstGeom>
        </p:spPr>
        <p:txBody>
          <a:bodyPr lIns="0" tIns="0" rIns="0" bIns="0" rtlCol="0" anchor="t">
            <a:spAutoFit/>
          </a:bodyPr>
          <a:lstStyle/>
          <a:p>
            <a:pPr algn="ctr">
              <a:lnSpc>
                <a:spcPts val="2475"/>
              </a:lnSpc>
            </a:pPr>
            <a:r>
              <a:rPr lang="en-US" sz="2100" b="1">
                <a:solidFill>
                  <a:srgbClr val="FF5757"/>
                </a:solidFill>
                <a:latin typeface="Poppins Semi-Bold"/>
                <a:ea typeface="Poppins Semi-Bold"/>
                <a:cs typeface="Poppins Semi-Bold"/>
                <a:sym typeface="Poppins Semi-Bold"/>
              </a:rPr>
              <a:t>Note que não estou utilizando parâmetros para poder enviar a variável para o método.</a:t>
            </a:r>
          </a:p>
        </p:txBody>
      </p:sp>
      <p:sp>
        <p:nvSpPr>
          <p:cNvPr id="8" name="TextBox 8"/>
          <p:cNvSpPr txBox="1"/>
          <p:nvPr/>
        </p:nvSpPr>
        <p:spPr>
          <a:xfrm>
            <a:off x="13356841" y="8616258"/>
            <a:ext cx="4486951" cy="987552"/>
          </a:xfrm>
          <a:prstGeom prst="rect">
            <a:avLst/>
          </a:prstGeom>
        </p:spPr>
        <p:txBody>
          <a:bodyPr lIns="0" tIns="0" rIns="0" bIns="0" rtlCol="0" anchor="t">
            <a:spAutoFit/>
          </a:bodyPr>
          <a:lstStyle/>
          <a:p>
            <a:pPr algn="ctr">
              <a:lnSpc>
                <a:spcPts val="2475"/>
              </a:lnSpc>
            </a:pPr>
            <a:r>
              <a:rPr lang="en-US" sz="2100" b="1">
                <a:solidFill>
                  <a:srgbClr val="FFFFFF"/>
                </a:solidFill>
                <a:latin typeface="Poppins Semi-Bold"/>
                <a:ea typeface="Poppins Semi-Bold"/>
                <a:cs typeface="Poppins Semi-Bold"/>
                <a:sym typeface="Poppins Semi-Bold"/>
              </a:rPr>
              <a:t>Estou acessando diretamente o seu valor pois ela foi declarada como variável global.</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64983" y="2833468"/>
            <a:ext cx="13163550" cy="7305675"/>
          </a:xfrm>
          <a:custGeom>
            <a:avLst/>
            <a:gdLst/>
            <a:ahLst/>
            <a:cxnLst/>
            <a:rect l="l" t="t" r="r" b="b"/>
            <a:pathLst>
              <a:path w="13163550" h="7305675">
                <a:moveTo>
                  <a:pt x="0" y="0"/>
                </a:moveTo>
                <a:lnTo>
                  <a:pt x="13163550" y="0"/>
                </a:lnTo>
                <a:lnTo>
                  <a:pt x="13163550" y="7305675"/>
                </a:lnTo>
                <a:lnTo>
                  <a:pt x="0" y="7305675"/>
                </a:lnTo>
                <a:lnTo>
                  <a:pt x="0" y="0"/>
                </a:lnTo>
                <a:close/>
              </a:path>
            </a:pathLst>
          </a:custGeom>
          <a:blipFill>
            <a:blip r:embed="rId2"/>
            <a:stretch>
              <a:fillRect/>
            </a:stretch>
          </a:blipFill>
        </p:spPr>
      </p:sp>
      <p:sp>
        <p:nvSpPr>
          <p:cNvPr id="3" name="Freeform 3"/>
          <p:cNvSpPr/>
          <p:nvPr/>
        </p:nvSpPr>
        <p:spPr>
          <a:xfrm>
            <a:off x="7467600" y="6438900"/>
            <a:ext cx="5880097" cy="126997"/>
          </a:xfrm>
          <a:custGeom>
            <a:avLst/>
            <a:gdLst/>
            <a:ahLst/>
            <a:cxnLst/>
            <a:rect l="l" t="t" r="r" b="b"/>
            <a:pathLst>
              <a:path w="5880097" h="126997">
                <a:moveTo>
                  <a:pt x="0" y="0"/>
                </a:moveTo>
                <a:lnTo>
                  <a:pt x="5880097" y="0"/>
                </a:lnTo>
                <a:lnTo>
                  <a:pt x="5880097" y="126997"/>
                </a:lnTo>
                <a:lnTo>
                  <a:pt x="0" y="126997"/>
                </a:lnTo>
                <a:lnTo>
                  <a:pt x="0" y="0"/>
                </a:lnTo>
                <a:close/>
              </a:path>
            </a:pathLst>
          </a:custGeom>
          <a:blipFill>
            <a:blip r:embed="rId3"/>
            <a:stretch>
              <a:fillRect/>
            </a:stretch>
          </a:blipFill>
        </p:spPr>
      </p:sp>
      <p:sp>
        <p:nvSpPr>
          <p:cNvPr id="4" name="Freeform 4"/>
          <p:cNvSpPr/>
          <p:nvPr/>
        </p:nvSpPr>
        <p:spPr>
          <a:xfrm>
            <a:off x="7407183" y="6214281"/>
            <a:ext cx="5988396" cy="546106"/>
          </a:xfrm>
          <a:custGeom>
            <a:avLst/>
            <a:gdLst/>
            <a:ahLst/>
            <a:cxnLst/>
            <a:rect l="l" t="t" r="r" b="b"/>
            <a:pathLst>
              <a:path w="5988396" h="546106">
                <a:moveTo>
                  <a:pt x="0" y="0"/>
                </a:moveTo>
                <a:lnTo>
                  <a:pt x="5988396" y="0"/>
                </a:lnTo>
                <a:lnTo>
                  <a:pt x="5988396" y="546107"/>
                </a:lnTo>
                <a:lnTo>
                  <a:pt x="0" y="54610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5717086" y="324326"/>
            <a:ext cx="6990740"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Variáveis Globais</a:t>
            </a:r>
          </a:p>
        </p:txBody>
      </p:sp>
      <p:sp>
        <p:nvSpPr>
          <p:cNvPr id="6" name="TextBox 6"/>
          <p:cNvSpPr txBox="1"/>
          <p:nvPr/>
        </p:nvSpPr>
        <p:spPr>
          <a:xfrm>
            <a:off x="164983" y="2014852"/>
            <a:ext cx="9467869" cy="813054"/>
          </a:xfrm>
          <a:prstGeom prst="rect">
            <a:avLst/>
          </a:prstGeom>
        </p:spPr>
        <p:txBody>
          <a:bodyPr lIns="0" tIns="0" rIns="0" bIns="0" rtlCol="0" anchor="t">
            <a:spAutoFit/>
          </a:bodyPr>
          <a:lstStyle/>
          <a:p>
            <a:pPr algn="l">
              <a:lnSpc>
                <a:spcPts val="5880"/>
              </a:lnSpc>
            </a:pPr>
            <a:r>
              <a:rPr lang="en-US" sz="4200" b="1">
                <a:solidFill>
                  <a:srgbClr val="FFFFFF"/>
                </a:solidFill>
                <a:latin typeface="Poppins Semi-Bold"/>
                <a:ea typeface="Poppins Semi-Bold"/>
                <a:cs typeface="Poppins Semi-Bold"/>
                <a:sym typeface="Poppins Semi-Bold"/>
              </a:rPr>
              <a:t>Vamos executar o código abaixo:</a:t>
            </a:r>
          </a:p>
        </p:txBody>
      </p:sp>
      <p:sp>
        <p:nvSpPr>
          <p:cNvPr id="7" name="TextBox 7"/>
          <p:cNvSpPr txBox="1"/>
          <p:nvPr/>
        </p:nvSpPr>
        <p:spPr>
          <a:xfrm>
            <a:off x="13379110" y="5654164"/>
            <a:ext cx="4853654" cy="1616202"/>
          </a:xfrm>
          <a:prstGeom prst="rect">
            <a:avLst/>
          </a:prstGeom>
        </p:spPr>
        <p:txBody>
          <a:bodyPr lIns="0" tIns="0" rIns="0" bIns="0" rtlCol="0" anchor="t">
            <a:spAutoFit/>
          </a:bodyPr>
          <a:lstStyle/>
          <a:p>
            <a:pPr algn="ctr">
              <a:lnSpc>
                <a:spcPts val="2475"/>
              </a:lnSpc>
            </a:pPr>
            <a:r>
              <a:rPr lang="en-US" sz="2100" b="1">
                <a:solidFill>
                  <a:srgbClr val="FFFFFF"/>
                </a:solidFill>
                <a:latin typeface="Poppins Semi-Bold"/>
                <a:ea typeface="Poppins Semi-Bold"/>
                <a:cs typeface="Poppins Semi-Bold"/>
                <a:sym typeface="Poppins Semi-Bold"/>
              </a:rPr>
              <a:t>Você pode manipular os valores a serem armazenados dentro da variável normalmente. Nesse caso estou lendo um valor para ser exibido depois.</a:t>
            </a: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64983" y="2833468"/>
            <a:ext cx="7629525" cy="7362825"/>
          </a:xfrm>
          <a:custGeom>
            <a:avLst/>
            <a:gdLst/>
            <a:ahLst/>
            <a:cxnLst/>
            <a:rect l="l" t="t" r="r" b="b"/>
            <a:pathLst>
              <a:path w="7629525" h="7362825">
                <a:moveTo>
                  <a:pt x="0" y="0"/>
                </a:moveTo>
                <a:lnTo>
                  <a:pt x="7629525" y="0"/>
                </a:lnTo>
                <a:lnTo>
                  <a:pt x="7629525" y="7362825"/>
                </a:lnTo>
                <a:lnTo>
                  <a:pt x="0" y="7362825"/>
                </a:lnTo>
                <a:lnTo>
                  <a:pt x="0" y="0"/>
                </a:lnTo>
                <a:close/>
              </a:path>
            </a:pathLst>
          </a:custGeom>
          <a:blipFill>
            <a:blip r:embed="rId2"/>
            <a:stretch>
              <a:fillRect/>
            </a:stretch>
          </a:blipFill>
        </p:spPr>
      </p:sp>
      <p:sp>
        <p:nvSpPr>
          <p:cNvPr id="3" name="TextBox 3"/>
          <p:cNvSpPr txBox="1"/>
          <p:nvPr/>
        </p:nvSpPr>
        <p:spPr>
          <a:xfrm>
            <a:off x="5717086" y="324326"/>
            <a:ext cx="6990740"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Variáveis Globais</a:t>
            </a:r>
          </a:p>
        </p:txBody>
      </p:sp>
      <p:sp>
        <p:nvSpPr>
          <p:cNvPr id="4" name="TextBox 4"/>
          <p:cNvSpPr txBox="1"/>
          <p:nvPr/>
        </p:nvSpPr>
        <p:spPr>
          <a:xfrm>
            <a:off x="164983" y="2014852"/>
            <a:ext cx="9467869" cy="813054"/>
          </a:xfrm>
          <a:prstGeom prst="rect">
            <a:avLst/>
          </a:prstGeom>
        </p:spPr>
        <p:txBody>
          <a:bodyPr lIns="0" tIns="0" rIns="0" bIns="0" rtlCol="0" anchor="t">
            <a:spAutoFit/>
          </a:bodyPr>
          <a:lstStyle/>
          <a:p>
            <a:pPr algn="l">
              <a:lnSpc>
                <a:spcPts val="5880"/>
              </a:lnSpc>
            </a:pPr>
            <a:r>
              <a:rPr lang="en-US" sz="4200" b="1">
                <a:solidFill>
                  <a:srgbClr val="FFFFFF"/>
                </a:solidFill>
                <a:latin typeface="Poppins Semi-Bold"/>
                <a:ea typeface="Poppins Semi-Bold"/>
                <a:cs typeface="Poppins Semi-Bold"/>
                <a:sym typeface="Poppins Semi-Bold"/>
              </a:rPr>
              <a:t>Vamos executar o código abaixo:</a:t>
            </a:r>
          </a:p>
        </p:txBody>
      </p:sp>
      <p:sp>
        <p:nvSpPr>
          <p:cNvPr id="5" name="TextBox 5"/>
          <p:cNvSpPr txBox="1"/>
          <p:nvPr/>
        </p:nvSpPr>
        <p:spPr>
          <a:xfrm>
            <a:off x="9339434" y="5631199"/>
            <a:ext cx="7986379" cy="887349"/>
          </a:xfrm>
          <a:prstGeom prst="rect">
            <a:avLst/>
          </a:prstGeom>
        </p:spPr>
        <p:txBody>
          <a:bodyPr lIns="0" tIns="0" rIns="0" bIns="0" rtlCol="0" anchor="t">
            <a:spAutoFit/>
          </a:bodyPr>
          <a:lstStyle/>
          <a:p>
            <a:pPr algn="ctr">
              <a:lnSpc>
                <a:spcPts val="3223"/>
              </a:lnSpc>
            </a:pPr>
            <a:r>
              <a:rPr lang="en-US" sz="2700" b="1">
                <a:solidFill>
                  <a:srgbClr val="FFFFFF"/>
                </a:solidFill>
                <a:latin typeface="Poppins Semi-Bold"/>
                <a:ea typeface="Poppins Semi-Bold"/>
                <a:cs typeface="Poppins Semi-Bold"/>
                <a:sym typeface="Poppins Semi-Bold"/>
              </a:rPr>
              <a:t>Análise o código ao lado e responda, qual o valor de </a:t>
            </a:r>
            <a:r>
              <a:rPr lang="en-US" sz="2700" b="1">
                <a:solidFill>
                  <a:srgbClr val="FF5757"/>
                </a:solidFill>
                <a:latin typeface="Poppins Semi-Bold"/>
                <a:ea typeface="Poppins Semi-Bold"/>
                <a:cs typeface="Poppins Semi-Bold"/>
                <a:sym typeface="Poppins Semi-Bold"/>
              </a:rPr>
              <a:t>nome</a:t>
            </a:r>
            <a:r>
              <a:rPr lang="en-US" sz="2700" b="1">
                <a:solidFill>
                  <a:srgbClr val="FFFFFF"/>
                </a:solidFill>
                <a:latin typeface="Poppins Semi-Bold"/>
                <a:ea typeface="Poppins Semi-Bold"/>
                <a:cs typeface="Poppins Semi-Bold"/>
                <a:sym typeface="Poppins Semi-Bold"/>
              </a:rPr>
              <a:t> no final do programa?</a:t>
            </a: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7628039" y="324326"/>
            <a:ext cx="309252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Classes</a:t>
            </a:r>
          </a:p>
        </p:txBody>
      </p:sp>
      <p:sp>
        <p:nvSpPr>
          <p:cNvPr id="3" name="TextBox 3"/>
          <p:cNvSpPr txBox="1"/>
          <p:nvPr/>
        </p:nvSpPr>
        <p:spPr>
          <a:xfrm>
            <a:off x="164983" y="2318928"/>
            <a:ext cx="18284152" cy="7118604"/>
          </a:xfrm>
          <a:prstGeom prst="rect">
            <a:avLst/>
          </a:prstGeom>
        </p:spPr>
        <p:txBody>
          <a:bodyPr lIns="0" tIns="0" rIns="0" bIns="0" rtlCol="0" anchor="t">
            <a:spAutoFit/>
          </a:bodyPr>
          <a:lstStyle/>
          <a:p>
            <a:pPr algn="l">
              <a:lnSpc>
                <a:spcPts val="5023"/>
              </a:lnSpc>
            </a:pPr>
            <a:r>
              <a:rPr lang="en-US" sz="4200" b="1">
                <a:solidFill>
                  <a:srgbClr val="FFFFFF"/>
                </a:solidFill>
                <a:latin typeface="Poppins Semi-Bold"/>
                <a:ea typeface="Poppins Semi-Bold"/>
                <a:cs typeface="Poppins Semi-Bold"/>
                <a:sym typeface="Poppins Semi-Bold"/>
              </a:rPr>
              <a:t>Vocês aprenderam que o C# é uma linguagem orientada a objetos (POO) e com isso é possível criar </a:t>
            </a:r>
            <a:r>
              <a:rPr lang="en-US" sz="4200" b="1">
                <a:solidFill>
                  <a:srgbClr val="FF5757"/>
                </a:solidFill>
                <a:latin typeface="Poppins Semi-Bold"/>
                <a:ea typeface="Poppins Semi-Bold"/>
                <a:cs typeface="Poppins Semi-Bold"/>
                <a:sym typeface="Poppins Semi-Bold"/>
              </a:rPr>
              <a:t>classes </a:t>
            </a:r>
            <a:r>
              <a:rPr lang="en-US" sz="4200" b="1">
                <a:solidFill>
                  <a:srgbClr val="FFFFFF"/>
                </a:solidFill>
                <a:latin typeface="Poppins Semi-Bold"/>
                <a:ea typeface="Poppins Semi-Bold"/>
                <a:cs typeface="Poppins Semi-Bold"/>
                <a:sym typeface="Poppins Semi-Bold"/>
              </a:rPr>
              <a:t>para os nossos programas. Basicamente as classes são espelhos do mundo real para o mundo virtual, como se você quisesse trazer algo físico encontrado no nosso dia a dia para o programa que você irá desenvolver. No começo do conteúdo vimos um exemplo bem rápido sobre classes, agora vamos entrar um pouco mais em detalhes</a:t>
            </a: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028700" y="6022448"/>
            <a:ext cx="7115175" cy="3800475"/>
          </a:xfrm>
          <a:custGeom>
            <a:avLst/>
            <a:gdLst/>
            <a:ahLst/>
            <a:cxnLst/>
            <a:rect l="l" t="t" r="r" b="b"/>
            <a:pathLst>
              <a:path w="7115175" h="3800475">
                <a:moveTo>
                  <a:pt x="0" y="0"/>
                </a:moveTo>
                <a:lnTo>
                  <a:pt x="7115175" y="0"/>
                </a:lnTo>
                <a:lnTo>
                  <a:pt x="7115175" y="3800475"/>
                </a:lnTo>
                <a:lnTo>
                  <a:pt x="0" y="3800475"/>
                </a:lnTo>
                <a:lnTo>
                  <a:pt x="0" y="0"/>
                </a:lnTo>
                <a:close/>
              </a:path>
            </a:pathLst>
          </a:custGeom>
          <a:blipFill>
            <a:blip r:embed="rId2"/>
            <a:stretch>
              <a:fillRect t="-13766" r="-29049" b="-7035"/>
            </a:stretch>
          </a:blipFill>
        </p:spPr>
      </p:sp>
      <p:sp>
        <p:nvSpPr>
          <p:cNvPr id="3" name="Freeform 3"/>
          <p:cNvSpPr/>
          <p:nvPr/>
        </p:nvSpPr>
        <p:spPr>
          <a:xfrm>
            <a:off x="10659580" y="3418865"/>
            <a:ext cx="6657975" cy="6410325"/>
          </a:xfrm>
          <a:custGeom>
            <a:avLst/>
            <a:gdLst/>
            <a:ahLst/>
            <a:cxnLst/>
            <a:rect l="l" t="t" r="r" b="b"/>
            <a:pathLst>
              <a:path w="6657975" h="6410325">
                <a:moveTo>
                  <a:pt x="0" y="0"/>
                </a:moveTo>
                <a:lnTo>
                  <a:pt x="6657975" y="0"/>
                </a:lnTo>
                <a:lnTo>
                  <a:pt x="6657975" y="6410325"/>
                </a:lnTo>
                <a:lnTo>
                  <a:pt x="0" y="6410325"/>
                </a:lnTo>
                <a:lnTo>
                  <a:pt x="0" y="0"/>
                </a:lnTo>
                <a:close/>
              </a:path>
            </a:pathLst>
          </a:custGeom>
          <a:blipFill>
            <a:blip r:embed="rId3"/>
            <a:stretch>
              <a:fillRect/>
            </a:stretch>
          </a:blipFill>
        </p:spPr>
      </p:sp>
      <p:grpSp>
        <p:nvGrpSpPr>
          <p:cNvPr id="4" name="Group 4"/>
          <p:cNvGrpSpPr>
            <a:grpSpLocks noChangeAspect="1"/>
          </p:cNvGrpSpPr>
          <p:nvPr/>
        </p:nvGrpSpPr>
        <p:grpSpPr>
          <a:xfrm>
            <a:off x="8379562" y="6824472"/>
            <a:ext cx="2277818" cy="2200456"/>
            <a:chOff x="0" y="0"/>
            <a:chExt cx="2277808" cy="2200453"/>
          </a:xfrm>
        </p:grpSpPr>
        <p:sp>
          <p:nvSpPr>
            <p:cNvPr id="5" name="Freeform 5"/>
            <p:cNvSpPr/>
            <p:nvPr/>
          </p:nvSpPr>
          <p:spPr>
            <a:xfrm>
              <a:off x="0" y="0"/>
              <a:ext cx="2277872" cy="2200402"/>
            </a:xfrm>
            <a:custGeom>
              <a:avLst/>
              <a:gdLst/>
              <a:ahLst/>
              <a:cxnLst/>
              <a:rect l="l" t="t" r="r" b="b"/>
              <a:pathLst>
                <a:path w="2277872" h="2200402">
                  <a:moveTo>
                    <a:pt x="736981" y="0"/>
                  </a:moveTo>
                  <a:lnTo>
                    <a:pt x="736981" y="771525"/>
                  </a:lnTo>
                  <a:lnTo>
                    <a:pt x="0" y="771525"/>
                  </a:lnTo>
                  <a:lnTo>
                    <a:pt x="0" y="1428877"/>
                  </a:lnTo>
                  <a:lnTo>
                    <a:pt x="736981" y="1428877"/>
                  </a:lnTo>
                  <a:lnTo>
                    <a:pt x="736981" y="2200402"/>
                  </a:lnTo>
                  <a:lnTo>
                    <a:pt x="736981" y="2200402"/>
                  </a:lnTo>
                  <a:lnTo>
                    <a:pt x="2277872" y="1101852"/>
                  </a:lnTo>
                  <a:lnTo>
                    <a:pt x="2277872" y="1098677"/>
                  </a:lnTo>
                  <a:lnTo>
                    <a:pt x="736981" y="0"/>
                  </a:lnTo>
                  <a:close/>
                </a:path>
              </a:pathLst>
            </a:custGeom>
            <a:solidFill>
              <a:srgbClr val="FF5757"/>
            </a:solidFill>
          </p:spPr>
        </p:sp>
      </p:grpSp>
      <p:sp>
        <p:nvSpPr>
          <p:cNvPr id="6" name="Freeform 6"/>
          <p:cNvSpPr/>
          <p:nvPr/>
        </p:nvSpPr>
        <p:spPr>
          <a:xfrm>
            <a:off x="11688347" y="4554626"/>
            <a:ext cx="1590675" cy="495300"/>
          </a:xfrm>
          <a:custGeom>
            <a:avLst/>
            <a:gdLst/>
            <a:ahLst/>
            <a:cxnLst/>
            <a:rect l="l" t="t" r="r" b="b"/>
            <a:pathLst>
              <a:path w="1590675" h="495300">
                <a:moveTo>
                  <a:pt x="0" y="0"/>
                </a:moveTo>
                <a:lnTo>
                  <a:pt x="1590675" y="0"/>
                </a:lnTo>
                <a:lnTo>
                  <a:pt x="1590675" y="495300"/>
                </a:lnTo>
                <a:lnTo>
                  <a:pt x="0" y="495300"/>
                </a:lnTo>
                <a:lnTo>
                  <a:pt x="0" y="0"/>
                </a:lnTo>
                <a:close/>
              </a:path>
            </a:pathLst>
          </a:custGeom>
          <a:blipFill>
            <a:blip r:embed="rId3"/>
            <a:stretch>
              <a:fillRect l="-63896" t="-338901" r="-254666" b="-855328"/>
            </a:stretch>
          </a:blipFill>
        </p:spPr>
      </p:sp>
      <p:sp>
        <p:nvSpPr>
          <p:cNvPr id="7" name="Freeform 7"/>
          <p:cNvSpPr/>
          <p:nvPr/>
        </p:nvSpPr>
        <p:spPr>
          <a:xfrm>
            <a:off x="13258667" y="4500734"/>
            <a:ext cx="1371600" cy="600075"/>
          </a:xfrm>
          <a:custGeom>
            <a:avLst/>
            <a:gdLst/>
            <a:ahLst/>
            <a:cxnLst/>
            <a:rect l="l" t="t" r="r" b="b"/>
            <a:pathLst>
              <a:path w="1371600" h="600075">
                <a:moveTo>
                  <a:pt x="0" y="0"/>
                </a:moveTo>
                <a:lnTo>
                  <a:pt x="1371600" y="0"/>
                </a:lnTo>
                <a:lnTo>
                  <a:pt x="1371600" y="600075"/>
                </a:lnTo>
                <a:lnTo>
                  <a:pt x="0" y="600075"/>
                </a:lnTo>
                <a:lnTo>
                  <a:pt x="0" y="0"/>
                </a:lnTo>
                <a:close/>
              </a:path>
            </a:pathLst>
          </a:custGeom>
          <a:blipFill>
            <a:blip r:embed="rId3"/>
            <a:stretch>
              <a:fillRect l="-143713" t="-182207" r="-241702" b="-786046"/>
            </a:stretch>
          </a:blipFill>
        </p:spPr>
      </p:sp>
      <p:sp>
        <p:nvSpPr>
          <p:cNvPr id="8" name="TextBox 8"/>
          <p:cNvSpPr txBox="1"/>
          <p:nvPr/>
        </p:nvSpPr>
        <p:spPr>
          <a:xfrm>
            <a:off x="3621291" y="712022"/>
            <a:ext cx="11323510" cy="1268368"/>
          </a:xfrm>
          <a:prstGeom prst="rect">
            <a:avLst/>
          </a:prstGeom>
        </p:spPr>
        <p:txBody>
          <a:bodyPr lIns="0" tIns="0" rIns="0" bIns="0" rtlCol="0" anchor="t">
            <a:spAutoFit/>
          </a:bodyPr>
          <a:lstStyle/>
          <a:p>
            <a:pPr algn="l">
              <a:lnSpc>
                <a:spcPts val="9224"/>
              </a:lnSpc>
            </a:pPr>
            <a:r>
              <a:rPr lang="en-US" sz="6249" b="1">
                <a:solidFill>
                  <a:srgbClr val="FFFFFF"/>
                </a:solidFill>
                <a:latin typeface="Poppins Semi-Bold"/>
                <a:ea typeface="Poppins Semi-Bold"/>
                <a:cs typeface="Poppins Semi-Bold"/>
                <a:sym typeface="Poppins Semi-Bold"/>
              </a:rPr>
              <a:t>Vamos rever esse exemplo</a:t>
            </a:r>
          </a:p>
        </p:txBody>
      </p:sp>
      <p:sp>
        <p:nvSpPr>
          <p:cNvPr id="9" name="TextBox 9"/>
          <p:cNvSpPr txBox="1"/>
          <p:nvPr/>
        </p:nvSpPr>
        <p:spPr>
          <a:xfrm>
            <a:off x="3159804" y="1772298"/>
            <a:ext cx="155438" cy="1179786"/>
          </a:xfrm>
          <a:prstGeom prst="rect">
            <a:avLst/>
          </a:prstGeom>
        </p:spPr>
        <p:txBody>
          <a:bodyPr lIns="0" tIns="0" rIns="0" bIns="0" rtlCol="0" anchor="t">
            <a:spAutoFit/>
          </a:bodyPr>
          <a:lstStyle/>
          <a:p>
            <a:pPr algn="l">
              <a:lnSpc>
                <a:spcPts val="9727"/>
              </a:lnSpc>
            </a:pPr>
            <a:r>
              <a:rPr lang="en-US" sz="3999" b="1">
                <a:solidFill>
                  <a:srgbClr val="FFFFFF"/>
                </a:solidFill>
                <a:latin typeface="Poppins Semi-Bold"/>
                <a:ea typeface="Poppins Semi-Bold"/>
                <a:cs typeface="Poppins Semi-Bold"/>
                <a:sym typeface="Poppins Semi-Bold"/>
              </a:rPr>
              <a:t> </a:t>
            </a:r>
          </a:p>
        </p:txBody>
      </p:sp>
      <p:sp>
        <p:nvSpPr>
          <p:cNvPr id="10" name="TextBox 10"/>
          <p:cNvSpPr txBox="1"/>
          <p:nvPr/>
        </p:nvSpPr>
        <p:spPr>
          <a:xfrm>
            <a:off x="1963074" y="2248548"/>
            <a:ext cx="6878422" cy="703536"/>
          </a:xfrm>
          <a:prstGeom prst="rect">
            <a:avLst/>
          </a:prstGeom>
        </p:spPr>
        <p:txBody>
          <a:bodyPr lIns="0" tIns="0" rIns="0" bIns="0" rtlCol="0" anchor="t">
            <a:spAutoFit/>
          </a:bodyPr>
          <a:lstStyle/>
          <a:p>
            <a:pPr algn="l">
              <a:lnSpc>
                <a:spcPts val="4723"/>
              </a:lnSpc>
            </a:pPr>
            <a:r>
              <a:rPr lang="en-US" sz="3999" b="1">
                <a:solidFill>
                  <a:srgbClr val="FFFFFF"/>
                </a:solidFill>
                <a:latin typeface="Poppins Semi-Bold"/>
                <a:ea typeface="Poppins Semi-Bold"/>
                <a:cs typeface="Poppins Semi-Bold"/>
                <a:sym typeface="Poppins Semi-Bold"/>
              </a:rPr>
              <a:t>Aquitemosum carro que</a:t>
            </a:r>
          </a:p>
        </p:txBody>
      </p:sp>
      <p:sp>
        <p:nvSpPr>
          <p:cNvPr id="11" name="TextBox 11"/>
          <p:cNvSpPr txBox="1"/>
          <p:nvPr/>
        </p:nvSpPr>
        <p:spPr>
          <a:xfrm>
            <a:off x="750275" y="2848623"/>
            <a:ext cx="9352388" cy="3103836"/>
          </a:xfrm>
          <a:prstGeom prst="rect">
            <a:avLst/>
          </a:prstGeom>
        </p:spPr>
        <p:txBody>
          <a:bodyPr lIns="0" tIns="0" rIns="0" bIns="0" rtlCol="0" anchor="t">
            <a:spAutoFit/>
          </a:bodyPr>
          <a:lstStyle/>
          <a:p>
            <a:pPr algn="ctr">
              <a:lnSpc>
                <a:spcPts val="4723"/>
              </a:lnSpc>
            </a:pPr>
            <a:r>
              <a:rPr lang="en-US" sz="3999" b="1">
                <a:solidFill>
                  <a:srgbClr val="FFFFFF"/>
                </a:solidFill>
                <a:latin typeface="Poppins Semi-Bold"/>
                <a:ea typeface="Poppins Semi-Bold"/>
                <a:cs typeface="Poppins Semi-Bold"/>
                <a:sym typeface="Poppins Semi-Bold"/>
              </a:rPr>
              <a:t>queremos trazer para o nosso programa. Esse carro tem seus atributos e são eles que vão definir esse carro no nosso sitema.</a:t>
            </a: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7628039" y="324326"/>
            <a:ext cx="309252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Classes</a:t>
            </a:r>
          </a:p>
        </p:txBody>
      </p:sp>
      <p:sp>
        <p:nvSpPr>
          <p:cNvPr id="3" name="TextBox 3"/>
          <p:cNvSpPr txBox="1"/>
          <p:nvPr/>
        </p:nvSpPr>
        <p:spPr>
          <a:xfrm>
            <a:off x="1232821" y="4896669"/>
            <a:ext cx="16138560" cy="1119635"/>
          </a:xfrm>
          <a:prstGeom prst="rect">
            <a:avLst/>
          </a:prstGeom>
        </p:spPr>
        <p:txBody>
          <a:bodyPr lIns="0" tIns="0" rIns="0" bIns="0" rtlCol="0" anchor="t">
            <a:spAutoFit/>
          </a:bodyPr>
          <a:lstStyle/>
          <a:p>
            <a:pPr algn="l">
              <a:lnSpc>
                <a:spcPts val="7978"/>
              </a:lnSpc>
            </a:pPr>
            <a:r>
              <a:rPr lang="en-US" sz="5699" b="1">
                <a:solidFill>
                  <a:srgbClr val="FFFFFF"/>
                </a:solidFill>
                <a:latin typeface="Poppins Semi-Bold"/>
                <a:ea typeface="Poppins Semi-Bold"/>
                <a:cs typeface="Poppins Semi-Bold"/>
                <a:sym typeface="Poppins Semi-Bold"/>
              </a:rPr>
              <a:t>Vamos criar essa classe </a:t>
            </a:r>
            <a:r>
              <a:rPr lang="en-US" sz="5699" b="1">
                <a:solidFill>
                  <a:srgbClr val="7ED957"/>
                </a:solidFill>
                <a:latin typeface="Poppins Semi-Bold"/>
                <a:ea typeface="Poppins Semi-Bold"/>
                <a:cs typeface="Poppins Semi-Bold"/>
                <a:sym typeface="Poppins Semi-Bold"/>
              </a:rPr>
              <a:t>Carro </a:t>
            </a:r>
            <a:r>
              <a:rPr lang="en-US" sz="5699" b="1">
                <a:solidFill>
                  <a:srgbClr val="FFFFFF"/>
                </a:solidFill>
                <a:latin typeface="Poppins Semi-Bold"/>
                <a:ea typeface="Poppins Semi-Bold"/>
                <a:cs typeface="Poppins Semi-Bold"/>
                <a:sym typeface="Poppins Semi-Bold"/>
              </a:rPr>
              <a:t>no vscode!</a:t>
            </a: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431625" y="4758099"/>
            <a:ext cx="5724525" cy="5172075"/>
          </a:xfrm>
          <a:custGeom>
            <a:avLst/>
            <a:gdLst/>
            <a:ahLst/>
            <a:cxnLst/>
            <a:rect l="l" t="t" r="r" b="b"/>
            <a:pathLst>
              <a:path w="5724525" h="5172075">
                <a:moveTo>
                  <a:pt x="0" y="0"/>
                </a:moveTo>
                <a:lnTo>
                  <a:pt x="5724525" y="0"/>
                </a:lnTo>
                <a:lnTo>
                  <a:pt x="5724525" y="5172075"/>
                </a:lnTo>
                <a:lnTo>
                  <a:pt x="0" y="5172075"/>
                </a:lnTo>
                <a:lnTo>
                  <a:pt x="0" y="0"/>
                </a:lnTo>
                <a:close/>
              </a:path>
            </a:pathLst>
          </a:custGeom>
          <a:blipFill>
            <a:blip r:embed="rId2"/>
            <a:stretch>
              <a:fillRect/>
            </a:stretch>
          </a:blipFill>
        </p:spPr>
      </p:sp>
      <p:sp>
        <p:nvSpPr>
          <p:cNvPr id="3" name="Freeform 3"/>
          <p:cNvSpPr/>
          <p:nvPr/>
        </p:nvSpPr>
        <p:spPr>
          <a:xfrm>
            <a:off x="3276600" y="2959103"/>
            <a:ext cx="4025903" cy="1841497"/>
          </a:xfrm>
          <a:custGeom>
            <a:avLst/>
            <a:gdLst/>
            <a:ahLst/>
            <a:cxnLst/>
            <a:rect l="l" t="t" r="r" b="b"/>
            <a:pathLst>
              <a:path w="4025903" h="1841497">
                <a:moveTo>
                  <a:pt x="0" y="0"/>
                </a:moveTo>
                <a:lnTo>
                  <a:pt x="4025903" y="0"/>
                </a:lnTo>
                <a:lnTo>
                  <a:pt x="4025903" y="1841497"/>
                </a:lnTo>
                <a:lnTo>
                  <a:pt x="0" y="1841497"/>
                </a:lnTo>
                <a:lnTo>
                  <a:pt x="0" y="0"/>
                </a:lnTo>
                <a:close/>
              </a:path>
            </a:pathLst>
          </a:custGeom>
          <a:blipFill>
            <a:blip r:embed="rId3"/>
            <a:stretch>
              <a:fillRect/>
            </a:stretch>
          </a:blipFill>
        </p:spPr>
      </p:sp>
      <p:sp>
        <p:nvSpPr>
          <p:cNvPr id="4" name="Freeform 4"/>
          <p:cNvSpPr/>
          <p:nvPr/>
        </p:nvSpPr>
        <p:spPr>
          <a:xfrm>
            <a:off x="3287487" y="4456090"/>
            <a:ext cx="359988" cy="392297"/>
          </a:xfrm>
          <a:custGeom>
            <a:avLst/>
            <a:gdLst/>
            <a:ahLst/>
            <a:cxnLst/>
            <a:rect l="l" t="t" r="r" b="b"/>
            <a:pathLst>
              <a:path w="359988" h="392297">
                <a:moveTo>
                  <a:pt x="0" y="0"/>
                </a:moveTo>
                <a:lnTo>
                  <a:pt x="359988" y="0"/>
                </a:lnTo>
                <a:lnTo>
                  <a:pt x="359988" y="392297"/>
                </a:lnTo>
                <a:lnTo>
                  <a:pt x="0" y="3922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3580926" y="3610708"/>
            <a:ext cx="4276725" cy="6324600"/>
          </a:xfrm>
          <a:custGeom>
            <a:avLst/>
            <a:gdLst/>
            <a:ahLst/>
            <a:cxnLst/>
            <a:rect l="l" t="t" r="r" b="b"/>
            <a:pathLst>
              <a:path w="4276725" h="6324600">
                <a:moveTo>
                  <a:pt x="0" y="0"/>
                </a:moveTo>
                <a:lnTo>
                  <a:pt x="4276725" y="0"/>
                </a:lnTo>
                <a:lnTo>
                  <a:pt x="4276725" y="6324600"/>
                </a:lnTo>
                <a:lnTo>
                  <a:pt x="0" y="6324600"/>
                </a:lnTo>
                <a:lnTo>
                  <a:pt x="0" y="0"/>
                </a:lnTo>
                <a:close/>
              </a:path>
            </a:pathLst>
          </a:custGeom>
          <a:blipFill>
            <a:blip r:embed="rId6"/>
            <a:stretch>
              <a:fillRect/>
            </a:stretch>
          </a:blipFill>
        </p:spPr>
      </p:sp>
      <p:sp>
        <p:nvSpPr>
          <p:cNvPr id="6" name="Freeform 6"/>
          <p:cNvSpPr/>
          <p:nvPr/>
        </p:nvSpPr>
        <p:spPr>
          <a:xfrm>
            <a:off x="12141203" y="6705600"/>
            <a:ext cx="1447800" cy="126997"/>
          </a:xfrm>
          <a:custGeom>
            <a:avLst/>
            <a:gdLst/>
            <a:ahLst/>
            <a:cxnLst/>
            <a:rect l="l" t="t" r="r" b="b"/>
            <a:pathLst>
              <a:path w="1447800" h="126997">
                <a:moveTo>
                  <a:pt x="0" y="0"/>
                </a:moveTo>
                <a:lnTo>
                  <a:pt x="1447800" y="0"/>
                </a:lnTo>
                <a:lnTo>
                  <a:pt x="1447800" y="126997"/>
                </a:lnTo>
                <a:lnTo>
                  <a:pt x="0" y="126997"/>
                </a:lnTo>
                <a:lnTo>
                  <a:pt x="0" y="0"/>
                </a:lnTo>
                <a:close/>
              </a:path>
            </a:pathLst>
          </a:custGeom>
          <a:blipFill>
            <a:blip r:embed="rId7"/>
            <a:stretch>
              <a:fillRect/>
            </a:stretch>
          </a:blipFill>
        </p:spPr>
      </p:sp>
      <p:sp>
        <p:nvSpPr>
          <p:cNvPr id="7" name="Freeform 7"/>
          <p:cNvSpPr/>
          <p:nvPr/>
        </p:nvSpPr>
        <p:spPr>
          <a:xfrm>
            <a:off x="13266601" y="6562420"/>
            <a:ext cx="314325" cy="419110"/>
          </a:xfrm>
          <a:custGeom>
            <a:avLst/>
            <a:gdLst/>
            <a:ahLst/>
            <a:cxnLst/>
            <a:rect l="l" t="t" r="r" b="b"/>
            <a:pathLst>
              <a:path w="314325" h="419110">
                <a:moveTo>
                  <a:pt x="0" y="0"/>
                </a:moveTo>
                <a:lnTo>
                  <a:pt x="314325" y="0"/>
                </a:lnTo>
                <a:lnTo>
                  <a:pt x="314325" y="419110"/>
                </a:lnTo>
                <a:lnTo>
                  <a:pt x="0" y="41911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Freeform 8"/>
          <p:cNvSpPr/>
          <p:nvPr/>
        </p:nvSpPr>
        <p:spPr>
          <a:xfrm>
            <a:off x="15006437" y="4796085"/>
            <a:ext cx="857250" cy="342900"/>
          </a:xfrm>
          <a:custGeom>
            <a:avLst/>
            <a:gdLst/>
            <a:ahLst/>
            <a:cxnLst/>
            <a:rect l="l" t="t" r="r" b="b"/>
            <a:pathLst>
              <a:path w="857250" h="342900">
                <a:moveTo>
                  <a:pt x="0" y="0"/>
                </a:moveTo>
                <a:lnTo>
                  <a:pt x="857250" y="0"/>
                </a:lnTo>
                <a:lnTo>
                  <a:pt x="857250" y="342900"/>
                </a:lnTo>
                <a:lnTo>
                  <a:pt x="0" y="342900"/>
                </a:lnTo>
                <a:lnTo>
                  <a:pt x="0" y="0"/>
                </a:lnTo>
                <a:close/>
              </a:path>
            </a:pathLst>
          </a:custGeom>
          <a:blipFill>
            <a:blip r:embed="rId6"/>
            <a:stretch>
              <a:fillRect l="-167066" t="-502997" r="-231822" b="-1241447"/>
            </a:stretch>
          </a:blipFill>
        </p:spPr>
      </p:sp>
      <p:sp>
        <p:nvSpPr>
          <p:cNvPr id="9" name="Freeform 9"/>
          <p:cNvSpPr/>
          <p:nvPr/>
        </p:nvSpPr>
        <p:spPr>
          <a:xfrm>
            <a:off x="15797746" y="4840986"/>
            <a:ext cx="781050" cy="295275"/>
          </a:xfrm>
          <a:custGeom>
            <a:avLst/>
            <a:gdLst/>
            <a:ahLst/>
            <a:cxnLst/>
            <a:rect l="l" t="t" r="r" b="b"/>
            <a:pathLst>
              <a:path w="781050" h="295275">
                <a:moveTo>
                  <a:pt x="0" y="0"/>
                </a:moveTo>
                <a:lnTo>
                  <a:pt x="781050" y="0"/>
                </a:lnTo>
                <a:lnTo>
                  <a:pt x="781050" y="295275"/>
                </a:lnTo>
                <a:lnTo>
                  <a:pt x="0" y="295275"/>
                </a:lnTo>
                <a:lnTo>
                  <a:pt x="0" y="0"/>
                </a:lnTo>
                <a:close/>
              </a:path>
            </a:pathLst>
          </a:custGeom>
          <a:blipFill>
            <a:blip r:embed="rId6"/>
            <a:stretch>
              <a:fillRect l="-236601" t="-408664" r="-210959" b="-1633270"/>
            </a:stretch>
          </a:blipFill>
        </p:spPr>
      </p:sp>
      <p:grpSp>
        <p:nvGrpSpPr>
          <p:cNvPr id="10" name="Group 10"/>
          <p:cNvGrpSpPr>
            <a:grpSpLocks noChangeAspect="1"/>
          </p:cNvGrpSpPr>
          <p:nvPr/>
        </p:nvGrpSpPr>
        <p:grpSpPr>
          <a:xfrm>
            <a:off x="7409869" y="5633771"/>
            <a:ext cx="5861342" cy="104775"/>
            <a:chOff x="0" y="0"/>
            <a:chExt cx="5861342" cy="104775"/>
          </a:xfrm>
        </p:grpSpPr>
        <p:sp>
          <p:nvSpPr>
            <p:cNvPr id="11" name="Freeform 11"/>
            <p:cNvSpPr/>
            <p:nvPr/>
          </p:nvSpPr>
          <p:spPr>
            <a:xfrm>
              <a:off x="0" y="0"/>
              <a:ext cx="5861304" cy="104775"/>
            </a:xfrm>
            <a:custGeom>
              <a:avLst/>
              <a:gdLst/>
              <a:ahLst/>
              <a:cxnLst/>
              <a:rect l="l" t="t" r="r" b="b"/>
              <a:pathLst>
                <a:path w="5861304" h="104775">
                  <a:moveTo>
                    <a:pt x="0" y="104775"/>
                  </a:moveTo>
                  <a:lnTo>
                    <a:pt x="5861304" y="104775"/>
                  </a:lnTo>
                  <a:lnTo>
                    <a:pt x="5861304" y="0"/>
                  </a:lnTo>
                  <a:lnTo>
                    <a:pt x="0" y="0"/>
                  </a:lnTo>
                  <a:close/>
                </a:path>
              </a:pathLst>
            </a:custGeom>
            <a:solidFill>
              <a:srgbClr val="000000">
                <a:alpha val="0"/>
              </a:srgbClr>
            </a:solidFill>
          </p:spPr>
        </p:sp>
      </p:grpSp>
      <p:grpSp>
        <p:nvGrpSpPr>
          <p:cNvPr id="12" name="Group 12"/>
          <p:cNvGrpSpPr>
            <a:grpSpLocks noChangeAspect="1"/>
          </p:cNvGrpSpPr>
          <p:nvPr/>
        </p:nvGrpSpPr>
        <p:grpSpPr>
          <a:xfrm>
            <a:off x="7470734" y="6434947"/>
            <a:ext cx="5861342" cy="104775"/>
            <a:chOff x="0" y="0"/>
            <a:chExt cx="5861342" cy="104775"/>
          </a:xfrm>
        </p:grpSpPr>
        <p:sp>
          <p:nvSpPr>
            <p:cNvPr id="13" name="Freeform 13"/>
            <p:cNvSpPr/>
            <p:nvPr/>
          </p:nvSpPr>
          <p:spPr>
            <a:xfrm>
              <a:off x="0" y="0"/>
              <a:ext cx="5861304" cy="104775"/>
            </a:xfrm>
            <a:custGeom>
              <a:avLst/>
              <a:gdLst/>
              <a:ahLst/>
              <a:cxnLst/>
              <a:rect l="l" t="t" r="r" b="b"/>
              <a:pathLst>
                <a:path w="5861304" h="104775">
                  <a:moveTo>
                    <a:pt x="0" y="104775"/>
                  </a:moveTo>
                  <a:lnTo>
                    <a:pt x="5861304" y="104775"/>
                  </a:lnTo>
                  <a:lnTo>
                    <a:pt x="5861304" y="0"/>
                  </a:lnTo>
                  <a:lnTo>
                    <a:pt x="0" y="0"/>
                  </a:lnTo>
                  <a:close/>
                </a:path>
              </a:pathLst>
            </a:custGeom>
            <a:solidFill>
              <a:srgbClr val="000000">
                <a:alpha val="0"/>
              </a:srgbClr>
            </a:solidFill>
          </p:spPr>
        </p:sp>
      </p:grpSp>
      <p:sp>
        <p:nvSpPr>
          <p:cNvPr id="14" name="TextBox 14"/>
          <p:cNvSpPr txBox="1"/>
          <p:nvPr/>
        </p:nvSpPr>
        <p:spPr>
          <a:xfrm>
            <a:off x="7469905" y="5886498"/>
            <a:ext cx="4574486" cy="1706499"/>
          </a:xfrm>
          <a:prstGeom prst="rect">
            <a:avLst/>
          </a:prstGeom>
        </p:spPr>
        <p:txBody>
          <a:bodyPr lIns="0" tIns="0" rIns="0" bIns="0" rtlCol="0" anchor="t">
            <a:spAutoFit/>
          </a:bodyPr>
          <a:lstStyle/>
          <a:p>
            <a:pPr algn="ctr">
              <a:lnSpc>
                <a:spcPts val="3223"/>
              </a:lnSpc>
            </a:pPr>
            <a:r>
              <a:rPr lang="en-US" sz="2700" b="1">
                <a:solidFill>
                  <a:srgbClr val="FFFFFF"/>
                </a:solidFill>
                <a:latin typeface="Poppins Semi-Bold"/>
                <a:ea typeface="Poppins Semi-Bold"/>
                <a:cs typeface="Poppins Semi-Bold"/>
                <a:sym typeface="Poppins Semi-Bold"/>
              </a:rPr>
              <a:t>Após criar é só abrir o arquivo e escrever o código. A estrutura da classe Carro ficou assim:</a:t>
            </a:r>
          </a:p>
        </p:txBody>
      </p:sp>
      <p:sp>
        <p:nvSpPr>
          <p:cNvPr id="15" name="TextBox 15"/>
          <p:cNvSpPr txBox="1"/>
          <p:nvPr/>
        </p:nvSpPr>
        <p:spPr>
          <a:xfrm>
            <a:off x="7547000" y="2315651"/>
            <a:ext cx="7621581" cy="1296924"/>
          </a:xfrm>
          <a:prstGeom prst="rect">
            <a:avLst/>
          </a:prstGeom>
        </p:spPr>
        <p:txBody>
          <a:bodyPr lIns="0" tIns="0" rIns="0" bIns="0" rtlCol="0" anchor="t">
            <a:spAutoFit/>
          </a:bodyPr>
          <a:lstStyle/>
          <a:p>
            <a:pPr algn="ctr">
              <a:lnSpc>
                <a:spcPts val="3223"/>
              </a:lnSpc>
            </a:pPr>
            <a:r>
              <a:rPr lang="en-US" sz="2700" b="1">
                <a:solidFill>
                  <a:srgbClr val="FFFFFF"/>
                </a:solidFill>
                <a:latin typeface="Poppins Semi-Bold"/>
                <a:ea typeface="Poppins Semi-Bold"/>
                <a:cs typeface="Poppins Semi-Bold"/>
                <a:sym typeface="Poppins Semi-Bold"/>
              </a:rPr>
              <a:t>Ao clicar aqui, você irá criar um arquivo, basta colocar no nome Carro.cs e apertar enter</a:t>
            </a:r>
          </a:p>
        </p:txBody>
      </p:sp>
      <p:sp>
        <p:nvSpPr>
          <p:cNvPr id="16" name="TextBox 16"/>
          <p:cNvSpPr txBox="1"/>
          <p:nvPr/>
        </p:nvSpPr>
        <p:spPr>
          <a:xfrm>
            <a:off x="7628039" y="324326"/>
            <a:ext cx="309252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Classes</a:t>
            </a: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521884" y="1481138"/>
            <a:ext cx="5781675" cy="8543925"/>
          </a:xfrm>
          <a:custGeom>
            <a:avLst/>
            <a:gdLst/>
            <a:ahLst/>
            <a:cxnLst/>
            <a:rect l="l" t="t" r="r" b="b"/>
            <a:pathLst>
              <a:path w="5781675" h="8543925">
                <a:moveTo>
                  <a:pt x="0" y="0"/>
                </a:moveTo>
                <a:lnTo>
                  <a:pt x="5781675" y="0"/>
                </a:lnTo>
                <a:lnTo>
                  <a:pt x="5781675" y="8543924"/>
                </a:lnTo>
                <a:lnTo>
                  <a:pt x="0" y="8543924"/>
                </a:lnTo>
                <a:lnTo>
                  <a:pt x="0" y="0"/>
                </a:lnTo>
                <a:close/>
              </a:path>
            </a:pathLst>
          </a:custGeom>
          <a:blipFill>
            <a:blip r:embed="rId2"/>
            <a:stretch>
              <a:fillRect/>
            </a:stretch>
          </a:blipFill>
        </p:spPr>
      </p:sp>
      <p:sp>
        <p:nvSpPr>
          <p:cNvPr id="3" name="Freeform 3"/>
          <p:cNvSpPr/>
          <p:nvPr/>
        </p:nvSpPr>
        <p:spPr>
          <a:xfrm>
            <a:off x="2453840" y="3073965"/>
            <a:ext cx="1238250" cy="419100"/>
          </a:xfrm>
          <a:custGeom>
            <a:avLst/>
            <a:gdLst/>
            <a:ahLst/>
            <a:cxnLst/>
            <a:rect l="l" t="t" r="r" b="b"/>
            <a:pathLst>
              <a:path w="1238250" h="419100">
                <a:moveTo>
                  <a:pt x="0" y="0"/>
                </a:moveTo>
                <a:lnTo>
                  <a:pt x="1238250" y="0"/>
                </a:lnTo>
                <a:lnTo>
                  <a:pt x="1238250" y="419100"/>
                </a:lnTo>
                <a:lnTo>
                  <a:pt x="0" y="419100"/>
                </a:lnTo>
                <a:lnTo>
                  <a:pt x="0" y="0"/>
                </a:lnTo>
                <a:close/>
              </a:path>
            </a:pathLst>
          </a:custGeom>
          <a:blipFill>
            <a:blip r:embed="rId3"/>
            <a:stretch>
              <a:fillRect l="-253709" t="-400520" r="-213982" b="-1494934"/>
            </a:stretch>
          </a:blipFill>
        </p:spPr>
      </p:sp>
      <p:sp>
        <p:nvSpPr>
          <p:cNvPr id="4" name="Freeform 4"/>
          <p:cNvSpPr/>
          <p:nvPr/>
        </p:nvSpPr>
        <p:spPr>
          <a:xfrm>
            <a:off x="3634740" y="3141164"/>
            <a:ext cx="990600" cy="352425"/>
          </a:xfrm>
          <a:custGeom>
            <a:avLst/>
            <a:gdLst/>
            <a:ahLst/>
            <a:cxnLst/>
            <a:rect l="l" t="t" r="r" b="b"/>
            <a:pathLst>
              <a:path w="990600" h="352425">
                <a:moveTo>
                  <a:pt x="0" y="0"/>
                </a:moveTo>
                <a:lnTo>
                  <a:pt x="990600" y="0"/>
                </a:lnTo>
                <a:lnTo>
                  <a:pt x="990600" y="352425"/>
                </a:lnTo>
                <a:lnTo>
                  <a:pt x="0" y="352425"/>
                </a:lnTo>
                <a:lnTo>
                  <a:pt x="0" y="0"/>
                </a:lnTo>
                <a:close/>
              </a:path>
            </a:pathLst>
          </a:custGeom>
          <a:blipFill>
            <a:blip r:embed="rId2"/>
            <a:stretch>
              <a:fillRect l="-259617" t="-468329" r="-224036" b="-1855994"/>
            </a:stretch>
          </a:blipFill>
        </p:spPr>
      </p:sp>
      <p:sp>
        <p:nvSpPr>
          <p:cNvPr id="5" name="TextBox 5"/>
          <p:cNvSpPr txBox="1"/>
          <p:nvPr/>
        </p:nvSpPr>
        <p:spPr>
          <a:xfrm>
            <a:off x="7206139" y="1399061"/>
            <a:ext cx="10767632" cy="8333280"/>
          </a:xfrm>
          <a:prstGeom prst="rect">
            <a:avLst/>
          </a:prstGeom>
        </p:spPr>
        <p:txBody>
          <a:bodyPr lIns="0" tIns="0" rIns="0" bIns="0" rtlCol="0" anchor="t">
            <a:spAutoFit/>
          </a:bodyPr>
          <a:lstStyle/>
          <a:p>
            <a:pPr algn="ctr">
              <a:lnSpc>
                <a:spcPts val="3823"/>
              </a:lnSpc>
            </a:pPr>
            <a:r>
              <a:rPr lang="en-US" sz="3199" b="1">
                <a:solidFill>
                  <a:srgbClr val="FFFFFF"/>
                </a:solidFill>
                <a:latin typeface="Poppins Semi-Bold"/>
                <a:ea typeface="Poppins Semi-Bold"/>
                <a:cs typeface="Poppins Semi-Bold"/>
                <a:sym typeface="Poppins Semi-Bold"/>
              </a:rPr>
              <a:t>Quando declaramos os atributos dessa maneira, estamos dizendo que o uso deles é exclusivo apenas da classe </a:t>
            </a:r>
            <a:r>
              <a:rPr lang="en-US" sz="3199" b="1">
                <a:solidFill>
                  <a:srgbClr val="7ED957"/>
                </a:solidFill>
                <a:latin typeface="Poppins Semi-Bold"/>
                <a:ea typeface="Poppins Semi-Bold"/>
                <a:cs typeface="Poppins Semi-Bold"/>
                <a:sym typeface="Poppins Semi-Bold"/>
              </a:rPr>
              <a:t>Carro</a:t>
            </a:r>
            <a:r>
              <a:rPr lang="en-US" sz="3199" b="1">
                <a:solidFill>
                  <a:srgbClr val="FFFFFF"/>
                </a:solidFill>
                <a:latin typeface="Poppins Semi-Bold"/>
                <a:ea typeface="Poppins Semi-Bold"/>
                <a:cs typeface="Poppins Semi-Bold"/>
                <a:sym typeface="Poppins Semi-Bold"/>
              </a:rPr>
              <a:t>, ou seja, nesse momento apenas a classe </a:t>
            </a:r>
            <a:r>
              <a:rPr lang="en-US" sz="3199" b="1">
                <a:solidFill>
                  <a:srgbClr val="7ED957"/>
                </a:solidFill>
                <a:latin typeface="Poppins Semi-Bold"/>
                <a:ea typeface="Poppins Semi-Bold"/>
                <a:cs typeface="Poppins Semi-Bold"/>
                <a:sym typeface="Poppins Semi-Bold"/>
              </a:rPr>
              <a:t>Carro </a:t>
            </a:r>
            <a:r>
              <a:rPr lang="en-US" sz="3199" b="1">
                <a:solidFill>
                  <a:srgbClr val="FFFFFF"/>
                </a:solidFill>
                <a:latin typeface="Poppins Semi-Bold"/>
                <a:ea typeface="Poppins Semi-Bold"/>
                <a:cs typeface="Poppins Semi-Bold"/>
                <a:sym typeface="Poppins Semi-Bold"/>
              </a:rPr>
              <a:t>consegue "enxergar" os seus atributos. Isso acontece pois por padrão o programa os deixa em modo privado. É como se eu colocasse um comando na frente de cada atributo, o </a:t>
            </a:r>
            <a:r>
              <a:rPr lang="en-US" sz="3199" b="1">
                <a:solidFill>
                  <a:srgbClr val="3C67BF"/>
                </a:solidFill>
                <a:latin typeface="Poppins Semi-Bold"/>
                <a:ea typeface="Poppins Semi-Bold"/>
                <a:cs typeface="Poppins Semi-Bold"/>
                <a:sym typeface="Poppins Semi-Bold"/>
              </a:rPr>
              <a:t>private</a:t>
            </a:r>
            <a:r>
              <a:rPr lang="en-US" sz="3199" b="1">
                <a:solidFill>
                  <a:srgbClr val="FFFFFF"/>
                </a:solidFill>
                <a:latin typeface="Poppins Semi-Bold"/>
                <a:ea typeface="Poppins Semi-Bold"/>
                <a:cs typeface="Poppins Semi-Bold"/>
                <a:sym typeface="Poppins Semi-Bold"/>
              </a:rPr>
              <a:t>. </a:t>
            </a:r>
            <a:r>
              <a:rPr lang="en-US" sz="3199" b="1">
                <a:solidFill>
                  <a:srgbClr val="3C67BF"/>
                </a:solidFill>
                <a:latin typeface="Poppins Semi-Bold"/>
                <a:ea typeface="Poppins Semi-Bold"/>
                <a:cs typeface="Poppins Semi-Bold"/>
                <a:sym typeface="Poppins Semi-Bold"/>
              </a:rPr>
              <a:t>private </a:t>
            </a:r>
            <a:r>
              <a:rPr lang="en-US" sz="3199" b="1">
                <a:solidFill>
                  <a:srgbClr val="FFFFFF"/>
                </a:solidFill>
                <a:latin typeface="Poppins Semi-Bold"/>
                <a:ea typeface="Poppins Semi-Bold"/>
                <a:cs typeface="Poppins Semi-Bold"/>
                <a:sym typeface="Poppins Semi-Bold"/>
              </a:rPr>
              <a:t>significa que o estado de atributos e métodos são privados. Vale lembrar que não está errado dessa maneira, apenas é um requisito que pode existir na hora do desenvolvimento.</a:t>
            </a:r>
          </a:p>
        </p:txBody>
      </p:sp>
      <p:sp>
        <p:nvSpPr>
          <p:cNvPr id="6" name="TextBox 6"/>
          <p:cNvSpPr txBox="1"/>
          <p:nvPr/>
        </p:nvSpPr>
        <p:spPr>
          <a:xfrm>
            <a:off x="7628039" y="324326"/>
            <a:ext cx="309252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Classes</a:t>
            </a: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6850532" y="2968009"/>
            <a:ext cx="11296650" cy="4352925"/>
          </a:xfrm>
          <a:custGeom>
            <a:avLst/>
            <a:gdLst/>
            <a:ahLst/>
            <a:cxnLst/>
            <a:rect l="l" t="t" r="r" b="b"/>
            <a:pathLst>
              <a:path w="11296650" h="4352925">
                <a:moveTo>
                  <a:pt x="0" y="0"/>
                </a:moveTo>
                <a:lnTo>
                  <a:pt x="11296650" y="0"/>
                </a:lnTo>
                <a:lnTo>
                  <a:pt x="11296650" y="4352925"/>
                </a:lnTo>
                <a:lnTo>
                  <a:pt x="0" y="4352925"/>
                </a:lnTo>
                <a:lnTo>
                  <a:pt x="0" y="0"/>
                </a:lnTo>
                <a:close/>
              </a:path>
            </a:pathLst>
          </a:custGeom>
          <a:blipFill>
            <a:blip r:embed="rId2"/>
            <a:stretch>
              <a:fillRect/>
            </a:stretch>
          </a:blipFill>
        </p:spPr>
      </p:sp>
      <p:sp>
        <p:nvSpPr>
          <p:cNvPr id="3" name="TextBox 3"/>
          <p:cNvSpPr txBox="1"/>
          <p:nvPr/>
        </p:nvSpPr>
        <p:spPr>
          <a:xfrm>
            <a:off x="365846" y="3361211"/>
            <a:ext cx="6229674" cy="3475530"/>
          </a:xfrm>
          <a:prstGeom prst="rect">
            <a:avLst/>
          </a:prstGeom>
        </p:spPr>
        <p:txBody>
          <a:bodyPr lIns="0" tIns="0" rIns="0" bIns="0" rtlCol="0" anchor="t">
            <a:spAutoFit/>
          </a:bodyPr>
          <a:lstStyle/>
          <a:p>
            <a:pPr algn="ctr">
              <a:lnSpc>
                <a:spcPts val="3823"/>
              </a:lnSpc>
            </a:pPr>
            <a:r>
              <a:rPr lang="en-US" sz="3199" b="1">
                <a:solidFill>
                  <a:srgbClr val="FFFFFF"/>
                </a:solidFill>
                <a:latin typeface="Poppins Semi-Bold"/>
                <a:ea typeface="Poppins Semi-Bold"/>
                <a:cs typeface="Poppins Semi-Bold"/>
                <a:sym typeface="Poppins Semi-Bold"/>
              </a:rPr>
              <a:t>Vamos tentar usar a classe Carro no Program.cs e ver se conseguirmos enxergar algum atributo dele. Você vai ver que não vai conseguir.</a:t>
            </a:r>
          </a:p>
        </p:txBody>
      </p:sp>
      <p:sp>
        <p:nvSpPr>
          <p:cNvPr id="4" name="TextBox 4"/>
          <p:cNvSpPr txBox="1"/>
          <p:nvPr/>
        </p:nvSpPr>
        <p:spPr>
          <a:xfrm>
            <a:off x="7628039" y="324326"/>
            <a:ext cx="309252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Classes</a:t>
            </a: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0230917" y="1589075"/>
            <a:ext cx="7029450" cy="8362950"/>
          </a:xfrm>
          <a:custGeom>
            <a:avLst/>
            <a:gdLst/>
            <a:ahLst/>
            <a:cxnLst/>
            <a:rect l="l" t="t" r="r" b="b"/>
            <a:pathLst>
              <a:path w="7029450" h="8362950">
                <a:moveTo>
                  <a:pt x="0" y="0"/>
                </a:moveTo>
                <a:lnTo>
                  <a:pt x="7029450" y="0"/>
                </a:lnTo>
                <a:lnTo>
                  <a:pt x="7029450" y="8362950"/>
                </a:lnTo>
                <a:lnTo>
                  <a:pt x="0" y="8362950"/>
                </a:lnTo>
                <a:lnTo>
                  <a:pt x="0" y="0"/>
                </a:lnTo>
                <a:close/>
              </a:path>
            </a:pathLst>
          </a:custGeom>
          <a:blipFill>
            <a:blip r:embed="rId2"/>
            <a:stretch>
              <a:fillRect/>
            </a:stretch>
          </a:blipFill>
        </p:spPr>
      </p:sp>
      <p:sp>
        <p:nvSpPr>
          <p:cNvPr id="3" name="Freeform 3"/>
          <p:cNvSpPr/>
          <p:nvPr/>
        </p:nvSpPr>
        <p:spPr>
          <a:xfrm>
            <a:off x="13310711" y="2442572"/>
            <a:ext cx="1238250" cy="419100"/>
          </a:xfrm>
          <a:custGeom>
            <a:avLst/>
            <a:gdLst/>
            <a:ahLst/>
            <a:cxnLst/>
            <a:rect l="l" t="t" r="r" b="b"/>
            <a:pathLst>
              <a:path w="1238250" h="419100">
                <a:moveTo>
                  <a:pt x="0" y="0"/>
                </a:moveTo>
                <a:lnTo>
                  <a:pt x="1238250" y="0"/>
                </a:lnTo>
                <a:lnTo>
                  <a:pt x="1238250" y="419100"/>
                </a:lnTo>
                <a:lnTo>
                  <a:pt x="0" y="419100"/>
                </a:lnTo>
                <a:lnTo>
                  <a:pt x="0" y="0"/>
                </a:lnTo>
                <a:close/>
              </a:path>
            </a:pathLst>
          </a:custGeom>
          <a:blipFill>
            <a:blip r:embed="rId2"/>
            <a:stretch>
              <a:fillRect l="-253709" t="-400520" r="-213982" b="-1494934"/>
            </a:stretch>
          </a:blipFill>
        </p:spPr>
      </p:sp>
      <p:sp>
        <p:nvSpPr>
          <p:cNvPr id="4" name="Freeform 4"/>
          <p:cNvSpPr/>
          <p:nvPr/>
        </p:nvSpPr>
        <p:spPr>
          <a:xfrm>
            <a:off x="14463036" y="2383955"/>
            <a:ext cx="1076325" cy="533400"/>
          </a:xfrm>
          <a:custGeom>
            <a:avLst/>
            <a:gdLst/>
            <a:ahLst/>
            <a:cxnLst/>
            <a:rect l="l" t="t" r="r" b="b"/>
            <a:pathLst>
              <a:path w="1076325" h="533400">
                <a:moveTo>
                  <a:pt x="0" y="0"/>
                </a:moveTo>
                <a:lnTo>
                  <a:pt x="1076325" y="0"/>
                </a:lnTo>
                <a:lnTo>
                  <a:pt x="1076325" y="533400"/>
                </a:lnTo>
                <a:lnTo>
                  <a:pt x="0" y="533400"/>
                </a:lnTo>
                <a:lnTo>
                  <a:pt x="0" y="0"/>
                </a:lnTo>
                <a:close/>
              </a:path>
            </a:pathLst>
          </a:custGeom>
          <a:blipFill>
            <a:blip r:embed="rId2"/>
            <a:stretch>
              <a:fillRect l="-349391" t="-148362" r="-203706" b="-1319494"/>
            </a:stretch>
          </a:blipFill>
        </p:spPr>
      </p:sp>
      <p:sp>
        <p:nvSpPr>
          <p:cNvPr id="5" name="TextBox 5"/>
          <p:cNvSpPr txBox="1"/>
          <p:nvPr/>
        </p:nvSpPr>
        <p:spPr>
          <a:xfrm>
            <a:off x="403603" y="2289810"/>
            <a:ext cx="9671075" cy="6875955"/>
          </a:xfrm>
          <a:prstGeom prst="rect">
            <a:avLst/>
          </a:prstGeom>
        </p:spPr>
        <p:txBody>
          <a:bodyPr lIns="0" tIns="0" rIns="0" bIns="0" rtlCol="0" anchor="t">
            <a:spAutoFit/>
          </a:bodyPr>
          <a:lstStyle/>
          <a:p>
            <a:pPr algn="ctr">
              <a:lnSpc>
                <a:spcPts val="3823"/>
              </a:lnSpc>
            </a:pPr>
            <a:r>
              <a:rPr lang="en-US" sz="3199" b="1">
                <a:solidFill>
                  <a:srgbClr val="FFFFFF"/>
                </a:solidFill>
                <a:latin typeface="Poppins Semi-Bold"/>
                <a:ea typeface="Poppins Semi-Bold"/>
                <a:cs typeface="Poppins Semi-Bold"/>
                <a:sym typeface="Poppins Semi-Bold"/>
              </a:rPr>
              <a:t>Agora vamos transformar os estados dos atributos para que eles sejam visíveis e acessíveis por qualquer outro método, basta colocar a palavra </a:t>
            </a:r>
            <a:r>
              <a:rPr lang="en-US" sz="3199" b="1">
                <a:solidFill>
                  <a:srgbClr val="3C67BF"/>
                </a:solidFill>
                <a:latin typeface="Poppins Semi-Bold"/>
                <a:ea typeface="Poppins Semi-Bold"/>
                <a:cs typeface="Poppins Semi-Bold"/>
                <a:sym typeface="Poppins Semi-Bold"/>
              </a:rPr>
              <a:t>public </a:t>
            </a:r>
            <a:r>
              <a:rPr lang="en-US" sz="3199" b="1">
                <a:solidFill>
                  <a:srgbClr val="FFFFFF"/>
                </a:solidFill>
                <a:latin typeface="Poppins Semi-Bold"/>
                <a:ea typeface="Poppins Semi-Bold"/>
                <a:cs typeface="Poppins Semi-Bold"/>
                <a:sym typeface="Poppins Semi-Bold"/>
              </a:rPr>
              <a:t>na frente de cada um deles. </a:t>
            </a:r>
            <a:r>
              <a:rPr lang="en-US" sz="3199" b="1">
                <a:solidFill>
                  <a:srgbClr val="3C67BF"/>
                </a:solidFill>
                <a:latin typeface="Poppins Semi-Bold"/>
                <a:ea typeface="Poppins Semi-Bold"/>
                <a:cs typeface="Poppins Semi-Bold"/>
                <a:sym typeface="Poppins Semi-Bold"/>
              </a:rPr>
              <a:t>public </a:t>
            </a:r>
            <a:r>
              <a:rPr lang="en-US" sz="3199" b="1">
                <a:solidFill>
                  <a:srgbClr val="FFFFFF"/>
                </a:solidFill>
                <a:latin typeface="Poppins Semi-Bold"/>
                <a:ea typeface="Poppins Semi-Bold"/>
                <a:cs typeface="Poppins Semi-Bold"/>
                <a:sym typeface="Poppins Semi-Bold"/>
              </a:rPr>
              <a:t>quer dizer que o estado da variável ou método está público, ou seja, qualquer outra classe que queria usufruir de Carro consegue enxergá-los. Vamos tentar fazer o mesmo exemplo anterior e você vai poder notar uma diferença.</a:t>
            </a:r>
          </a:p>
        </p:txBody>
      </p:sp>
      <p:sp>
        <p:nvSpPr>
          <p:cNvPr id="6" name="TextBox 6"/>
          <p:cNvSpPr txBox="1"/>
          <p:nvPr/>
        </p:nvSpPr>
        <p:spPr>
          <a:xfrm>
            <a:off x="7628039" y="324326"/>
            <a:ext cx="309252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Classes</a:t>
            </a: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79680" y="4600384"/>
            <a:ext cx="6276975" cy="4352925"/>
          </a:xfrm>
          <a:custGeom>
            <a:avLst/>
            <a:gdLst/>
            <a:ahLst/>
            <a:cxnLst/>
            <a:rect l="l" t="t" r="r" b="b"/>
            <a:pathLst>
              <a:path w="6276975" h="4352925">
                <a:moveTo>
                  <a:pt x="0" y="0"/>
                </a:moveTo>
                <a:lnTo>
                  <a:pt x="6276975" y="0"/>
                </a:lnTo>
                <a:lnTo>
                  <a:pt x="6276975" y="4352926"/>
                </a:lnTo>
                <a:lnTo>
                  <a:pt x="0" y="4352926"/>
                </a:lnTo>
                <a:lnTo>
                  <a:pt x="0" y="0"/>
                </a:lnTo>
                <a:close/>
              </a:path>
            </a:pathLst>
          </a:custGeom>
          <a:blipFill>
            <a:blip r:embed="rId2"/>
            <a:stretch>
              <a:fillRect r="-79969"/>
            </a:stretch>
          </a:blipFill>
        </p:spPr>
      </p:sp>
      <p:sp>
        <p:nvSpPr>
          <p:cNvPr id="3" name="Freeform 3"/>
          <p:cNvSpPr/>
          <p:nvPr/>
        </p:nvSpPr>
        <p:spPr>
          <a:xfrm>
            <a:off x="7628753" y="3634969"/>
            <a:ext cx="5657850" cy="6038850"/>
          </a:xfrm>
          <a:custGeom>
            <a:avLst/>
            <a:gdLst/>
            <a:ahLst/>
            <a:cxnLst/>
            <a:rect l="l" t="t" r="r" b="b"/>
            <a:pathLst>
              <a:path w="5657850" h="6038850">
                <a:moveTo>
                  <a:pt x="0" y="0"/>
                </a:moveTo>
                <a:lnTo>
                  <a:pt x="5657850" y="0"/>
                </a:lnTo>
                <a:lnTo>
                  <a:pt x="5657850" y="6038850"/>
                </a:lnTo>
                <a:lnTo>
                  <a:pt x="0" y="6038850"/>
                </a:lnTo>
                <a:lnTo>
                  <a:pt x="0" y="0"/>
                </a:lnTo>
                <a:close/>
              </a:path>
            </a:pathLst>
          </a:custGeom>
          <a:blipFill>
            <a:blip r:embed="rId3"/>
            <a:stretch>
              <a:fillRect/>
            </a:stretch>
          </a:blipFill>
        </p:spPr>
      </p:sp>
      <p:sp>
        <p:nvSpPr>
          <p:cNvPr id="4" name="Freeform 4"/>
          <p:cNvSpPr/>
          <p:nvPr/>
        </p:nvSpPr>
        <p:spPr>
          <a:xfrm>
            <a:off x="12788903" y="6007103"/>
            <a:ext cx="1574797" cy="2730503"/>
          </a:xfrm>
          <a:custGeom>
            <a:avLst/>
            <a:gdLst/>
            <a:ahLst/>
            <a:cxnLst/>
            <a:rect l="l" t="t" r="r" b="b"/>
            <a:pathLst>
              <a:path w="1574797" h="2730503">
                <a:moveTo>
                  <a:pt x="0" y="0"/>
                </a:moveTo>
                <a:lnTo>
                  <a:pt x="1574797" y="0"/>
                </a:lnTo>
                <a:lnTo>
                  <a:pt x="1574797" y="2730503"/>
                </a:lnTo>
                <a:lnTo>
                  <a:pt x="0" y="2730503"/>
                </a:lnTo>
                <a:lnTo>
                  <a:pt x="0" y="0"/>
                </a:lnTo>
                <a:close/>
              </a:path>
            </a:pathLst>
          </a:custGeom>
          <a:blipFill>
            <a:blip r:embed="rId4"/>
            <a:stretch>
              <a:fillRect/>
            </a:stretch>
          </a:blipFill>
        </p:spPr>
      </p:sp>
      <p:sp>
        <p:nvSpPr>
          <p:cNvPr id="5" name="Freeform 5"/>
          <p:cNvSpPr/>
          <p:nvPr/>
        </p:nvSpPr>
        <p:spPr>
          <a:xfrm>
            <a:off x="12761595" y="6004255"/>
            <a:ext cx="379743" cy="364246"/>
          </a:xfrm>
          <a:custGeom>
            <a:avLst/>
            <a:gdLst/>
            <a:ahLst/>
            <a:cxnLst/>
            <a:rect l="l" t="t" r="r" b="b"/>
            <a:pathLst>
              <a:path w="379743" h="364246">
                <a:moveTo>
                  <a:pt x="0" y="0"/>
                </a:moveTo>
                <a:lnTo>
                  <a:pt x="379743" y="0"/>
                </a:lnTo>
                <a:lnTo>
                  <a:pt x="379743" y="364246"/>
                </a:lnTo>
                <a:lnTo>
                  <a:pt x="0" y="36424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1455403" y="8064503"/>
            <a:ext cx="2870197" cy="698497"/>
          </a:xfrm>
          <a:custGeom>
            <a:avLst/>
            <a:gdLst/>
            <a:ahLst/>
            <a:cxnLst/>
            <a:rect l="l" t="t" r="r" b="b"/>
            <a:pathLst>
              <a:path w="2870197" h="698497">
                <a:moveTo>
                  <a:pt x="0" y="0"/>
                </a:moveTo>
                <a:lnTo>
                  <a:pt x="2870197" y="0"/>
                </a:lnTo>
                <a:lnTo>
                  <a:pt x="2870197" y="698497"/>
                </a:lnTo>
                <a:lnTo>
                  <a:pt x="0" y="698497"/>
                </a:lnTo>
                <a:lnTo>
                  <a:pt x="0" y="0"/>
                </a:lnTo>
                <a:close/>
              </a:path>
            </a:pathLst>
          </a:custGeom>
          <a:blipFill>
            <a:blip r:embed="rId7"/>
            <a:stretch>
              <a:fillRect/>
            </a:stretch>
          </a:blipFill>
        </p:spPr>
      </p:sp>
      <p:sp>
        <p:nvSpPr>
          <p:cNvPr id="7" name="Freeform 7"/>
          <p:cNvSpPr/>
          <p:nvPr/>
        </p:nvSpPr>
        <p:spPr>
          <a:xfrm>
            <a:off x="11466547" y="7958766"/>
            <a:ext cx="341890" cy="412556"/>
          </a:xfrm>
          <a:custGeom>
            <a:avLst/>
            <a:gdLst/>
            <a:ahLst/>
            <a:cxnLst/>
            <a:rect l="l" t="t" r="r" b="b"/>
            <a:pathLst>
              <a:path w="341890" h="412556">
                <a:moveTo>
                  <a:pt x="0" y="0"/>
                </a:moveTo>
                <a:lnTo>
                  <a:pt x="341891" y="0"/>
                </a:lnTo>
                <a:lnTo>
                  <a:pt x="341891" y="412556"/>
                </a:lnTo>
                <a:lnTo>
                  <a:pt x="0" y="412556"/>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Freeform 8"/>
          <p:cNvSpPr/>
          <p:nvPr/>
        </p:nvSpPr>
        <p:spPr>
          <a:xfrm>
            <a:off x="11785597" y="8661397"/>
            <a:ext cx="2552700" cy="876300"/>
          </a:xfrm>
          <a:custGeom>
            <a:avLst/>
            <a:gdLst/>
            <a:ahLst/>
            <a:cxnLst/>
            <a:rect l="l" t="t" r="r" b="b"/>
            <a:pathLst>
              <a:path w="2552700" h="876300">
                <a:moveTo>
                  <a:pt x="0" y="0"/>
                </a:moveTo>
                <a:lnTo>
                  <a:pt x="2552700" y="0"/>
                </a:lnTo>
                <a:lnTo>
                  <a:pt x="2552700" y="876300"/>
                </a:lnTo>
                <a:lnTo>
                  <a:pt x="0" y="876300"/>
                </a:lnTo>
                <a:lnTo>
                  <a:pt x="0" y="0"/>
                </a:lnTo>
                <a:close/>
              </a:path>
            </a:pathLst>
          </a:custGeom>
          <a:blipFill>
            <a:blip r:embed="rId10"/>
            <a:stretch>
              <a:fillRect/>
            </a:stretch>
          </a:blipFill>
        </p:spPr>
      </p:sp>
      <p:sp>
        <p:nvSpPr>
          <p:cNvPr id="9" name="Freeform 9"/>
          <p:cNvSpPr/>
          <p:nvPr/>
        </p:nvSpPr>
        <p:spPr>
          <a:xfrm>
            <a:off x="11393634" y="5921940"/>
            <a:ext cx="3031503" cy="3752412"/>
          </a:xfrm>
          <a:custGeom>
            <a:avLst/>
            <a:gdLst/>
            <a:ahLst/>
            <a:cxnLst/>
            <a:rect l="l" t="t" r="r" b="b"/>
            <a:pathLst>
              <a:path w="3031503" h="3752412">
                <a:moveTo>
                  <a:pt x="0" y="0"/>
                </a:moveTo>
                <a:lnTo>
                  <a:pt x="3031502" y="0"/>
                </a:lnTo>
                <a:lnTo>
                  <a:pt x="3031502" y="3752412"/>
                </a:lnTo>
                <a:lnTo>
                  <a:pt x="0" y="3752412"/>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sp>
        <p:nvSpPr>
          <p:cNvPr id="10" name="TextBox 10"/>
          <p:cNvSpPr txBox="1"/>
          <p:nvPr/>
        </p:nvSpPr>
        <p:spPr>
          <a:xfrm>
            <a:off x="1148553" y="3158861"/>
            <a:ext cx="4591031" cy="1046655"/>
          </a:xfrm>
          <a:prstGeom prst="rect">
            <a:avLst/>
          </a:prstGeom>
        </p:spPr>
        <p:txBody>
          <a:bodyPr lIns="0" tIns="0" rIns="0" bIns="0" rtlCol="0" anchor="t">
            <a:spAutoFit/>
          </a:bodyPr>
          <a:lstStyle/>
          <a:p>
            <a:pPr algn="ctr">
              <a:lnSpc>
                <a:spcPts val="3826"/>
              </a:lnSpc>
            </a:pPr>
            <a:r>
              <a:rPr lang="en-US" sz="3199" b="1">
                <a:solidFill>
                  <a:srgbClr val="FFFFFF"/>
                </a:solidFill>
                <a:latin typeface="Poppins Semi-Bold"/>
                <a:ea typeface="Poppins Semi-Bold"/>
                <a:cs typeface="Poppins Semi-Bold"/>
                <a:sym typeface="Poppins Semi-Bold"/>
              </a:rPr>
              <a:t>Classe com atributos </a:t>
            </a:r>
            <a:r>
              <a:rPr lang="en-US" sz="3199" b="1">
                <a:solidFill>
                  <a:srgbClr val="3C67BF"/>
                </a:solidFill>
                <a:latin typeface="Poppins Semi-Bold"/>
                <a:ea typeface="Poppins Semi-Bold"/>
                <a:cs typeface="Poppins Semi-Bold"/>
                <a:sym typeface="Poppins Semi-Bold"/>
              </a:rPr>
              <a:t>privados</a:t>
            </a:r>
            <a:r>
              <a:rPr lang="en-US" sz="3199" b="1">
                <a:solidFill>
                  <a:srgbClr val="FFFFFF"/>
                </a:solidFill>
                <a:latin typeface="Poppins Semi-Bold"/>
                <a:ea typeface="Poppins Semi-Bold"/>
                <a:cs typeface="Poppins Semi-Bold"/>
                <a:sym typeface="Poppins Semi-Bold"/>
              </a:rPr>
              <a:t>.</a:t>
            </a:r>
          </a:p>
        </p:txBody>
      </p:sp>
      <p:sp>
        <p:nvSpPr>
          <p:cNvPr id="11" name="TextBox 11"/>
          <p:cNvSpPr txBox="1"/>
          <p:nvPr/>
        </p:nvSpPr>
        <p:spPr>
          <a:xfrm>
            <a:off x="8206883" y="2218115"/>
            <a:ext cx="4591031" cy="1046655"/>
          </a:xfrm>
          <a:prstGeom prst="rect">
            <a:avLst/>
          </a:prstGeom>
        </p:spPr>
        <p:txBody>
          <a:bodyPr lIns="0" tIns="0" rIns="0" bIns="0" rtlCol="0" anchor="t">
            <a:spAutoFit/>
          </a:bodyPr>
          <a:lstStyle/>
          <a:p>
            <a:pPr algn="ctr">
              <a:lnSpc>
                <a:spcPts val="3823"/>
              </a:lnSpc>
            </a:pPr>
            <a:r>
              <a:rPr lang="en-US" sz="3199" b="1">
                <a:solidFill>
                  <a:srgbClr val="FFFFFF"/>
                </a:solidFill>
                <a:latin typeface="Poppins Semi-Bold"/>
                <a:ea typeface="Poppins Semi-Bold"/>
                <a:cs typeface="Poppins Semi-Bold"/>
                <a:sym typeface="Poppins Semi-Bold"/>
              </a:rPr>
              <a:t>Classe com atributos </a:t>
            </a:r>
            <a:r>
              <a:rPr lang="en-US" sz="3199" b="1">
                <a:solidFill>
                  <a:srgbClr val="3C67BF"/>
                </a:solidFill>
                <a:latin typeface="Poppins Semi-Bold"/>
                <a:ea typeface="Poppins Semi-Bold"/>
                <a:cs typeface="Poppins Semi-Bold"/>
                <a:sym typeface="Poppins Semi-Bold"/>
              </a:rPr>
              <a:t>públicos</a:t>
            </a:r>
            <a:r>
              <a:rPr lang="en-US" sz="3199" b="1">
                <a:solidFill>
                  <a:srgbClr val="FFFFFF"/>
                </a:solidFill>
                <a:latin typeface="Poppins Semi-Bold"/>
                <a:ea typeface="Poppins Semi-Bold"/>
                <a:cs typeface="Poppins Semi-Bold"/>
                <a:sym typeface="Poppins Semi-Bold"/>
              </a:rPr>
              <a:t>.</a:t>
            </a:r>
          </a:p>
        </p:txBody>
      </p:sp>
      <p:sp>
        <p:nvSpPr>
          <p:cNvPr id="12" name="TextBox 12"/>
          <p:cNvSpPr txBox="1"/>
          <p:nvPr/>
        </p:nvSpPr>
        <p:spPr>
          <a:xfrm>
            <a:off x="7628039" y="324326"/>
            <a:ext cx="309252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Classes</a:t>
            </a:r>
          </a:p>
        </p:txBody>
      </p:sp>
      <p:sp>
        <p:nvSpPr>
          <p:cNvPr id="13" name="TextBox 13"/>
          <p:cNvSpPr txBox="1"/>
          <p:nvPr/>
        </p:nvSpPr>
        <p:spPr>
          <a:xfrm>
            <a:off x="14356147" y="7722013"/>
            <a:ext cx="3689166" cy="1899285"/>
          </a:xfrm>
          <a:prstGeom prst="rect">
            <a:avLst/>
          </a:prstGeom>
        </p:spPr>
        <p:txBody>
          <a:bodyPr lIns="0" tIns="0" rIns="0" bIns="0" rtlCol="0" anchor="t">
            <a:spAutoFit/>
          </a:bodyPr>
          <a:lstStyle/>
          <a:p>
            <a:pPr algn="ctr">
              <a:lnSpc>
                <a:spcPts val="3600"/>
              </a:lnSpc>
            </a:pPr>
            <a:r>
              <a:rPr lang="en-US" sz="3000" b="1">
                <a:solidFill>
                  <a:srgbClr val="FFFFFF"/>
                </a:solidFill>
                <a:latin typeface="Poppins Semi-Bold"/>
                <a:ea typeface="Poppins Semi-Bold"/>
                <a:cs typeface="Poppins Semi-Bold"/>
                <a:sym typeface="Poppins Semi-Bold"/>
              </a:rPr>
              <a:t>Note que agora é possível enxergar os atributos que existem em Carro.</a:t>
            </a: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2453935"/>
            <a:ext cx="8239125" cy="7829550"/>
          </a:xfrm>
          <a:custGeom>
            <a:avLst/>
            <a:gdLst/>
            <a:ahLst/>
            <a:cxnLst/>
            <a:rect l="l" t="t" r="r" b="b"/>
            <a:pathLst>
              <a:path w="8239125" h="7829550">
                <a:moveTo>
                  <a:pt x="0" y="0"/>
                </a:moveTo>
                <a:lnTo>
                  <a:pt x="8239125" y="0"/>
                </a:lnTo>
                <a:lnTo>
                  <a:pt x="8239125" y="7829550"/>
                </a:lnTo>
                <a:lnTo>
                  <a:pt x="0" y="7829550"/>
                </a:lnTo>
                <a:lnTo>
                  <a:pt x="0" y="0"/>
                </a:lnTo>
                <a:close/>
              </a:path>
            </a:pathLst>
          </a:custGeom>
          <a:blipFill>
            <a:blip r:embed="rId2"/>
            <a:stretch>
              <a:fillRect/>
            </a:stretch>
          </a:blipFill>
        </p:spPr>
      </p:sp>
      <p:sp>
        <p:nvSpPr>
          <p:cNvPr id="3" name="Freeform 3"/>
          <p:cNvSpPr/>
          <p:nvPr/>
        </p:nvSpPr>
        <p:spPr>
          <a:xfrm>
            <a:off x="6007103" y="7594597"/>
            <a:ext cx="5689597" cy="1587503"/>
          </a:xfrm>
          <a:custGeom>
            <a:avLst/>
            <a:gdLst/>
            <a:ahLst/>
            <a:cxnLst/>
            <a:rect l="l" t="t" r="r" b="b"/>
            <a:pathLst>
              <a:path w="5689597" h="1587503">
                <a:moveTo>
                  <a:pt x="0" y="0"/>
                </a:moveTo>
                <a:lnTo>
                  <a:pt x="5689597" y="0"/>
                </a:lnTo>
                <a:lnTo>
                  <a:pt x="5689597" y="1587503"/>
                </a:lnTo>
                <a:lnTo>
                  <a:pt x="0" y="1587503"/>
                </a:lnTo>
                <a:lnTo>
                  <a:pt x="0" y="0"/>
                </a:lnTo>
                <a:close/>
              </a:path>
            </a:pathLst>
          </a:custGeom>
          <a:blipFill>
            <a:blip r:embed="rId3"/>
            <a:stretch>
              <a:fillRect/>
            </a:stretch>
          </a:blipFill>
        </p:spPr>
      </p:sp>
      <p:sp>
        <p:nvSpPr>
          <p:cNvPr id="4" name="Freeform 4"/>
          <p:cNvSpPr/>
          <p:nvPr/>
        </p:nvSpPr>
        <p:spPr>
          <a:xfrm>
            <a:off x="6013009" y="8853726"/>
            <a:ext cx="347253" cy="408908"/>
          </a:xfrm>
          <a:custGeom>
            <a:avLst/>
            <a:gdLst/>
            <a:ahLst/>
            <a:cxnLst/>
            <a:rect l="l" t="t" r="r" b="b"/>
            <a:pathLst>
              <a:path w="347253" h="408908">
                <a:moveTo>
                  <a:pt x="0" y="0"/>
                </a:moveTo>
                <a:lnTo>
                  <a:pt x="347253" y="0"/>
                </a:lnTo>
                <a:lnTo>
                  <a:pt x="347253" y="408908"/>
                </a:lnTo>
                <a:lnTo>
                  <a:pt x="0" y="4089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7721603" y="3340103"/>
            <a:ext cx="3873503" cy="1625603"/>
          </a:xfrm>
          <a:custGeom>
            <a:avLst/>
            <a:gdLst/>
            <a:ahLst/>
            <a:cxnLst/>
            <a:rect l="l" t="t" r="r" b="b"/>
            <a:pathLst>
              <a:path w="3873503" h="1625603">
                <a:moveTo>
                  <a:pt x="0" y="0"/>
                </a:moveTo>
                <a:lnTo>
                  <a:pt x="3873503" y="0"/>
                </a:lnTo>
                <a:lnTo>
                  <a:pt x="3873503" y="1625603"/>
                </a:lnTo>
                <a:lnTo>
                  <a:pt x="0" y="1625603"/>
                </a:lnTo>
                <a:lnTo>
                  <a:pt x="0" y="0"/>
                </a:lnTo>
                <a:close/>
              </a:path>
            </a:pathLst>
          </a:custGeom>
          <a:blipFill>
            <a:blip r:embed="rId6"/>
            <a:stretch>
              <a:fillRect/>
            </a:stretch>
          </a:blipFill>
        </p:spPr>
      </p:sp>
      <p:grpSp>
        <p:nvGrpSpPr>
          <p:cNvPr id="6" name="Group 6"/>
          <p:cNvGrpSpPr>
            <a:grpSpLocks noChangeAspect="1"/>
          </p:cNvGrpSpPr>
          <p:nvPr/>
        </p:nvGrpSpPr>
        <p:grpSpPr>
          <a:xfrm>
            <a:off x="6001512" y="7593978"/>
            <a:ext cx="5691349" cy="1581074"/>
            <a:chOff x="0" y="0"/>
            <a:chExt cx="5691353" cy="1581074"/>
          </a:xfrm>
        </p:grpSpPr>
        <p:sp>
          <p:nvSpPr>
            <p:cNvPr id="7" name="Freeform 7"/>
            <p:cNvSpPr/>
            <p:nvPr/>
          </p:nvSpPr>
          <p:spPr>
            <a:xfrm>
              <a:off x="0" y="0"/>
              <a:ext cx="5691378" cy="1581023"/>
            </a:xfrm>
            <a:custGeom>
              <a:avLst/>
              <a:gdLst/>
              <a:ahLst/>
              <a:cxnLst/>
              <a:rect l="l" t="t" r="r" b="b"/>
              <a:pathLst>
                <a:path w="5691378" h="1581023">
                  <a:moveTo>
                    <a:pt x="0" y="1581023"/>
                  </a:moveTo>
                  <a:lnTo>
                    <a:pt x="5691378" y="1581023"/>
                  </a:lnTo>
                  <a:lnTo>
                    <a:pt x="5691378" y="0"/>
                  </a:lnTo>
                  <a:lnTo>
                    <a:pt x="0" y="0"/>
                  </a:lnTo>
                  <a:close/>
                </a:path>
              </a:pathLst>
            </a:custGeom>
            <a:solidFill>
              <a:srgbClr val="000000">
                <a:alpha val="0"/>
              </a:srgbClr>
            </a:solidFill>
          </p:spPr>
        </p:sp>
      </p:grpSp>
      <p:sp>
        <p:nvSpPr>
          <p:cNvPr id="8" name="Freeform 8"/>
          <p:cNvSpPr/>
          <p:nvPr/>
        </p:nvSpPr>
        <p:spPr>
          <a:xfrm>
            <a:off x="7653023" y="3256216"/>
            <a:ext cx="4004891" cy="1816751"/>
          </a:xfrm>
          <a:custGeom>
            <a:avLst/>
            <a:gdLst/>
            <a:ahLst/>
            <a:cxnLst/>
            <a:rect l="l" t="t" r="r" b="b"/>
            <a:pathLst>
              <a:path w="4004891" h="1816751">
                <a:moveTo>
                  <a:pt x="0" y="0"/>
                </a:moveTo>
                <a:lnTo>
                  <a:pt x="4004891" y="0"/>
                </a:lnTo>
                <a:lnTo>
                  <a:pt x="4004891" y="1816751"/>
                </a:lnTo>
                <a:lnTo>
                  <a:pt x="0" y="181675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11628044" y="2387641"/>
            <a:ext cx="5689483" cy="1899285"/>
          </a:xfrm>
          <a:prstGeom prst="rect">
            <a:avLst/>
          </a:prstGeom>
        </p:spPr>
        <p:txBody>
          <a:bodyPr lIns="0" tIns="0" rIns="0" bIns="0" rtlCol="0" anchor="t">
            <a:spAutoFit/>
          </a:bodyPr>
          <a:lstStyle/>
          <a:p>
            <a:pPr algn="ctr">
              <a:lnSpc>
                <a:spcPts val="3600"/>
              </a:lnSpc>
            </a:pPr>
            <a:r>
              <a:rPr lang="en-US" sz="3000" b="1">
                <a:solidFill>
                  <a:srgbClr val="FFFFFF"/>
                </a:solidFill>
                <a:latin typeface="Poppins Semi-Bold"/>
                <a:ea typeface="Poppins Semi-Bold"/>
                <a:cs typeface="Poppins Semi-Bold"/>
                <a:sym typeface="Poppins Semi-Bold"/>
              </a:rPr>
              <a:t>Quando escrevemos os códigos da</a:t>
            </a:r>
            <a:r>
              <a:rPr lang="en-US" sz="3000" b="1">
                <a:solidFill>
                  <a:srgbClr val="7ED957"/>
                </a:solidFill>
                <a:latin typeface="Poppins Semi-Bold"/>
                <a:ea typeface="Poppins Semi-Bold"/>
                <a:cs typeface="Poppins Semi-Bold"/>
                <a:sym typeface="Poppins Semi-Bold"/>
              </a:rPr>
              <a:t> linha 9</a:t>
            </a:r>
            <a:r>
              <a:rPr lang="en-US" sz="3000" b="1">
                <a:solidFill>
                  <a:srgbClr val="FFFFFF"/>
                </a:solidFill>
                <a:latin typeface="Poppins Semi-Bold"/>
                <a:ea typeface="Poppins Semi-Bold"/>
                <a:cs typeface="Poppins Semi-Bold"/>
                <a:sym typeface="Poppins Semi-Bold"/>
              </a:rPr>
              <a:t>, estamos criando um </a:t>
            </a:r>
            <a:r>
              <a:rPr lang="en-US" sz="3000" b="1">
                <a:solidFill>
                  <a:srgbClr val="FFDE59"/>
                </a:solidFill>
                <a:latin typeface="Poppins Semi-Bold"/>
                <a:ea typeface="Poppins Semi-Bold"/>
                <a:cs typeface="Poppins Semi-Bold"/>
                <a:sym typeface="Poppins Semi-Bold"/>
              </a:rPr>
              <a:t>Objeto do tipo carro</a:t>
            </a:r>
            <a:r>
              <a:rPr lang="en-US" sz="3000" b="1">
                <a:solidFill>
                  <a:srgbClr val="FFFFFF"/>
                </a:solidFill>
                <a:latin typeface="Poppins Semi-Bold"/>
                <a:ea typeface="Poppins Semi-Bold"/>
                <a:cs typeface="Poppins Semi-Bold"/>
                <a:sym typeface="Poppins Semi-Bold"/>
              </a:rPr>
              <a:t>.</a:t>
            </a:r>
          </a:p>
        </p:txBody>
      </p:sp>
      <p:sp>
        <p:nvSpPr>
          <p:cNvPr id="10" name="TextBox 10"/>
          <p:cNvSpPr txBox="1"/>
          <p:nvPr/>
        </p:nvSpPr>
        <p:spPr>
          <a:xfrm>
            <a:off x="11698672" y="5520976"/>
            <a:ext cx="5758958" cy="4185285"/>
          </a:xfrm>
          <a:prstGeom prst="rect">
            <a:avLst/>
          </a:prstGeom>
        </p:spPr>
        <p:txBody>
          <a:bodyPr lIns="0" tIns="0" rIns="0" bIns="0" rtlCol="0" anchor="t">
            <a:spAutoFit/>
          </a:bodyPr>
          <a:lstStyle/>
          <a:p>
            <a:pPr algn="ctr">
              <a:lnSpc>
                <a:spcPts val="3600"/>
              </a:lnSpc>
            </a:pPr>
            <a:r>
              <a:rPr lang="en-US" sz="3000" b="1">
                <a:solidFill>
                  <a:srgbClr val="FFFFFF"/>
                </a:solidFill>
                <a:latin typeface="Poppins Semi-Bold"/>
                <a:ea typeface="Poppins Semi-Bold"/>
                <a:cs typeface="Poppins Semi-Bold"/>
                <a:sym typeface="Poppins Semi-Bold"/>
              </a:rPr>
              <a:t>Para atribuir valores dentro de uma variável de uma classe, devemos fazer dessa maneira: </a:t>
            </a:r>
            <a:r>
              <a:rPr lang="en-US" sz="3000" b="1">
                <a:solidFill>
                  <a:srgbClr val="FF5757"/>
                </a:solidFill>
                <a:latin typeface="Poppins Semi-Bold"/>
                <a:ea typeface="Poppins Semi-Bold"/>
                <a:cs typeface="Poppins Semi-Bold"/>
                <a:sym typeface="Poppins Semi-Bold"/>
              </a:rPr>
              <a:t>nomeDoObjeto.variavel </a:t>
            </a:r>
            <a:r>
              <a:rPr lang="en-US" sz="3000" b="1">
                <a:solidFill>
                  <a:srgbClr val="FFFFFF"/>
                </a:solidFill>
                <a:latin typeface="Poppins Semi-Bold"/>
                <a:ea typeface="Poppins Semi-Bold"/>
                <a:cs typeface="Poppins Semi-Bold"/>
                <a:sym typeface="Poppins Semi-Bold"/>
              </a:rPr>
              <a:t>O mesmo vale para métodos caso existam na classe.</a:t>
            </a:r>
          </a:p>
        </p:txBody>
      </p:sp>
      <p:sp>
        <p:nvSpPr>
          <p:cNvPr id="11" name="TextBox 11"/>
          <p:cNvSpPr txBox="1"/>
          <p:nvPr/>
        </p:nvSpPr>
        <p:spPr>
          <a:xfrm>
            <a:off x="7628039" y="324326"/>
            <a:ext cx="309252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Classes</a:t>
            </a: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7628039" y="324326"/>
            <a:ext cx="309252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Classes</a:t>
            </a:r>
          </a:p>
        </p:txBody>
      </p:sp>
      <p:sp>
        <p:nvSpPr>
          <p:cNvPr id="3" name="TextBox 3"/>
          <p:cNvSpPr txBox="1"/>
          <p:nvPr/>
        </p:nvSpPr>
        <p:spPr>
          <a:xfrm>
            <a:off x="209483" y="2834507"/>
            <a:ext cx="18226126" cy="5348735"/>
          </a:xfrm>
          <a:prstGeom prst="rect">
            <a:avLst/>
          </a:prstGeom>
        </p:spPr>
        <p:txBody>
          <a:bodyPr lIns="0" tIns="0" rIns="0" bIns="0" rtlCol="0" anchor="t">
            <a:spAutoFit/>
          </a:bodyPr>
          <a:lstStyle/>
          <a:p>
            <a:pPr algn="ctr">
              <a:lnSpc>
                <a:spcPts val="6827"/>
              </a:lnSpc>
            </a:pPr>
            <a:r>
              <a:rPr lang="en-US" sz="5699" b="1">
                <a:solidFill>
                  <a:srgbClr val="FFFFFF"/>
                </a:solidFill>
                <a:latin typeface="Poppins Semi-Bold"/>
                <a:ea typeface="Poppins Semi-Bold"/>
                <a:cs typeface="Poppins Semi-Bold"/>
                <a:sym typeface="Poppins Semi-Bold"/>
              </a:rPr>
              <a:t>Mas é possível manibular os atributos privados de uma classe? </a:t>
            </a:r>
            <a:r>
              <a:rPr lang="en-US" sz="5699" b="1">
                <a:solidFill>
                  <a:srgbClr val="FFDE59"/>
                </a:solidFill>
                <a:latin typeface="Poppins Semi-Bold"/>
                <a:ea typeface="Poppins Semi-Bold"/>
                <a:cs typeface="Poppins Semi-Bold"/>
                <a:sym typeface="Poppins Semi-Bold"/>
              </a:rPr>
              <a:t>SIM! </a:t>
            </a:r>
            <a:r>
              <a:rPr lang="en-US" sz="5699" b="1">
                <a:solidFill>
                  <a:srgbClr val="FFFFFF"/>
                </a:solidFill>
                <a:latin typeface="Poppins Semi-Bold"/>
                <a:ea typeface="Poppins Semi-Bold"/>
                <a:cs typeface="Poppins Semi-Bold"/>
                <a:sym typeface="Poppins Semi-Bold"/>
              </a:rPr>
              <a:t>Utilizando </a:t>
            </a:r>
            <a:r>
              <a:rPr lang="en-US" sz="5699" b="1">
                <a:solidFill>
                  <a:srgbClr val="FF5757"/>
                </a:solidFill>
                <a:latin typeface="Poppins Semi-Bold"/>
                <a:ea typeface="Poppins Semi-Bold"/>
                <a:cs typeface="Poppins Semi-Bold"/>
                <a:sym typeface="Poppins Semi-Bold"/>
              </a:rPr>
              <a:t>construtores </a:t>
            </a:r>
            <a:r>
              <a:rPr lang="en-US" sz="5699" b="1">
                <a:solidFill>
                  <a:srgbClr val="FFFFFF"/>
                </a:solidFill>
                <a:latin typeface="Poppins Semi-Bold"/>
                <a:ea typeface="Poppins Semi-Bold"/>
                <a:cs typeface="Poppins Semi-Bold"/>
                <a:sym typeface="Poppins Semi-Bold"/>
              </a:rPr>
              <a:t>e </a:t>
            </a:r>
            <a:r>
              <a:rPr lang="en-US" sz="5699" b="1">
                <a:solidFill>
                  <a:srgbClr val="FF5757"/>
                </a:solidFill>
                <a:latin typeface="Poppins Semi-Bold"/>
                <a:ea typeface="Poppins Semi-Bold"/>
                <a:cs typeface="Poppins Semi-Bold"/>
                <a:sym typeface="Poppins Semi-Bold"/>
              </a:rPr>
              <a:t>propriedades</a:t>
            </a:r>
            <a:r>
              <a:rPr lang="en-US" sz="5699" b="1">
                <a:solidFill>
                  <a:srgbClr val="FFFFFF"/>
                </a:solidFill>
                <a:latin typeface="Poppins Semi-Bold"/>
                <a:ea typeface="Poppins Semi-Bold"/>
                <a:cs typeface="Poppins Semi-Bold"/>
                <a:sym typeface="Poppins Semi-Bold"/>
              </a:rPr>
              <a:t>.</a:t>
            </a: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7628039" y="324326"/>
            <a:ext cx="309252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Classes</a:t>
            </a:r>
          </a:p>
        </p:txBody>
      </p:sp>
      <p:sp>
        <p:nvSpPr>
          <p:cNvPr id="3" name="TextBox 3"/>
          <p:cNvSpPr txBox="1"/>
          <p:nvPr/>
        </p:nvSpPr>
        <p:spPr>
          <a:xfrm>
            <a:off x="164983" y="3595278"/>
            <a:ext cx="18198636" cy="4565904"/>
          </a:xfrm>
          <a:prstGeom prst="rect">
            <a:avLst/>
          </a:prstGeom>
        </p:spPr>
        <p:txBody>
          <a:bodyPr lIns="0" tIns="0" rIns="0" bIns="0" rtlCol="0" anchor="t">
            <a:spAutoFit/>
          </a:bodyPr>
          <a:lstStyle/>
          <a:p>
            <a:pPr algn="l">
              <a:lnSpc>
                <a:spcPts val="5023"/>
              </a:lnSpc>
            </a:pPr>
            <a:r>
              <a:rPr lang="en-US" sz="4200" b="1">
                <a:solidFill>
                  <a:srgbClr val="FFFFFF"/>
                </a:solidFill>
                <a:latin typeface="Poppins Semi-Bold"/>
                <a:ea typeface="Poppins Semi-Bold"/>
                <a:cs typeface="Poppins Semi-Bold"/>
                <a:sym typeface="Poppins Semi-Bold"/>
              </a:rPr>
              <a:t>Os </a:t>
            </a:r>
            <a:r>
              <a:rPr lang="en-US" sz="4200" b="1">
                <a:solidFill>
                  <a:srgbClr val="FF5757"/>
                </a:solidFill>
                <a:latin typeface="Poppins Semi-Bold"/>
                <a:ea typeface="Poppins Semi-Bold"/>
                <a:cs typeface="Poppins Semi-Bold"/>
                <a:sym typeface="Poppins Semi-Bold"/>
              </a:rPr>
              <a:t>construtores </a:t>
            </a:r>
            <a:r>
              <a:rPr lang="en-US" sz="4200" b="1">
                <a:solidFill>
                  <a:srgbClr val="FFFFFF"/>
                </a:solidFill>
                <a:latin typeface="Poppins Semi-Bold"/>
                <a:ea typeface="Poppins Semi-Bold"/>
                <a:cs typeface="Poppins Semi-Bold"/>
                <a:sym typeface="Poppins Semi-Bold"/>
              </a:rPr>
              <a:t>são métodos que constroem o objeto da classe. Lembra daquele comando </a:t>
            </a:r>
            <a:r>
              <a:rPr lang="en-US" sz="4200" b="1">
                <a:solidFill>
                  <a:srgbClr val="3C67BF"/>
                </a:solidFill>
                <a:latin typeface="Poppins Semi-Bold"/>
                <a:ea typeface="Poppins Semi-Bold"/>
                <a:cs typeface="Poppins Semi-Bold"/>
                <a:sym typeface="Poppins Semi-Bold"/>
              </a:rPr>
              <a:t>new</a:t>
            </a:r>
            <a:r>
              <a:rPr lang="en-US" sz="4200" b="1">
                <a:solidFill>
                  <a:srgbClr val="FFFFFF"/>
                </a:solidFill>
                <a:latin typeface="Poppins Semi-Bold"/>
                <a:ea typeface="Poppins Semi-Bold"/>
                <a:cs typeface="Poppins Semi-Bold"/>
                <a:sym typeface="Poppins Semi-Bold"/>
              </a:rPr>
              <a:t> </a:t>
            </a:r>
            <a:r>
              <a:rPr lang="en-US" sz="4200" b="1">
                <a:solidFill>
                  <a:srgbClr val="7ED957"/>
                </a:solidFill>
                <a:latin typeface="Poppins Semi-Bold"/>
                <a:ea typeface="Poppins Semi-Bold"/>
                <a:cs typeface="Poppins Semi-Bold"/>
                <a:sym typeface="Poppins Semi-Bold"/>
              </a:rPr>
              <a:t>Carro</a:t>
            </a:r>
            <a:r>
              <a:rPr lang="en-US" sz="4200" b="1">
                <a:solidFill>
                  <a:srgbClr val="FFFFFF"/>
                </a:solidFill>
                <a:latin typeface="Poppins Semi-Bold"/>
                <a:ea typeface="Poppins Semi-Bold"/>
                <a:cs typeface="Poppins Semi-Bold"/>
                <a:sym typeface="Poppins Semi-Bold"/>
              </a:rPr>
              <a:t>()? Esse </a:t>
            </a:r>
            <a:r>
              <a:rPr lang="en-US" sz="4200" b="1">
                <a:solidFill>
                  <a:srgbClr val="7ED957"/>
                </a:solidFill>
                <a:latin typeface="Poppins Semi-Bold"/>
                <a:ea typeface="Poppins Semi-Bold"/>
                <a:cs typeface="Poppins Semi-Bold"/>
                <a:sym typeface="Poppins Semi-Bold"/>
              </a:rPr>
              <a:t>Carro</a:t>
            </a:r>
            <a:r>
              <a:rPr lang="en-US" sz="4200" b="1">
                <a:solidFill>
                  <a:srgbClr val="FFFFFF"/>
                </a:solidFill>
                <a:latin typeface="Poppins Semi-Bold"/>
                <a:ea typeface="Poppins Semi-Bold"/>
                <a:cs typeface="Poppins Semi-Bold"/>
                <a:sym typeface="Poppins Semi-Bold"/>
              </a:rPr>
              <a:t>() é um construtor, no caso, por padrão quando não definimos um construtor pra classe ele fica dessa maneira, com nada dentro do parênteses. Então vamos criar agora um construtor para a classe Carro.</a:t>
            </a: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1292904"/>
            <a:ext cx="9372600" cy="8991600"/>
          </a:xfrm>
          <a:custGeom>
            <a:avLst/>
            <a:gdLst/>
            <a:ahLst/>
            <a:cxnLst/>
            <a:rect l="l" t="t" r="r" b="b"/>
            <a:pathLst>
              <a:path w="9372600" h="8991600">
                <a:moveTo>
                  <a:pt x="0" y="0"/>
                </a:moveTo>
                <a:lnTo>
                  <a:pt x="9372600" y="0"/>
                </a:lnTo>
                <a:lnTo>
                  <a:pt x="9372600" y="8991600"/>
                </a:lnTo>
                <a:lnTo>
                  <a:pt x="0" y="8991600"/>
                </a:lnTo>
                <a:lnTo>
                  <a:pt x="0" y="0"/>
                </a:lnTo>
                <a:close/>
              </a:path>
            </a:pathLst>
          </a:custGeom>
          <a:blipFill>
            <a:blip r:embed="rId2"/>
            <a:stretch>
              <a:fillRect/>
            </a:stretch>
          </a:blipFill>
        </p:spPr>
      </p:sp>
      <p:sp>
        <p:nvSpPr>
          <p:cNvPr id="3" name="Freeform 3"/>
          <p:cNvSpPr/>
          <p:nvPr/>
        </p:nvSpPr>
        <p:spPr>
          <a:xfrm>
            <a:off x="9359903" y="6832597"/>
            <a:ext cx="1905000" cy="126997"/>
          </a:xfrm>
          <a:custGeom>
            <a:avLst/>
            <a:gdLst/>
            <a:ahLst/>
            <a:cxnLst/>
            <a:rect l="l" t="t" r="r" b="b"/>
            <a:pathLst>
              <a:path w="1905000" h="126997">
                <a:moveTo>
                  <a:pt x="0" y="0"/>
                </a:moveTo>
                <a:lnTo>
                  <a:pt x="1905000" y="0"/>
                </a:lnTo>
                <a:lnTo>
                  <a:pt x="1905000" y="126997"/>
                </a:lnTo>
                <a:lnTo>
                  <a:pt x="0" y="126997"/>
                </a:lnTo>
                <a:lnTo>
                  <a:pt x="0" y="0"/>
                </a:lnTo>
                <a:close/>
              </a:path>
            </a:pathLst>
          </a:custGeom>
          <a:blipFill>
            <a:blip r:embed="rId3"/>
            <a:stretch>
              <a:fillRect/>
            </a:stretch>
          </a:blipFill>
        </p:spPr>
      </p:sp>
      <p:sp>
        <p:nvSpPr>
          <p:cNvPr id="4" name="Freeform 4"/>
          <p:cNvSpPr/>
          <p:nvPr/>
        </p:nvSpPr>
        <p:spPr>
          <a:xfrm>
            <a:off x="9369238" y="6668776"/>
            <a:ext cx="314325" cy="419110"/>
          </a:xfrm>
          <a:custGeom>
            <a:avLst/>
            <a:gdLst/>
            <a:ahLst/>
            <a:cxnLst/>
            <a:rect l="l" t="t" r="r" b="b"/>
            <a:pathLst>
              <a:path w="314325" h="419110">
                <a:moveTo>
                  <a:pt x="0" y="0"/>
                </a:moveTo>
                <a:lnTo>
                  <a:pt x="314325" y="0"/>
                </a:lnTo>
                <a:lnTo>
                  <a:pt x="314325" y="419110"/>
                </a:lnTo>
                <a:lnTo>
                  <a:pt x="0" y="41911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576034" y="6677835"/>
            <a:ext cx="742950" cy="238125"/>
          </a:xfrm>
          <a:custGeom>
            <a:avLst/>
            <a:gdLst/>
            <a:ahLst/>
            <a:cxnLst/>
            <a:rect l="l" t="t" r="r" b="b"/>
            <a:pathLst>
              <a:path w="742950" h="238125">
                <a:moveTo>
                  <a:pt x="0" y="0"/>
                </a:moveTo>
                <a:lnTo>
                  <a:pt x="742950" y="0"/>
                </a:lnTo>
                <a:lnTo>
                  <a:pt x="742950" y="238125"/>
                </a:lnTo>
                <a:lnTo>
                  <a:pt x="0" y="238125"/>
                </a:lnTo>
                <a:lnTo>
                  <a:pt x="0" y="0"/>
                </a:lnTo>
                <a:close/>
              </a:path>
            </a:pathLst>
          </a:custGeom>
          <a:blipFill>
            <a:blip r:embed="rId6"/>
            <a:stretch>
              <a:fillRect l="-153684" t="-225876" r="-325802" b="-1826124"/>
            </a:stretch>
          </a:blipFill>
        </p:spPr>
      </p:sp>
      <p:sp>
        <p:nvSpPr>
          <p:cNvPr id="6" name="Freeform 6"/>
          <p:cNvSpPr/>
          <p:nvPr/>
        </p:nvSpPr>
        <p:spPr>
          <a:xfrm>
            <a:off x="1268158" y="6649260"/>
            <a:ext cx="8810625" cy="3343275"/>
          </a:xfrm>
          <a:custGeom>
            <a:avLst/>
            <a:gdLst/>
            <a:ahLst/>
            <a:cxnLst/>
            <a:rect l="l" t="t" r="r" b="b"/>
            <a:pathLst>
              <a:path w="8810625" h="3343275">
                <a:moveTo>
                  <a:pt x="0" y="0"/>
                </a:moveTo>
                <a:lnTo>
                  <a:pt x="8810626" y="0"/>
                </a:lnTo>
                <a:lnTo>
                  <a:pt x="8810626" y="3343275"/>
                </a:lnTo>
                <a:lnTo>
                  <a:pt x="0" y="3343275"/>
                </a:lnTo>
                <a:lnTo>
                  <a:pt x="0" y="0"/>
                </a:lnTo>
                <a:close/>
              </a:path>
            </a:pathLst>
          </a:custGeom>
          <a:blipFill>
            <a:blip r:embed="rId2"/>
            <a:stretch>
              <a:fillRect l="-6292" t="-159431" r="-86" b="-9514"/>
            </a:stretch>
          </a:blipFill>
        </p:spPr>
      </p:sp>
      <p:sp>
        <p:nvSpPr>
          <p:cNvPr id="7" name="Freeform 7"/>
          <p:cNvSpPr/>
          <p:nvPr/>
        </p:nvSpPr>
        <p:spPr>
          <a:xfrm>
            <a:off x="576034" y="7216064"/>
            <a:ext cx="1085850" cy="2466975"/>
          </a:xfrm>
          <a:custGeom>
            <a:avLst/>
            <a:gdLst/>
            <a:ahLst/>
            <a:cxnLst/>
            <a:rect l="l" t="t" r="r" b="b"/>
            <a:pathLst>
              <a:path w="1085850" h="2466975">
                <a:moveTo>
                  <a:pt x="0" y="0"/>
                </a:moveTo>
                <a:lnTo>
                  <a:pt x="1085850" y="0"/>
                </a:lnTo>
                <a:lnTo>
                  <a:pt x="1085850" y="2466975"/>
                </a:lnTo>
                <a:lnTo>
                  <a:pt x="0" y="2466975"/>
                </a:lnTo>
                <a:lnTo>
                  <a:pt x="0" y="0"/>
                </a:lnTo>
                <a:close/>
              </a:path>
            </a:pathLst>
          </a:custGeom>
          <a:blipFill>
            <a:blip r:embed="rId2"/>
            <a:stretch>
              <a:fillRect l="-546017" t="-262014" r="-217140" b="-2464"/>
            </a:stretch>
          </a:blipFill>
        </p:spPr>
      </p:sp>
      <p:sp>
        <p:nvSpPr>
          <p:cNvPr id="8" name="Freeform 8"/>
          <p:cNvSpPr/>
          <p:nvPr/>
        </p:nvSpPr>
        <p:spPr>
          <a:xfrm>
            <a:off x="277454" y="6916426"/>
            <a:ext cx="1038225" cy="3074108"/>
          </a:xfrm>
          <a:custGeom>
            <a:avLst/>
            <a:gdLst/>
            <a:ahLst/>
            <a:cxnLst/>
            <a:rect l="l" t="t" r="r" b="b"/>
            <a:pathLst>
              <a:path w="1038225" h="3074108">
                <a:moveTo>
                  <a:pt x="0" y="0"/>
                </a:moveTo>
                <a:lnTo>
                  <a:pt x="1038225" y="0"/>
                </a:lnTo>
                <a:lnTo>
                  <a:pt x="1038225" y="3074108"/>
                </a:lnTo>
                <a:lnTo>
                  <a:pt x="0" y="3074108"/>
                </a:lnTo>
                <a:lnTo>
                  <a:pt x="0" y="0"/>
                </a:lnTo>
                <a:close/>
              </a:path>
            </a:pathLst>
          </a:custGeom>
          <a:blipFill>
            <a:blip r:embed="rId2"/>
            <a:stretch>
              <a:fillRect l="-752998" t="-255393" r="-243332"/>
            </a:stretch>
          </a:blipFill>
        </p:spPr>
      </p:sp>
      <p:sp>
        <p:nvSpPr>
          <p:cNvPr id="9" name="Freeform 9"/>
          <p:cNvSpPr/>
          <p:nvPr/>
        </p:nvSpPr>
        <p:spPr>
          <a:xfrm>
            <a:off x="9044788" y="3137335"/>
            <a:ext cx="1038225" cy="3541309"/>
          </a:xfrm>
          <a:custGeom>
            <a:avLst/>
            <a:gdLst/>
            <a:ahLst/>
            <a:cxnLst/>
            <a:rect l="l" t="t" r="r" b="b"/>
            <a:pathLst>
              <a:path w="1038225" h="3541309">
                <a:moveTo>
                  <a:pt x="0" y="0"/>
                </a:moveTo>
                <a:lnTo>
                  <a:pt x="1038225" y="0"/>
                </a:lnTo>
                <a:lnTo>
                  <a:pt x="1038225" y="3541309"/>
                </a:lnTo>
                <a:lnTo>
                  <a:pt x="0" y="3541309"/>
                </a:lnTo>
                <a:lnTo>
                  <a:pt x="0" y="0"/>
                </a:lnTo>
                <a:close/>
              </a:path>
            </a:pathLst>
          </a:custGeom>
          <a:blipFill>
            <a:blip r:embed="rId2"/>
            <a:stretch>
              <a:fillRect l="-752998" t="-208506" r="-243332"/>
            </a:stretch>
          </a:blipFill>
        </p:spPr>
      </p:sp>
      <p:sp>
        <p:nvSpPr>
          <p:cNvPr id="10" name="Freeform 10"/>
          <p:cNvSpPr/>
          <p:nvPr/>
        </p:nvSpPr>
        <p:spPr>
          <a:xfrm>
            <a:off x="9044788" y="1292904"/>
            <a:ext cx="1038225" cy="3541309"/>
          </a:xfrm>
          <a:custGeom>
            <a:avLst/>
            <a:gdLst/>
            <a:ahLst/>
            <a:cxnLst/>
            <a:rect l="l" t="t" r="r" b="b"/>
            <a:pathLst>
              <a:path w="1038225" h="3541309">
                <a:moveTo>
                  <a:pt x="0" y="0"/>
                </a:moveTo>
                <a:lnTo>
                  <a:pt x="1038225" y="0"/>
                </a:lnTo>
                <a:lnTo>
                  <a:pt x="1038225" y="3541310"/>
                </a:lnTo>
                <a:lnTo>
                  <a:pt x="0" y="3541310"/>
                </a:lnTo>
                <a:lnTo>
                  <a:pt x="0" y="0"/>
                </a:lnTo>
                <a:close/>
              </a:path>
            </a:pathLst>
          </a:custGeom>
          <a:blipFill>
            <a:blip r:embed="rId2"/>
            <a:stretch>
              <a:fillRect l="-752998" t="-208506" r="-243332"/>
            </a:stretch>
          </a:blipFill>
        </p:spPr>
      </p:sp>
      <p:sp>
        <p:nvSpPr>
          <p:cNvPr id="11" name="Freeform 11"/>
          <p:cNvSpPr/>
          <p:nvPr/>
        </p:nvSpPr>
        <p:spPr>
          <a:xfrm>
            <a:off x="2654303" y="2616203"/>
            <a:ext cx="8940803" cy="901703"/>
          </a:xfrm>
          <a:custGeom>
            <a:avLst/>
            <a:gdLst/>
            <a:ahLst/>
            <a:cxnLst/>
            <a:rect l="l" t="t" r="r" b="b"/>
            <a:pathLst>
              <a:path w="8940803" h="901703">
                <a:moveTo>
                  <a:pt x="0" y="0"/>
                </a:moveTo>
                <a:lnTo>
                  <a:pt x="8940803" y="0"/>
                </a:lnTo>
                <a:lnTo>
                  <a:pt x="8940803" y="901703"/>
                </a:lnTo>
                <a:lnTo>
                  <a:pt x="0" y="901703"/>
                </a:lnTo>
                <a:lnTo>
                  <a:pt x="0" y="0"/>
                </a:lnTo>
                <a:close/>
              </a:path>
            </a:pathLst>
          </a:custGeom>
          <a:blipFill>
            <a:blip r:embed="rId7"/>
            <a:stretch>
              <a:fillRect/>
            </a:stretch>
          </a:blipFill>
        </p:spPr>
      </p:sp>
      <p:sp>
        <p:nvSpPr>
          <p:cNvPr id="12" name="Freeform 12"/>
          <p:cNvSpPr/>
          <p:nvPr/>
        </p:nvSpPr>
        <p:spPr>
          <a:xfrm>
            <a:off x="2586028" y="2564454"/>
            <a:ext cx="9056951" cy="1146334"/>
          </a:xfrm>
          <a:custGeom>
            <a:avLst/>
            <a:gdLst/>
            <a:ahLst/>
            <a:cxnLst/>
            <a:rect l="l" t="t" r="r" b="b"/>
            <a:pathLst>
              <a:path w="9056951" h="1146334">
                <a:moveTo>
                  <a:pt x="0" y="0"/>
                </a:moveTo>
                <a:lnTo>
                  <a:pt x="9056951" y="0"/>
                </a:lnTo>
                <a:lnTo>
                  <a:pt x="9056951" y="1146334"/>
                </a:lnTo>
                <a:lnTo>
                  <a:pt x="0" y="114633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grpSp>
        <p:nvGrpSpPr>
          <p:cNvPr id="13" name="Group 13"/>
          <p:cNvGrpSpPr>
            <a:grpSpLocks noChangeAspect="1"/>
          </p:cNvGrpSpPr>
          <p:nvPr/>
        </p:nvGrpSpPr>
        <p:grpSpPr>
          <a:xfrm>
            <a:off x="9369352" y="6825939"/>
            <a:ext cx="1880559" cy="104775"/>
            <a:chOff x="0" y="0"/>
            <a:chExt cx="1880565" cy="104775"/>
          </a:xfrm>
        </p:grpSpPr>
        <p:sp>
          <p:nvSpPr>
            <p:cNvPr id="14" name="Freeform 14"/>
            <p:cNvSpPr/>
            <p:nvPr/>
          </p:nvSpPr>
          <p:spPr>
            <a:xfrm>
              <a:off x="0" y="0"/>
              <a:ext cx="1880616" cy="104775"/>
            </a:xfrm>
            <a:custGeom>
              <a:avLst/>
              <a:gdLst/>
              <a:ahLst/>
              <a:cxnLst/>
              <a:rect l="l" t="t" r="r" b="b"/>
              <a:pathLst>
                <a:path w="1880616" h="104775">
                  <a:moveTo>
                    <a:pt x="0" y="104775"/>
                  </a:moveTo>
                  <a:lnTo>
                    <a:pt x="1880616" y="104775"/>
                  </a:lnTo>
                  <a:lnTo>
                    <a:pt x="1880616" y="0"/>
                  </a:lnTo>
                  <a:lnTo>
                    <a:pt x="0" y="0"/>
                  </a:lnTo>
                  <a:close/>
                </a:path>
              </a:pathLst>
            </a:custGeom>
            <a:solidFill>
              <a:srgbClr val="000000">
                <a:alpha val="0"/>
              </a:srgbClr>
            </a:solidFill>
          </p:spPr>
        </p:sp>
      </p:grpSp>
      <p:sp>
        <p:nvSpPr>
          <p:cNvPr id="15" name="TextBox 15"/>
          <p:cNvSpPr txBox="1"/>
          <p:nvPr/>
        </p:nvSpPr>
        <p:spPr>
          <a:xfrm>
            <a:off x="7628039" y="324326"/>
            <a:ext cx="309252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Classes</a:t>
            </a:r>
          </a:p>
        </p:txBody>
      </p:sp>
      <p:sp>
        <p:nvSpPr>
          <p:cNvPr id="16" name="TextBox 16"/>
          <p:cNvSpPr txBox="1"/>
          <p:nvPr/>
        </p:nvSpPr>
        <p:spPr>
          <a:xfrm>
            <a:off x="12127363" y="2156641"/>
            <a:ext cx="4670822" cy="984885"/>
          </a:xfrm>
          <a:prstGeom prst="rect">
            <a:avLst/>
          </a:prstGeom>
        </p:spPr>
        <p:txBody>
          <a:bodyPr lIns="0" tIns="0" rIns="0" bIns="0" rtlCol="0" anchor="t">
            <a:spAutoFit/>
          </a:bodyPr>
          <a:lstStyle/>
          <a:p>
            <a:pPr algn="ctr">
              <a:lnSpc>
                <a:spcPts val="3600"/>
              </a:lnSpc>
            </a:pPr>
            <a:r>
              <a:rPr lang="en-US" sz="3000" b="1">
                <a:solidFill>
                  <a:srgbClr val="FFFFFF"/>
                </a:solidFill>
                <a:latin typeface="Poppins Semi-Bold"/>
                <a:ea typeface="Poppins Semi-Bold"/>
                <a:cs typeface="Poppins Semi-Bold"/>
                <a:sym typeface="Poppins Semi-Bold"/>
              </a:rPr>
              <a:t>Voltamos para o modo private os atributos.</a:t>
            </a:r>
          </a:p>
        </p:txBody>
      </p:sp>
      <p:sp>
        <p:nvSpPr>
          <p:cNvPr id="17" name="TextBox 17"/>
          <p:cNvSpPr txBox="1"/>
          <p:nvPr/>
        </p:nvSpPr>
        <p:spPr>
          <a:xfrm>
            <a:off x="11395920" y="5440432"/>
            <a:ext cx="6693970" cy="2813685"/>
          </a:xfrm>
          <a:prstGeom prst="rect">
            <a:avLst/>
          </a:prstGeom>
        </p:spPr>
        <p:txBody>
          <a:bodyPr lIns="0" tIns="0" rIns="0" bIns="0" rtlCol="0" anchor="t">
            <a:spAutoFit/>
          </a:bodyPr>
          <a:lstStyle/>
          <a:p>
            <a:pPr algn="ctr">
              <a:lnSpc>
                <a:spcPts val="3600"/>
              </a:lnSpc>
            </a:pPr>
            <a:r>
              <a:rPr lang="en-US" sz="3000" b="1">
                <a:solidFill>
                  <a:srgbClr val="FFFFFF"/>
                </a:solidFill>
                <a:latin typeface="Poppins Semi-Bold"/>
                <a:ea typeface="Poppins Semi-Bold"/>
                <a:cs typeface="Poppins Semi-Bold"/>
                <a:sym typeface="Poppins Semi-Bold"/>
              </a:rPr>
              <a:t>Criei o contrutor como um método, mas sem um tipo de retorno. Ele tem parâmetros pois eles carregam os dados que vão ser preenchidos nas variáveis da classe Carro.</a:t>
            </a: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1481138"/>
            <a:ext cx="9448800" cy="8805862"/>
          </a:xfrm>
          <a:custGeom>
            <a:avLst/>
            <a:gdLst/>
            <a:ahLst/>
            <a:cxnLst/>
            <a:rect l="l" t="t" r="r" b="b"/>
            <a:pathLst>
              <a:path w="9448800" h="8805862">
                <a:moveTo>
                  <a:pt x="0" y="0"/>
                </a:moveTo>
                <a:lnTo>
                  <a:pt x="9448800" y="0"/>
                </a:lnTo>
                <a:lnTo>
                  <a:pt x="9448800" y="8805862"/>
                </a:lnTo>
                <a:lnTo>
                  <a:pt x="0" y="8805862"/>
                </a:lnTo>
                <a:lnTo>
                  <a:pt x="0" y="0"/>
                </a:lnTo>
                <a:close/>
              </a:path>
            </a:pathLst>
          </a:custGeom>
          <a:blipFill>
            <a:blip r:embed="rId2"/>
            <a:stretch>
              <a:fillRect b="-54"/>
            </a:stretch>
          </a:blipFill>
        </p:spPr>
      </p:sp>
      <p:sp>
        <p:nvSpPr>
          <p:cNvPr id="3" name="Freeform 3"/>
          <p:cNvSpPr/>
          <p:nvPr/>
        </p:nvSpPr>
        <p:spPr>
          <a:xfrm>
            <a:off x="8788403" y="4483103"/>
            <a:ext cx="2070097" cy="2400300"/>
          </a:xfrm>
          <a:custGeom>
            <a:avLst/>
            <a:gdLst/>
            <a:ahLst/>
            <a:cxnLst/>
            <a:rect l="l" t="t" r="r" b="b"/>
            <a:pathLst>
              <a:path w="2070097" h="2400300">
                <a:moveTo>
                  <a:pt x="0" y="0"/>
                </a:moveTo>
                <a:lnTo>
                  <a:pt x="2070097" y="0"/>
                </a:lnTo>
                <a:lnTo>
                  <a:pt x="2070097" y="2400300"/>
                </a:lnTo>
                <a:lnTo>
                  <a:pt x="0" y="2400300"/>
                </a:lnTo>
                <a:lnTo>
                  <a:pt x="0" y="0"/>
                </a:lnTo>
                <a:close/>
              </a:path>
            </a:pathLst>
          </a:custGeom>
          <a:blipFill>
            <a:blip r:embed="rId3"/>
            <a:stretch>
              <a:fillRect/>
            </a:stretch>
          </a:blipFill>
        </p:spPr>
      </p:sp>
      <p:sp>
        <p:nvSpPr>
          <p:cNvPr id="4" name="Freeform 4"/>
          <p:cNvSpPr/>
          <p:nvPr/>
        </p:nvSpPr>
        <p:spPr>
          <a:xfrm>
            <a:off x="8795556" y="4480341"/>
            <a:ext cx="360397" cy="366189"/>
          </a:xfrm>
          <a:custGeom>
            <a:avLst/>
            <a:gdLst/>
            <a:ahLst/>
            <a:cxnLst/>
            <a:rect l="l" t="t" r="r" b="b"/>
            <a:pathLst>
              <a:path w="360397" h="366189">
                <a:moveTo>
                  <a:pt x="0" y="0"/>
                </a:moveTo>
                <a:lnTo>
                  <a:pt x="360398" y="0"/>
                </a:lnTo>
                <a:lnTo>
                  <a:pt x="360398" y="366189"/>
                </a:lnTo>
                <a:lnTo>
                  <a:pt x="0" y="36618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8229600" y="6324600"/>
            <a:ext cx="2616203" cy="584197"/>
          </a:xfrm>
          <a:custGeom>
            <a:avLst/>
            <a:gdLst/>
            <a:ahLst/>
            <a:cxnLst/>
            <a:rect l="l" t="t" r="r" b="b"/>
            <a:pathLst>
              <a:path w="2616203" h="584197">
                <a:moveTo>
                  <a:pt x="0" y="0"/>
                </a:moveTo>
                <a:lnTo>
                  <a:pt x="2616203" y="0"/>
                </a:lnTo>
                <a:lnTo>
                  <a:pt x="2616203" y="584197"/>
                </a:lnTo>
                <a:lnTo>
                  <a:pt x="0" y="584197"/>
                </a:lnTo>
                <a:lnTo>
                  <a:pt x="0" y="0"/>
                </a:lnTo>
                <a:close/>
              </a:path>
            </a:pathLst>
          </a:custGeom>
          <a:blipFill>
            <a:blip r:embed="rId6"/>
            <a:stretch>
              <a:fillRect/>
            </a:stretch>
          </a:blipFill>
        </p:spPr>
      </p:sp>
      <p:sp>
        <p:nvSpPr>
          <p:cNvPr id="6" name="Freeform 6"/>
          <p:cNvSpPr/>
          <p:nvPr/>
        </p:nvSpPr>
        <p:spPr>
          <a:xfrm>
            <a:off x="8226371" y="6209700"/>
            <a:ext cx="338966" cy="414090"/>
          </a:xfrm>
          <a:custGeom>
            <a:avLst/>
            <a:gdLst/>
            <a:ahLst/>
            <a:cxnLst/>
            <a:rect l="l" t="t" r="r" b="b"/>
            <a:pathLst>
              <a:path w="338966" h="414090">
                <a:moveTo>
                  <a:pt x="0" y="0"/>
                </a:moveTo>
                <a:lnTo>
                  <a:pt x="338966" y="0"/>
                </a:lnTo>
                <a:lnTo>
                  <a:pt x="338966" y="414090"/>
                </a:lnTo>
                <a:lnTo>
                  <a:pt x="0" y="41409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Freeform 7"/>
          <p:cNvSpPr/>
          <p:nvPr/>
        </p:nvSpPr>
        <p:spPr>
          <a:xfrm>
            <a:off x="7531103" y="6794497"/>
            <a:ext cx="3314700" cy="1739903"/>
          </a:xfrm>
          <a:custGeom>
            <a:avLst/>
            <a:gdLst/>
            <a:ahLst/>
            <a:cxnLst/>
            <a:rect l="l" t="t" r="r" b="b"/>
            <a:pathLst>
              <a:path w="3314700" h="1739903">
                <a:moveTo>
                  <a:pt x="0" y="0"/>
                </a:moveTo>
                <a:lnTo>
                  <a:pt x="3314700" y="0"/>
                </a:lnTo>
                <a:lnTo>
                  <a:pt x="3314700" y="1739903"/>
                </a:lnTo>
                <a:lnTo>
                  <a:pt x="0" y="1739903"/>
                </a:lnTo>
                <a:lnTo>
                  <a:pt x="0" y="0"/>
                </a:lnTo>
                <a:close/>
              </a:path>
            </a:pathLst>
          </a:custGeom>
          <a:blipFill>
            <a:blip r:embed="rId9"/>
            <a:stretch>
              <a:fillRect/>
            </a:stretch>
          </a:blipFill>
        </p:spPr>
      </p:sp>
      <p:sp>
        <p:nvSpPr>
          <p:cNvPr id="8" name="Freeform 8"/>
          <p:cNvSpPr/>
          <p:nvPr/>
        </p:nvSpPr>
        <p:spPr>
          <a:xfrm>
            <a:off x="7460894" y="4395426"/>
            <a:ext cx="3461156" cy="4236168"/>
          </a:xfrm>
          <a:custGeom>
            <a:avLst/>
            <a:gdLst/>
            <a:ahLst/>
            <a:cxnLst/>
            <a:rect l="l" t="t" r="r" b="b"/>
            <a:pathLst>
              <a:path w="3461156" h="4236168">
                <a:moveTo>
                  <a:pt x="0" y="0"/>
                </a:moveTo>
                <a:lnTo>
                  <a:pt x="3461157" y="0"/>
                </a:lnTo>
                <a:lnTo>
                  <a:pt x="3461157" y="4236167"/>
                </a:lnTo>
                <a:lnTo>
                  <a:pt x="0" y="423616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sp>
      <p:sp>
        <p:nvSpPr>
          <p:cNvPr id="9" name="TextBox 9"/>
          <p:cNvSpPr txBox="1"/>
          <p:nvPr/>
        </p:nvSpPr>
        <p:spPr>
          <a:xfrm>
            <a:off x="7628039" y="324326"/>
            <a:ext cx="309252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Classes</a:t>
            </a:r>
          </a:p>
        </p:txBody>
      </p:sp>
      <p:sp>
        <p:nvSpPr>
          <p:cNvPr id="10" name="TextBox 10"/>
          <p:cNvSpPr txBox="1"/>
          <p:nvPr/>
        </p:nvSpPr>
        <p:spPr>
          <a:xfrm>
            <a:off x="10836878" y="4486561"/>
            <a:ext cx="6954736" cy="4642485"/>
          </a:xfrm>
          <a:prstGeom prst="rect">
            <a:avLst/>
          </a:prstGeom>
        </p:spPr>
        <p:txBody>
          <a:bodyPr lIns="0" tIns="0" rIns="0" bIns="0" rtlCol="0" anchor="t">
            <a:spAutoFit/>
          </a:bodyPr>
          <a:lstStyle/>
          <a:p>
            <a:pPr algn="ctr">
              <a:lnSpc>
                <a:spcPts val="3600"/>
              </a:lnSpc>
            </a:pPr>
            <a:r>
              <a:rPr lang="en-US" sz="3000" b="1">
                <a:solidFill>
                  <a:srgbClr val="FFFFFF"/>
                </a:solidFill>
                <a:latin typeface="Poppins Semi-Bold"/>
                <a:ea typeface="Poppins Semi-Bold"/>
                <a:cs typeface="Poppins Semi-Bold"/>
                <a:sym typeface="Poppins Semi-Bold"/>
              </a:rPr>
              <a:t>Você vai notar que o programa principal estará com muitos erros, pois invertemos o estado da variável para private e criamos um construtor. Para usar o construtor novo, devemos colocar todos os dados dentro do parênteses de </a:t>
            </a:r>
            <a:r>
              <a:rPr lang="en-US" sz="3000" b="1">
                <a:solidFill>
                  <a:srgbClr val="3C67BF"/>
                </a:solidFill>
                <a:latin typeface="Poppins Semi-Bold"/>
                <a:ea typeface="Poppins Semi-Bold"/>
                <a:cs typeface="Poppins Semi-Bold"/>
                <a:sym typeface="Poppins Semi-Bold"/>
              </a:rPr>
              <a:t>new </a:t>
            </a:r>
            <a:r>
              <a:rPr lang="en-US" sz="3000" b="1">
                <a:solidFill>
                  <a:srgbClr val="7ED957"/>
                </a:solidFill>
                <a:latin typeface="Poppins Semi-Bold"/>
                <a:ea typeface="Poppins Semi-Bold"/>
                <a:cs typeface="Poppins Semi-Bold"/>
                <a:sym typeface="Poppins Semi-Bold"/>
              </a:rPr>
              <a:t>Carro</a:t>
            </a:r>
            <a:r>
              <a:rPr lang="en-US" sz="3000" b="1">
                <a:solidFill>
                  <a:srgbClr val="FFFFFF"/>
                </a:solidFill>
                <a:latin typeface="Poppins Semi-Bold"/>
                <a:ea typeface="Poppins Semi-Bold"/>
                <a:cs typeface="Poppins Semi-Bold"/>
                <a:sym typeface="Poppins Semi-Bold"/>
              </a:rPr>
              <a:t>().</a:t>
            </a: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1028700" y="6531616"/>
            <a:ext cx="16135350" cy="3552825"/>
          </a:xfrm>
          <a:custGeom>
            <a:avLst/>
            <a:gdLst/>
            <a:ahLst/>
            <a:cxnLst/>
            <a:rect l="l" t="t" r="r" b="b"/>
            <a:pathLst>
              <a:path w="16135350" h="3552825">
                <a:moveTo>
                  <a:pt x="0" y="0"/>
                </a:moveTo>
                <a:lnTo>
                  <a:pt x="16135350" y="0"/>
                </a:lnTo>
                <a:lnTo>
                  <a:pt x="16135350" y="3552825"/>
                </a:lnTo>
                <a:lnTo>
                  <a:pt x="0" y="3552825"/>
                </a:lnTo>
                <a:lnTo>
                  <a:pt x="0" y="0"/>
                </a:lnTo>
                <a:close/>
              </a:path>
            </a:pathLst>
          </a:custGeom>
          <a:blipFill>
            <a:blip r:embed="rId2"/>
            <a:stretch>
              <a:fillRect/>
            </a:stretch>
          </a:blipFill>
        </p:spPr>
      </p:sp>
      <p:sp>
        <p:nvSpPr>
          <p:cNvPr id="3" name="Freeform 3"/>
          <p:cNvSpPr/>
          <p:nvPr/>
        </p:nvSpPr>
        <p:spPr>
          <a:xfrm>
            <a:off x="12065003" y="4622797"/>
            <a:ext cx="1524000" cy="3708397"/>
          </a:xfrm>
          <a:custGeom>
            <a:avLst/>
            <a:gdLst/>
            <a:ahLst/>
            <a:cxnLst/>
            <a:rect l="l" t="t" r="r" b="b"/>
            <a:pathLst>
              <a:path w="1524000" h="3708397">
                <a:moveTo>
                  <a:pt x="0" y="0"/>
                </a:moveTo>
                <a:lnTo>
                  <a:pt x="1524000" y="0"/>
                </a:lnTo>
                <a:lnTo>
                  <a:pt x="1524000" y="3708397"/>
                </a:lnTo>
                <a:lnTo>
                  <a:pt x="0" y="3708397"/>
                </a:lnTo>
                <a:lnTo>
                  <a:pt x="0" y="0"/>
                </a:lnTo>
                <a:close/>
              </a:path>
            </a:pathLst>
          </a:custGeom>
          <a:blipFill>
            <a:blip r:embed="rId3"/>
            <a:stretch>
              <a:fillRect/>
            </a:stretch>
          </a:blipFill>
        </p:spPr>
      </p:sp>
      <p:sp>
        <p:nvSpPr>
          <p:cNvPr id="4" name="Freeform 4"/>
          <p:cNvSpPr/>
          <p:nvPr/>
        </p:nvSpPr>
        <p:spPr>
          <a:xfrm>
            <a:off x="12003996" y="7952937"/>
            <a:ext cx="397754" cy="357045"/>
          </a:xfrm>
          <a:custGeom>
            <a:avLst/>
            <a:gdLst/>
            <a:ahLst/>
            <a:cxnLst/>
            <a:rect l="l" t="t" r="r" b="b"/>
            <a:pathLst>
              <a:path w="397754" h="357045">
                <a:moveTo>
                  <a:pt x="0" y="0"/>
                </a:moveTo>
                <a:lnTo>
                  <a:pt x="397754" y="0"/>
                </a:lnTo>
                <a:lnTo>
                  <a:pt x="397754" y="357044"/>
                </a:lnTo>
                <a:lnTo>
                  <a:pt x="0" y="35704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5" name="Group 5"/>
          <p:cNvGrpSpPr>
            <a:grpSpLocks noChangeAspect="1"/>
          </p:cNvGrpSpPr>
          <p:nvPr/>
        </p:nvGrpSpPr>
        <p:grpSpPr>
          <a:xfrm>
            <a:off x="13489562" y="4609186"/>
            <a:ext cx="1056027" cy="3606832"/>
            <a:chOff x="0" y="0"/>
            <a:chExt cx="1056018" cy="3606825"/>
          </a:xfrm>
        </p:grpSpPr>
        <p:sp>
          <p:nvSpPr>
            <p:cNvPr id="6" name="Freeform 6"/>
            <p:cNvSpPr/>
            <p:nvPr/>
          </p:nvSpPr>
          <p:spPr>
            <a:xfrm>
              <a:off x="0" y="0"/>
              <a:ext cx="1056005" cy="3606800"/>
            </a:xfrm>
            <a:custGeom>
              <a:avLst/>
              <a:gdLst/>
              <a:ahLst/>
              <a:cxnLst/>
              <a:rect l="l" t="t" r="r" b="b"/>
              <a:pathLst>
                <a:path w="1056005" h="3606800">
                  <a:moveTo>
                    <a:pt x="0" y="3606800"/>
                  </a:moveTo>
                  <a:lnTo>
                    <a:pt x="1056005" y="3606800"/>
                  </a:lnTo>
                  <a:lnTo>
                    <a:pt x="1056005" y="0"/>
                  </a:lnTo>
                  <a:lnTo>
                    <a:pt x="0" y="0"/>
                  </a:lnTo>
                  <a:close/>
                </a:path>
              </a:pathLst>
            </a:custGeom>
            <a:solidFill>
              <a:srgbClr val="000000">
                <a:alpha val="0"/>
              </a:srgbClr>
            </a:solidFill>
          </p:spPr>
        </p:sp>
      </p:grpSp>
      <p:sp>
        <p:nvSpPr>
          <p:cNvPr id="7" name="TextBox 7"/>
          <p:cNvSpPr txBox="1"/>
          <p:nvPr/>
        </p:nvSpPr>
        <p:spPr>
          <a:xfrm>
            <a:off x="10190912" y="2714082"/>
            <a:ext cx="6728946" cy="1899285"/>
          </a:xfrm>
          <a:prstGeom prst="rect">
            <a:avLst/>
          </a:prstGeom>
        </p:spPr>
        <p:txBody>
          <a:bodyPr lIns="0" tIns="0" rIns="0" bIns="0" rtlCol="0" anchor="t">
            <a:spAutoFit/>
          </a:bodyPr>
          <a:lstStyle/>
          <a:p>
            <a:pPr algn="ctr">
              <a:lnSpc>
                <a:spcPts val="3600"/>
              </a:lnSpc>
            </a:pPr>
            <a:r>
              <a:rPr lang="en-US" sz="3000" b="1">
                <a:solidFill>
                  <a:srgbClr val="FFFFFF"/>
                </a:solidFill>
                <a:latin typeface="Poppins Semi-Bold"/>
                <a:ea typeface="Poppins Semi-Bold"/>
                <a:cs typeface="Poppins Semi-Bold"/>
                <a:sym typeface="Poppins Semi-Bold"/>
              </a:rPr>
              <a:t>Vamos fazer dessa maneira quando for utilizar um construtor para inserir valores nas variáveis da classe.</a:t>
            </a:r>
          </a:p>
        </p:txBody>
      </p:sp>
      <p:sp>
        <p:nvSpPr>
          <p:cNvPr id="8" name="TextBox 8"/>
          <p:cNvSpPr txBox="1"/>
          <p:nvPr/>
        </p:nvSpPr>
        <p:spPr>
          <a:xfrm>
            <a:off x="7628039" y="324326"/>
            <a:ext cx="309252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Classes</a:t>
            </a: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6513443"/>
            <a:ext cx="9372600" cy="3771062"/>
          </a:xfrm>
          <a:custGeom>
            <a:avLst/>
            <a:gdLst/>
            <a:ahLst/>
            <a:cxnLst/>
            <a:rect l="l" t="t" r="r" b="b"/>
            <a:pathLst>
              <a:path w="9372600" h="3771062">
                <a:moveTo>
                  <a:pt x="0" y="0"/>
                </a:moveTo>
                <a:lnTo>
                  <a:pt x="9372600" y="0"/>
                </a:lnTo>
                <a:lnTo>
                  <a:pt x="9372600" y="3771061"/>
                </a:lnTo>
                <a:lnTo>
                  <a:pt x="0" y="3771061"/>
                </a:lnTo>
                <a:lnTo>
                  <a:pt x="0" y="0"/>
                </a:lnTo>
                <a:close/>
              </a:path>
            </a:pathLst>
          </a:custGeom>
          <a:blipFill>
            <a:blip r:embed="rId2"/>
            <a:stretch>
              <a:fillRect t="-138436"/>
            </a:stretch>
          </a:blipFill>
        </p:spPr>
      </p:sp>
      <p:sp>
        <p:nvSpPr>
          <p:cNvPr id="3" name="Freeform 3"/>
          <p:cNvSpPr/>
          <p:nvPr/>
        </p:nvSpPr>
        <p:spPr>
          <a:xfrm>
            <a:off x="576034" y="6677835"/>
            <a:ext cx="742950" cy="238125"/>
          </a:xfrm>
          <a:custGeom>
            <a:avLst/>
            <a:gdLst/>
            <a:ahLst/>
            <a:cxnLst/>
            <a:rect l="l" t="t" r="r" b="b"/>
            <a:pathLst>
              <a:path w="742950" h="238125">
                <a:moveTo>
                  <a:pt x="0" y="0"/>
                </a:moveTo>
                <a:lnTo>
                  <a:pt x="742950" y="0"/>
                </a:lnTo>
                <a:lnTo>
                  <a:pt x="742950" y="238125"/>
                </a:lnTo>
                <a:lnTo>
                  <a:pt x="0" y="238125"/>
                </a:lnTo>
                <a:lnTo>
                  <a:pt x="0" y="0"/>
                </a:lnTo>
                <a:close/>
              </a:path>
            </a:pathLst>
          </a:custGeom>
          <a:blipFill>
            <a:blip r:embed="rId3"/>
            <a:stretch>
              <a:fillRect l="-153684" t="-225876" r="-325802" b="-1826124"/>
            </a:stretch>
          </a:blipFill>
        </p:spPr>
      </p:sp>
      <p:sp>
        <p:nvSpPr>
          <p:cNvPr id="4" name="Freeform 4"/>
          <p:cNvSpPr/>
          <p:nvPr/>
        </p:nvSpPr>
        <p:spPr>
          <a:xfrm>
            <a:off x="1268158" y="6649260"/>
            <a:ext cx="8810625" cy="3343275"/>
          </a:xfrm>
          <a:custGeom>
            <a:avLst/>
            <a:gdLst/>
            <a:ahLst/>
            <a:cxnLst/>
            <a:rect l="l" t="t" r="r" b="b"/>
            <a:pathLst>
              <a:path w="8810625" h="3343275">
                <a:moveTo>
                  <a:pt x="0" y="0"/>
                </a:moveTo>
                <a:lnTo>
                  <a:pt x="8810626" y="0"/>
                </a:lnTo>
                <a:lnTo>
                  <a:pt x="8810626" y="3343275"/>
                </a:lnTo>
                <a:lnTo>
                  <a:pt x="0" y="3343275"/>
                </a:lnTo>
                <a:lnTo>
                  <a:pt x="0" y="0"/>
                </a:lnTo>
                <a:close/>
              </a:path>
            </a:pathLst>
          </a:custGeom>
          <a:blipFill>
            <a:blip r:embed="rId2"/>
            <a:stretch>
              <a:fillRect l="-6292" t="-159431" r="-86" b="-9514"/>
            </a:stretch>
          </a:blipFill>
        </p:spPr>
      </p:sp>
      <p:sp>
        <p:nvSpPr>
          <p:cNvPr id="5" name="Freeform 5"/>
          <p:cNvSpPr/>
          <p:nvPr/>
        </p:nvSpPr>
        <p:spPr>
          <a:xfrm>
            <a:off x="576034" y="7216064"/>
            <a:ext cx="1085850" cy="2466975"/>
          </a:xfrm>
          <a:custGeom>
            <a:avLst/>
            <a:gdLst/>
            <a:ahLst/>
            <a:cxnLst/>
            <a:rect l="l" t="t" r="r" b="b"/>
            <a:pathLst>
              <a:path w="1085850" h="2466975">
                <a:moveTo>
                  <a:pt x="0" y="0"/>
                </a:moveTo>
                <a:lnTo>
                  <a:pt x="1085850" y="0"/>
                </a:lnTo>
                <a:lnTo>
                  <a:pt x="1085850" y="2466975"/>
                </a:lnTo>
                <a:lnTo>
                  <a:pt x="0" y="2466975"/>
                </a:lnTo>
                <a:lnTo>
                  <a:pt x="0" y="0"/>
                </a:lnTo>
                <a:close/>
              </a:path>
            </a:pathLst>
          </a:custGeom>
          <a:blipFill>
            <a:blip r:embed="rId2"/>
            <a:stretch>
              <a:fillRect l="-546017" t="-262014" r="-217140" b="-2464"/>
            </a:stretch>
          </a:blipFill>
        </p:spPr>
      </p:sp>
      <p:sp>
        <p:nvSpPr>
          <p:cNvPr id="6" name="Freeform 6"/>
          <p:cNvSpPr/>
          <p:nvPr/>
        </p:nvSpPr>
        <p:spPr>
          <a:xfrm>
            <a:off x="277454" y="6916426"/>
            <a:ext cx="1038225" cy="3074108"/>
          </a:xfrm>
          <a:custGeom>
            <a:avLst/>
            <a:gdLst/>
            <a:ahLst/>
            <a:cxnLst/>
            <a:rect l="l" t="t" r="r" b="b"/>
            <a:pathLst>
              <a:path w="1038225" h="3074108">
                <a:moveTo>
                  <a:pt x="0" y="0"/>
                </a:moveTo>
                <a:lnTo>
                  <a:pt x="1038225" y="0"/>
                </a:lnTo>
                <a:lnTo>
                  <a:pt x="1038225" y="3074108"/>
                </a:lnTo>
                <a:lnTo>
                  <a:pt x="0" y="3074108"/>
                </a:lnTo>
                <a:lnTo>
                  <a:pt x="0" y="0"/>
                </a:lnTo>
                <a:close/>
              </a:path>
            </a:pathLst>
          </a:custGeom>
          <a:blipFill>
            <a:blip r:embed="rId2"/>
            <a:stretch>
              <a:fillRect l="-752998" t="-255393" r="-243332"/>
            </a:stretch>
          </a:blipFill>
        </p:spPr>
      </p:sp>
      <p:sp>
        <p:nvSpPr>
          <p:cNvPr id="7" name="Freeform 7"/>
          <p:cNvSpPr/>
          <p:nvPr/>
        </p:nvSpPr>
        <p:spPr>
          <a:xfrm>
            <a:off x="9044788" y="6513443"/>
            <a:ext cx="1038225" cy="161925"/>
          </a:xfrm>
          <a:custGeom>
            <a:avLst/>
            <a:gdLst/>
            <a:ahLst/>
            <a:cxnLst/>
            <a:rect l="l" t="t" r="r" b="b"/>
            <a:pathLst>
              <a:path w="1038225" h="161925">
                <a:moveTo>
                  <a:pt x="0" y="0"/>
                </a:moveTo>
                <a:lnTo>
                  <a:pt x="1038225" y="0"/>
                </a:lnTo>
                <a:lnTo>
                  <a:pt x="1038225" y="161925"/>
                </a:lnTo>
                <a:lnTo>
                  <a:pt x="0" y="161925"/>
                </a:lnTo>
                <a:lnTo>
                  <a:pt x="0" y="0"/>
                </a:lnTo>
                <a:close/>
              </a:path>
            </a:pathLst>
          </a:custGeom>
          <a:blipFill>
            <a:blip r:embed="rId2"/>
            <a:stretch>
              <a:fillRect l="-752998" t="-6645035" r="-243332" b="-2023"/>
            </a:stretch>
          </a:blipFill>
        </p:spPr>
      </p:sp>
      <p:sp>
        <p:nvSpPr>
          <p:cNvPr id="8" name="Freeform 8"/>
          <p:cNvSpPr/>
          <p:nvPr/>
        </p:nvSpPr>
        <p:spPr>
          <a:xfrm>
            <a:off x="5355650" y="1964093"/>
            <a:ext cx="11906250" cy="2619375"/>
          </a:xfrm>
          <a:custGeom>
            <a:avLst/>
            <a:gdLst/>
            <a:ahLst/>
            <a:cxnLst/>
            <a:rect l="l" t="t" r="r" b="b"/>
            <a:pathLst>
              <a:path w="11906250" h="2619375">
                <a:moveTo>
                  <a:pt x="0" y="0"/>
                </a:moveTo>
                <a:lnTo>
                  <a:pt x="11906250" y="0"/>
                </a:lnTo>
                <a:lnTo>
                  <a:pt x="11906250" y="2619375"/>
                </a:lnTo>
                <a:lnTo>
                  <a:pt x="0" y="2619375"/>
                </a:lnTo>
                <a:lnTo>
                  <a:pt x="0" y="0"/>
                </a:lnTo>
                <a:close/>
              </a:path>
            </a:pathLst>
          </a:custGeom>
          <a:blipFill>
            <a:blip r:embed="rId4"/>
            <a:stretch>
              <a:fillRect/>
            </a:stretch>
          </a:blipFill>
        </p:spPr>
      </p:sp>
      <p:sp>
        <p:nvSpPr>
          <p:cNvPr id="9" name="Freeform 9"/>
          <p:cNvSpPr/>
          <p:nvPr/>
        </p:nvSpPr>
        <p:spPr>
          <a:xfrm>
            <a:off x="13944600" y="4000500"/>
            <a:ext cx="838200" cy="2108197"/>
          </a:xfrm>
          <a:custGeom>
            <a:avLst/>
            <a:gdLst/>
            <a:ahLst/>
            <a:cxnLst/>
            <a:rect l="l" t="t" r="r" b="b"/>
            <a:pathLst>
              <a:path w="838200" h="2108197">
                <a:moveTo>
                  <a:pt x="0" y="0"/>
                </a:moveTo>
                <a:lnTo>
                  <a:pt x="838200" y="0"/>
                </a:lnTo>
                <a:lnTo>
                  <a:pt x="838200" y="2108197"/>
                </a:lnTo>
                <a:lnTo>
                  <a:pt x="0" y="2108197"/>
                </a:lnTo>
                <a:lnTo>
                  <a:pt x="0" y="0"/>
                </a:lnTo>
                <a:close/>
              </a:path>
            </a:pathLst>
          </a:custGeom>
          <a:blipFill>
            <a:blip r:embed="rId5"/>
            <a:stretch>
              <a:fillRect/>
            </a:stretch>
          </a:blipFill>
        </p:spPr>
      </p:sp>
      <p:sp>
        <p:nvSpPr>
          <p:cNvPr id="10" name="Freeform 10"/>
          <p:cNvSpPr/>
          <p:nvPr/>
        </p:nvSpPr>
        <p:spPr>
          <a:xfrm>
            <a:off x="13875144" y="3991318"/>
            <a:ext cx="400545" cy="355178"/>
          </a:xfrm>
          <a:custGeom>
            <a:avLst/>
            <a:gdLst/>
            <a:ahLst/>
            <a:cxnLst/>
            <a:rect l="l" t="t" r="r" b="b"/>
            <a:pathLst>
              <a:path w="400545" h="355178">
                <a:moveTo>
                  <a:pt x="0" y="0"/>
                </a:moveTo>
                <a:lnTo>
                  <a:pt x="400545" y="0"/>
                </a:lnTo>
                <a:lnTo>
                  <a:pt x="400545" y="355178"/>
                </a:lnTo>
                <a:lnTo>
                  <a:pt x="0" y="35517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10083803" y="6972300"/>
            <a:ext cx="1244603" cy="317497"/>
          </a:xfrm>
          <a:custGeom>
            <a:avLst/>
            <a:gdLst/>
            <a:ahLst/>
            <a:cxnLst/>
            <a:rect l="l" t="t" r="r" b="b"/>
            <a:pathLst>
              <a:path w="1244603" h="317497">
                <a:moveTo>
                  <a:pt x="0" y="0"/>
                </a:moveTo>
                <a:lnTo>
                  <a:pt x="1244603" y="0"/>
                </a:lnTo>
                <a:lnTo>
                  <a:pt x="1244603" y="317497"/>
                </a:lnTo>
                <a:lnTo>
                  <a:pt x="0" y="317497"/>
                </a:lnTo>
                <a:lnTo>
                  <a:pt x="0" y="0"/>
                </a:lnTo>
                <a:close/>
              </a:path>
            </a:pathLst>
          </a:custGeom>
          <a:blipFill>
            <a:blip r:embed="rId8"/>
            <a:stretch>
              <a:fillRect/>
            </a:stretch>
          </a:blipFill>
        </p:spPr>
      </p:sp>
      <p:sp>
        <p:nvSpPr>
          <p:cNvPr id="12" name="Freeform 12"/>
          <p:cNvSpPr/>
          <p:nvPr/>
        </p:nvSpPr>
        <p:spPr>
          <a:xfrm>
            <a:off x="10082384" y="6848923"/>
            <a:ext cx="337166" cy="414899"/>
          </a:xfrm>
          <a:custGeom>
            <a:avLst/>
            <a:gdLst/>
            <a:ahLst/>
            <a:cxnLst/>
            <a:rect l="l" t="t" r="r" b="b"/>
            <a:pathLst>
              <a:path w="337166" h="414899">
                <a:moveTo>
                  <a:pt x="0" y="0"/>
                </a:moveTo>
                <a:lnTo>
                  <a:pt x="337166" y="0"/>
                </a:lnTo>
                <a:lnTo>
                  <a:pt x="337166" y="414899"/>
                </a:lnTo>
                <a:lnTo>
                  <a:pt x="0" y="41489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grpSp>
        <p:nvGrpSpPr>
          <p:cNvPr id="13" name="Group 13"/>
          <p:cNvGrpSpPr>
            <a:grpSpLocks noChangeAspect="1"/>
          </p:cNvGrpSpPr>
          <p:nvPr/>
        </p:nvGrpSpPr>
        <p:grpSpPr>
          <a:xfrm>
            <a:off x="11015653" y="4540196"/>
            <a:ext cx="2636844" cy="4061984"/>
            <a:chOff x="0" y="0"/>
            <a:chExt cx="2636850" cy="4061981"/>
          </a:xfrm>
        </p:grpSpPr>
        <p:sp>
          <p:nvSpPr>
            <p:cNvPr id="14" name="Freeform 14"/>
            <p:cNvSpPr/>
            <p:nvPr/>
          </p:nvSpPr>
          <p:spPr>
            <a:xfrm>
              <a:off x="1043559" y="63500"/>
              <a:ext cx="1529842" cy="3721735"/>
            </a:xfrm>
            <a:custGeom>
              <a:avLst/>
              <a:gdLst/>
              <a:ahLst/>
              <a:cxnLst/>
              <a:rect l="l" t="t" r="r" b="b"/>
              <a:pathLst>
                <a:path w="1529842" h="3721735">
                  <a:moveTo>
                    <a:pt x="0" y="3721735"/>
                  </a:moveTo>
                  <a:lnTo>
                    <a:pt x="1529842" y="3721735"/>
                  </a:lnTo>
                  <a:lnTo>
                    <a:pt x="1529842" y="0"/>
                  </a:lnTo>
                  <a:lnTo>
                    <a:pt x="0" y="0"/>
                  </a:lnTo>
                  <a:close/>
                </a:path>
              </a:pathLst>
            </a:custGeom>
            <a:solidFill>
              <a:srgbClr val="000000">
                <a:alpha val="0"/>
              </a:srgbClr>
            </a:solidFill>
          </p:spPr>
        </p:sp>
        <p:sp>
          <p:nvSpPr>
            <p:cNvPr id="15" name="Freeform 15"/>
            <p:cNvSpPr/>
            <p:nvPr/>
          </p:nvSpPr>
          <p:spPr>
            <a:xfrm>
              <a:off x="63500" y="276733"/>
              <a:ext cx="1529842" cy="3721735"/>
            </a:xfrm>
            <a:custGeom>
              <a:avLst/>
              <a:gdLst/>
              <a:ahLst/>
              <a:cxnLst/>
              <a:rect l="l" t="t" r="r" b="b"/>
              <a:pathLst>
                <a:path w="1529842" h="3721735">
                  <a:moveTo>
                    <a:pt x="0" y="3721735"/>
                  </a:moveTo>
                  <a:lnTo>
                    <a:pt x="1529842" y="3721735"/>
                  </a:lnTo>
                  <a:lnTo>
                    <a:pt x="1529842" y="0"/>
                  </a:lnTo>
                  <a:lnTo>
                    <a:pt x="0" y="0"/>
                  </a:lnTo>
                  <a:close/>
                </a:path>
              </a:pathLst>
            </a:custGeom>
            <a:solidFill>
              <a:srgbClr val="000000">
                <a:alpha val="0"/>
              </a:srgbClr>
            </a:solidFill>
          </p:spPr>
        </p:sp>
      </p:grpSp>
      <p:sp>
        <p:nvSpPr>
          <p:cNvPr id="16" name="TextBox 16"/>
          <p:cNvSpPr txBox="1"/>
          <p:nvPr/>
        </p:nvSpPr>
        <p:spPr>
          <a:xfrm>
            <a:off x="7628039" y="324326"/>
            <a:ext cx="309252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Classes</a:t>
            </a:r>
          </a:p>
        </p:txBody>
      </p:sp>
      <p:sp>
        <p:nvSpPr>
          <p:cNvPr id="17" name="TextBox 17"/>
          <p:cNvSpPr txBox="1"/>
          <p:nvPr/>
        </p:nvSpPr>
        <p:spPr>
          <a:xfrm>
            <a:off x="11571494" y="6006770"/>
            <a:ext cx="6453026" cy="2356485"/>
          </a:xfrm>
          <a:prstGeom prst="rect">
            <a:avLst/>
          </a:prstGeom>
        </p:spPr>
        <p:txBody>
          <a:bodyPr lIns="0" tIns="0" rIns="0" bIns="0" rtlCol="0" anchor="t">
            <a:spAutoFit/>
          </a:bodyPr>
          <a:lstStyle/>
          <a:p>
            <a:pPr algn="ctr">
              <a:lnSpc>
                <a:spcPts val="3600"/>
              </a:lnSpc>
            </a:pPr>
            <a:r>
              <a:rPr lang="en-US" sz="3000" b="1">
                <a:solidFill>
                  <a:srgbClr val="FFFFFF"/>
                </a:solidFill>
                <a:latin typeface="Poppins Semi-Bold"/>
                <a:ea typeface="Poppins Semi-Bold"/>
                <a:cs typeface="Poppins Semi-Bold"/>
                <a:sym typeface="Poppins Semi-Bold"/>
              </a:rPr>
              <a:t>Note que o preenchimento dos dados devem seguir a mesma ordem declarada no construtor. Segue a mesma regra de um método normal.</a:t>
            </a: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7628039" y="324326"/>
            <a:ext cx="309252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Classes</a:t>
            </a:r>
          </a:p>
        </p:txBody>
      </p:sp>
      <p:sp>
        <p:nvSpPr>
          <p:cNvPr id="3" name="TextBox 3"/>
          <p:cNvSpPr txBox="1"/>
          <p:nvPr/>
        </p:nvSpPr>
        <p:spPr>
          <a:xfrm>
            <a:off x="227933" y="3267894"/>
            <a:ext cx="18188473" cy="4481960"/>
          </a:xfrm>
          <a:prstGeom prst="rect">
            <a:avLst/>
          </a:prstGeom>
        </p:spPr>
        <p:txBody>
          <a:bodyPr lIns="0" tIns="0" rIns="0" bIns="0" rtlCol="0" anchor="t">
            <a:spAutoFit/>
          </a:bodyPr>
          <a:lstStyle/>
          <a:p>
            <a:pPr algn="ctr">
              <a:lnSpc>
                <a:spcPts val="6827"/>
              </a:lnSpc>
            </a:pPr>
            <a:r>
              <a:rPr lang="en-US" sz="5699" b="1">
                <a:solidFill>
                  <a:srgbClr val="FFFFFF"/>
                </a:solidFill>
                <a:latin typeface="Poppins Semi-Bold"/>
                <a:ea typeface="Poppins Semi-Bold"/>
                <a:cs typeface="Poppins Semi-Bold"/>
                <a:sym typeface="Poppins Semi-Bold"/>
              </a:rPr>
              <a:t>Beleza, mas e a </a:t>
            </a:r>
            <a:r>
              <a:rPr lang="en-US" sz="5699" b="1">
                <a:solidFill>
                  <a:srgbClr val="FF5757"/>
                </a:solidFill>
                <a:latin typeface="Poppins Semi-Bold"/>
                <a:ea typeface="Poppins Semi-Bold"/>
                <a:cs typeface="Poppins Semi-Bold"/>
                <a:sym typeface="Poppins Semi-Bold"/>
              </a:rPr>
              <a:t>propriedade</a:t>
            </a:r>
            <a:r>
              <a:rPr lang="en-US" sz="5699" b="1">
                <a:solidFill>
                  <a:srgbClr val="FFFFFF"/>
                </a:solidFill>
                <a:latin typeface="Poppins Semi-Bold"/>
                <a:ea typeface="Poppins Semi-Bold"/>
                <a:cs typeface="Poppins Semi-Bold"/>
                <a:sym typeface="Poppins Semi-Bold"/>
              </a:rPr>
              <a:t>? A propriedade vai nos servir para manipular os dados das variáveis privadas da classe, vai ser possível alterar e consultar os valores.</a:t>
            </a: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4239692" y="3794865"/>
            <a:ext cx="9810750" cy="3238500"/>
          </a:xfrm>
          <a:custGeom>
            <a:avLst/>
            <a:gdLst/>
            <a:ahLst/>
            <a:cxnLst/>
            <a:rect l="l" t="t" r="r" b="b"/>
            <a:pathLst>
              <a:path w="9810750" h="3238500">
                <a:moveTo>
                  <a:pt x="0" y="0"/>
                </a:moveTo>
                <a:lnTo>
                  <a:pt x="9810750" y="0"/>
                </a:lnTo>
                <a:lnTo>
                  <a:pt x="9810750" y="3238500"/>
                </a:lnTo>
                <a:lnTo>
                  <a:pt x="0" y="3238500"/>
                </a:lnTo>
                <a:lnTo>
                  <a:pt x="0" y="0"/>
                </a:lnTo>
                <a:close/>
              </a:path>
            </a:pathLst>
          </a:custGeom>
          <a:blipFill>
            <a:blip r:embed="rId2"/>
            <a:stretch>
              <a:fillRect/>
            </a:stretch>
          </a:blipFill>
        </p:spPr>
      </p:sp>
      <p:sp>
        <p:nvSpPr>
          <p:cNvPr id="3" name="Freeform 3"/>
          <p:cNvSpPr/>
          <p:nvPr/>
        </p:nvSpPr>
        <p:spPr>
          <a:xfrm>
            <a:off x="901703" y="4343400"/>
            <a:ext cx="3340103" cy="3289297"/>
          </a:xfrm>
          <a:custGeom>
            <a:avLst/>
            <a:gdLst/>
            <a:ahLst/>
            <a:cxnLst/>
            <a:rect l="l" t="t" r="r" b="b"/>
            <a:pathLst>
              <a:path w="3340103" h="3289297">
                <a:moveTo>
                  <a:pt x="0" y="0"/>
                </a:moveTo>
                <a:lnTo>
                  <a:pt x="3340103" y="0"/>
                </a:lnTo>
                <a:lnTo>
                  <a:pt x="3340103" y="3289297"/>
                </a:lnTo>
                <a:lnTo>
                  <a:pt x="0" y="3289297"/>
                </a:lnTo>
                <a:lnTo>
                  <a:pt x="0" y="0"/>
                </a:lnTo>
                <a:close/>
              </a:path>
            </a:pathLst>
          </a:custGeom>
          <a:blipFill>
            <a:blip r:embed="rId3"/>
            <a:stretch>
              <a:fillRect/>
            </a:stretch>
          </a:blipFill>
        </p:spPr>
      </p:sp>
      <p:sp>
        <p:nvSpPr>
          <p:cNvPr id="4" name="Freeform 4"/>
          <p:cNvSpPr/>
          <p:nvPr/>
        </p:nvSpPr>
        <p:spPr>
          <a:xfrm>
            <a:off x="3917585" y="4202754"/>
            <a:ext cx="322183" cy="418690"/>
          </a:xfrm>
          <a:custGeom>
            <a:avLst/>
            <a:gdLst/>
            <a:ahLst/>
            <a:cxnLst/>
            <a:rect l="l" t="t" r="r" b="b"/>
            <a:pathLst>
              <a:path w="322183" h="418690">
                <a:moveTo>
                  <a:pt x="0" y="0"/>
                </a:moveTo>
                <a:lnTo>
                  <a:pt x="322183" y="0"/>
                </a:lnTo>
                <a:lnTo>
                  <a:pt x="322183" y="418690"/>
                </a:lnTo>
                <a:lnTo>
                  <a:pt x="0" y="41869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5" name="Group 5"/>
          <p:cNvGrpSpPr>
            <a:grpSpLocks noChangeAspect="1"/>
          </p:cNvGrpSpPr>
          <p:nvPr/>
        </p:nvGrpSpPr>
        <p:grpSpPr>
          <a:xfrm>
            <a:off x="13937475" y="3976707"/>
            <a:ext cx="846677" cy="2114093"/>
            <a:chOff x="0" y="0"/>
            <a:chExt cx="846671" cy="2114093"/>
          </a:xfrm>
        </p:grpSpPr>
        <p:sp>
          <p:nvSpPr>
            <p:cNvPr id="6" name="Freeform 6"/>
            <p:cNvSpPr/>
            <p:nvPr/>
          </p:nvSpPr>
          <p:spPr>
            <a:xfrm>
              <a:off x="0" y="0"/>
              <a:ext cx="846709" cy="2114042"/>
            </a:xfrm>
            <a:custGeom>
              <a:avLst/>
              <a:gdLst/>
              <a:ahLst/>
              <a:cxnLst/>
              <a:rect l="l" t="t" r="r" b="b"/>
              <a:pathLst>
                <a:path w="846709" h="2114042">
                  <a:moveTo>
                    <a:pt x="0" y="2114042"/>
                  </a:moveTo>
                  <a:lnTo>
                    <a:pt x="846709" y="2114042"/>
                  </a:lnTo>
                  <a:lnTo>
                    <a:pt x="846709" y="0"/>
                  </a:lnTo>
                  <a:lnTo>
                    <a:pt x="0" y="0"/>
                  </a:lnTo>
                  <a:close/>
                </a:path>
              </a:pathLst>
            </a:custGeom>
            <a:solidFill>
              <a:srgbClr val="000000">
                <a:alpha val="0"/>
              </a:srgbClr>
            </a:solidFill>
          </p:spPr>
        </p:sp>
      </p:grpSp>
      <p:sp>
        <p:nvSpPr>
          <p:cNvPr id="7" name="TextBox 7"/>
          <p:cNvSpPr txBox="1"/>
          <p:nvPr/>
        </p:nvSpPr>
        <p:spPr>
          <a:xfrm>
            <a:off x="7628039" y="514826"/>
            <a:ext cx="3092529" cy="973303"/>
          </a:xfrm>
          <a:prstGeom prst="rect">
            <a:avLst/>
          </a:prstGeom>
        </p:spPr>
        <p:txBody>
          <a:bodyPr lIns="0" tIns="0" rIns="0" bIns="0" rtlCol="0" anchor="t">
            <a:spAutoFit/>
          </a:bodyPr>
          <a:lstStyle/>
          <a:p>
            <a:pPr algn="l">
              <a:lnSpc>
                <a:spcPts val="6376"/>
              </a:lnSpc>
            </a:pPr>
            <a:r>
              <a:rPr lang="en-US" sz="5964" b="1">
                <a:solidFill>
                  <a:srgbClr val="FFFFFF"/>
                </a:solidFill>
                <a:latin typeface="Poppins Semi-Bold"/>
                <a:ea typeface="Poppins Semi-Bold"/>
                <a:cs typeface="Poppins Semi-Bold"/>
                <a:sym typeface="Poppins Semi-Bold"/>
              </a:rPr>
              <a:t>Classes</a:t>
            </a:r>
          </a:p>
        </p:txBody>
      </p:sp>
      <p:sp>
        <p:nvSpPr>
          <p:cNvPr id="8" name="TextBox 8"/>
          <p:cNvSpPr txBox="1"/>
          <p:nvPr/>
        </p:nvSpPr>
        <p:spPr>
          <a:xfrm>
            <a:off x="7868879" y="1314136"/>
            <a:ext cx="163220" cy="679704"/>
          </a:xfrm>
          <a:prstGeom prst="rect">
            <a:avLst/>
          </a:prstGeom>
        </p:spPr>
        <p:txBody>
          <a:bodyPr lIns="0" tIns="0" rIns="0" bIns="0" rtlCol="0" anchor="t">
            <a:spAutoFit/>
          </a:bodyPr>
          <a:lstStyle/>
          <a:p>
            <a:pPr algn="l">
              <a:lnSpc>
                <a:spcPts val="4489"/>
              </a:lnSpc>
            </a:pPr>
            <a:r>
              <a:rPr lang="en-US" sz="4200" b="1">
                <a:solidFill>
                  <a:srgbClr val="FFFFFF"/>
                </a:solidFill>
                <a:latin typeface="Poppins Semi-Bold"/>
                <a:ea typeface="Poppins Semi-Bold"/>
                <a:cs typeface="Poppins Semi-Bold"/>
                <a:sym typeface="Poppins Semi-Bold"/>
              </a:rPr>
              <a:t> </a:t>
            </a:r>
          </a:p>
        </p:txBody>
      </p:sp>
      <p:sp>
        <p:nvSpPr>
          <p:cNvPr id="9" name="TextBox 9"/>
          <p:cNvSpPr txBox="1"/>
          <p:nvPr/>
        </p:nvSpPr>
        <p:spPr>
          <a:xfrm>
            <a:off x="164983" y="7518797"/>
            <a:ext cx="17757991" cy="2013204"/>
          </a:xfrm>
          <a:prstGeom prst="rect">
            <a:avLst/>
          </a:prstGeom>
        </p:spPr>
        <p:txBody>
          <a:bodyPr lIns="0" tIns="0" rIns="0" bIns="0" rtlCol="0" anchor="t">
            <a:spAutoFit/>
          </a:bodyPr>
          <a:lstStyle/>
          <a:p>
            <a:pPr algn="l">
              <a:lnSpc>
                <a:spcPts val="5023"/>
              </a:lnSpc>
            </a:pPr>
            <a:r>
              <a:rPr lang="en-US" sz="4200" b="1">
                <a:solidFill>
                  <a:srgbClr val="3C67BF"/>
                </a:solidFill>
                <a:latin typeface="Poppins Semi-Bold"/>
                <a:ea typeface="Poppins Semi-Bold"/>
                <a:cs typeface="Poppins Semi-Bold"/>
                <a:sym typeface="Poppins Semi-Bold"/>
              </a:rPr>
              <a:t>public </a:t>
            </a:r>
            <a:r>
              <a:rPr lang="en-US" sz="4200" b="1">
                <a:solidFill>
                  <a:srgbClr val="FFFFFF"/>
                </a:solidFill>
                <a:latin typeface="Poppins Semi-Bold"/>
                <a:ea typeface="Poppins Semi-Bold"/>
                <a:cs typeface="Poppins Semi-Bold"/>
                <a:sym typeface="Poppins Semi-Bold"/>
              </a:rPr>
              <a:t>para definir como público a propriedade, </a:t>
            </a:r>
            <a:r>
              <a:rPr lang="en-US" sz="4200" b="1">
                <a:solidFill>
                  <a:srgbClr val="3C67BF"/>
                </a:solidFill>
                <a:latin typeface="Poppins Semi-Bold"/>
                <a:ea typeface="Poppins Semi-Bold"/>
                <a:cs typeface="Poppins Semi-Bold"/>
                <a:sym typeface="Poppins Semi-Bold"/>
              </a:rPr>
              <a:t>string </a:t>
            </a:r>
            <a:r>
              <a:rPr lang="en-US" sz="4200" b="1">
                <a:solidFill>
                  <a:srgbClr val="FFFFFF"/>
                </a:solidFill>
                <a:latin typeface="Poppins Semi-Bold"/>
                <a:ea typeface="Poppins Semi-Bold"/>
                <a:cs typeface="Poppins Semi-Bold"/>
                <a:sym typeface="Poppins Semi-Bold"/>
              </a:rPr>
              <a:t>para definir tipo da propriedade e um </a:t>
            </a:r>
            <a:r>
              <a:rPr lang="en-US" sz="4200" b="1">
                <a:solidFill>
                  <a:srgbClr val="FFDE59"/>
                </a:solidFill>
                <a:latin typeface="Poppins Semi-Bold"/>
                <a:ea typeface="Poppins Semi-Bold"/>
                <a:cs typeface="Poppins Semi-Bold"/>
                <a:sym typeface="Poppins Semi-Bold"/>
              </a:rPr>
              <a:t>Nome</a:t>
            </a:r>
            <a:r>
              <a:rPr lang="en-US" sz="4200" b="1">
                <a:solidFill>
                  <a:srgbClr val="FFFFFF"/>
                </a:solidFill>
                <a:latin typeface="Poppins Semi-Bold"/>
                <a:ea typeface="Poppins Semi-Bold"/>
                <a:cs typeface="Poppins Semi-Bold"/>
                <a:sym typeface="Poppins Semi-Bold"/>
              </a:rPr>
              <a:t> para definir o nome da mesma.</a:t>
            </a:r>
          </a:p>
        </p:txBody>
      </p:sp>
      <p:sp>
        <p:nvSpPr>
          <p:cNvPr id="10" name="TextBox 10"/>
          <p:cNvSpPr txBox="1"/>
          <p:nvPr/>
        </p:nvSpPr>
        <p:spPr>
          <a:xfrm>
            <a:off x="164983" y="1256986"/>
            <a:ext cx="18196350" cy="2651379"/>
          </a:xfrm>
          <a:prstGeom prst="rect">
            <a:avLst/>
          </a:prstGeom>
        </p:spPr>
        <p:txBody>
          <a:bodyPr lIns="0" tIns="0" rIns="0" bIns="0" rtlCol="0" anchor="t">
            <a:spAutoFit/>
          </a:bodyPr>
          <a:lstStyle/>
          <a:p>
            <a:pPr algn="l">
              <a:lnSpc>
                <a:spcPts val="5023"/>
              </a:lnSpc>
            </a:pPr>
            <a:r>
              <a:rPr lang="en-US" sz="4200" b="1">
                <a:solidFill>
                  <a:srgbClr val="FFFFFF"/>
                </a:solidFill>
                <a:latin typeface="Poppins Semi-Bold"/>
                <a:ea typeface="Poppins Semi-Bold"/>
                <a:cs typeface="Poppins Semi-Bold"/>
                <a:sym typeface="Poppins Semi-Bold"/>
              </a:rPr>
              <a:t>Vamos supor que eu queiraacessar o nome do carro, ele estará armazenado na variável "nome", mas ela é privada, então podemos defirnir uma propriedade de acesso a ela dessa maneira:</a:t>
            </a: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4239692" y="1906419"/>
            <a:ext cx="9810750" cy="3238500"/>
          </a:xfrm>
          <a:custGeom>
            <a:avLst/>
            <a:gdLst/>
            <a:ahLst/>
            <a:cxnLst/>
            <a:rect l="l" t="t" r="r" b="b"/>
            <a:pathLst>
              <a:path w="9810750" h="3238500">
                <a:moveTo>
                  <a:pt x="0" y="0"/>
                </a:moveTo>
                <a:lnTo>
                  <a:pt x="9810750" y="0"/>
                </a:lnTo>
                <a:lnTo>
                  <a:pt x="9810750" y="3238500"/>
                </a:lnTo>
                <a:lnTo>
                  <a:pt x="0" y="3238500"/>
                </a:lnTo>
                <a:lnTo>
                  <a:pt x="0" y="0"/>
                </a:lnTo>
                <a:close/>
              </a:path>
            </a:pathLst>
          </a:custGeom>
          <a:blipFill>
            <a:blip r:embed="rId2"/>
            <a:stretch>
              <a:fillRect/>
            </a:stretch>
          </a:blipFill>
        </p:spPr>
      </p:sp>
      <p:sp>
        <p:nvSpPr>
          <p:cNvPr id="3" name="Freeform 3"/>
          <p:cNvSpPr/>
          <p:nvPr/>
        </p:nvSpPr>
        <p:spPr>
          <a:xfrm>
            <a:off x="2400300" y="3454403"/>
            <a:ext cx="3644903" cy="2235203"/>
          </a:xfrm>
          <a:custGeom>
            <a:avLst/>
            <a:gdLst/>
            <a:ahLst/>
            <a:cxnLst/>
            <a:rect l="l" t="t" r="r" b="b"/>
            <a:pathLst>
              <a:path w="3644903" h="2235203">
                <a:moveTo>
                  <a:pt x="0" y="0"/>
                </a:moveTo>
                <a:lnTo>
                  <a:pt x="3644903" y="0"/>
                </a:lnTo>
                <a:lnTo>
                  <a:pt x="3644903" y="2235203"/>
                </a:lnTo>
                <a:lnTo>
                  <a:pt x="0" y="2235203"/>
                </a:lnTo>
                <a:lnTo>
                  <a:pt x="0" y="0"/>
                </a:lnTo>
                <a:close/>
              </a:path>
            </a:pathLst>
          </a:custGeom>
          <a:blipFill>
            <a:blip r:embed="rId3"/>
            <a:stretch>
              <a:fillRect/>
            </a:stretch>
          </a:blipFill>
        </p:spPr>
      </p:sp>
      <p:sp>
        <p:nvSpPr>
          <p:cNvPr id="4" name="Freeform 4"/>
          <p:cNvSpPr/>
          <p:nvPr/>
        </p:nvSpPr>
        <p:spPr>
          <a:xfrm>
            <a:off x="5705780" y="3305223"/>
            <a:ext cx="320345" cy="418862"/>
          </a:xfrm>
          <a:custGeom>
            <a:avLst/>
            <a:gdLst/>
            <a:ahLst/>
            <a:cxnLst/>
            <a:rect l="l" t="t" r="r" b="b"/>
            <a:pathLst>
              <a:path w="320345" h="418862">
                <a:moveTo>
                  <a:pt x="0" y="0"/>
                </a:moveTo>
                <a:lnTo>
                  <a:pt x="320345" y="0"/>
                </a:lnTo>
                <a:lnTo>
                  <a:pt x="320345" y="418861"/>
                </a:lnTo>
                <a:lnTo>
                  <a:pt x="0" y="41886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2395197" y="2540003"/>
            <a:ext cx="4597403" cy="5384797"/>
          </a:xfrm>
          <a:custGeom>
            <a:avLst/>
            <a:gdLst/>
            <a:ahLst/>
            <a:cxnLst/>
            <a:rect l="l" t="t" r="r" b="b"/>
            <a:pathLst>
              <a:path w="4597403" h="5384797">
                <a:moveTo>
                  <a:pt x="0" y="0"/>
                </a:moveTo>
                <a:lnTo>
                  <a:pt x="4597403" y="0"/>
                </a:lnTo>
                <a:lnTo>
                  <a:pt x="4597403" y="5384797"/>
                </a:lnTo>
                <a:lnTo>
                  <a:pt x="0" y="5384797"/>
                </a:lnTo>
                <a:lnTo>
                  <a:pt x="0" y="0"/>
                </a:lnTo>
                <a:close/>
              </a:path>
            </a:pathLst>
          </a:custGeom>
          <a:blipFill>
            <a:blip r:embed="rId6"/>
            <a:stretch>
              <a:fillRect/>
            </a:stretch>
          </a:blipFill>
        </p:spPr>
      </p:sp>
      <p:sp>
        <p:nvSpPr>
          <p:cNvPr id="6" name="Freeform 6"/>
          <p:cNvSpPr/>
          <p:nvPr/>
        </p:nvSpPr>
        <p:spPr>
          <a:xfrm>
            <a:off x="10786358" y="1799330"/>
            <a:ext cx="5747147" cy="6903434"/>
          </a:xfrm>
          <a:custGeom>
            <a:avLst/>
            <a:gdLst/>
            <a:ahLst/>
            <a:cxnLst/>
            <a:rect l="l" t="t" r="r" b="b"/>
            <a:pathLst>
              <a:path w="5747147" h="6903434">
                <a:moveTo>
                  <a:pt x="0" y="0"/>
                </a:moveTo>
                <a:lnTo>
                  <a:pt x="5747147" y="0"/>
                </a:lnTo>
                <a:lnTo>
                  <a:pt x="5747147" y="6903434"/>
                </a:lnTo>
                <a:lnTo>
                  <a:pt x="0" y="690343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7" name="TextBox 7"/>
          <p:cNvSpPr txBox="1"/>
          <p:nvPr/>
        </p:nvSpPr>
        <p:spPr>
          <a:xfrm>
            <a:off x="7628039" y="324326"/>
            <a:ext cx="309252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Classes</a:t>
            </a:r>
          </a:p>
        </p:txBody>
      </p:sp>
      <p:sp>
        <p:nvSpPr>
          <p:cNvPr id="8" name="TextBox 8"/>
          <p:cNvSpPr txBox="1"/>
          <p:nvPr/>
        </p:nvSpPr>
        <p:spPr>
          <a:xfrm>
            <a:off x="164983" y="5564857"/>
            <a:ext cx="15048376" cy="4565904"/>
          </a:xfrm>
          <a:prstGeom prst="rect">
            <a:avLst/>
          </a:prstGeom>
        </p:spPr>
        <p:txBody>
          <a:bodyPr lIns="0" tIns="0" rIns="0" bIns="0" rtlCol="0" anchor="t">
            <a:spAutoFit/>
          </a:bodyPr>
          <a:lstStyle/>
          <a:p>
            <a:pPr algn="l">
              <a:lnSpc>
                <a:spcPts val="5023"/>
              </a:lnSpc>
            </a:pPr>
            <a:r>
              <a:rPr lang="en-US" sz="4200" b="1">
                <a:solidFill>
                  <a:srgbClr val="FFFFFF"/>
                </a:solidFill>
                <a:latin typeface="Poppins Semi-Bold"/>
                <a:ea typeface="Poppins Semi-Bold"/>
                <a:cs typeface="Poppins Semi-Bold"/>
                <a:sym typeface="Poppins Semi-Bold"/>
              </a:rPr>
              <a:t>O comando </a:t>
            </a:r>
            <a:r>
              <a:rPr lang="en-US" sz="4200" b="1">
                <a:solidFill>
                  <a:srgbClr val="3C67BF"/>
                </a:solidFill>
                <a:latin typeface="Poppins Semi-Bold"/>
                <a:ea typeface="Poppins Semi-Bold"/>
                <a:cs typeface="Poppins Semi-Bold"/>
                <a:sym typeface="Poppins Semi-Bold"/>
              </a:rPr>
              <a:t>get </a:t>
            </a:r>
            <a:r>
              <a:rPr lang="en-US" sz="4200" b="1">
                <a:solidFill>
                  <a:srgbClr val="FFFFFF"/>
                </a:solidFill>
                <a:latin typeface="Poppins Semi-Bold"/>
                <a:ea typeface="Poppins Semi-Bold"/>
                <a:cs typeface="Poppins Semi-Bold"/>
                <a:sym typeface="Poppins Semi-Bold"/>
              </a:rPr>
              <a:t>é utilizado para retornar valores em propriedades, no caso o valor da variável nome. Nós definimos o nome da propriedade com o mesmo nome da variável, mas seguindo as regras de nomeação de métodos, colocando sempre a letra inicial em maiúscula.</a:t>
            </a: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2278704"/>
            <a:ext cx="4810125" cy="8008296"/>
          </a:xfrm>
          <a:custGeom>
            <a:avLst/>
            <a:gdLst/>
            <a:ahLst/>
            <a:cxnLst/>
            <a:rect l="l" t="t" r="r" b="b"/>
            <a:pathLst>
              <a:path w="4810125" h="8008296">
                <a:moveTo>
                  <a:pt x="0" y="0"/>
                </a:moveTo>
                <a:lnTo>
                  <a:pt x="4810125" y="0"/>
                </a:lnTo>
                <a:lnTo>
                  <a:pt x="4810125" y="8008296"/>
                </a:lnTo>
                <a:lnTo>
                  <a:pt x="0" y="8008296"/>
                </a:lnTo>
                <a:lnTo>
                  <a:pt x="0" y="0"/>
                </a:lnTo>
                <a:close/>
              </a:path>
            </a:pathLst>
          </a:custGeom>
          <a:blipFill>
            <a:blip r:embed="rId2"/>
            <a:stretch>
              <a:fillRect b="-27"/>
            </a:stretch>
          </a:blipFill>
        </p:spPr>
      </p:sp>
      <p:sp>
        <p:nvSpPr>
          <p:cNvPr id="3" name="Freeform 3"/>
          <p:cNvSpPr/>
          <p:nvPr/>
        </p:nvSpPr>
        <p:spPr>
          <a:xfrm>
            <a:off x="6236132" y="3659638"/>
            <a:ext cx="11296650" cy="2781300"/>
          </a:xfrm>
          <a:custGeom>
            <a:avLst/>
            <a:gdLst/>
            <a:ahLst/>
            <a:cxnLst/>
            <a:rect l="l" t="t" r="r" b="b"/>
            <a:pathLst>
              <a:path w="11296650" h="2781300">
                <a:moveTo>
                  <a:pt x="0" y="0"/>
                </a:moveTo>
                <a:lnTo>
                  <a:pt x="11296650" y="0"/>
                </a:lnTo>
                <a:lnTo>
                  <a:pt x="11296650" y="2781300"/>
                </a:lnTo>
                <a:lnTo>
                  <a:pt x="0" y="2781300"/>
                </a:lnTo>
                <a:lnTo>
                  <a:pt x="0" y="0"/>
                </a:lnTo>
                <a:close/>
              </a:path>
            </a:pathLst>
          </a:custGeom>
          <a:blipFill>
            <a:blip r:embed="rId3"/>
            <a:stretch>
              <a:fillRect/>
            </a:stretch>
          </a:blipFill>
        </p:spPr>
      </p:sp>
      <p:sp>
        <p:nvSpPr>
          <p:cNvPr id="4" name="Freeform 4"/>
          <p:cNvSpPr/>
          <p:nvPr/>
        </p:nvSpPr>
        <p:spPr>
          <a:xfrm>
            <a:off x="3848100" y="2908297"/>
            <a:ext cx="1650997" cy="6083303"/>
          </a:xfrm>
          <a:custGeom>
            <a:avLst/>
            <a:gdLst/>
            <a:ahLst/>
            <a:cxnLst/>
            <a:rect l="l" t="t" r="r" b="b"/>
            <a:pathLst>
              <a:path w="1650997" h="6083303">
                <a:moveTo>
                  <a:pt x="0" y="0"/>
                </a:moveTo>
                <a:lnTo>
                  <a:pt x="1650997" y="0"/>
                </a:lnTo>
                <a:lnTo>
                  <a:pt x="1650997" y="6083303"/>
                </a:lnTo>
                <a:lnTo>
                  <a:pt x="0" y="6083303"/>
                </a:lnTo>
                <a:lnTo>
                  <a:pt x="0" y="0"/>
                </a:lnTo>
                <a:close/>
              </a:path>
            </a:pathLst>
          </a:custGeom>
          <a:blipFill>
            <a:blip r:embed="rId4"/>
            <a:stretch>
              <a:fillRect/>
            </a:stretch>
          </a:blipFill>
        </p:spPr>
      </p:sp>
      <p:sp>
        <p:nvSpPr>
          <p:cNvPr id="5" name="Freeform 5"/>
          <p:cNvSpPr/>
          <p:nvPr/>
        </p:nvSpPr>
        <p:spPr>
          <a:xfrm>
            <a:off x="3827278" y="8611572"/>
            <a:ext cx="372866" cy="365560"/>
          </a:xfrm>
          <a:custGeom>
            <a:avLst/>
            <a:gdLst/>
            <a:ahLst/>
            <a:cxnLst/>
            <a:rect l="l" t="t" r="r" b="b"/>
            <a:pathLst>
              <a:path w="372866" h="365560">
                <a:moveTo>
                  <a:pt x="0" y="0"/>
                </a:moveTo>
                <a:lnTo>
                  <a:pt x="372866" y="0"/>
                </a:lnTo>
                <a:lnTo>
                  <a:pt x="372866" y="365560"/>
                </a:lnTo>
                <a:lnTo>
                  <a:pt x="0" y="36556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6" name="Freeform 6"/>
          <p:cNvSpPr/>
          <p:nvPr/>
        </p:nvSpPr>
        <p:spPr>
          <a:xfrm>
            <a:off x="11480797" y="5930903"/>
            <a:ext cx="2374897" cy="2235203"/>
          </a:xfrm>
          <a:custGeom>
            <a:avLst/>
            <a:gdLst/>
            <a:ahLst/>
            <a:cxnLst/>
            <a:rect l="l" t="t" r="r" b="b"/>
            <a:pathLst>
              <a:path w="2374897" h="2235203">
                <a:moveTo>
                  <a:pt x="0" y="0"/>
                </a:moveTo>
                <a:lnTo>
                  <a:pt x="2374897" y="0"/>
                </a:lnTo>
                <a:lnTo>
                  <a:pt x="2374897" y="2235203"/>
                </a:lnTo>
                <a:lnTo>
                  <a:pt x="0" y="2235203"/>
                </a:lnTo>
                <a:lnTo>
                  <a:pt x="0" y="0"/>
                </a:lnTo>
                <a:close/>
              </a:path>
            </a:pathLst>
          </a:custGeom>
          <a:blipFill>
            <a:blip r:embed="rId7"/>
            <a:stretch>
              <a:fillRect/>
            </a:stretch>
          </a:blipFill>
        </p:spPr>
      </p:sp>
      <p:grpSp>
        <p:nvGrpSpPr>
          <p:cNvPr id="7" name="Group 7"/>
          <p:cNvGrpSpPr>
            <a:grpSpLocks noChangeAspect="1"/>
          </p:cNvGrpSpPr>
          <p:nvPr/>
        </p:nvGrpSpPr>
        <p:grpSpPr>
          <a:xfrm>
            <a:off x="3821240" y="2714682"/>
            <a:ext cx="1825104" cy="6398657"/>
            <a:chOff x="0" y="0"/>
            <a:chExt cx="1825104" cy="6398666"/>
          </a:xfrm>
        </p:grpSpPr>
        <p:sp>
          <p:nvSpPr>
            <p:cNvPr id="8" name="Freeform 8"/>
            <p:cNvSpPr/>
            <p:nvPr/>
          </p:nvSpPr>
          <p:spPr>
            <a:xfrm>
              <a:off x="0" y="0"/>
              <a:ext cx="1825117" cy="6398641"/>
            </a:xfrm>
            <a:custGeom>
              <a:avLst/>
              <a:gdLst/>
              <a:ahLst/>
              <a:cxnLst/>
              <a:rect l="l" t="t" r="r" b="b"/>
              <a:pathLst>
                <a:path w="1825117" h="6398641">
                  <a:moveTo>
                    <a:pt x="0" y="6398641"/>
                  </a:moveTo>
                  <a:lnTo>
                    <a:pt x="1825117" y="6398641"/>
                  </a:lnTo>
                  <a:lnTo>
                    <a:pt x="1825117" y="0"/>
                  </a:lnTo>
                  <a:lnTo>
                    <a:pt x="0" y="0"/>
                  </a:lnTo>
                  <a:close/>
                </a:path>
              </a:pathLst>
            </a:custGeom>
            <a:solidFill>
              <a:srgbClr val="000000">
                <a:alpha val="0"/>
              </a:srgbClr>
            </a:solidFill>
          </p:spPr>
        </p:sp>
      </p:grpSp>
      <p:sp>
        <p:nvSpPr>
          <p:cNvPr id="9" name="Freeform 9"/>
          <p:cNvSpPr/>
          <p:nvPr/>
        </p:nvSpPr>
        <p:spPr>
          <a:xfrm>
            <a:off x="11340779" y="5768854"/>
            <a:ext cx="2664057" cy="2527078"/>
          </a:xfrm>
          <a:custGeom>
            <a:avLst/>
            <a:gdLst/>
            <a:ahLst/>
            <a:cxnLst/>
            <a:rect l="l" t="t" r="r" b="b"/>
            <a:pathLst>
              <a:path w="2664057" h="2527078">
                <a:moveTo>
                  <a:pt x="0" y="0"/>
                </a:moveTo>
                <a:lnTo>
                  <a:pt x="2664057" y="0"/>
                </a:lnTo>
                <a:lnTo>
                  <a:pt x="2664057" y="2527078"/>
                </a:lnTo>
                <a:lnTo>
                  <a:pt x="0" y="252707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10" name="TextBox 10"/>
          <p:cNvSpPr txBox="1"/>
          <p:nvPr/>
        </p:nvSpPr>
        <p:spPr>
          <a:xfrm>
            <a:off x="5208346" y="1935213"/>
            <a:ext cx="6631791" cy="984885"/>
          </a:xfrm>
          <a:prstGeom prst="rect">
            <a:avLst/>
          </a:prstGeom>
        </p:spPr>
        <p:txBody>
          <a:bodyPr lIns="0" tIns="0" rIns="0" bIns="0" rtlCol="0" anchor="t">
            <a:spAutoFit/>
          </a:bodyPr>
          <a:lstStyle/>
          <a:p>
            <a:pPr algn="ctr">
              <a:lnSpc>
                <a:spcPts val="3600"/>
              </a:lnSpc>
            </a:pPr>
            <a:r>
              <a:rPr lang="en-US" sz="3000" b="1">
                <a:solidFill>
                  <a:srgbClr val="FFFFFF"/>
                </a:solidFill>
                <a:latin typeface="Poppins Semi-Bold"/>
                <a:ea typeface="Poppins Semi-Bold"/>
                <a:cs typeface="Poppins Semi-Bold"/>
                <a:sym typeface="Poppins Semi-Bold"/>
              </a:rPr>
              <a:t>Então nossa classe Carro ficou assim com a propriedade Nome.</a:t>
            </a:r>
          </a:p>
        </p:txBody>
      </p:sp>
      <p:sp>
        <p:nvSpPr>
          <p:cNvPr id="11" name="TextBox 11"/>
          <p:cNvSpPr txBox="1"/>
          <p:nvPr/>
        </p:nvSpPr>
        <p:spPr>
          <a:xfrm>
            <a:off x="10512723" y="8049006"/>
            <a:ext cx="6770922" cy="1442085"/>
          </a:xfrm>
          <a:prstGeom prst="rect">
            <a:avLst/>
          </a:prstGeom>
        </p:spPr>
        <p:txBody>
          <a:bodyPr lIns="0" tIns="0" rIns="0" bIns="0" rtlCol="0" anchor="t">
            <a:spAutoFit/>
          </a:bodyPr>
          <a:lstStyle/>
          <a:p>
            <a:pPr algn="ctr">
              <a:lnSpc>
                <a:spcPts val="3600"/>
              </a:lnSpc>
            </a:pPr>
            <a:r>
              <a:rPr lang="en-US" sz="3000" b="1">
                <a:solidFill>
                  <a:srgbClr val="FFFFFF"/>
                </a:solidFill>
                <a:latin typeface="Poppins Semi-Bold"/>
                <a:ea typeface="Poppins Semi-Bold"/>
                <a:cs typeface="Poppins Semi-Bold"/>
                <a:sym typeface="Poppins Semi-Bold"/>
              </a:rPr>
              <a:t>Podemos usar a propriedade que retorna um valor dessa maneira igual a variáveis e métodos.</a:t>
            </a:r>
          </a:p>
        </p:txBody>
      </p:sp>
      <p:sp>
        <p:nvSpPr>
          <p:cNvPr id="12" name="TextBox 12"/>
          <p:cNvSpPr txBox="1"/>
          <p:nvPr/>
        </p:nvSpPr>
        <p:spPr>
          <a:xfrm>
            <a:off x="7628039" y="324326"/>
            <a:ext cx="309252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Classes</a:t>
            </a: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7628039" y="324326"/>
            <a:ext cx="309252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Classes</a:t>
            </a:r>
          </a:p>
        </p:txBody>
      </p:sp>
      <p:sp>
        <p:nvSpPr>
          <p:cNvPr id="3" name="TextBox 3"/>
          <p:cNvSpPr txBox="1"/>
          <p:nvPr/>
        </p:nvSpPr>
        <p:spPr>
          <a:xfrm>
            <a:off x="954215" y="3267894"/>
            <a:ext cx="16706860" cy="4481960"/>
          </a:xfrm>
          <a:prstGeom prst="rect">
            <a:avLst/>
          </a:prstGeom>
        </p:spPr>
        <p:txBody>
          <a:bodyPr lIns="0" tIns="0" rIns="0" bIns="0" rtlCol="0" anchor="t">
            <a:spAutoFit/>
          </a:bodyPr>
          <a:lstStyle/>
          <a:p>
            <a:pPr algn="ctr">
              <a:lnSpc>
                <a:spcPts val="6827"/>
              </a:lnSpc>
            </a:pPr>
            <a:r>
              <a:rPr lang="en-US" sz="5699" b="1">
                <a:solidFill>
                  <a:srgbClr val="FFFFFF"/>
                </a:solidFill>
                <a:latin typeface="Poppins Semi-Bold"/>
                <a:ea typeface="Poppins Semi-Bold"/>
                <a:cs typeface="Poppins Semi-Bold"/>
                <a:sym typeface="Poppins Semi-Bold"/>
              </a:rPr>
              <a:t>Estou acessando os dados, como faço para manipula-los? Utilizaremos o comando </a:t>
            </a:r>
            <a:r>
              <a:rPr lang="en-US" sz="5699" b="1">
                <a:solidFill>
                  <a:srgbClr val="3C67BF"/>
                </a:solidFill>
                <a:latin typeface="Poppins Semi-Bold"/>
                <a:ea typeface="Poppins Semi-Bold"/>
                <a:cs typeface="Poppins Semi-Bold"/>
                <a:sym typeface="Poppins Semi-Bold"/>
              </a:rPr>
              <a:t>set </a:t>
            </a:r>
            <a:r>
              <a:rPr lang="en-US" sz="5699" b="1">
                <a:solidFill>
                  <a:srgbClr val="FFFFFF"/>
                </a:solidFill>
                <a:latin typeface="Poppins Semi-Bold"/>
                <a:ea typeface="Poppins Semi-Bold"/>
                <a:cs typeface="Poppins Semi-Bold"/>
                <a:sym typeface="Poppins Semi-Bold"/>
              </a:rPr>
              <a:t>dentro da propriedade.</a:t>
            </a: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3893401" y="2004727"/>
            <a:ext cx="10315575" cy="3943350"/>
          </a:xfrm>
          <a:custGeom>
            <a:avLst/>
            <a:gdLst/>
            <a:ahLst/>
            <a:cxnLst/>
            <a:rect l="l" t="t" r="r" b="b"/>
            <a:pathLst>
              <a:path w="10315575" h="3943350">
                <a:moveTo>
                  <a:pt x="0" y="0"/>
                </a:moveTo>
                <a:lnTo>
                  <a:pt x="10315575" y="0"/>
                </a:lnTo>
                <a:lnTo>
                  <a:pt x="10315575" y="3943350"/>
                </a:lnTo>
                <a:lnTo>
                  <a:pt x="0" y="3943350"/>
                </a:lnTo>
                <a:lnTo>
                  <a:pt x="0" y="0"/>
                </a:lnTo>
                <a:close/>
              </a:path>
            </a:pathLst>
          </a:custGeom>
          <a:blipFill>
            <a:blip r:embed="rId2"/>
            <a:stretch>
              <a:fillRect/>
            </a:stretch>
          </a:blipFill>
        </p:spPr>
      </p:sp>
      <p:sp>
        <p:nvSpPr>
          <p:cNvPr id="3" name="Freeform 3"/>
          <p:cNvSpPr/>
          <p:nvPr/>
        </p:nvSpPr>
        <p:spPr>
          <a:xfrm>
            <a:off x="3886200" y="4775197"/>
            <a:ext cx="2463803" cy="2082803"/>
          </a:xfrm>
          <a:custGeom>
            <a:avLst/>
            <a:gdLst/>
            <a:ahLst/>
            <a:cxnLst/>
            <a:rect l="l" t="t" r="r" b="b"/>
            <a:pathLst>
              <a:path w="2463803" h="2082803">
                <a:moveTo>
                  <a:pt x="0" y="0"/>
                </a:moveTo>
                <a:lnTo>
                  <a:pt x="2463803" y="0"/>
                </a:lnTo>
                <a:lnTo>
                  <a:pt x="2463803" y="2082803"/>
                </a:lnTo>
                <a:lnTo>
                  <a:pt x="0" y="2082803"/>
                </a:lnTo>
                <a:lnTo>
                  <a:pt x="0" y="0"/>
                </a:lnTo>
                <a:close/>
              </a:path>
            </a:pathLst>
          </a:custGeom>
          <a:blipFill>
            <a:blip r:embed="rId3"/>
            <a:stretch>
              <a:fillRect/>
            </a:stretch>
          </a:blipFill>
        </p:spPr>
      </p:sp>
      <p:sp>
        <p:nvSpPr>
          <p:cNvPr id="4" name="Freeform 4"/>
          <p:cNvSpPr/>
          <p:nvPr/>
        </p:nvSpPr>
        <p:spPr>
          <a:xfrm>
            <a:off x="6011504" y="4768929"/>
            <a:ext cx="398955" cy="356283"/>
          </a:xfrm>
          <a:custGeom>
            <a:avLst/>
            <a:gdLst/>
            <a:ahLst/>
            <a:cxnLst/>
            <a:rect l="l" t="t" r="r" b="b"/>
            <a:pathLst>
              <a:path w="398955" h="356283">
                <a:moveTo>
                  <a:pt x="0" y="0"/>
                </a:moveTo>
                <a:lnTo>
                  <a:pt x="398954" y="0"/>
                </a:lnTo>
                <a:lnTo>
                  <a:pt x="398954" y="356283"/>
                </a:lnTo>
                <a:lnTo>
                  <a:pt x="0" y="35628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12636503" y="4737097"/>
            <a:ext cx="4229100" cy="2997203"/>
          </a:xfrm>
          <a:custGeom>
            <a:avLst/>
            <a:gdLst/>
            <a:ahLst/>
            <a:cxnLst/>
            <a:rect l="l" t="t" r="r" b="b"/>
            <a:pathLst>
              <a:path w="4229100" h="2997203">
                <a:moveTo>
                  <a:pt x="0" y="0"/>
                </a:moveTo>
                <a:lnTo>
                  <a:pt x="4229100" y="0"/>
                </a:lnTo>
                <a:lnTo>
                  <a:pt x="4229100" y="2997203"/>
                </a:lnTo>
                <a:lnTo>
                  <a:pt x="0" y="2997203"/>
                </a:lnTo>
                <a:lnTo>
                  <a:pt x="0" y="0"/>
                </a:lnTo>
                <a:close/>
              </a:path>
            </a:pathLst>
          </a:custGeom>
          <a:blipFill>
            <a:blip r:embed="rId6"/>
            <a:stretch>
              <a:fillRect/>
            </a:stretch>
          </a:blipFill>
        </p:spPr>
      </p:sp>
      <p:grpSp>
        <p:nvGrpSpPr>
          <p:cNvPr id="6" name="Group 6"/>
          <p:cNvGrpSpPr>
            <a:grpSpLocks noChangeAspect="1"/>
          </p:cNvGrpSpPr>
          <p:nvPr/>
        </p:nvGrpSpPr>
        <p:grpSpPr>
          <a:xfrm>
            <a:off x="1872825" y="2598249"/>
            <a:ext cx="4200449" cy="3132220"/>
            <a:chOff x="0" y="0"/>
            <a:chExt cx="4200449" cy="3132226"/>
          </a:xfrm>
        </p:grpSpPr>
        <p:sp>
          <p:nvSpPr>
            <p:cNvPr id="7" name="Freeform 7"/>
            <p:cNvSpPr/>
            <p:nvPr/>
          </p:nvSpPr>
          <p:spPr>
            <a:xfrm>
              <a:off x="0" y="0"/>
              <a:ext cx="4200398" cy="3132201"/>
            </a:xfrm>
            <a:custGeom>
              <a:avLst/>
              <a:gdLst/>
              <a:ahLst/>
              <a:cxnLst/>
              <a:rect l="l" t="t" r="r" b="b"/>
              <a:pathLst>
                <a:path w="4200398" h="3132201">
                  <a:moveTo>
                    <a:pt x="0" y="3132201"/>
                  </a:moveTo>
                  <a:lnTo>
                    <a:pt x="4200398" y="3132201"/>
                  </a:lnTo>
                  <a:lnTo>
                    <a:pt x="4200398" y="0"/>
                  </a:lnTo>
                  <a:lnTo>
                    <a:pt x="0" y="0"/>
                  </a:lnTo>
                  <a:close/>
                </a:path>
              </a:pathLst>
            </a:custGeom>
            <a:solidFill>
              <a:srgbClr val="000000">
                <a:alpha val="0"/>
              </a:srgbClr>
            </a:solidFill>
          </p:spPr>
        </p:sp>
      </p:grpSp>
      <p:sp>
        <p:nvSpPr>
          <p:cNvPr id="8" name="Freeform 8"/>
          <p:cNvSpPr/>
          <p:nvPr/>
        </p:nvSpPr>
        <p:spPr>
          <a:xfrm>
            <a:off x="12294937" y="1030891"/>
            <a:ext cx="5788295" cy="6990036"/>
          </a:xfrm>
          <a:custGeom>
            <a:avLst/>
            <a:gdLst/>
            <a:ahLst/>
            <a:cxnLst/>
            <a:rect l="l" t="t" r="r" b="b"/>
            <a:pathLst>
              <a:path w="5788295" h="6990036">
                <a:moveTo>
                  <a:pt x="0" y="0"/>
                </a:moveTo>
                <a:lnTo>
                  <a:pt x="5788295" y="0"/>
                </a:lnTo>
                <a:lnTo>
                  <a:pt x="5788295" y="6990035"/>
                </a:lnTo>
                <a:lnTo>
                  <a:pt x="0" y="699003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nvSpPr>
        <p:spPr>
          <a:xfrm>
            <a:off x="7628039" y="324326"/>
            <a:ext cx="309252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Classes</a:t>
            </a:r>
          </a:p>
        </p:txBody>
      </p:sp>
      <p:sp>
        <p:nvSpPr>
          <p:cNvPr id="10" name="TextBox 10"/>
          <p:cNvSpPr txBox="1"/>
          <p:nvPr/>
        </p:nvSpPr>
        <p:spPr>
          <a:xfrm>
            <a:off x="164983" y="6691655"/>
            <a:ext cx="15941973" cy="3049143"/>
          </a:xfrm>
          <a:prstGeom prst="rect">
            <a:avLst/>
          </a:prstGeom>
        </p:spPr>
        <p:txBody>
          <a:bodyPr lIns="0" tIns="0" rIns="0" bIns="0" rtlCol="0" anchor="t">
            <a:spAutoFit/>
          </a:bodyPr>
          <a:lstStyle/>
          <a:p>
            <a:pPr algn="just">
              <a:lnSpc>
                <a:spcPts val="4648"/>
              </a:lnSpc>
            </a:pPr>
            <a:r>
              <a:rPr lang="en-US" sz="3900" b="1">
                <a:solidFill>
                  <a:srgbClr val="FFFFFF"/>
                </a:solidFill>
                <a:latin typeface="Poppins Semi-Bold"/>
                <a:ea typeface="Poppins Semi-Bold"/>
                <a:cs typeface="Poppins Semi-Bold"/>
                <a:sym typeface="Poppins Semi-Bold"/>
              </a:rPr>
              <a:t>O comando </a:t>
            </a:r>
            <a:r>
              <a:rPr lang="en-US" sz="3900" b="1">
                <a:solidFill>
                  <a:srgbClr val="3C67BF"/>
                </a:solidFill>
                <a:latin typeface="Poppins Semi-Bold"/>
                <a:ea typeface="Poppins Semi-Bold"/>
                <a:cs typeface="Poppins Semi-Bold"/>
                <a:sym typeface="Poppins Semi-Bold"/>
              </a:rPr>
              <a:t>set</a:t>
            </a:r>
            <a:r>
              <a:rPr lang="en-US" sz="3900" b="1">
                <a:solidFill>
                  <a:srgbClr val="FFFFFF"/>
                </a:solidFill>
                <a:latin typeface="Poppins Semi-Bold"/>
                <a:ea typeface="Poppins Semi-Bold"/>
                <a:cs typeface="Poppins Semi-Bold"/>
                <a:sym typeface="Poppins Semi-Bold"/>
              </a:rPr>
              <a:t> serve para inserir valores dentro da variável, no caso esse valor será inserido através do comando </a:t>
            </a:r>
            <a:r>
              <a:rPr lang="en-US" sz="3900" b="1">
                <a:solidFill>
                  <a:srgbClr val="3C67BF"/>
                </a:solidFill>
                <a:latin typeface="Poppins Semi-Bold"/>
                <a:ea typeface="Poppins Semi-Bold"/>
                <a:cs typeface="Poppins Semi-Bold"/>
                <a:sym typeface="Poppins Semi-Bold"/>
              </a:rPr>
              <a:t>value</a:t>
            </a:r>
            <a:r>
              <a:rPr lang="en-US" sz="3900" b="1">
                <a:solidFill>
                  <a:srgbClr val="FFFFFF"/>
                </a:solidFill>
                <a:latin typeface="Poppins Semi-Bold"/>
                <a:ea typeface="Poppins Semi-Bold"/>
                <a:cs typeface="Poppins Semi-Bold"/>
                <a:sym typeface="Poppins Semi-Bold"/>
              </a:rPr>
              <a:t>. O camando </a:t>
            </a:r>
            <a:r>
              <a:rPr lang="en-US" sz="3900" b="1">
                <a:solidFill>
                  <a:srgbClr val="3C67BF"/>
                </a:solidFill>
                <a:latin typeface="Poppins Semi-Bold"/>
                <a:ea typeface="Poppins Semi-Bold"/>
                <a:cs typeface="Poppins Semi-Bold"/>
                <a:sym typeface="Poppins Semi-Bold"/>
              </a:rPr>
              <a:t>value</a:t>
            </a:r>
            <a:r>
              <a:rPr lang="en-US" sz="3900" b="1">
                <a:solidFill>
                  <a:srgbClr val="FFFFFF"/>
                </a:solidFill>
                <a:latin typeface="Poppins Semi-Bold"/>
                <a:ea typeface="Poppins Semi-Bold"/>
                <a:cs typeface="Poppins Semi-Bold"/>
                <a:sym typeface="Poppins Semi-Bold"/>
              </a:rPr>
              <a:t> terá o dado que você irá disponibilizar para ele quando for utilizar a propriedade Nome.</a:t>
            </a: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212446" y="2161299"/>
            <a:ext cx="16430625" cy="4067175"/>
          </a:xfrm>
          <a:custGeom>
            <a:avLst/>
            <a:gdLst/>
            <a:ahLst/>
            <a:cxnLst/>
            <a:rect l="l" t="t" r="r" b="b"/>
            <a:pathLst>
              <a:path w="16430625" h="4067175">
                <a:moveTo>
                  <a:pt x="0" y="0"/>
                </a:moveTo>
                <a:lnTo>
                  <a:pt x="16430625" y="0"/>
                </a:lnTo>
                <a:lnTo>
                  <a:pt x="16430625" y="4067175"/>
                </a:lnTo>
                <a:lnTo>
                  <a:pt x="0" y="4067175"/>
                </a:lnTo>
                <a:lnTo>
                  <a:pt x="0" y="0"/>
                </a:lnTo>
                <a:close/>
              </a:path>
            </a:pathLst>
          </a:custGeom>
          <a:blipFill>
            <a:blip r:embed="rId2"/>
            <a:stretch>
              <a:fillRect/>
            </a:stretch>
          </a:blipFill>
        </p:spPr>
      </p:sp>
      <p:sp>
        <p:nvSpPr>
          <p:cNvPr id="3" name="Freeform 3"/>
          <p:cNvSpPr/>
          <p:nvPr/>
        </p:nvSpPr>
        <p:spPr>
          <a:xfrm>
            <a:off x="4927597" y="5435603"/>
            <a:ext cx="1511303" cy="2400300"/>
          </a:xfrm>
          <a:custGeom>
            <a:avLst/>
            <a:gdLst/>
            <a:ahLst/>
            <a:cxnLst/>
            <a:rect l="l" t="t" r="r" b="b"/>
            <a:pathLst>
              <a:path w="1511303" h="2400300">
                <a:moveTo>
                  <a:pt x="0" y="0"/>
                </a:moveTo>
                <a:lnTo>
                  <a:pt x="1511303" y="0"/>
                </a:lnTo>
                <a:lnTo>
                  <a:pt x="1511303" y="2400300"/>
                </a:lnTo>
                <a:lnTo>
                  <a:pt x="0" y="2400300"/>
                </a:lnTo>
                <a:lnTo>
                  <a:pt x="0" y="0"/>
                </a:lnTo>
                <a:close/>
              </a:path>
            </a:pathLst>
          </a:custGeom>
          <a:blipFill>
            <a:blip r:embed="rId3"/>
            <a:stretch>
              <a:fillRect/>
            </a:stretch>
          </a:blipFill>
        </p:spPr>
      </p:sp>
      <p:sp>
        <p:nvSpPr>
          <p:cNvPr id="4" name="Freeform 4"/>
          <p:cNvSpPr/>
          <p:nvPr/>
        </p:nvSpPr>
        <p:spPr>
          <a:xfrm>
            <a:off x="4839243" y="5350564"/>
            <a:ext cx="1662827" cy="2549862"/>
          </a:xfrm>
          <a:custGeom>
            <a:avLst/>
            <a:gdLst/>
            <a:ahLst/>
            <a:cxnLst/>
            <a:rect l="l" t="t" r="r" b="b"/>
            <a:pathLst>
              <a:path w="1662827" h="2549862">
                <a:moveTo>
                  <a:pt x="0" y="0"/>
                </a:moveTo>
                <a:lnTo>
                  <a:pt x="1662827" y="0"/>
                </a:lnTo>
                <a:lnTo>
                  <a:pt x="1662827" y="2549862"/>
                </a:lnTo>
                <a:lnTo>
                  <a:pt x="0" y="254986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3181179" y="7743406"/>
            <a:ext cx="6553686" cy="1899285"/>
          </a:xfrm>
          <a:prstGeom prst="rect">
            <a:avLst/>
          </a:prstGeom>
        </p:spPr>
        <p:txBody>
          <a:bodyPr lIns="0" tIns="0" rIns="0" bIns="0" rtlCol="0" anchor="t">
            <a:spAutoFit/>
          </a:bodyPr>
          <a:lstStyle/>
          <a:p>
            <a:pPr algn="ctr">
              <a:lnSpc>
                <a:spcPts val="3600"/>
              </a:lnSpc>
            </a:pPr>
            <a:r>
              <a:rPr lang="en-US" sz="3000" b="1">
                <a:solidFill>
                  <a:srgbClr val="FFFFFF"/>
                </a:solidFill>
                <a:latin typeface="Poppins Semi-Bold"/>
                <a:ea typeface="Poppins Semi-Bold"/>
                <a:cs typeface="Poppins Semi-Bold"/>
                <a:sym typeface="Poppins Semi-Bold"/>
              </a:rPr>
              <a:t>Podemos alterar o valor da variável dessa maneira, quando colocamos o comando </a:t>
            </a:r>
            <a:r>
              <a:rPr lang="en-US" sz="3000" b="1">
                <a:solidFill>
                  <a:srgbClr val="3C67BF"/>
                </a:solidFill>
                <a:latin typeface="Poppins Semi-Bold"/>
                <a:ea typeface="Poppins Semi-Bold"/>
                <a:cs typeface="Poppins Semi-Bold"/>
                <a:sym typeface="Poppins Semi-Bold"/>
              </a:rPr>
              <a:t>set </a:t>
            </a:r>
            <a:r>
              <a:rPr lang="en-US" sz="3000" b="1">
                <a:solidFill>
                  <a:srgbClr val="FFFFFF"/>
                </a:solidFill>
                <a:latin typeface="Poppins Semi-Bold"/>
                <a:ea typeface="Poppins Semi-Bold"/>
                <a:cs typeface="Poppins Semi-Bold"/>
                <a:sym typeface="Poppins Semi-Bold"/>
              </a:rPr>
              <a:t>na propriedade Nome.</a:t>
            </a:r>
          </a:p>
        </p:txBody>
      </p:sp>
      <p:sp>
        <p:nvSpPr>
          <p:cNvPr id="6" name="TextBox 6"/>
          <p:cNvSpPr txBox="1"/>
          <p:nvPr/>
        </p:nvSpPr>
        <p:spPr>
          <a:xfrm>
            <a:off x="10807246" y="7972006"/>
            <a:ext cx="6543970" cy="1442085"/>
          </a:xfrm>
          <a:prstGeom prst="rect">
            <a:avLst/>
          </a:prstGeom>
        </p:spPr>
        <p:txBody>
          <a:bodyPr lIns="0" tIns="0" rIns="0" bIns="0" rtlCol="0" anchor="t">
            <a:spAutoFit/>
          </a:bodyPr>
          <a:lstStyle/>
          <a:p>
            <a:pPr algn="ctr">
              <a:lnSpc>
                <a:spcPts val="3600"/>
              </a:lnSpc>
            </a:pPr>
            <a:r>
              <a:rPr lang="en-US" sz="3000" b="1">
                <a:solidFill>
                  <a:srgbClr val="FFFFFF"/>
                </a:solidFill>
                <a:latin typeface="Poppins Semi-Bold"/>
                <a:ea typeface="Poppins Semi-Bold"/>
                <a:cs typeface="Poppins Semi-Bold"/>
                <a:sym typeface="Poppins Semi-Bold"/>
              </a:rPr>
              <a:t>Com isso conseguimos mudar o valor que antes era "Civic" para "City" no nome do Carro</a:t>
            </a:r>
          </a:p>
        </p:txBody>
      </p:sp>
      <p:sp>
        <p:nvSpPr>
          <p:cNvPr id="7" name="TextBox 7"/>
          <p:cNvSpPr txBox="1"/>
          <p:nvPr/>
        </p:nvSpPr>
        <p:spPr>
          <a:xfrm>
            <a:off x="7628039" y="324326"/>
            <a:ext cx="309252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Classes</a:t>
            </a: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400431" y="1122874"/>
            <a:ext cx="17589865" cy="7945041"/>
          </a:xfrm>
          <a:prstGeom prst="rect">
            <a:avLst/>
          </a:prstGeom>
        </p:spPr>
        <p:txBody>
          <a:bodyPr lIns="0" tIns="0" rIns="0" bIns="0" rtlCol="0" anchor="t">
            <a:spAutoFit/>
          </a:bodyPr>
          <a:lstStyle/>
          <a:p>
            <a:pPr algn="l">
              <a:lnSpc>
                <a:spcPts val="4125"/>
              </a:lnSpc>
            </a:pPr>
            <a:r>
              <a:rPr lang="en-US" sz="3499" b="1">
                <a:solidFill>
                  <a:srgbClr val="FF5757"/>
                </a:solidFill>
                <a:latin typeface="Poppins Semi-Bold"/>
                <a:ea typeface="Poppins Semi-Bold"/>
                <a:cs typeface="Poppins Semi-Bold"/>
                <a:sym typeface="Poppins Semi-Bold"/>
              </a:rPr>
              <a:t>Atividade #48 </a:t>
            </a:r>
            <a:r>
              <a:rPr lang="en-US" sz="3499" b="1">
                <a:solidFill>
                  <a:srgbClr val="FFFFFF"/>
                </a:solidFill>
                <a:latin typeface="Poppins Semi-Bold"/>
                <a:ea typeface="Poppins Semi-Bold"/>
                <a:cs typeface="Poppins Semi-Bold"/>
                <a:sym typeface="Poppins Semi-Bold"/>
              </a:rPr>
              <a:t>Faça um programa que leia os dados de nome, peso em kg, altura em metros de uma pessoa. Crie uma classe chamada IMC que tenha esses atributos, assim como um método para calcular o IMC e outro para exibir o resultado. O programa pode exibir os seguintes resultados: Menor que 18,5: Magreza 0 Entre 18,5 e 24,9: Normal 0 Entre 25,0 e 29,9: Sobrepeso I Entre 30,0 e 39,9: Obesidade II Maior que 40,0: Obesidade Grave III</a:t>
            </a: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8038948" y="267176"/>
            <a:ext cx="2254329" cy="1220953"/>
          </a:xfrm>
          <a:prstGeom prst="rect">
            <a:avLst/>
          </a:prstGeom>
        </p:spPr>
        <p:txBody>
          <a:bodyPr lIns="0" tIns="0" rIns="0" bIns="0" rtlCol="0" anchor="t">
            <a:spAutoFit/>
          </a:bodyPr>
          <a:lstStyle/>
          <a:p>
            <a:pPr algn="l">
              <a:lnSpc>
                <a:spcPts val="8982"/>
              </a:lnSpc>
            </a:pPr>
            <a:r>
              <a:rPr lang="en-US" sz="5964" b="1">
                <a:solidFill>
                  <a:srgbClr val="FFFFFF"/>
                </a:solidFill>
                <a:latin typeface="Poppins Semi-Bold"/>
                <a:ea typeface="Poppins Semi-Bold"/>
                <a:cs typeface="Poppins Semi-Bold"/>
                <a:sym typeface="Poppins Semi-Bold"/>
              </a:rPr>
              <a:t>Listas</a:t>
            </a:r>
          </a:p>
        </p:txBody>
      </p:sp>
      <p:sp>
        <p:nvSpPr>
          <p:cNvPr id="3" name="TextBox 3"/>
          <p:cNvSpPr txBox="1"/>
          <p:nvPr/>
        </p:nvSpPr>
        <p:spPr>
          <a:xfrm>
            <a:off x="9408805" y="1347378"/>
            <a:ext cx="163220" cy="1070229"/>
          </a:xfrm>
          <a:prstGeom prst="rect">
            <a:avLst/>
          </a:prstGeom>
        </p:spPr>
        <p:txBody>
          <a:bodyPr lIns="0" tIns="0" rIns="0" bIns="0" rtlCol="0" anchor="t">
            <a:spAutoFit/>
          </a:bodyPr>
          <a:lstStyle/>
          <a:p>
            <a:pPr algn="l">
              <a:lnSpc>
                <a:spcPts val="8513"/>
              </a:lnSpc>
            </a:pPr>
            <a:r>
              <a:rPr lang="en-US" sz="4200" b="1">
                <a:solidFill>
                  <a:srgbClr val="FFFFFF"/>
                </a:solidFill>
                <a:latin typeface="Poppins Semi-Bold"/>
                <a:ea typeface="Poppins Semi-Bold"/>
                <a:cs typeface="Poppins Semi-Bold"/>
                <a:sym typeface="Poppins Semi-Bold"/>
              </a:rPr>
              <a:t> </a:t>
            </a:r>
          </a:p>
        </p:txBody>
      </p:sp>
      <p:sp>
        <p:nvSpPr>
          <p:cNvPr id="4" name="TextBox 4"/>
          <p:cNvSpPr txBox="1"/>
          <p:nvPr/>
        </p:nvSpPr>
        <p:spPr>
          <a:xfrm>
            <a:off x="164983" y="1680753"/>
            <a:ext cx="18161537" cy="736854"/>
          </a:xfrm>
          <a:prstGeom prst="rect">
            <a:avLst/>
          </a:prstGeom>
        </p:spPr>
        <p:txBody>
          <a:bodyPr lIns="0" tIns="0" rIns="0" bIns="0" rtlCol="0" anchor="t">
            <a:spAutoFit/>
          </a:bodyPr>
          <a:lstStyle/>
          <a:p>
            <a:pPr algn="l">
              <a:lnSpc>
                <a:spcPts val="5023"/>
              </a:lnSpc>
            </a:pPr>
            <a:r>
              <a:rPr lang="en-US" sz="4200" b="1">
                <a:solidFill>
                  <a:srgbClr val="FFFFFF"/>
                </a:solidFill>
                <a:latin typeface="Poppins Semi-Bold"/>
                <a:ea typeface="Poppins Semi-Bold"/>
                <a:cs typeface="Poppins Semi-Bold"/>
                <a:sym typeface="Poppins Semi-Bold"/>
              </a:rPr>
              <a:t>A lista nada mais é que um vetororganizado, onde você pode ir</a:t>
            </a:r>
          </a:p>
        </p:txBody>
      </p:sp>
      <p:sp>
        <p:nvSpPr>
          <p:cNvPr id="5" name="TextBox 5"/>
          <p:cNvSpPr txBox="1"/>
          <p:nvPr/>
        </p:nvSpPr>
        <p:spPr>
          <a:xfrm>
            <a:off x="164983" y="2318928"/>
            <a:ext cx="17697440" cy="7118604"/>
          </a:xfrm>
          <a:prstGeom prst="rect">
            <a:avLst/>
          </a:prstGeom>
        </p:spPr>
        <p:txBody>
          <a:bodyPr lIns="0" tIns="0" rIns="0" bIns="0" rtlCol="0" anchor="t">
            <a:spAutoFit/>
          </a:bodyPr>
          <a:lstStyle/>
          <a:p>
            <a:pPr algn="l">
              <a:lnSpc>
                <a:spcPts val="5023"/>
              </a:lnSpc>
            </a:pPr>
            <a:r>
              <a:rPr lang="en-US" sz="4200" b="1">
                <a:solidFill>
                  <a:srgbClr val="FFFFFF"/>
                </a:solidFill>
                <a:latin typeface="Poppins Semi-Bold"/>
                <a:ea typeface="Poppins Semi-Bold"/>
                <a:cs typeface="Poppins Semi-Bold"/>
                <a:sym typeface="Poppins Semi-Bold"/>
              </a:rPr>
              <a:t>adicionando os elementos de maneira dinâmica sem se preocupar com o seu tamanho. Conforme você for utilizando a lista, você pode ir adicionando, alterando ou removendo elementos dela. Para usar a lista nós devemos fazer dessa maneira: </a:t>
            </a:r>
            <a:r>
              <a:rPr lang="en-US" sz="4200" b="1">
                <a:solidFill>
                  <a:srgbClr val="7ED957"/>
                </a:solidFill>
                <a:latin typeface="Poppins Semi-Bold"/>
                <a:ea typeface="Poppins Semi-Bold"/>
                <a:cs typeface="Poppins Semi-Bold"/>
                <a:sym typeface="Poppins Semi-Bold"/>
              </a:rPr>
              <a:t>List</a:t>
            </a:r>
            <a:r>
              <a:rPr lang="en-US" sz="4200" b="1">
                <a:solidFill>
                  <a:srgbClr val="FFFFFF"/>
                </a:solidFill>
                <a:latin typeface="Poppins Semi-Bold"/>
                <a:ea typeface="Poppins Semi-Bold"/>
                <a:cs typeface="Poppins Semi-Bold"/>
                <a:sym typeface="Poppins Semi-Bold"/>
              </a:rPr>
              <a:t>&lt;&gt; carros; Onde dentro de &lt;&gt; você diz qual o tipo dos elementos da lista.</a:t>
            </a: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8038948" y="324326"/>
            <a:ext cx="225432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Listas</a:t>
            </a:r>
          </a:p>
        </p:txBody>
      </p:sp>
      <p:sp>
        <p:nvSpPr>
          <p:cNvPr id="3" name="TextBox 3"/>
          <p:cNvSpPr txBox="1"/>
          <p:nvPr/>
        </p:nvSpPr>
        <p:spPr>
          <a:xfrm>
            <a:off x="164983" y="2746019"/>
            <a:ext cx="18079717" cy="5044488"/>
          </a:xfrm>
          <a:prstGeom prst="rect">
            <a:avLst/>
          </a:prstGeom>
        </p:spPr>
        <p:txBody>
          <a:bodyPr lIns="0" tIns="0" rIns="0" bIns="0" rtlCol="0" anchor="t">
            <a:spAutoFit/>
          </a:bodyPr>
          <a:lstStyle/>
          <a:p>
            <a:pPr algn="l">
              <a:lnSpc>
                <a:spcPts val="4874"/>
              </a:lnSpc>
            </a:pPr>
            <a:r>
              <a:rPr lang="en-US" sz="4099" b="1">
                <a:solidFill>
                  <a:srgbClr val="FFFFFF"/>
                </a:solidFill>
                <a:latin typeface="Poppins Semi-Bold"/>
                <a:ea typeface="Poppins Semi-Bold"/>
                <a:cs typeface="Poppins Semi-Bold"/>
                <a:sym typeface="Poppins Semi-Bold"/>
              </a:rPr>
              <a:t>Vou criar uma lista de números inteiros, posso fazer dessa maneira: </a:t>
            </a:r>
            <a:r>
              <a:rPr lang="en-US" sz="4099" b="1">
                <a:solidFill>
                  <a:srgbClr val="7ED957"/>
                </a:solidFill>
                <a:latin typeface="Poppins Semi-Bold"/>
                <a:ea typeface="Poppins Semi-Bold"/>
                <a:cs typeface="Poppins Semi-Bold"/>
                <a:sym typeface="Poppins Semi-Bold"/>
              </a:rPr>
              <a:t>List</a:t>
            </a:r>
            <a:r>
              <a:rPr lang="en-US" sz="4099" b="1">
                <a:solidFill>
                  <a:srgbClr val="FFFFFF"/>
                </a:solidFill>
                <a:latin typeface="Poppins Semi-Bold"/>
                <a:ea typeface="Poppins Semi-Bold"/>
                <a:cs typeface="Poppins Semi-Bold"/>
                <a:sym typeface="Poppins Semi-Bold"/>
              </a:rPr>
              <a:t>&lt;</a:t>
            </a:r>
            <a:r>
              <a:rPr lang="en-US" sz="4099" b="1">
                <a:solidFill>
                  <a:srgbClr val="3C67BF"/>
                </a:solidFill>
                <a:latin typeface="Poppins Semi-Bold"/>
                <a:ea typeface="Poppins Semi-Bold"/>
                <a:cs typeface="Poppins Semi-Bold"/>
                <a:sym typeface="Poppins Semi-Bold"/>
              </a:rPr>
              <a:t>int</a:t>
            </a:r>
            <a:r>
              <a:rPr lang="en-US" sz="4099" b="1">
                <a:solidFill>
                  <a:srgbClr val="FFFFFF"/>
                </a:solidFill>
                <a:latin typeface="Poppins Semi-Bold"/>
                <a:ea typeface="Poppins Semi-Bold"/>
                <a:cs typeface="Poppins Semi-Bold"/>
                <a:sym typeface="Poppins Semi-Bold"/>
              </a:rPr>
              <a:t>&gt; numeros = </a:t>
            </a:r>
            <a:r>
              <a:rPr lang="en-US" sz="4099" b="1">
                <a:solidFill>
                  <a:srgbClr val="3C67BF"/>
                </a:solidFill>
                <a:latin typeface="Poppins Semi-Bold"/>
                <a:ea typeface="Poppins Semi-Bold"/>
                <a:cs typeface="Poppins Semi-Bold"/>
                <a:sym typeface="Poppins Semi-Bold"/>
              </a:rPr>
              <a:t>new </a:t>
            </a:r>
            <a:r>
              <a:rPr lang="en-US" sz="4099" b="1">
                <a:solidFill>
                  <a:srgbClr val="7ED957"/>
                </a:solidFill>
                <a:latin typeface="Poppins Semi-Bold"/>
                <a:ea typeface="Poppins Semi-Bold"/>
                <a:cs typeface="Poppins Semi-Bold"/>
                <a:sym typeface="Poppins Semi-Bold"/>
              </a:rPr>
              <a:t>List</a:t>
            </a:r>
            <a:r>
              <a:rPr lang="en-US" sz="4099" b="1">
                <a:solidFill>
                  <a:srgbClr val="FFFFFF"/>
                </a:solidFill>
                <a:latin typeface="Poppins Semi-Bold"/>
                <a:ea typeface="Poppins Semi-Bold"/>
                <a:cs typeface="Poppins Semi-Bold"/>
                <a:sym typeface="Poppins Semi-Bold"/>
              </a:rPr>
              <a:t>&lt;</a:t>
            </a:r>
            <a:r>
              <a:rPr lang="en-US" sz="4099" b="1">
                <a:solidFill>
                  <a:srgbClr val="3C67BF"/>
                </a:solidFill>
                <a:latin typeface="Poppins Semi-Bold"/>
                <a:ea typeface="Poppins Semi-Bold"/>
                <a:cs typeface="Poppins Semi-Bold"/>
                <a:sym typeface="Poppins Semi-Bold"/>
              </a:rPr>
              <a:t>int</a:t>
            </a:r>
            <a:r>
              <a:rPr lang="en-US" sz="4099" b="1">
                <a:solidFill>
                  <a:srgbClr val="FFFFFF"/>
                </a:solidFill>
                <a:latin typeface="Poppins Semi-Bold"/>
                <a:ea typeface="Poppins Semi-Bold"/>
                <a:cs typeface="Poppins Semi-Bold"/>
                <a:sym typeface="Poppins Semi-Bold"/>
              </a:rPr>
              <a:t>&gt;( ); Para adicionar valores, utilizo comando Add, dessa maneira: numeros.</a:t>
            </a:r>
            <a:r>
              <a:rPr lang="en-US" sz="4099" b="1">
                <a:solidFill>
                  <a:srgbClr val="FFCB85"/>
                </a:solidFill>
                <a:latin typeface="Poppins Semi-Bold"/>
                <a:ea typeface="Poppins Semi-Bold"/>
                <a:cs typeface="Poppins Semi-Bold"/>
                <a:sym typeface="Poppins Semi-Bold"/>
              </a:rPr>
              <a:t>Add</a:t>
            </a:r>
            <a:r>
              <a:rPr lang="en-US" sz="4099" b="1">
                <a:solidFill>
                  <a:srgbClr val="FFFFFF"/>
                </a:solidFill>
                <a:latin typeface="Poppins Semi-Bold"/>
                <a:ea typeface="Poppins Semi-Bold"/>
                <a:cs typeface="Poppins Semi-Bold"/>
                <a:sym typeface="Poppins Semi-Bold"/>
              </a:rPr>
              <a:t>(</a:t>
            </a:r>
            <a:r>
              <a:rPr lang="en-US" sz="4099" b="1">
                <a:solidFill>
                  <a:srgbClr val="FFCB85"/>
                </a:solidFill>
                <a:latin typeface="Poppins Semi-Bold"/>
                <a:ea typeface="Poppins Semi-Bold"/>
                <a:cs typeface="Poppins Semi-Bold"/>
                <a:sym typeface="Poppins Semi-Bold"/>
              </a:rPr>
              <a:t>1</a:t>
            </a:r>
            <a:r>
              <a:rPr lang="en-US" sz="4099" b="1">
                <a:solidFill>
                  <a:srgbClr val="FFFFFF"/>
                </a:solidFill>
                <a:latin typeface="Poppins Semi-Bold"/>
                <a:ea typeface="Poppins Semi-Bold"/>
                <a:cs typeface="Poppins Semi-Bold"/>
                <a:sym typeface="Poppins Semi-Bold"/>
              </a:rPr>
              <a:t>); </a:t>
            </a:r>
            <a:r>
              <a:rPr lang="en-US" sz="4099" b="1">
                <a:solidFill>
                  <a:srgbClr val="7ED957"/>
                </a:solidFill>
                <a:latin typeface="Poppins Semi-Bold"/>
                <a:ea typeface="Poppins Semi-Bold"/>
                <a:cs typeface="Poppins Semi-Bold"/>
                <a:sym typeface="Poppins Semi-Bold"/>
              </a:rPr>
              <a:t>//Estou adicionando o número 1 a lista numeros</a:t>
            </a: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8038948" y="324326"/>
            <a:ext cx="225432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Listas</a:t>
            </a:r>
          </a:p>
        </p:txBody>
      </p:sp>
      <p:sp>
        <p:nvSpPr>
          <p:cNvPr id="3" name="TextBox 3"/>
          <p:cNvSpPr txBox="1"/>
          <p:nvPr/>
        </p:nvSpPr>
        <p:spPr>
          <a:xfrm>
            <a:off x="164983" y="3365144"/>
            <a:ext cx="17774088" cy="3806238"/>
          </a:xfrm>
          <a:prstGeom prst="rect">
            <a:avLst/>
          </a:prstGeom>
        </p:spPr>
        <p:txBody>
          <a:bodyPr lIns="0" tIns="0" rIns="0" bIns="0" rtlCol="0" anchor="t">
            <a:spAutoFit/>
          </a:bodyPr>
          <a:lstStyle/>
          <a:p>
            <a:pPr algn="l">
              <a:lnSpc>
                <a:spcPts val="4874"/>
              </a:lnSpc>
            </a:pPr>
            <a:r>
              <a:rPr lang="en-US" sz="4099" b="1">
                <a:solidFill>
                  <a:srgbClr val="FFFFFF"/>
                </a:solidFill>
                <a:latin typeface="Poppins Semi-Bold"/>
                <a:ea typeface="Poppins Semi-Bold"/>
                <a:cs typeface="Poppins Semi-Bold"/>
                <a:sym typeface="Poppins Semi-Bold"/>
              </a:rPr>
              <a:t>Para remover valores utilizamos o comando Remove, dessa maneira: numeros.</a:t>
            </a:r>
            <a:r>
              <a:rPr lang="en-US" sz="4099" b="1">
                <a:solidFill>
                  <a:srgbClr val="FFCB85"/>
                </a:solidFill>
                <a:latin typeface="Poppins Semi-Bold"/>
                <a:ea typeface="Poppins Semi-Bold"/>
                <a:cs typeface="Poppins Semi-Bold"/>
                <a:sym typeface="Poppins Semi-Bold"/>
              </a:rPr>
              <a:t>Remove</a:t>
            </a:r>
            <a:r>
              <a:rPr lang="en-US" sz="4099" b="1">
                <a:solidFill>
                  <a:srgbClr val="FFFFFF"/>
                </a:solidFill>
                <a:latin typeface="Poppins Semi-Bold"/>
                <a:ea typeface="Poppins Semi-Bold"/>
                <a:cs typeface="Poppins Semi-Bold"/>
                <a:sym typeface="Poppins Semi-Bold"/>
              </a:rPr>
              <a:t>(</a:t>
            </a:r>
            <a:r>
              <a:rPr lang="en-US" sz="4099" b="1">
                <a:solidFill>
                  <a:srgbClr val="FFCB85"/>
                </a:solidFill>
                <a:latin typeface="Poppins Semi-Bold"/>
                <a:ea typeface="Poppins Semi-Bold"/>
                <a:cs typeface="Poppins Semi-Bold"/>
                <a:sym typeface="Poppins Semi-Bold"/>
              </a:rPr>
              <a:t>1</a:t>
            </a:r>
            <a:r>
              <a:rPr lang="en-US" sz="4099" b="1">
                <a:solidFill>
                  <a:srgbClr val="FFFFFF"/>
                </a:solidFill>
                <a:latin typeface="Poppins Semi-Bold"/>
                <a:ea typeface="Poppins Semi-Bold"/>
                <a:cs typeface="Poppins Semi-Bold"/>
                <a:sym typeface="Poppins Semi-Bold"/>
              </a:rPr>
              <a:t>); </a:t>
            </a:r>
            <a:r>
              <a:rPr lang="en-US" sz="4099" b="1">
                <a:solidFill>
                  <a:srgbClr val="7ED957"/>
                </a:solidFill>
                <a:latin typeface="Poppins Semi-Bold"/>
                <a:ea typeface="Poppins Semi-Bold"/>
                <a:cs typeface="Poppins Semi-Bold"/>
                <a:sym typeface="Poppins Semi-Bold"/>
              </a:rPr>
              <a:t>//Estou removendo o número 1 da lista numeros, ele deve existir na lista para poder ser removido. Caso não exista, o comando apenas é ignorado.</a:t>
            </a: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8038948" y="324326"/>
            <a:ext cx="225432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Listas</a:t>
            </a:r>
          </a:p>
        </p:txBody>
      </p:sp>
      <p:sp>
        <p:nvSpPr>
          <p:cNvPr id="3" name="TextBox 3"/>
          <p:cNvSpPr txBox="1"/>
          <p:nvPr/>
        </p:nvSpPr>
        <p:spPr>
          <a:xfrm>
            <a:off x="0" y="2746019"/>
            <a:ext cx="17890607" cy="5044488"/>
          </a:xfrm>
          <a:prstGeom prst="rect">
            <a:avLst/>
          </a:prstGeom>
        </p:spPr>
        <p:txBody>
          <a:bodyPr lIns="0" tIns="0" rIns="0" bIns="0" rtlCol="0" anchor="t">
            <a:spAutoFit/>
          </a:bodyPr>
          <a:lstStyle/>
          <a:p>
            <a:pPr algn="l">
              <a:lnSpc>
                <a:spcPts val="4874"/>
              </a:lnSpc>
            </a:pPr>
            <a:r>
              <a:rPr lang="en-US" sz="4099" b="1">
                <a:solidFill>
                  <a:srgbClr val="FFFFFF"/>
                </a:solidFill>
                <a:latin typeface="Poppins Semi-Bold"/>
                <a:ea typeface="Poppins Semi-Bold"/>
                <a:cs typeface="Poppins Semi-Bold"/>
                <a:sym typeface="Poppins Semi-Bold"/>
              </a:rPr>
              <a:t>Para alterar o valor de um elemento da lista você pode pegar o indexador dele e fazer a alteração, igual fazemos nos vetores. </a:t>
            </a:r>
            <a:r>
              <a:rPr lang="en-US" sz="4099" b="1">
                <a:solidFill>
                  <a:srgbClr val="7ED957"/>
                </a:solidFill>
                <a:latin typeface="Poppins Semi-Bold"/>
                <a:ea typeface="Poppins Semi-Bold"/>
                <a:cs typeface="Poppins Semi-Bold"/>
                <a:sym typeface="Poppins Semi-Bold"/>
              </a:rPr>
              <a:t>List</a:t>
            </a:r>
            <a:r>
              <a:rPr lang="en-US" sz="4099" b="1">
                <a:solidFill>
                  <a:srgbClr val="FFFFFF"/>
                </a:solidFill>
                <a:latin typeface="Poppins Semi-Bold"/>
                <a:ea typeface="Poppins Semi-Bold"/>
                <a:cs typeface="Poppins Semi-Bold"/>
                <a:sym typeface="Poppins Semi-Bold"/>
              </a:rPr>
              <a:t>&lt;</a:t>
            </a:r>
            <a:r>
              <a:rPr lang="en-US" sz="4099" b="1">
                <a:solidFill>
                  <a:srgbClr val="3C67BF"/>
                </a:solidFill>
                <a:latin typeface="Poppins Semi-Bold"/>
                <a:ea typeface="Poppins Semi-Bold"/>
                <a:cs typeface="Poppins Semi-Bold"/>
                <a:sym typeface="Poppins Semi-Bold"/>
              </a:rPr>
              <a:t>int</a:t>
            </a:r>
            <a:r>
              <a:rPr lang="en-US" sz="4099" b="1">
                <a:solidFill>
                  <a:srgbClr val="FFFFFF"/>
                </a:solidFill>
                <a:latin typeface="Poppins Semi-Bold"/>
                <a:ea typeface="Poppins Semi-Bold"/>
                <a:cs typeface="Poppins Semi-Bold"/>
                <a:sym typeface="Poppins Semi-Bold"/>
              </a:rPr>
              <a:t>&gt; numeros; Para alterar os valores, posso fazer dessa maneira: numeros[</a:t>
            </a:r>
            <a:r>
              <a:rPr lang="en-US" sz="4099" b="1">
                <a:solidFill>
                  <a:srgbClr val="FFCB85"/>
                </a:solidFill>
                <a:latin typeface="Poppins Semi-Bold"/>
                <a:ea typeface="Poppins Semi-Bold"/>
                <a:cs typeface="Poppins Semi-Bold"/>
                <a:sym typeface="Poppins Semi-Bold"/>
              </a:rPr>
              <a:t>0</a:t>
            </a:r>
            <a:r>
              <a:rPr lang="en-US" sz="4099" b="1">
                <a:solidFill>
                  <a:srgbClr val="FFFFFF"/>
                </a:solidFill>
                <a:latin typeface="Poppins Semi-Bold"/>
                <a:ea typeface="Poppins Semi-Bold"/>
                <a:cs typeface="Poppins Semi-Bold"/>
                <a:sym typeface="Poppins Semi-Bold"/>
              </a:rPr>
              <a:t>] = 10; </a:t>
            </a:r>
            <a:r>
              <a:rPr lang="en-US" sz="4099" b="1">
                <a:solidFill>
                  <a:srgbClr val="7ED957"/>
                </a:solidFill>
                <a:latin typeface="Poppins Semi-Bold"/>
                <a:ea typeface="Poppins Semi-Bold"/>
                <a:cs typeface="Poppins Semi-Bold"/>
                <a:sym typeface="Poppins Semi-Bold"/>
              </a:rPr>
              <a:t>//Estou alterando o valor da posição 0 para 10.</a:t>
            </a: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TextBox 2"/>
          <p:cNvSpPr txBox="1"/>
          <p:nvPr/>
        </p:nvSpPr>
        <p:spPr>
          <a:xfrm>
            <a:off x="8038948" y="324326"/>
            <a:ext cx="2254329" cy="1163803"/>
          </a:xfrm>
          <a:prstGeom prst="rect">
            <a:avLst/>
          </a:prstGeom>
        </p:spPr>
        <p:txBody>
          <a:bodyPr lIns="0" tIns="0" rIns="0" bIns="0" rtlCol="0" anchor="t">
            <a:spAutoFit/>
          </a:bodyPr>
          <a:lstStyle/>
          <a:p>
            <a:pPr algn="l">
              <a:lnSpc>
                <a:spcPts val="8350"/>
              </a:lnSpc>
            </a:pPr>
            <a:r>
              <a:rPr lang="en-US" sz="5964" b="1">
                <a:solidFill>
                  <a:srgbClr val="FFFFFF"/>
                </a:solidFill>
                <a:latin typeface="Poppins Semi-Bold"/>
                <a:ea typeface="Poppins Semi-Bold"/>
                <a:cs typeface="Poppins Semi-Bold"/>
                <a:sym typeface="Poppins Semi-Bold"/>
              </a:rPr>
              <a:t>Listas</a:t>
            </a:r>
          </a:p>
        </p:txBody>
      </p:sp>
      <p:sp>
        <p:nvSpPr>
          <p:cNvPr id="3" name="TextBox 3"/>
          <p:cNvSpPr txBox="1"/>
          <p:nvPr/>
        </p:nvSpPr>
        <p:spPr>
          <a:xfrm>
            <a:off x="0" y="2876102"/>
            <a:ext cx="17701593" cy="4820793"/>
          </a:xfrm>
          <a:prstGeom prst="rect">
            <a:avLst/>
          </a:prstGeom>
        </p:spPr>
        <p:txBody>
          <a:bodyPr lIns="0" tIns="0" rIns="0" bIns="0" rtlCol="0" anchor="t">
            <a:spAutoFit/>
          </a:bodyPr>
          <a:lstStyle/>
          <a:p>
            <a:pPr algn="l">
              <a:lnSpc>
                <a:spcPts val="4648"/>
              </a:lnSpc>
            </a:pPr>
            <a:r>
              <a:rPr lang="en-US" sz="3900" b="1">
                <a:solidFill>
                  <a:srgbClr val="FFFFFF"/>
                </a:solidFill>
                <a:latin typeface="Poppins Semi-Bold"/>
                <a:ea typeface="Poppins Semi-Bold"/>
                <a:cs typeface="Poppins Semi-Bold"/>
                <a:sym typeface="Poppins Semi-Bold"/>
              </a:rPr>
              <a:t>Para percorrer os elementos dessa lista nós podemos utilizar qualquer comando de repetição, mas existe um comando bem interessante para fazer isso também. O comando </a:t>
            </a:r>
            <a:r>
              <a:rPr lang="en-US" sz="3900" b="1">
                <a:solidFill>
                  <a:srgbClr val="3C67BF"/>
                </a:solidFill>
                <a:latin typeface="Poppins Semi-Bold"/>
                <a:ea typeface="Poppins Semi-Bold"/>
                <a:cs typeface="Poppins Semi-Bold"/>
                <a:sym typeface="Poppins Semi-Bold"/>
              </a:rPr>
              <a:t>foreach </a:t>
            </a:r>
            <a:r>
              <a:rPr lang="en-US" sz="3900" b="1">
                <a:solidFill>
                  <a:srgbClr val="FFFFFF"/>
                </a:solidFill>
                <a:latin typeface="Poppins Semi-Bold"/>
                <a:ea typeface="Poppins Semi-Bold"/>
                <a:cs typeface="Poppins Semi-Bold"/>
                <a:sym typeface="Poppins Semi-Bold"/>
              </a:rPr>
              <a:t>ele percorre uma lista do primeiro até o ultimo elemento, sem precisar delimitar um máximo de elementos. </a:t>
            </a:r>
            <a:r>
              <a:rPr lang="en-US" sz="3900" b="1">
                <a:solidFill>
                  <a:srgbClr val="795AC6"/>
                </a:solidFill>
                <a:latin typeface="Poppins Semi-Bold"/>
                <a:ea typeface="Poppins Semi-Bold"/>
                <a:cs typeface="Poppins Semi-Bold"/>
                <a:sym typeface="Poppins Semi-Bold"/>
              </a:rPr>
              <a:t>foreach</a:t>
            </a:r>
            <a:r>
              <a:rPr lang="en-US" sz="3900" b="1">
                <a:solidFill>
                  <a:srgbClr val="FFFFFF"/>
                </a:solidFill>
                <a:latin typeface="Poppins Semi-Bold"/>
                <a:ea typeface="Poppins Semi-Bold"/>
                <a:cs typeface="Poppins Semi-Bold"/>
                <a:sym typeface="Poppins Semi-Bold"/>
              </a:rPr>
              <a:t>(</a:t>
            </a:r>
            <a:r>
              <a:rPr lang="en-US" sz="3900" b="1">
                <a:solidFill>
                  <a:srgbClr val="3C67BF"/>
                </a:solidFill>
                <a:latin typeface="Poppins Semi-Bold"/>
                <a:ea typeface="Poppins Semi-Bold"/>
                <a:cs typeface="Poppins Semi-Bold"/>
                <a:sym typeface="Poppins Semi-Bold"/>
              </a:rPr>
              <a:t>int </a:t>
            </a:r>
            <a:r>
              <a:rPr lang="en-US" sz="3900" b="1">
                <a:solidFill>
                  <a:srgbClr val="FFFFFF"/>
                </a:solidFill>
                <a:latin typeface="Poppins Semi-Bold"/>
                <a:ea typeface="Poppins Semi-Bold"/>
                <a:cs typeface="Poppins Semi-Bold"/>
                <a:sym typeface="Poppins Semi-Bold"/>
              </a:rPr>
              <a:t>item </a:t>
            </a:r>
            <a:r>
              <a:rPr lang="en-US" sz="3900" b="1">
                <a:solidFill>
                  <a:srgbClr val="795AC6"/>
                </a:solidFill>
                <a:latin typeface="Poppins Semi-Bold"/>
                <a:ea typeface="Poppins Semi-Bold"/>
                <a:cs typeface="Poppins Semi-Bold"/>
                <a:sym typeface="Poppins Semi-Bold"/>
              </a:rPr>
              <a:t>in</a:t>
            </a:r>
            <a:r>
              <a:rPr lang="en-US" sz="3900" b="1">
                <a:solidFill>
                  <a:srgbClr val="FFFFFF"/>
                </a:solidFill>
                <a:latin typeface="Poppins Semi-Bold"/>
                <a:ea typeface="Poppins Semi-Bold"/>
                <a:cs typeface="Poppins Semi-Bold"/>
                <a:sym typeface="Poppins Semi-Bold"/>
              </a:rPr>
              <a:t> numeros){</a:t>
            </a:r>
          </a:p>
        </p:txBody>
      </p:sp>
      <p:sp>
        <p:nvSpPr>
          <p:cNvPr id="4" name="TextBox 4"/>
          <p:cNvSpPr txBox="1"/>
          <p:nvPr/>
        </p:nvSpPr>
        <p:spPr>
          <a:xfrm>
            <a:off x="0" y="7600502"/>
            <a:ext cx="265233" cy="1277493"/>
          </a:xfrm>
          <a:prstGeom prst="rect">
            <a:avLst/>
          </a:prstGeom>
        </p:spPr>
        <p:txBody>
          <a:bodyPr lIns="0" tIns="0" rIns="0" bIns="0" rtlCol="0" anchor="t">
            <a:spAutoFit/>
          </a:bodyPr>
          <a:lstStyle/>
          <a:p>
            <a:pPr algn="l">
              <a:lnSpc>
                <a:spcPts val="4648"/>
              </a:lnSpc>
            </a:pPr>
            <a:r>
              <a:rPr lang="en-US" sz="3900" b="1">
                <a:solidFill>
                  <a:srgbClr val="FFFFFF"/>
                </a:solidFill>
                <a:latin typeface="Poppins Semi-Bold"/>
                <a:ea typeface="Poppins Semi-Bold"/>
                <a:cs typeface="Poppins Semi-Bold"/>
                <a:sym typeface="Poppins Semi-Bold"/>
              </a:rPr>
              <a:t> </a:t>
            </a:r>
          </a:p>
          <a:p>
            <a:pPr algn="l">
              <a:lnSpc>
                <a:spcPts val="4648"/>
              </a:lnSpc>
            </a:pPr>
            <a:r>
              <a:rPr lang="en-US" sz="3900" b="1">
                <a:solidFill>
                  <a:srgbClr val="FFFFFF"/>
                </a:solidFill>
                <a:latin typeface="Poppins Semi-Bold"/>
                <a:ea typeface="Poppins Semi-Bold"/>
                <a:cs typeface="Poppins Semi-Bold"/>
                <a:sym typeface="Poppins Semi-Bold"/>
              </a:rPr>
              <a:t>}</a:t>
            </a:r>
          </a:p>
        </p:txBody>
      </p:sp>
      <p:sp>
        <p:nvSpPr>
          <p:cNvPr id="5" name="TextBox 5"/>
          <p:cNvSpPr txBox="1"/>
          <p:nvPr/>
        </p:nvSpPr>
        <p:spPr>
          <a:xfrm>
            <a:off x="891626" y="7600502"/>
            <a:ext cx="17006602" cy="686943"/>
          </a:xfrm>
          <a:prstGeom prst="rect">
            <a:avLst/>
          </a:prstGeom>
        </p:spPr>
        <p:txBody>
          <a:bodyPr lIns="0" tIns="0" rIns="0" bIns="0" rtlCol="0" anchor="t">
            <a:spAutoFit/>
          </a:bodyPr>
          <a:lstStyle/>
          <a:p>
            <a:pPr algn="l">
              <a:lnSpc>
                <a:spcPts val="4648"/>
              </a:lnSpc>
            </a:pPr>
            <a:r>
              <a:rPr lang="en-US" sz="3900" b="1">
                <a:solidFill>
                  <a:srgbClr val="7ED957"/>
                </a:solidFill>
                <a:latin typeface="Poppins Semi-Bold"/>
                <a:ea typeface="Poppins Semi-Bold"/>
                <a:cs typeface="Poppins Semi-Bold"/>
                <a:sym typeface="Poppins Semi-Bold"/>
              </a:rPr>
              <a:t>Console</a:t>
            </a:r>
            <a:r>
              <a:rPr lang="en-US" sz="3900" b="1">
                <a:solidFill>
                  <a:srgbClr val="FFFFFF"/>
                </a:solidFill>
                <a:latin typeface="Poppins Semi-Bold"/>
                <a:ea typeface="Poppins Semi-Bold"/>
                <a:cs typeface="Poppins Semi-Bold"/>
                <a:sym typeface="Poppins Semi-Bold"/>
              </a:rPr>
              <a:t>.</a:t>
            </a:r>
            <a:r>
              <a:rPr lang="en-US" sz="3900" b="1">
                <a:solidFill>
                  <a:srgbClr val="FFCB85"/>
                </a:solidFill>
                <a:latin typeface="Poppins Semi-Bold"/>
                <a:ea typeface="Poppins Semi-Bold"/>
                <a:cs typeface="Poppins Semi-Bold"/>
                <a:sym typeface="Poppins Semi-Bold"/>
              </a:rPr>
              <a:t>WriteLine</a:t>
            </a:r>
            <a:r>
              <a:rPr lang="en-US" sz="3900" b="1">
                <a:solidFill>
                  <a:srgbClr val="FFFFFF"/>
                </a:solidFill>
                <a:latin typeface="Poppins Semi-Bold"/>
                <a:ea typeface="Poppins Semi-Bold"/>
                <a:cs typeface="Poppins Semi-Bold"/>
                <a:sym typeface="Poppins Semi-Bold"/>
              </a:rPr>
              <a:t>(item); </a:t>
            </a:r>
            <a:r>
              <a:rPr lang="en-US" sz="3900" b="1">
                <a:solidFill>
                  <a:srgbClr val="7ED957"/>
                </a:solidFill>
                <a:latin typeface="Poppins Semi-Bold"/>
                <a:ea typeface="Poppins Semi-Bold"/>
                <a:cs typeface="Poppins Semi-Bold"/>
                <a:sym typeface="Poppins Semi-Bold"/>
              </a:rPr>
              <a:t>// o item é o valor do elemento da lista</a:t>
            </a: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400431" y="683085"/>
            <a:ext cx="17747113" cy="8833314"/>
          </a:xfrm>
          <a:prstGeom prst="rect">
            <a:avLst/>
          </a:prstGeom>
        </p:spPr>
        <p:txBody>
          <a:bodyPr lIns="0" tIns="0" rIns="0" bIns="0" rtlCol="0" anchor="t">
            <a:spAutoFit/>
          </a:bodyPr>
          <a:lstStyle/>
          <a:p>
            <a:pPr algn="l">
              <a:lnSpc>
                <a:spcPts val="4049"/>
              </a:lnSpc>
            </a:pPr>
            <a:r>
              <a:rPr lang="en-US" sz="3399" b="1">
                <a:solidFill>
                  <a:srgbClr val="FF5757"/>
                </a:solidFill>
                <a:latin typeface="Poppins Semi-Bold"/>
                <a:ea typeface="Poppins Semi-Bold"/>
                <a:cs typeface="Poppins Semi-Bold"/>
                <a:sym typeface="Poppins Semi-Bold"/>
              </a:rPr>
              <a:t>Atividade #49 </a:t>
            </a:r>
            <a:r>
              <a:rPr lang="en-US" sz="3399" b="1">
                <a:solidFill>
                  <a:srgbClr val="FFFFFF"/>
                </a:solidFill>
                <a:latin typeface="Poppins Semi-Bold"/>
                <a:ea typeface="Poppins Semi-Bold"/>
                <a:cs typeface="Poppins Semi-Bold"/>
                <a:sym typeface="Poppins Semi-Bold"/>
              </a:rPr>
              <a:t>Crie uma classe Personagem, onde tem os atributos: nível, nome, grupo, vida e poder de ataque. Faça um programa que leia a quantidade de personagens que o usuário quer criar. O programa deve ler também os atributos nome e o grupo da classe personagem. Cada personagem criado, o usuário deve escolher entre os grupos disponíveis: Mago, Arqueiro, Guerreiro e Cavaleiro. O personagem quando for criado já vem com o nível 1, 1200 de vida e poder de ataque de 100. No final mostre o resultado de cada personagem criado.</a:t>
            </a: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400431" y="860936"/>
            <a:ext cx="17515951" cy="8468916"/>
          </a:xfrm>
          <a:prstGeom prst="rect">
            <a:avLst/>
          </a:prstGeom>
        </p:spPr>
        <p:txBody>
          <a:bodyPr lIns="0" tIns="0" rIns="0" bIns="0" rtlCol="0" anchor="t">
            <a:spAutoFit/>
          </a:bodyPr>
          <a:lstStyle/>
          <a:p>
            <a:pPr algn="l">
              <a:lnSpc>
                <a:spcPts val="4125"/>
              </a:lnSpc>
            </a:pPr>
            <a:r>
              <a:rPr lang="en-US" sz="3499" b="1">
                <a:solidFill>
                  <a:srgbClr val="FF5757"/>
                </a:solidFill>
                <a:latin typeface="Poppins Semi-Bold"/>
                <a:ea typeface="Poppins Semi-Bold"/>
                <a:cs typeface="Poppins Semi-Bold"/>
                <a:sym typeface="Poppins Semi-Bold"/>
              </a:rPr>
              <a:t>Atividade #50 </a:t>
            </a:r>
            <a:r>
              <a:rPr lang="en-US" sz="3499" b="1">
                <a:solidFill>
                  <a:srgbClr val="FFFFFF"/>
                </a:solidFill>
                <a:latin typeface="Poppins Semi-Bold"/>
                <a:ea typeface="Poppins Semi-Bold"/>
                <a:cs typeface="Poppins Semi-Bold"/>
                <a:sym typeface="Poppins Semi-Bold"/>
              </a:rPr>
              <a:t>Elabore um programa que leia a matrícula e as duas notas de 5 alunos, calcule a média dessas duas notas e informe no final a seguinte saída como exemplo: Aluno: 123456 Prova A: 8,4 Prova B: 6,0 Média: 7,2 Situação: A Mostre no final a média da classe, a quantidade de aprovados e a quantidade de reprovados considerando uma média maior ou igual a 7,0. Utilize métodos e classes para organizar seu código.</a:t>
            </a: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400431" y="610114"/>
            <a:ext cx="17876615" cy="8988047"/>
          </a:xfrm>
          <a:prstGeom prst="rect">
            <a:avLst/>
          </a:prstGeom>
        </p:spPr>
        <p:txBody>
          <a:bodyPr lIns="0" tIns="0" rIns="0" bIns="0" rtlCol="0" anchor="t">
            <a:spAutoFit/>
          </a:bodyPr>
          <a:lstStyle/>
          <a:p>
            <a:pPr algn="l">
              <a:lnSpc>
                <a:spcPts val="3899"/>
              </a:lnSpc>
            </a:pPr>
            <a:r>
              <a:rPr lang="en-US" sz="3299" b="1">
                <a:solidFill>
                  <a:srgbClr val="FF5757"/>
                </a:solidFill>
                <a:latin typeface="Poppins Semi-Bold"/>
                <a:ea typeface="Poppins Semi-Bold"/>
                <a:cs typeface="Poppins Semi-Bold"/>
                <a:sym typeface="Poppins Semi-Bold"/>
              </a:rPr>
              <a:t>Trabalho #1 - Terminal Kahoot </a:t>
            </a:r>
            <a:r>
              <a:rPr lang="en-US" sz="3299" b="1">
                <a:solidFill>
                  <a:srgbClr val="FFFFFF"/>
                </a:solidFill>
                <a:latin typeface="Poppins Semi-Bold"/>
                <a:ea typeface="Poppins Semi-Bold"/>
                <a:cs typeface="Poppins Semi-Bold"/>
                <a:sym typeface="Poppins Semi-Bold"/>
              </a:rPr>
              <a:t>Desenvolva um jogo de perguntas e respostas O jogo deve ter 10 perguntas, cada pergunta com 4 opções onde 1 é a correta. O jogador deve informar qual a opção correta para a alternativa. Se ele acertar, é incrementado uma pontuação a ele, se errar é informado que errou e logo em seguida mostrado qual seria a correta. No final do jogo, mostre a quantidade de pontos que o jogador fez. Seja criativo na elaboração do programa. Desafio extra, tente colocar um timer de 1 segundo entre uma pergunta e outra. </a:t>
            </a:r>
            <a:r>
              <a:rPr lang="en-US" sz="3299" b="1">
                <a:solidFill>
                  <a:srgbClr val="FFDE59"/>
                </a:solidFill>
                <a:latin typeface="Poppins Semi-Bold"/>
                <a:ea typeface="Poppins Semi-Bold"/>
                <a:cs typeface="Poppins Semi-Bold"/>
                <a:sym typeface="Poppins Semi-Bold"/>
              </a:rPr>
              <a:t>Acesse </a:t>
            </a:r>
            <a:r>
              <a:rPr lang="en-US" sz="3299" b="1">
                <a:solidFill>
                  <a:srgbClr val="FF5757"/>
                </a:solidFill>
                <a:latin typeface="Poppins Semi-Bold"/>
                <a:ea typeface="Poppins Semi-Bold"/>
                <a:cs typeface="Poppins Semi-Bold"/>
                <a:sym typeface="Poppins Semi-Bold"/>
              </a:rPr>
              <a:t>bit.ly/cursogamesunifel</a:t>
            </a:r>
            <a:r>
              <a:rPr lang="en-US" sz="3299" b="1">
                <a:solidFill>
                  <a:srgbClr val="FFDE59"/>
                </a:solidFill>
                <a:latin typeface="Poppins Semi-Bold"/>
                <a:ea typeface="Poppins Semi-Bold"/>
                <a:cs typeface="Poppins Semi-Bold"/>
                <a:sym typeface="Poppins Semi-Bold"/>
              </a:rPr>
              <a:t>, entre na pasta CSharp e abra o bloco de notas do trabalho correspondente, lá estará as perguntas.</a:t>
            </a: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
        <p:nvSpPr>
          <p:cNvPr id="2" name="Freeform 2"/>
          <p:cNvSpPr/>
          <p:nvPr/>
        </p:nvSpPr>
        <p:spPr>
          <a:xfrm>
            <a:off x="0" y="-952500"/>
            <a:ext cx="18288000" cy="12192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alphaModFix amt="30000"/>
            </a:blip>
            <a:stretch>
              <a:fillRect/>
            </a:stretch>
          </a:blipFill>
        </p:spPr>
      </p:sp>
      <p:sp>
        <p:nvSpPr>
          <p:cNvPr id="3" name="TextBox 3"/>
          <p:cNvSpPr txBox="1"/>
          <p:nvPr/>
        </p:nvSpPr>
        <p:spPr>
          <a:xfrm>
            <a:off x="400431" y="1122874"/>
            <a:ext cx="17624298" cy="7945041"/>
          </a:xfrm>
          <a:prstGeom prst="rect">
            <a:avLst/>
          </a:prstGeom>
        </p:spPr>
        <p:txBody>
          <a:bodyPr lIns="0" tIns="0" rIns="0" bIns="0" rtlCol="0" anchor="t">
            <a:spAutoFit/>
          </a:bodyPr>
          <a:lstStyle/>
          <a:p>
            <a:pPr algn="l">
              <a:lnSpc>
                <a:spcPts val="4125"/>
              </a:lnSpc>
            </a:pPr>
            <a:r>
              <a:rPr lang="en-US" sz="3499" b="1">
                <a:solidFill>
                  <a:srgbClr val="FF5757"/>
                </a:solidFill>
                <a:latin typeface="Poppins Semi-Bold"/>
                <a:ea typeface="Poppins Semi-Bold"/>
                <a:cs typeface="Poppins Semi-Bold"/>
                <a:sym typeface="Poppins Semi-Bold"/>
              </a:rPr>
              <a:t>Trabalho #2 - Jogo da Velha </a:t>
            </a:r>
            <a:r>
              <a:rPr lang="en-US" sz="3499" b="1">
                <a:solidFill>
                  <a:srgbClr val="FFFFFF"/>
                </a:solidFill>
                <a:latin typeface="Poppins Semi-Bold"/>
                <a:ea typeface="Poppins Semi-Bold"/>
                <a:cs typeface="Poppins Semi-Bold"/>
                <a:sym typeface="Poppins Semi-Bold"/>
              </a:rPr>
              <a:t>Desenvolva um jogo da Velha. O jogo da velha é jogado por dois jogadores, onde um vai ser o X e o outro o O. Ao fazer as jogadas, o jogo deve verificar quem ganhou ou se deu velha. Durante o jogo deve ser possível ver o placar dos jogadores, inclusive a quantidade de vezes que a Velha aconteceu. Também deve ser possível mostrar o tabuleiro do jogo após cada jogada! O jogo se encerra ao informar o valor 0.</a:t>
            </a: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bg>
      <p:bgPr>
        <a:solidFill>
          <a:srgbClr val="141414"/>
        </a:solid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TotalTime>
  <Words>13130</Words>
  <Application>Microsoft Office PowerPoint</Application>
  <PresentationFormat>Personalizar</PresentationFormat>
  <Paragraphs>841</Paragraphs>
  <Slides>235</Slides>
  <Notes>0</Notes>
  <HiddenSlides>0</HiddenSlides>
  <MMClips>0</MMClips>
  <ScaleCrop>false</ScaleCrop>
  <HeadingPairs>
    <vt:vector size="6" baseType="variant">
      <vt:variant>
        <vt:lpstr>Fontes usadas</vt:lpstr>
      </vt:variant>
      <vt:variant>
        <vt:i4>9</vt:i4>
      </vt:variant>
      <vt:variant>
        <vt:lpstr>Tema</vt:lpstr>
      </vt:variant>
      <vt:variant>
        <vt:i4>1</vt:i4>
      </vt:variant>
      <vt:variant>
        <vt:lpstr>Títulos de slides</vt:lpstr>
      </vt:variant>
      <vt:variant>
        <vt:i4>235</vt:i4>
      </vt:variant>
    </vt:vector>
  </HeadingPairs>
  <TitlesOfParts>
    <vt:vector size="245" baseType="lpstr">
      <vt:lpstr>Open Sans</vt:lpstr>
      <vt:lpstr>Poppins Semi-Bold</vt:lpstr>
      <vt:lpstr>Poppins Light</vt:lpstr>
      <vt:lpstr>Calibri</vt:lpstr>
      <vt:lpstr>Poppins Medium</vt:lpstr>
      <vt:lpstr>Arial</vt:lpstr>
      <vt:lpstr>Open Sans Bold</vt:lpstr>
      <vt:lpstr>Canva Sans</vt:lpstr>
      <vt:lpstr>Poppins</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Linguagem de Programação C#.pdf</dc:title>
  <cp:lastModifiedBy>Hilton Freitas</cp:lastModifiedBy>
  <cp:revision>2</cp:revision>
  <dcterms:created xsi:type="dcterms:W3CDTF">2006-08-16T00:00:00Z</dcterms:created>
  <dcterms:modified xsi:type="dcterms:W3CDTF">2025-12-25T00:08:24Z</dcterms:modified>
  <dc:identifier>DAG1V-rp3bY</dc:identifier>
</cp:coreProperties>
</file>